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85" r:id="rId14"/>
    <p:sldId id="286" r:id="rId15"/>
    <p:sldId id="287" r:id="rId16"/>
    <p:sldId id="271" r:id="rId17"/>
    <p:sldId id="288" r:id="rId18"/>
    <p:sldId id="289" r:id="rId19"/>
    <p:sldId id="292" r:id="rId20"/>
    <p:sldId id="298" r:id="rId21"/>
    <p:sldId id="293" r:id="rId22"/>
    <p:sldId id="276" r:id="rId23"/>
    <p:sldId id="295" r:id="rId24"/>
    <p:sldId id="296" r:id="rId25"/>
    <p:sldId id="297" r:id="rId26"/>
    <p:sldId id="280" r:id="rId27"/>
    <p:sldId id="283" r:id="rId28"/>
    <p:sldId id="281" r:id="rId29"/>
    <p:sldId id="28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63" autoAdjust="0"/>
    <p:restoredTop sz="70118" autoAdjust="0"/>
  </p:normalViewPr>
  <p:slideViewPr>
    <p:cSldViewPr snapToGrid="0">
      <p:cViewPr varScale="1">
        <p:scale>
          <a:sx n="53" d="100"/>
          <a:sy n="53" d="100"/>
        </p:scale>
        <p:origin x="17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090F1-60E4-42EC-BAE8-5D503FFC924C}" type="datetimeFigureOut">
              <a:rPr lang="zh-CN" altLang="en-US" smtClean="0"/>
              <a:t>2026/9/7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A4863-82EA-4055-A6CB-D03302C3F2F9}" type="slidenum">
              <a:rPr lang="zh-CN" altLang="en-US" smtClean="0"/>
              <a:t>‹#›</a:t>
            </a:fld>
            <a:endParaRPr lang="zh-CN" altLang="en-US"/>
          </a:p>
        </p:txBody>
      </p:sp>
    </p:spTree>
    <p:extLst>
      <p:ext uri="{BB962C8B-B14F-4D97-AF65-F5344CB8AC3E}">
        <p14:creationId xmlns:p14="http://schemas.microsoft.com/office/powerpoint/2010/main" val="3962569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各位老师好，我是张启元，来自中国科学院大学。今天汇报的是子课题一</a:t>
            </a:r>
            <a:r>
              <a:rPr lang="en-US" altLang="zh-CN" dirty="0" smtClean="0"/>
              <a:t>——</a:t>
            </a:r>
            <a:r>
              <a:rPr lang="zh-CN" altLang="en-US" dirty="0" smtClean="0"/>
              <a:t>多条件中文声纹识别与噪声鲁棒性增强。这项工作主要解决一个实际问题：在噪声、短语音和设备变化这些真实条件下，怎么让声纹验证还能稳定工作。最后我们形成了一套注册条件化的目标说话人提取前端。下面我从任务、方法和交付结果三个层面展开。</a:t>
            </a: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a:t>
            </a:fld>
            <a:endParaRPr lang="zh-CN" altLang="en-US"/>
          </a:p>
        </p:txBody>
      </p:sp>
    </p:spTree>
    <p:extLst>
      <p:ext uri="{BB962C8B-B14F-4D97-AF65-F5344CB8AC3E}">
        <p14:creationId xmlns:p14="http://schemas.microsoft.com/office/powerpoint/2010/main" val="50212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这一页主要说明分工。我们组一共两个人。我主要负责算法和实验主线，包括需求拆解、训练评测环境、方案设计和迭代、三种后端的最终评测，以及后面的失败样本、ROC和DET分析。邓姣姣同学主要负责数据与评测支撑，包括多条件数据构建、泄漏检查和统一评测脚本。</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哪些代码和实验是你亲自完成的</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我直接负责模型方案、训练与评测环境、前端迭代、三后端终评、失败样本与ROC</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DET分析，以及最终技术报告和汇报材料；数据协议和数据构建由队友主责</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团队协作中你遇到的最大问题是什么</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最大的问题是保证实验口径完全一致。我们把注册列表、trial列表、噪声池、随机种子和评测脚本固定下来，每周对齐，避免算法侧和数据侧各自改口径。</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2</a:t>
            </a:fld>
            <a:endParaRPr lang="zh-CN" altLang="en-US"/>
          </a:p>
        </p:txBody>
      </p:sp>
    </p:spTree>
    <p:extLst>
      <p:ext uri="{BB962C8B-B14F-4D97-AF65-F5344CB8AC3E}">
        <p14:creationId xmlns:p14="http://schemas.microsoft.com/office/powerpoint/2010/main" val="2341712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汇报分六部分</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3</a:t>
            </a:fld>
            <a:endParaRPr lang="zh-CN" altLang="en-US"/>
          </a:p>
        </p:txBody>
      </p:sp>
    </p:spTree>
    <p:extLst>
      <p:ext uri="{BB962C8B-B14F-4D97-AF65-F5344CB8AC3E}">
        <p14:creationId xmlns:p14="http://schemas.microsoft.com/office/powerpoint/2010/main" val="1433462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第一部分</a:t>
            </a:r>
            <a:r>
              <a:rPr lang="en-US" altLang="zh-CN" dirty="0" smtClean="0"/>
              <a:t>,</a:t>
            </a:r>
            <a:r>
              <a:rPr lang="zh-CN" altLang="en-US" dirty="0" smtClean="0"/>
              <a:t>任务背景与要求。</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4</a:t>
            </a:fld>
            <a:endParaRPr lang="zh-CN" altLang="en-US"/>
          </a:p>
        </p:txBody>
      </p:sp>
    </p:spTree>
    <p:extLst>
      <p:ext uri="{BB962C8B-B14F-4D97-AF65-F5344CB8AC3E}">
        <p14:creationId xmlns:p14="http://schemas.microsoft.com/office/powerpoint/2010/main" val="1947844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这个任务可以用AI眼镜来理解。用户先注册几句话，系统建立一个声纹模板；以后用户随便说一句，系统判断当前是不是本人。这里不是固定人员名单里的闭集分类，而是开集验证——</a:t>
            </a:r>
            <a:r>
              <a:rPr lang="en-US" altLang="zh-CN" sz="1200" kern="1200" dirty="0" err="1" smtClean="0">
                <a:solidFill>
                  <a:schemeClr val="tx1"/>
                </a:solidFill>
                <a:effectLst/>
                <a:latin typeface="+mn-lt"/>
                <a:ea typeface="+mn-ea"/>
                <a:cs typeface="+mn-cs"/>
              </a:rPr>
              <a:t>测试阶段可能出现训练时完全没见过的人，系统只能利用注册语音做比对</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真实使用里主要有几类干扰：环境噪声、回声混响、多人重叠、短语音和跨设备差异。我们的数据基础是3D-Speaker中文集，训练、验证、测试严格按说话人隔离，核心目标就是提高这些复杂条件下的身份判别稳定性。</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开集验证和闭集分类有什么本质区别</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闭集分类默认测试身份来自训练时已有类别；开集验证不要求测试身份在训练集中出现，只比较“注册模板”和“测试语音”是否属于同一个人，更符合真实注册—</a:t>
            </a:r>
            <a:r>
              <a:rPr lang="en-US" altLang="zh-CN" sz="1200" kern="1200" dirty="0" err="1" smtClean="0">
                <a:solidFill>
                  <a:schemeClr val="tx1"/>
                </a:solidFill>
                <a:effectLst/>
                <a:latin typeface="+mn-lt"/>
                <a:ea typeface="+mn-ea"/>
                <a:cs typeface="+mn-cs"/>
              </a:rPr>
              <a:t>验证流程</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你这里的“环境噪声”和“多人重叠”是不是一回事</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不是。环境噪声是非目标声学干扰；多人重叠是语音型干扰。正文会分开报告，后者也是我们最终发现的主要瓶颈</a:t>
            </a:r>
            <a:r>
              <a:rPr lang="en-US" altLang="zh-CN" sz="1200" kern="1200" dirty="0" smtClean="0">
                <a:solidFill>
                  <a:schemeClr val="tx1"/>
                </a:solidFill>
                <a:effectLst/>
                <a:latin typeface="+mn-lt"/>
                <a:ea typeface="+mn-ea"/>
                <a:cs typeface="+mn-cs"/>
              </a:rPr>
              <a:t>。</a:t>
            </a: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5</a:t>
            </a:fld>
            <a:endParaRPr lang="zh-CN" altLang="en-US"/>
          </a:p>
        </p:txBody>
      </p:sp>
    </p:spTree>
    <p:extLst>
      <p:ext uri="{BB962C8B-B14F-4D97-AF65-F5344CB8AC3E}">
        <p14:creationId xmlns:p14="http://schemas.microsoft.com/office/powerpoint/2010/main" val="2825954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任务有两层指标。挑战目标是两档EER都做到0.5%以内，这和当前基线还有明显差距，所以这次没有把它作为主攻目标。真正的验收线是：相对各自未增强骨干，0 dB和-5 dB两档EER都至少下降30%。</a:t>
            </a:r>
            <a:r>
              <a:rPr lang="en-US" altLang="zh-CN" sz="1200" kern="1200" dirty="0" err="1" smtClean="0">
                <a:solidFill>
                  <a:schemeClr val="tx1"/>
                </a:solidFill>
                <a:effectLst/>
                <a:latin typeface="+mn-lt"/>
                <a:ea typeface="+mn-ea"/>
                <a:cs typeface="+mn-cs"/>
              </a:rPr>
              <a:t>另外基线定义</a:t>
            </a:r>
            <a:r>
              <a:rPr lang="zh-CN" altLang="en-US"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原始未增强骨干，不允许偷偷加前端增强、鲁棒训练或者后端校准。阈值只在验证集上确定，官方测试集全程冻结。后面所有结果都按这个规则比较</a:t>
            </a: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6</a:t>
            </a:fld>
            <a:endParaRPr lang="zh-CN" altLang="en-US"/>
          </a:p>
        </p:txBody>
      </p:sp>
    </p:spTree>
    <p:extLst>
      <p:ext uri="{BB962C8B-B14F-4D97-AF65-F5344CB8AC3E}">
        <p14:creationId xmlns:p14="http://schemas.microsoft.com/office/powerpoint/2010/main" val="4161589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第二部分讲研究思路，也就是我们为什么最后会走到现在这套方法</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7</a:t>
            </a:fld>
            <a:endParaRPr lang="zh-CN" altLang="en-US"/>
          </a:p>
        </p:txBody>
      </p:sp>
    </p:spTree>
    <p:extLst>
      <p:ext uri="{BB962C8B-B14F-4D97-AF65-F5344CB8AC3E}">
        <p14:creationId xmlns:p14="http://schemas.microsoft.com/office/powerpoint/2010/main" val="369489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一开始我先试了两条很自然的路线</a:t>
            </a:r>
            <a:r>
              <a:rPr lang="en-US" altLang="zh-CN" sz="1200" kern="1200" dirty="0" smtClean="0">
                <a:solidFill>
                  <a:schemeClr val="tx1"/>
                </a:solidFill>
                <a:effectLst/>
                <a:latin typeface="+mn-lt"/>
                <a:ea typeface="+mn-ea"/>
                <a:cs typeface="+mn-cs"/>
              </a:rPr>
              <a:t>。</a:t>
            </a:r>
            <a:r>
              <a:rPr lang="zh-CN" altLang="en-US" dirty="0" smtClean="0"/>
              <a:t>第一条路线是直接进行冻结式后端鲁棒微调。实验发现该方法可以带来一定收益，</a:t>
            </a:r>
            <a:r>
              <a:rPr lang="en-US" altLang="zh-CN" dirty="0" smtClean="0"/>
              <a:t>0 dB EER</a:t>
            </a:r>
            <a:r>
              <a:rPr lang="zh-CN" altLang="en-US" dirty="0" smtClean="0"/>
              <a:t>由</a:t>
            </a:r>
            <a:r>
              <a:rPr lang="en-US" altLang="zh-CN" dirty="0" smtClean="0"/>
              <a:t>8.39</a:t>
            </a:r>
            <a:r>
              <a:rPr lang="zh-CN" altLang="en-US" dirty="0" smtClean="0"/>
              <a:t>下降到</a:t>
            </a:r>
            <a:r>
              <a:rPr lang="en-US" altLang="zh-CN" dirty="0" smtClean="0"/>
              <a:t>7.69</a:t>
            </a:r>
            <a:r>
              <a:rPr lang="zh-CN" altLang="en-US" dirty="0" smtClean="0"/>
              <a:t>，</a:t>
            </a:r>
            <a:r>
              <a:rPr lang="en-US" altLang="zh-CN" dirty="0" smtClean="0"/>
              <a:t>-5 dB</a:t>
            </a:r>
            <a:r>
              <a:rPr lang="zh-CN" altLang="en-US" dirty="0" smtClean="0"/>
              <a:t>由</a:t>
            </a:r>
            <a:r>
              <a:rPr lang="en-US" altLang="zh-CN" dirty="0" smtClean="0"/>
              <a:t>11.06</a:t>
            </a:r>
            <a:r>
              <a:rPr lang="zh-CN" altLang="en-US" dirty="0" smtClean="0"/>
              <a:t>下降到</a:t>
            </a:r>
            <a:r>
              <a:rPr lang="en-US" altLang="zh-CN" dirty="0" smtClean="0"/>
              <a:t>9.88</a:t>
            </a:r>
            <a:r>
              <a:rPr lang="zh-CN" altLang="en-US" dirty="0" smtClean="0"/>
              <a:t>。但整体提升约</a:t>
            </a:r>
            <a:r>
              <a:rPr lang="en-US" altLang="zh-CN" dirty="0" smtClean="0"/>
              <a:t>10%</a:t>
            </a:r>
            <a:r>
              <a:rPr lang="zh-CN" altLang="en-US" dirty="0" smtClean="0"/>
              <a:t>左右，距离</a:t>
            </a:r>
            <a:r>
              <a:rPr lang="en-US" altLang="zh-CN" dirty="0" smtClean="0"/>
              <a:t>30%</a:t>
            </a:r>
            <a:r>
              <a:rPr lang="zh-CN" altLang="en-US" dirty="0" smtClean="0"/>
              <a:t>的验收目标仍有明显差距，因此我们没有继续沿该方向扩展，而转向寻找更有效的前端身份增强方法。</a:t>
            </a:r>
            <a:r>
              <a:rPr lang="en-US" altLang="zh-CN" sz="1200" kern="1200" dirty="0" smtClean="0">
                <a:solidFill>
                  <a:schemeClr val="tx1"/>
                </a:solidFill>
                <a:effectLst/>
                <a:latin typeface="+mn-lt"/>
                <a:ea typeface="+mn-ea"/>
                <a:cs typeface="+mn-cs"/>
              </a:rPr>
              <a:t>第二条是先用FullSubNet+做通用语音增强，结果0 dB反而从8.39变成10.11。这个失败反而帮我们把问题想清楚了。增强前后目标对的平均相似度从0.422掉到0.391，说明“听起来更干净”并不等于“对身份判别更友好”，通用增强并不会显式保护声纹所依赖的稳定身份特征。所以后面我们把任务重新定义了：不再只是做普通降噪，而是让增强网络先知道“我要保留谁”。注册语音本来就是验证系统已有的信息，我们把它作为条件，做注册条件化的目标说话人提取。后面的优化就围绕两件事：保住目标身份、拉开非目标身份。最终0 dB做到4.89，-5 dB做到5.56，两档都超过30%的验收线。</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0.422→0.391到底代表什么？</a:t>
            </a:r>
            <a:r>
              <a:rPr lang="zh-CN" altLang="en-US" sz="1200" b="1" kern="1200" dirty="0" smtClean="0">
                <a:solidFill>
                  <a:schemeClr val="tx1"/>
                </a:solidFill>
                <a:effectLst/>
                <a:latin typeface="+mn-lt"/>
                <a:ea typeface="+mn-ea"/>
                <a:cs typeface="+mn-cs"/>
              </a:rPr>
              <a:t>（余弦相似度）</a:t>
            </a:r>
            <a:endParaRPr lang="en-US" altLang="zh-CN" sz="1200" b="1" kern="1200" dirty="0" smtClean="0">
              <a:solidFill>
                <a:schemeClr val="tx1"/>
              </a:solidFill>
              <a:effectLst/>
              <a:latin typeface="+mn-lt"/>
              <a:ea typeface="+mn-ea"/>
              <a:cs typeface="+mn-cs"/>
            </a:endParaRPr>
          </a:p>
          <a:p>
            <a:r>
              <a:rPr lang="en-US" altLang="zh-CN" dirty="0" err="1" smtClean="0"/>
              <a:t>FullSubNet</a:t>
            </a:r>
            <a:r>
              <a:rPr lang="en-US" altLang="zh-CN" dirty="0" smtClean="0"/>
              <a:t>+</a:t>
            </a:r>
            <a:r>
              <a:rPr lang="zh-CN" altLang="en-US" dirty="0" smtClean="0"/>
              <a:t>通用降噪前后，同一目标说话人注册</a:t>
            </a:r>
            <a:r>
              <a:rPr lang="en-US" altLang="zh-CN" dirty="0" smtClean="0"/>
              <a:t>-</a:t>
            </a:r>
            <a:r>
              <a:rPr lang="zh-CN" altLang="en-US" dirty="0" smtClean="0"/>
              <a:t>测试</a:t>
            </a:r>
            <a:r>
              <a:rPr lang="en-US" altLang="zh-CN" dirty="0" smtClean="0"/>
              <a:t>pair</a:t>
            </a:r>
            <a:r>
              <a:rPr lang="zh-CN" altLang="en-US" dirty="0" smtClean="0"/>
              <a:t>的平均</a:t>
            </a:r>
            <a:r>
              <a:rPr lang="en-US" altLang="zh-CN" dirty="0" smtClean="0"/>
              <a:t>cosine similarity</a:t>
            </a:r>
            <a:r>
              <a:rPr lang="zh-CN" altLang="en-US" dirty="0" smtClean="0"/>
              <a:t>。</a:t>
            </a:r>
            <a:r>
              <a:rPr lang="en-US" altLang="zh-CN" sz="1200" kern="1200" dirty="0" smtClean="0">
                <a:solidFill>
                  <a:schemeClr val="tx1"/>
                </a:solidFill>
                <a:effectLst/>
                <a:latin typeface="+mn-lt"/>
                <a:ea typeface="+mn-ea"/>
                <a:cs typeface="+mn-cs"/>
              </a:rPr>
              <a:t>这是目标对，也就是同一说话人的注册语音和测试语音之间的平均相似度。下降说明增强后跨句身份一致性反而变弱，是“信号质量改善但声纹可分性变差”的直接证据之一。</a:t>
            </a:r>
          </a:p>
          <a:p>
            <a:r>
              <a:rPr lang="en-US" altLang="zh-CN" sz="1200" b="1" kern="1200" dirty="0" err="1" smtClean="0">
                <a:solidFill>
                  <a:schemeClr val="tx1"/>
                </a:solidFill>
                <a:effectLst/>
                <a:latin typeface="+mn-lt"/>
                <a:ea typeface="+mn-ea"/>
                <a:cs typeface="+mn-cs"/>
              </a:rPr>
              <a:t>为什么不继续做后端鲁棒训练，而是转前端</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后端微调在当前数据和设置下出现明显负增益；而前端有一个优势：可以保持官方后端不动，把增益归因到增强模块，也更容易跨后端复用</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为什么注册语音能解决问题</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注册语音直接提供目标身份信息。普通增强只知道“什么是语音</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噪声</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条件化增强则额外知道“这一条里应该优先保护谁的身份特征</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8</a:t>
            </a:fld>
            <a:endParaRPr lang="zh-CN" altLang="en-US"/>
          </a:p>
        </p:txBody>
      </p:sp>
    </p:spTree>
    <p:extLst>
      <p:ext uri="{BB962C8B-B14F-4D97-AF65-F5344CB8AC3E}">
        <p14:creationId xmlns:p14="http://schemas.microsoft.com/office/powerpoint/2010/main" val="1035815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第三部分</a:t>
            </a:r>
            <a:r>
              <a:rPr lang="en-US" altLang="zh-CN" dirty="0" smtClean="0"/>
              <a:t>,</a:t>
            </a:r>
            <a:r>
              <a:rPr lang="zh-CN" altLang="en-US" dirty="0" smtClean="0"/>
              <a:t>实验条件与评测协议。</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9</a:t>
            </a:fld>
            <a:endParaRPr lang="zh-CN" altLang="en-US"/>
          </a:p>
        </p:txBody>
      </p:sp>
    </p:spTree>
    <p:extLst>
      <p:ext uri="{BB962C8B-B14F-4D97-AF65-F5344CB8AC3E}">
        <p14:creationId xmlns:p14="http://schemas.microsoft.com/office/powerpoint/2010/main" val="2504299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第一，训练主体是3D-Speaker中文数据，训练、验证、测试严格按说话人隔离。第二，训练噪声和测试噪声文件也做了隔离，避免模型只是记住某批噪声。第三，所有模型选择都在100个未见说话人的代理验证集上完成，官方测试集不参与调参。</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每轮为什么只抽3万条，不用全部58万？</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这是训练预算和迭代效率的折中。我们固定采样规则和种子，保证各阶段预算可比；最终结论依赖冻结的官方大规模评测，而不是某一轮训练集上的表现。</a:t>
            </a:r>
            <a:endParaRPr lang="zh-CN"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batch size为什么只有2？</a:t>
            </a:r>
          </a:p>
          <a:p>
            <a:r>
              <a:rPr lang="en-US" altLang="zh-CN" sz="1200" kern="1200" dirty="0" smtClean="0">
                <a:solidFill>
                  <a:schemeClr val="tx1"/>
                </a:solidFill>
                <a:effectLst/>
                <a:latin typeface="+mn-lt"/>
                <a:ea typeface="+mn-ea"/>
                <a:cs typeface="+mn-cs"/>
              </a:rPr>
              <a:t>受P100 12GB显存和FullSubNet+频谱序列计算开销限制。我们通过固定配置和多轮训练保证比较公平。</a:t>
            </a:r>
          </a:p>
          <a:p>
            <a:r>
              <a:rPr lang="en-US" altLang="zh-CN" sz="1200" b="1" kern="1200" dirty="0" err="1" smtClean="0">
                <a:solidFill>
                  <a:schemeClr val="tx1"/>
                </a:solidFill>
                <a:effectLst/>
                <a:latin typeface="+mn-lt"/>
                <a:ea typeface="+mn-ea"/>
                <a:cs typeface="+mn-cs"/>
              </a:rPr>
              <a:t>噪声训练池和测试池为什么要隔离</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为了验证泛化而不是记忆具体噪声文件。后面music、SoundBible的未见噪声域实验进一步验证这一点</a:t>
            </a:r>
            <a:r>
              <a:rPr lang="en-US" altLang="zh-CN" sz="1200" kern="1200" dirty="0" smtClean="0">
                <a:solidFill>
                  <a:schemeClr val="tx1"/>
                </a:solidFill>
                <a:effectLst/>
                <a:latin typeface="+mn-lt"/>
                <a:ea typeface="+mn-ea"/>
                <a:cs typeface="+mn-cs"/>
              </a:rPr>
              <a:t>。</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10</a:t>
            </a:fld>
            <a:endParaRPr lang="zh-CN" altLang="en-US"/>
          </a:p>
        </p:txBody>
      </p:sp>
    </p:spTree>
    <p:extLst>
      <p:ext uri="{BB962C8B-B14F-4D97-AF65-F5344CB8AC3E}">
        <p14:creationId xmlns:p14="http://schemas.microsoft.com/office/powerpoint/2010/main" val="4273379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正式跑自己的方法之前，我们先确认评测管线本身没有问题。用官方预训练权重复现cross-device协议，ECAPA和ERes2Net与论文值的偏差都在0.6个百分点以内，所以这套打分和评测链路是可信的。然后固定同一套240个测试说话人、注册语音和137.8万条trial。后面所有方法都用同一套列表比较。对主力ERes2Net来说，3秒的0 dB和-5 dB基线分别是8.39和11.06；按30%验收线换算，必须压到5.874和7.739以下。后面大家可以直接拿这两条线看结果。</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为什么论文值和你复现值还有0.4—0.5pp差异？</a:t>
            </a:r>
          </a:p>
          <a:p>
            <a:r>
              <a:rPr lang="en-US" altLang="zh-CN" sz="1200" kern="1200" dirty="0" smtClean="0">
                <a:solidFill>
                  <a:schemeClr val="tx1"/>
                </a:solidFill>
                <a:effectLst/>
                <a:latin typeface="+mn-lt"/>
                <a:ea typeface="+mn-ea"/>
                <a:cs typeface="+mn-cs"/>
              </a:rPr>
              <a:t>现实中解码、切分、特征实现和软件版本都可能带来小偏差。我们不是要求逐位相同，而是通过同协议复现并把偏差控制在0.6pp以内，随后所有实验固定用同一实现做相对比较。</a:t>
            </a:r>
          </a:p>
          <a:p>
            <a:r>
              <a:rPr lang="en-US" altLang="zh-CN" sz="1200" b="1" kern="1200" dirty="0" err="1" smtClean="0">
                <a:solidFill>
                  <a:schemeClr val="tx1"/>
                </a:solidFill>
                <a:effectLst/>
                <a:latin typeface="+mn-lt"/>
                <a:ea typeface="+mn-ea"/>
                <a:cs typeface="+mn-cs"/>
              </a:rPr>
              <a:t>为什么主讲cross</a:t>
            </a:r>
            <a:r>
              <a:rPr lang="en-US" altLang="zh-CN" sz="1200" b="1" kern="1200" dirty="0" smtClean="0">
                <a:solidFill>
                  <a:schemeClr val="tx1"/>
                </a:solidFill>
                <a:effectLst/>
                <a:latin typeface="+mn-lt"/>
                <a:ea typeface="+mn-ea"/>
                <a:cs typeface="+mn-cs"/>
              </a:rPr>
              <a:t>-device？</a:t>
            </a:r>
          </a:p>
          <a:p>
            <a:r>
              <a:rPr lang="en-US" altLang="zh-CN" sz="1200" kern="1200" dirty="0" err="1" smtClean="0">
                <a:solidFill>
                  <a:schemeClr val="tx1"/>
                </a:solidFill>
                <a:effectLst/>
                <a:latin typeface="+mn-lt"/>
                <a:ea typeface="+mn-ea"/>
                <a:cs typeface="+mn-cs"/>
              </a:rPr>
              <a:t>因为这是任务主验收协议，同时真实智能终端也存在注册设备和测试设备不一致的问题。其他协议用于校准和补充</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137.8万条trial为什么这么多？</a:t>
            </a:r>
          </a:p>
          <a:p>
            <a:r>
              <a:rPr lang="en-US" altLang="zh-CN" sz="1200" kern="1200" dirty="0" err="1" smtClean="0">
                <a:solidFill>
                  <a:schemeClr val="tx1"/>
                </a:solidFill>
                <a:effectLst/>
                <a:latin typeface="+mn-lt"/>
                <a:ea typeface="+mn-ea"/>
                <a:cs typeface="+mn-cs"/>
              </a:rPr>
              <a:t>验证任务需要同时覆盖目标对和大量非目标对。固定的大规模trial能降低偶然性，也更接近真实冒认分布</a:t>
            </a:r>
            <a:r>
              <a:rPr lang="en-US" altLang="zh-CN" sz="1200" kern="1200" dirty="0" smtClean="0">
                <a:solidFill>
                  <a:schemeClr val="tx1"/>
                </a:solidFill>
                <a:effectLst/>
                <a:latin typeface="+mn-lt"/>
                <a:ea typeface="+mn-ea"/>
                <a:cs typeface="+mn-cs"/>
              </a:rPr>
              <a:t>。</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11</a:t>
            </a:fld>
            <a:endParaRPr lang="zh-CN" altLang="en-US"/>
          </a:p>
        </p:txBody>
      </p:sp>
    </p:spTree>
    <p:extLst>
      <p:ext uri="{BB962C8B-B14F-4D97-AF65-F5344CB8AC3E}">
        <p14:creationId xmlns:p14="http://schemas.microsoft.com/office/powerpoint/2010/main" val="254432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第四部分</a:t>
            </a:r>
            <a:r>
              <a:rPr lang="en-US" altLang="zh-CN" dirty="0" smtClean="0"/>
              <a:t>,</a:t>
            </a:r>
            <a:r>
              <a:rPr lang="zh-CN" altLang="en-US" dirty="0" smtClean="0"/>
              <a:t>交付方法</a:t>
            </a:r>
            <a:r>
              <a:rPr lang="en-US" altLang="zh-CN" dirty="0" smtClean="0"/>
              <a:t>,</a:t>
            </a:r>
            <a:r>
              <a:rPr lang="zh-CN" altLang="en-US" dirty="0" smtClean="0"/>
              <a:t>分三页</a:t>
            </a:r>
            <a:r>
              <a:rPr lang="en-US" altLang="zh-CN" dirty="0" smtClean="0"/>
              <a:t>:</a:t>
            </a:r>
            <a:r>
              <a:rPr lang="zh-CN" altLang="en-US" dirty="0" smtClean="0"/>
              <a:t>模型结构、损失函数、训练策略。</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12</a:t>
            </a:fld>
            <a:endParaRPr lang="zh-CN" altLang="en-US"/>
          </a:p>
        </p:txBody>
      </p:sp>
    </p:spTree>
    <p:extLst>
      <p:ext uri="{BB962C8B-B14F-4D97-AF65-F5344CB8AC3E}">
        <p14:creationId xmlns:p14="http://schemas.microsoft.com/office/powerpoint/2010/main" val="1584453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上面是注册条件路径：注册语音先经过冻结的声纹后端，拿到512维说话人embedding；SpeakerFiLM根据这个embedding生成γ和β，</a:t>
            </a:r>
            <a:r>
              <a:rPr lang="en-US" altLang="zh-CN" sz="1200" kern="1200" dirty="0" err="1" smtClean="0">
                <a:solidFill>
                  <a:schemeClr val="tx1"/>
                </a:solidFill>
                <a:effectLst/>
                <a:latin typeface="+mn-lt"/>
                <a:ea typeface="+mn-ea"/>
                <a:cs typeface="+mn-cs"/>
              </a:rPr>
              <a:t>把目标身份信息注入FullSubNet</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下面是待增强语音路径：0 dB或者-5 </a:t>
            </a:r>
            <a:r>
              <a:rPr lang="en-US" altLang="zh-CN" sz="1200" kern="1200" dirty="0" err="1" smtClean="0">
                <a:solidFill>
                  <a:schemeClr val="tx1"/>
                </a:solidFill>
                <a:effectLst/>
                <a:latin typeface="+mn-lt"/>
                <a:ea typeface="+mn-ea"/>
                <a:cs typeface="+mn-cs"/>
              </a:rPr>
              <a:t>dB的测试语音进入条件化FullSubNet</a:t>
            </a:r>
            <a:r>
              <a:rPr lang="en-US" altLang="zh-CN" sz="1200" kern="1200" dirty="0" smtClean="0">
                <a:solidFill>
                  <a:schemeClr val="tx1"/>
                </a:solidFill>
                <a:effectLst/>
                <a:latin typeface="+mn-lt"/>
                <a:ea typeface="+mn-ea"/>
                <a:cs typeface="+mn-cs"/>
              </a:rPr>
              <a:t>+，估计复值掩码并重建增强语音。增强以后，再和注册语音经过同一个冻结后端提embedding，最后做余弦相似度判断。所以它和普通降噪最大的区别就是：增强之前已经知道“我要保护谁”。训练时只更新前端，大约9.2M参数，声纹后端一直冻结。</a:t>
            </a:r>
          </a:p>
          <a:p>
            <a:endParaRPr lang="en-US" altLang="zh-CN" sz="1200" kern="1200" dirty="0" smtClean="0">
              <a:solidFill>
                <a:schemeClr val="tx1"/>
              </a:solidFill>
              <a:effectLst/>
              <a:latin typeface="+mn-lt"/>
              <a:ea typeface="+mn-ea"/>
              <a:cs typeface="+mn-cs"/>
            </a:endParaRPr>
          </a:p>
          <a:p>
            <a:r>
              <a:rPr lang="en-US" altLang="zh-CN" sz="1200" b="1" i="0" kern="1200" dirty="0" err="1" smtClean="0">
                <a:solidFill>
                  <a:schemeClr val="tx1"/>
                </a:solidFill>
                <a:effectLst/>
                <a:latin typeface="+mn-lt"/>
                <a:ea typeface="+mn-ea"/>
                <a:cs typeface="+mn-cs"/>
              </a:rPr>
              <a:t>SpeakerFiLM</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的全称是：</a:t>
            </a:r>
            <a:r>
              <a:rPr lang="en-US" altLang="zh-CN" b="1" dirty="0" smtClean="0">
                <a:effectLst/>
              </a:rPr>
              <a:t>Speaker Feature-wise Linear Modulation</a:t>
            </a:r>
            <a:endParaRPr lang="en-US" altLang="zh-CN" dirty="0" smtClean="0">
              <a:effectLst/>
            </a:endParaRPr>
          </a:p>
          <a:p>
            <a:endParaRPr lang="en-US" altLang="zh-CN" sz="1200" kern="1200" dirty="0" smtClean="0">
              <a:solidFill>
                <a:schemeClr val="tx1"/>
              </a:solidFill>
              <a:effectLst/>
              <a:latin typeface="+mn-lt"/>
              <a:ea typeface="+mn-ea"/>
              <a:cs typeface="+mn-cs"/>
            </a:endParaRPr>
          </a:p>
          <a:p>
            <a:r>
              <a:rPr lang="en-US" altLang="zh-CN" sz="1200" b="1" i="0" kern="1200" dirty="0" smtClean="0">
                <a:solidFill>
                  <a:schemeClr val="tx1"/>
                </a:solidFill>
                <a:effectLst/>
                <a:latin typeface="+mn-lt"/>
                <a:ea typeface="+mn-ea"/>
                <a:cs typeface="+mn-cs"/>
              </a:rPr>
              <a:t>MLP</a:t>
            </a:r>
            <a:r>
              <a:rPr lang="zh-CN" altLang="en-US" sz="1200" b="0" i="0" kern="1200" dirty="0" smtClean="0">
                <a:solidFill>
                  <a:schemeClr val="tx1"/>
                </a:solidFill>
                <a:effectLst/>
                <a:latin typeface="+mn-lt"/>
                <a:ea typeface="+mn-ea"/>
                <a:cs typeface="+mn-cs"/>
              </a:rPr>
              <a:t>的全称是</a:t>
            </a:r>
            <a:r>
              <a:rPr lang="zh-CN" altLang="en-US" sz="1200" b="1" i="0" kern="1200" dirty="0" smtClean="0">
                <a:solidFill>
                  <a:schemeClr val="tx1"/>
                </a:solidFill>
                <a:effectLst/>
                <a:latin typeface="+mn-lt"/>
                <a:ea typeface="+mn-ea"/>
                <a:cs typeface="+mn-cs"/>
              </a:rPr>
              <a:t>多层感知机（</a:t>
            </a:r>
            <a:r>
              <a:rPr lang="en-US" altLang="zh-CN" sz="1200" b="1" i="0" kern="1200" dirty="0" smtClean="0">
                <a:solidFill>
                  <a:schemeClr val="tx1"/>
                </a:solidFill>
                <a:effectLst/>
                <a:latin typeface="+mn-lt"/>
                <a:ea typeface="+mn-ea"/>
                <a:cs typeface="+mn-cs"/>
              </a:rPr>
              <a:t>Multilayer Perceptron</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，在深度学习里，你可以直接把它理解为</a:t>
            </a:r>
            <a:r>
              <a:rPr lang="zh-CN" altLang="en-US" sz="1200" b="1" i="0" kern="1200" dirty="0" smtClean="0">
                <a:solidFill>
                  <a:schemeClr val="tx1"/>
                </a:solidFill>
                <a:effectLst/>
                <a:latin typeface="+mn-lt"/>
                <a:ea typeface="+mn-ea"/>
                <a:cs typeface="+mn-cs"/>
              </a:rPr>
              <a:t>最基础、最通用的“全连接神经网络”</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输入层</a:t>
            </a:r>
            <a:r>
              <a:rPr lang="zh-CN" altLang="en-US" sz="1200" b="0" i="0" kern="1200" dirty="0" smtClean="0">
                <a:solidFill>
                  <a:schemeClr val="tx1"/>
                </a:solidFill>
                <a:effectLst/>
                <a:latin typeface="+mn-lt"/>
                <a:ea typeface="+mn-ea"/>
                <a:cs typeface="+mn-cs"/>
              </a:rPr>
              <a:t>：接收原始数据（比如你</a:t>
            </a:r>
            <a:r>
              <a:rPr lang="en-US" altLang="zh-CN" sz="1200" b="0" i="0" kern="1200" dirty="0" smtClean="0">
                <a:solidFill>
                  <a:schemeClr val="tx1"/>
                </a:solidFill>
                <a:effectLst/>
                <a:latin typeface="+mn-lt"/>
                <a:ea typeface="+mn-ea"/>
                <a:cs typeface="+mn-cs"/>
              </a:rPr>
              <a:t>PPT</a:t>
            </a:r>
            <a:r>
              <a:rPr lang="zh-CN" altLang="en-US" sz="1200" b="0" i="0" kern="1200" dirty="0" smtClean="0">
                <a:solidFill>
                  <a:schemeClr val="tx1"/>
                </a:solidFill>
                <a:effectLst/>
                <a:latin typeface="+mn-lt"/>
                <a:ea typeface="+mn-ea"/>
                <a:cs typeface="+mn-cs"/>
              </a:rPr>
              <a:t>里注册语音的</a:t>
            </a:r>
            <a:r>
              <a:rPr lang="en-US" altLang="zh-CN" sz="1200" b="0" i="0" kern="1200" dirty="0" smtClean="0">
                <a:solidFill>
                  <a:schemeClr val="tx1"/>
                </a:solidFill>
                <a:effectLst/>
                <a:latin typeface="+mn-lt"/>
                <a:ea typeface="+mn-ea"/>
                <a:cs typeface="+mn-cs"/>
              </a:rPr>
              <a:t>512</a:t>
            </a:r>
            <a:r>
              <a:rPr lang="zh-CN" altLang="en-US" sz="1200" b="0" i="0" kern="1200" dirty="0" smtClean="0">
                <a:solidFill>
                  <a:schemeClr val="tx1"/>
                </a:solidFill>
                <a:effectLst/>
                <a:latin typeface="+mn-lt"/>
                <a:ea typeface="+mn-ea"/>
                <a:cs typeface="+mn-cs"/>
              </a:rPr>
              <a:t>维声纹嵌入 </a:t>
            </a:r>
            <a:r>
              <a:rPr lang="en-US" altLang="zh-CN" sz="1200" b="0" i="0" kern="1200" dirty="0" err="1" smtClean="0">
                <a:solidFill>
                  <a:schemeClr val="tx1"/>
                </a:solidFill>
                <a:effectLst/>
                <a:latin typeface="+mn-lt"/>
                <a:ea typeface="+mn-ea"/>
                <a:cs typeface="+mn-cs"/>
              </a:rPr>
              <a:t>eenr</a:t>
            </a:r>
            <a:r>
              <a:rPr lang="en-US" altLang="zh-CN" sz="1200" b="0" i="1" kern="1200" dirty="0" err="1" smtClean="0">
                <a:solidFill>
                  <a:schemeClr val="tx1"/>
                </a:solidFill>
                <a:effectLst/>
                <a:latin typeface="+mn-lt"/>
                <a:ea typeface="+mn-ea"/>
                <a:cs typeface="+mn-cs"/>
              </a:rPr>
              <a:t>eenr</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隐藏层</a:t>
            </a:r>
            <a:r>
              <a:rPr lang="zh-CN" altLang="en-US" sz="1200" b="0" i="0" kern="1200" dirty="0" smtClean="0">
                <a:solidFill>
                  <a:schemeClr val="tx1"/>
                </a:solidFill>
                <a:effectLst/>
                <a:latin typeface="+mn-lt"/>
                <a:ea typeface="+mn-ea"/>
                <a:cs typeface="+mn-cs"/>
              </a:rPr>
              <a:t>：中间的计算层（你的项目里有</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层）。这一层每个神经元都跟上一层全部连接（所以叫“全连接”），负责做</a:t>
            </a:r>
            <a:r>
              <a:rPr lang="zh-CN" altLang="en-US" sz="1200" b="1" i="0" kern="1200" dirty="0" smtClean="0">
                <a:solidFill>
                  <a:schemeClr val="tx1"/>
                </a:solidFill>
                <a:effectLst/>
                <a:latin typeface="+mn-lt"/>
                <a:ea typeface="+mn-ea"/>
                <a:cs typeface="+mn-cs"/>
              </a:rPr>
              <a:t>加权求和 </a:t>
            </a:r>
            <a:r>
              <a:rPr lang="en-US" altLang="zh-CN" sz="1200" b="1" i="0" kern="1200" dirty="0" smtClean="0">
                <a:solidFill>
                  <a:schemeClr val="tx1"/>
                </a:solidFill>
                <a:effectLst/>
                <a:latin typeface="+mn-lt"/>
                <a:ea typeface="+mn-ea"/>
                <a:cs typeface="+mn-cs"/>
              </a:rPr>
              <a:t>+ </a:t>
            </a:r>
            <a:r>
              <a:rPr lang="zh-CN" altLang="en-US" sz="1200" b="1" i="0" kern="1200" dirty="0" smtClean="0">
                <a:solidFill>
                  <a:schemeClr val="tx1"/>
                </a:solidFill>
                <a:effectLst/>
                <a:latin typeface="+mn-lt"/>
                <a:ea typeface="+mn-ea"/>
                <a:cs typeface="+mn-cs"/>
              </a:rPr>
              <a:t>激活函数</a:t>
            </a:r>
            <a:r>
              <a:rPr lang="zh-CN" altLang="en-US" sz="1200" b="0" i="0" kern="1200" dirty="0" smtClean="0">
                <a:solidFill>
                  <a:schemeClr val="tx1"/>
                </a:solidFill>
                <a:effectLst/>
                <a:latin typeface="+mn-lt"/>
                <a:ea typeface="+mn-ea"/>
                <a:cs typeface="+mn-cs"/>
              </a:rPr>
              <a:t>（比如</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输出层</a:t>
            </a:r>
            <a:r>
              <a:rPr lang="zh-CN" altLang="en-US" sz="1200" b="0" i="0" kern="1200" dirty="0" smtClean="0">
                <a:solidFill>
                  <a:schemeClr val="tx1"/>
                </a:solidFill>
                <a:effectLst/>
                <a:latin typeface="+mn-lt"/>
                <a:ea typeface="+mn-ea"/>
                <a:cs typeface="+mn-cs"/>
              </a:rPr>
              <a:t>：输出最终结果（在你项目里，就是输出两个系数 </a:t>
            </a:r>
            <a:r>
              <a:rPr lang="en-US" altLang="zh-CN" sz="1200" b="0" i="1" kern="1200" dirty="0" smtClean="0">
                <a:solidFill>
                  <a:schemeClr val="tx1"/>
                </a:solidFill>
                <a:effectLst/>
                <a:latin typeface="+mn-lt"/>
                <a:ea typeface="+mn-ea"/>
                <a:cs typeface="+mn-cs"/>
              </a:rPr>
              <a:t>γ</a:t>
            </a:r>
            <a:r>
              <a:rPr lang="zh-CN" altLang="en-US" sz="1200" b="0" i="0" kern="1200" dirty="0" smtClean="0">
                <a:solidFill>
                  <a:schemeClr val="tx1"/>
                </a:solidFill>
                <a:effectLst/>
                <a:latin typeface="+mn-lt"/>
                <a:ea typeface="+mn-ea"/>
                <a:cs typeface="+mn-cs"/>
              </a:rPr>
              <a:t> 和 </a:t>
            </a:r>
            <a:r>
              <a:rPr lang="en-US" altLang="zh-CN" sz="1200" b="0" i="1" kern="1200" dirty="0" smtClean="0">
                <a:solidFill>
                  <a:schemeClr val="tx1"/>
                </a:solidFill>
                <a:effectLst/>
                <a:latin typeface="+mn-lt"/>
                <a:ea typeface="+mn-ea"/>
                <a:cs typeface="+mn-cs"/>
              </a:rPr>
              <a:t>β</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smtClean="0"/>
              <a:t>“注册语音先经过冻结声纹后端得到</a:t>
            </a:r>
            <a:r>
              <a:rPr lang="en-US" altLang="zh-CN" dirty="0" smtClean="0"/>
              <a:t>512</a:t>
            </a:r>
            <a:r>
              <a:rPr lang="zh-CN" altLang="en-US" dirty="0" smtClean="0"/>
              <a:t>维</a:t>
            </a:r>
            <a:r>
              <a:rPr lang="en-US" altLang="zh-CN" dirty="0" smtClean="0"/>
              <a:t>embedding</a:t>
            </a:r>
            <a:r>
              <a:rPr lang="zh-CN" altLang="en-US" dirty="0" smtClean="0"/>
              <a:t>，再通过一个两层</a:t>
            </a:r>
            <a:r>
              <a:rPr lang="en-US" altLang="zh-CN" dirty="0" smtClean="0"/>
              <a:t>MLP</a:t>
            </a:r>
            <a:r>
              <a:rPr lang="zh-CN" altLang="en-US" dirty="0" smtClean="0"/>
              <a:t>生成</a:t>
            </a:r>
            <a:r>
              <a:rPr lang="en-US" altLang="zh-CN" dirty="0" err="1" smtClean="0"/>
              <a:t>FiLM</a:t>
            </a:r>
            <a:r>
              <a:rPr lang="zh-CN" altLang="en-US" dirty="0" smtClean="0"/>
              <a:t>调制参数。这里的</a:t>
            </a:r>
            <a:r>
              <a:rPr lang="en-US" altLang="zh-CN" dirty="0" smtClean="0"/>
              <a:t>γ</a:t>
            </a:r>
            <a:r>
              <a:rPr lang="zh-CN" altLang="en-US" dirty="0" smtClean="0"/>
              <a:t>和</a:t>
            </a:r>
            <a:r>
              <a:rPr lang="en-US" altLang="zh-CN" dirty="0" smtClean="0"/>
              <a:t>β</a:t>
            </a:r>
            <a:r>
              <a:rPr lang="zh-CN" altLang="en-US" dirty="0" smtClean="0"/>
              <a:t>不是两个标量，而是</a:t>
            </a:r>
            <a:r>
              <a:rPr lang="en-US" altLang="zh-CN" dirty="0" smtClean="0"/>
              <a:t>257</a:t>
            </a:r>
            <a:r>
              <a:rPr lang="zh-CN" altLang="en-US" dirty="0" smtClean="0"/>
              <a:t>个频带对应的逐频带缩放和偏置。训练时</a:t>
            </a:r>
            <a:r>
              <a:rPr lang="en-US" altLang="zh-CN" dirty="0" err="1" smtClean="0"/>
              <a:t>FullSubNet</a:t>
            </a:r>
            <a:r>
              <a:rPr lang="en-US" altLang="zh-CN" dirty="0" smtClean="0"/>
              <a:t>+</a:t>
            </a:r>
            <a:r>
              <a:rPr lang="zh-CN" altLang="en-US" dirty="0" smtClean="0"/>
              <a:t>和</a:t>
            </a:r>
            <a:r>
              <a:rPr lang="en-US" altLang="zh-CN" dirty="0" err="1" smtClean="0"/>
              <a:t>SpeakerFiLM</a:t>
            </a:r>
            <a:r>
              <a:rPr lang="zh-CN" altLang="en-US" dirty="0" smtClean="0"/>
              <a:t>联合更新，声纹后端冻结。测试阶段即使是没见过的新说话人，也可以根据注册</a:t>
            </a:r>
            <a:r>
              <a:rPr lang="en-US" altLang="zh-CN" dirty="0" smtClean="0"/>
              <a:t>embedding</a:t>
            </a:r>
            <a:r>
              <a:rPr lang="zh-CN" altLang="en-US" dirty="0" smtClean="0"/>
              <a:t>动态生成新的调制参数。” “注册语音先经过冻结声纹后端得到</a:t>
            </a:r>
            <a:r>
              <a:rPr lang="en-US" altLang="zh-CN" dirty="0" smtClean="0"/>
              <a:t>512</a:t>
            </a:r>
            <a:r>
              <a:rPr lang="zh-CN" altLang="en-US" dirty="0" smtClean="0"/>
              <a:t>维</a:t>
            </a:r>
            <a:r>
              <a:rPr lang="en-US" altLang="zh-CN" dirty="0" smtClean="0"/>
              <a:t>embedding</a:t>
            </a:r>
            <a:r>
              <a:rPr lang="zh-CN" altLang="en-US" dirty="0" smtClean="0"/>
              <a:t>，再通过一个两层</a:t>
            </a:r>
            <a:r>
              <a:rPr lang="en-US" altLang="zh-CN" dirty="0" smtClean="0"/>
              <a:t>MLP</a:t>
            </a:r>
            <a:r>
              <a:rPr lang="zh-CN" altLang="en-US" dirty="0" smtClean="0"/>
              <a:t>生成</a:t>
            </a:r>
            <a:r>
              <a:rPr lang="en-US" altLang="zh-CN" dirty="0" err="1" smtClean="0"/>
              <a:t>FiLM</a:t>
            </a:r>
            <a:r>
              <a:rPr lang="zh-CN" altLang="en-US" dirty="0" smtClean="0"/>
              <a:t>调制参数。训练时</a:t>
            </a:r>
            <a:r>
              <a:rPr lang="en-US" altLang="zh-CN" dirty="0" err="1" smtClean="0"/>
              <a:t>FullSubNet</a:t>
            </a:r>
            <a:r>
              <a:rPr lang="en-US" altLang="zh-CN" dirty="0" smtClean="0"/>
              <a:t>+</a:t>
            </a:r>
            <a:r>
              <a:rPr lang="zh-CN" altLang="en-US" dirty="0" smtClean="0"/>
              <a:t>和</a:t>
            </a:r>
            <a:r>
              <a:rPr lang="en-US" altLang="zh-CN" dirty="0" err="1" smtClean="0"/>
              <a:t>SpeakerFiLM</a:t>
            </a:r>
            <a:r>
              <a:rPr lang="zh-CN" altLang="en-US" dirty="0" smtClean="0"/>
              <a:t>联合更新，声纹后端冻结。</a:t>
            </a:r>
            <a:endParaRPr lang="en-US" altLang="zh-CN" dirty="0" smtClean="0"/>
          </a:p>
          <a:p>
            <a:r>
              <a:rPr lang="zh-CN" altLang="en-US" dirty="0" smtClean="0"/>
              <a:t>测试阶段即使是没见过的新说话人，也可以根据注册</a:t>
            </a:r>
            <a:r>
              <a:rPr lang="en-US" altLang="zh-CN" dirty="0" smtClean="0"/>
              <a:t>embedding</a:t>
            </a:r>
            <a:r>
              <a:rPr lang="zh-CN" altLang="en-US" dirty="0" smtClean="0"/>
              <a:t>动态生成新的调制参数。”</a:t>
            </a:r>
            <a:endParaRPr lang="en-US" altLang="zh-CN" dirty="0" smtClean="0"/>
          </a:p>
          <a:p>
            <a:endParaRPr lang="en-US" altLang="zh-CN" sz="1200" b="0" i="0" kern="1200" dirty="0" smtClean="0">
              <a:solidFill>
                <a:schemeClr val="tx1"/>
              </a:solidFill>
              <a:effectLst/>
              <a:latin typeface="+mn-lt"/>
              <a:ea typeface="+mn-ea"/>
              <a:cs typeface="+mn-cs"/>
            </a:endParaRPr>
          </a:p>
          <a:p>
            <a:r>
              <a:rPr lang="zh-CN" altLang="en-US" dirty="0" smtClean="0"/>
              <a:t>最终子带输入的三路展开实际上都使用了幅度路的</a:t>
            </a:r>
            <a:r>
              <a:rPr lang="en-US" altLang="zh-CN" dirty="0" smtClean="0"/>
              <a:t>full-band</a:t>
            </a:r>
            <a:r>
              <a:rPr lang="zh-CN" altLang="en-US" dirty="0" smtClean="0"/>
              <a:t>输出，所以真正产生有效梯度的条件路径主要集中在幅度路，实部和虚部两路保持在恒等初始化状态。当前所有交付结果都是基于这个真实实现得到的，因此不影响结果有效性，但说明后续还有空间把三路条件化真正打通。”</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smtClean="0"/>
              <a:t>我们不是为每个训练说话人保存一套</a:t>
            </a:r>
            <a:r>
              <a:rPr lang="en-US" altLang="zh-CN" dirty="0" err="1" smtClean="0"/>
              <a:t>FiLM</a:t>
            </a:r>
            <a:r>
              <a:rPr lang="zh-CN" altLang="en-US" dirty="0" smtClean="0"/>
              <a:t>参数，而是训练一个从</a:t>
            </a:r>
            <a:r>
              <a:rPr lang="en-US" altLang="zh-CN" dirty="0" smtClean="0"/>
              <a:t>speaker embedding</a:t>
            </a:r>
            <a:r>
              <a:rPr lang="zh-CN" altLang="en-US" dirty="0" smtClean="0"/>
              <a:t>到调制系数的共享</a:t>
            </a:r>
            <a:r>
              <a:rPr lang="en-US" altLang="zh-CN" dirty="0" smtClean="0"/>
              <a:t>MLP</a:t>
            </a:r>
            <a:r>
              <a:rPr lang="zh-CN" altLang="en-US" dirty="0" smtClean="0"/>
              <a:t>。测试阶段即便是训练从未见过的新说话人，只要冻结声纹模型能提取其注册</a:t>
            </a:r>
            <a:r>
              <a:rPr lang="en-US" altLang="zh-CN" dirty="0" smtClean="0"/>
              <a:t>embedding</a:t>
            </a:r>
            <a:r>
              <a:rPr lang="zh-CN" altLang="en-US" dirty="0" smtClean="0"/>
              <a:t>，</a:t>
            </a:r>
            <a:r>
              <a:rPr lang="en-US" altLang="zh-CN" dirty="0" smtClean="0"/>
              <a:t>MLP</a:t>
            </a:r>
            <a:r>
              <a:rPr lang="zh-CN" altLang="en-US" dirty="0" smtClean="0"/>
              <a:t>就可以动态生成对应的</a:t>
            </a:r>
            <a:r>
              <a:rPr lang="en-US" altLang="zh-CN" dirty="0" smtClean="0"/>
              <a:t>γ</a:t>
            </a:r>
            <a:r>
              <a:rPr lang="zh-CN" altLang="en-US" dirty="0" smtClean="0"/>
              <a:t>和</a:t>
            </a:r>
            <a:r>
              <a:rPr lang="en-US" altLang="zh-CN" dirty="0" smtClean="0"/>
              <a:t>β</a:t>
            </a:r>
            <a:r>
              <a:rPr lang="zh-CN" altLang="en-US" dirty="0" smtClean="0"/>
              <a:t>，因此和开集声纹验证的设定是一致的。</a:t>
            </a:r>
            <a:endParaRPr lang="en-US" altLang="zh-CN" dirty="0" smtClean="0"/>
          </a:p>
          <a:p>
            <a:endParaRPr lang="en-US" altLang="zh-CN" sz="1200" kern="1200" dirty="0" smtClean="0">
              <a:solidFill>
                <a:schemeClr val="tx1"/>
              </a:solidFill>
              <a:effectLst/>
              <a:latin typeface="+mn-lt"/>
              <a:ea typeface="+mn-ea"/>
              <a:cs typeface="+mn-cs"/>
            </a:endParaRPr>
          </a:p>
          <a:p>
            <a:r>
              <a:rPr lang="en-US" altLang="zh-CN" b="1" dirty="0" smtClean="0"/>
              <a:t>“</a:t>
            </a:r>
            <a:r>
              <a:rPr lang="en-US" altLang="zh-CN" b="1" dirty="0" err="1" smtClean="0"/>
              <a:t>FullSubNet</a:t>
            </a:r>
            <a:r>
              <a:rPr lang="en-US" altLang="zh-CN" b="1" dirty="0" smtClean="0"/>
              <a:t>+</a:t>
            </a:r>
            <a:r>
              <a:rPr lang="zh-CN" altLang="en-US" b="1" dirty="0" smtClean="0"/>
              <a:t>的</a:t>
            </a:r>
            <a:r>
              <a:rPr lang="en-US" altLang="zh-CN" b="1" dirty="0" smtClean="0"/>
              <a:t>257</a:t>
            </a:r>
            <a:r>
              <a:rPr lang="zh-CN" altLang="en-US" b="1" dirty="0" smtClean="0"/>
              <a:t>个频带是什么？”</a:t>
            </a:r>
            <a:endParaRPr lang="en-US" altLang="zh-CN" b="1" dirty="0" smtClean="0"/>
          </a:p>
          <a:p>
            <a:r>
              <a:rPr lang="zh-CN" altLang="en-US" dirty="0" smtClean="0"/>
              <a:t>准确来说是</a:t>
            </a:r>
            <a:r>
              <a:rPr lang="en-US" altLang="zh-CN" dirty="0" smtClean="0"/>
              <a:t>257</a:t>
            </a:r>
            <a:r>
              <a:rPr lang="zh-CN" altLang="en-US" dirty="0" smtClean="0"/>
              <a:t>个</a:t>
            </a:r>
            <a:r>
              <a:rPr lang="en-US" altLang="zh-CN" dirty="0" smtClean="0"/>
              <a:t>STFT</a:t>
            </a:r>
            <a:r>
              <a:rPr lang="zh-CN" altLang="en-US" dirty="0" smtClean="0"/>
              <a:t>非冗余频率</a:t>
            </a:r>
            <a:r>
              <a:rPr lang="en-US" altLang="zh-CN" dirty="0" smtClean="0"/>
              <a:t>bin</a:t>
            </a:r>
            <a:r>
              <a:rPr lang="zh-CN" altLang="en-US" dirty="0" smtClean="0"/>
              <a:t>。因为采样率</a:t>
            </a:r>
            <a:r>
              <a:rPr lang="en-US" altLang="zh-CN" dirty="0" smtClean="0"/>
              <a:t>16 kHz</a:t>
            </a:r>
            <a:r>
              <a:rPr lang="zh-CN" altLang="en-US" dirty="0" smtClean="0"/>
              <a:t>、</a:t>
            </a:r>
            <a:r>
              <a:rPr lang="en-US" altLang="zh-CN" dirty="0" smtClean="0"/>
              <a:t>FFT</a:t>
            </a:r>
            <a:r>
              <a:rPr lang="zh-CN" altLang="en-US" dirty="0" smtClean="0"/>
              <a:t>长度</a:t>
            </a:r>
            <a:r>
              <a:rPr lang="en-US" altLang="zh-CN" dirty="0" smtClean="0"/>
              <a:t>512</a:t>
            </a:r>
            <a:r>
              <a:rPr lang="zh-CN" altLang="en-US" dirty="0" smtClean="0"/>
              <a:t>，所以</a:t>
            </a:r>
            <a:r>
              <a:rPr lang="en-US" altLang="zh-CN" dirty="0" smtClean="0"/>
              <a:t>0</a:t>
            </a:r>
            <a:r>
              <a:rPr lang="zh-CN" altLang="en-US" dirty="0" smtClean="0"/>
              <a:t>到</a:t>
            </a:r>
            <a:r>
              <a:rPr lang="en-US" altLang="zh-CN" dirty="0" smtClean="0"/>
              <a:t>8 kHz</a:t>
            </a:r>
            <a:r>
              <a:rPr lang="zh-CN" altLang="en-US" dirty="0" smtClean="0"/>
              <a:t>一共有</a:t>
            </a:r>
            <a:r>
              <a:rPr lang="en-US" altLang="zh-CN" dirty="0" smtClean="0"/>
              <a:t>512/2+1=257</a:t>
            </a:r>
            <a:r>
              <a:rPr lang="zh-CN" altLang="en-US" dirty="0" smtClean="0"/>
              <a:t>个频率点，每个间隔</a:t>
            </a:r>
            <a:r>
              <a:rPr lang="en-US" altLang="zh-CN" dirty="0" smtClean="0"/>
              <a:t>31.25 Hz</a:t>
            </a:r>
            <a:r>
              <a:rPr lang="zh-CN" altLang="en-US" dirty="0" smtClean="0"/>
              <a:t>。</a:t>
            </a:r>
            <a:r>
              <a:rPr lang="en-US" altLang="zh-CN" dirty="0" err="1" smtClean="0"/>
              <a:t>FullSubNet</a:t>
            </a:r>
            <a:r>
              <a:rPr lang="zh-CN" altLang="en-US" dirty="0" smtClean="0"/>
              <a:t>的全带模型同时看整个</a:t>
            </a:r>
            <a:r>
              <a:rPr lang="en-US" altLang="zh-CN" dirty="0" smtClean="0"/>
              <a:t>257</a:t>
            </a:r>
            <a:r>
              <a:rPr lang="zh-CN" altLang="en-US" dirty="0" smtClean="0"/>
              <a:t>维频谱，子带模型则以每个频点为中心看左右</a:t>
            </a:r>
            <a:r>
              <a:rPr lang="en-US" altLang="zh-CN" dirty="0" smtClean="0"/>
              <a:t>15</a:t>
            </a:r>
            <a:r>
              <a:rPr lang="zh-CN" altLang="en-US" dirty="0" smtClean="0"/>
              <a:t>个邻域频点。</a:t>
            </a:r>
            <a:endParaRPr lang="en-US" altLang="zh-CN" dirty="0" smtClean="0"/>
          </a:p>
          <a:p>
            <a:r>
              <a:rPr lang="zh-CN" altLang="en-US" b="1" dirty="0" smtClean="0"/>
              <a:t>“和</a:t>
            </a:r>
            <a:r>
              <a:rPr lang="en-US" altLang="zh-CN" b="1" dirty="0" smtClean="0"/>
              <a:t>BSRNN</a:t>
            </a:r>
            <a:r>
              <a:rPr lang="zh-CN" altLang="en-US" b="1" dirty="0" smtClean="0"/>
              <a:t>有什么区别？</a:t>
            </a:r>
            <a:endParaRPr lang="zh-CN" altLang="en-US" dirty="0" smtClean="0"/>
          </a:p>
          <a:p>
            <a:r>
              <a:rPr lang="zh-CN" altLang="en-US" sz="1200" kern="1200" dirty="0" smtClean="0">
                <a:solidFill>
                  <a:schemeClr val="tx1"/>
                </a:solidFill>
                <a:latin typeface="+mn-lt"/>
                <a:ea typeface="+mn-ea"/>
                <a:cs typeface="+mn-cs"/>
              </a:rPr>
              <a:t>两者都有频带建模思想，但粒度不同。</a:t>
            </a:r>
            <a:r>
              <a:rPr lang="en-US" altLang="zh-CN" sz="1200" kern="1200" dirty="0" err="1" smtClean="0">
                <a:solidFill>
                  <a:schemeClr val="tx1"/>
                </a:solidFill>
                <a:latin typeface="+mn-lt"/>
                <a:ea typeface="+mn-ea"/>
                <a:cs typeface="+mn-cs"/>
              </a:rPr>
              <a:t>FullSubNet</a:t>
            </a:r>
            <a:r>
              <a:rPr lang="zh-CN" altLang="en-US" sz="1200" kern="1200" dirty="0" smtClean="0">
                <a:solidFill>
                  <a:schemeClr val="tx1"/>
                </a:solidFill>
                <a:latin typeface="+mn-lt"/>
                <a:ea typeface="+mn-ea"/>
                <a:cs typeface="+mn-cs"/>
              </a:rPr>
              <a:t>基本保留</a:t>
            </a:r>
            <a:r>
              <a:rPr lang="en-US" altLang="zh-CN" sz="1200" kern="1200" dirty="0" smtClean="0">
                <a:solidFill>
                  <a:schemeClr val="tx1"/>
                </a:solidFill>
                <a:latin typeface="+mn-lt"/>
                <a:ea typeface="+mn-ea"/>
                <a:cs typeface="+mn-cs"/>
              </a:rPr>
              <a:t>STFT bin</a:t>
            </a:r>
            <a:r>
              <a:rPr lang="zh-CN" altLang="en-US" sz="1200" kern="1200" dirty="0" smtClean="0">
                <a:solidFill>
                  <a:schemeClr val="tx1"/>
                </a:solidFill>
                <a:latin typeface="+mn-lt"/>
                <a:ea typeface="+mn-ea"/>
                <a:cs typeface="+mn-cs"/>
              </a:rPr>
              <a:t>，以每个</a:t>
            </a:r>
            <a:r>
              <a:rPr lang="en-US" altLang="zh-CN" sz="1200" kern="1200" dirty="0" smtClean="0">
                <a:solidFill>
                  <a:schemeClr val="tx1"/>
                </a:solidFill>
                <a:latin typeface="+mn-lt"/>
                <a:ea typeface="+mn-ea"/>
                <a:cs typeface="+mn-cs"/>
              </a:rPr>
              <a:t>bin</a:t>
            </a:r>
            <a:r>
              <a:rPr lang="zh-CN" altLang="en-US" sz="1200" kern="1200" dirty="0" smtClean="0">
                <a:solidFill>
                  <a:schemeClr val="tx1"/>
                </a:solidFill>
                <a:latin typeface="+mn-lt"/>
                <a:ea typeface="+mn-ea"/>
                <a:cs typeface="+mn-cs"/>
              </a:rPr>
              <a:t>和局部邻域做</a:t>
            </a:r>
            <a:r>
              <a:rPr lang="en-US" altLang="zh-CN" sz="1200" kern="1200" dirty="0" smtClean="0">
                <a:solidFill>
                  <a:schemeClr val="tx1"/>
                </a:solidFill>
                <a:latin typeface="+mn-lt"/>
                <a:ea typeface="+mn-ea"/>
                <a:cs typeface="+mn-cs"/>
              </a:rPr>
              <a:t>sub-band</a:t>
            </a:r>
            <a:r>
              <a:rPr lang="zh-CN" altLang="en-US" sz="1200" kern="1200" dirty="0" smtClean="0">
                <a:solidFill>
                  <a:schemeClr val="tx1"/>
                </a:solidFill>
                <a:latin typeface="+mn-lt"/>
                <a:ea typeface="+mn-ea"/>
                <a:cs typeface="+mn-cs"/>
              </a:rPr>
              <a:t>建模，同时用</a:t>
            </a:r>
            <a:r>
              <a:rPr lang="en-US" altLang="zh-CN" sz="1200" kern="1200" dirty="0" smtClean="0">
                <a:solidFill>
                  <a:schemeClr val="tx1"/>
                </a:solidFill>
                <a:latin typeface="+mn-lt"/>
                <a:ea typeface="+mn-ea"/>
                <a:cs typeface="+mn-cs"/>
              </a:rPr>
              <a:t>full-band</a:t>
            </a:r>
            <a:r>
              <a:rPr lang="zh-CN" altLang="en-US" sz="1200" kern="1200" dirty="0" smtClean="0">
                <a:solidFill>
                  <a:schemeClr val="tx1"/>
                </a:solidFill>
                <a:latin typeface="+mn-lt"/>
                <a:ea typeface="+mn-ea"/>
                <a:cs typeface="+mn-cs"/>
              </a:rPr>
              <a:t>网络补全局信息；</a:t>
            </a:r>
            <a:r>
              <a:rPr lang="en-US" altLang="zh-CN" sz="1200" kern="1200" dirty="0" smtClean="0">
                <a:solidFill>
                  <a:schemeClr val="tx1"/>
                </a:solidFill>
                <a:latin typeface="+mn-lt"/>
                <a:ea typeface="+mn-ea"/>
                <a:cs typeface="+mn-cs"/>
              </a:rPr>
              <a:t>BSRNN</a:t>
            </a:r>
            <a:r>
              <a:rPr lang="zh-CN" altLang="en-US" sz="1200" kern="1200" dirty="0" smtClean="0">
                <a:solidFill>
                  <a:schemeClr val="tx1"/>
                </a:solidFill>
                <a:latin typeface="+mn-lt"/>
                <a:ea typeface="+mn-ea"/>
                <a:cs typeface="+mn-cs"/>
              </a:rPr>
              <a:t>则先显式把频谱切成若干</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，把每个</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编码成</a:t>
            </a:r>
            <a:r>
              <a:rPr lang="en-US" altLang="zh-CN" sz="1200" kern="1200" dirty="0" smtClean="0">
                <a:solidFill>
                  <a:schemeClr val="tx1"/>
                </a:solidFill>
                <a:latin typeface="+mn-lt"/>
                <a:ea typeface="+mn-ea"/>
                <a:cs typeface="+mn-cs"/>
              </a:rPr>
              <a:t>embedding</a:t>
            </a:r>
            <a:r>
              <a:rPr lang="zh-CN" altLang="en-US" sz="1200" kern="1200" dirty="0" smtClean="0">
                <a:solidFill>
                  <a:schemeClr val="tx1"/>
                </a:solidFill>
                <a:latin typeface="+mn-lt"/>
                <a:ea typeface="+mn-ea"/>
                <a:cs typeface="+mn-cs"/>
              </a:rPr>
              <a:t>，再分别做时间维和</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维序列建模，所以</a:t>
            </a:r>
            <a:r>
              <a:rPr lang="en-US" altLang="zh-CN" sz="1200" kern="1200" dirty="0" smtClean="0">
                <a:solidFill>
                  <a:schemeClr val="tx1"/>
                </a:solidFill>
                <a:latin typeface="+mn-lt"/>
                <a:ea typeface="+mn-ea"/>
                <a:cs typeface="+mn-cs"/>
              </a:rPr>
              <a:t>BSRNN</a:t>
            </a:r>
            <a:r>
              <a:rPr lang="zh-CN" altLang="en-US" sz="1200" kern="1200" dirty="0" smtClean="0">
                <a:solidFill>
                  <a:schemeClr val="tx1"/>
                </a:solidFill>
                <a:latin typeface="+mn-lt"/>
                <a:ea typeface="+mn-ea"/>
                <a:cs typeface="+mn-cs"/>
              </a:rPr>
              <a:t>更接近显式频带分离架构，而</a:t>
            </a:r>
            <a:r>
              <a:rPr lang="en-US" altLang="zh-CN" sz="1200" kern="1200" dirty="0" err="1" smtClean="0">
                <a:solidFill>
                  <a:schemeClr val="tx1"/>
                </a:solidFill>
                <a:latin typeface="+mn-lt"/>
                <a:ea typeface="+mn-ea"/>
                <a:cs typeface="+mn-cs"/>
              </a:rPr>
              <a:t>FullSubNet</a:t>
            </a:r>
            <a:r>
              <a:rPr lang="zh-CN" altLang="en-US" sz="1200" kern="1200" dirty="0" smtClean="0">
                <a:solidFill>
                  <a:schemeClr val="tx1"/>
                </a:solidFill>
                <a:latin typeface="+mn-lt"/>
                <a:ea typeface="+mn-ea"/>
                <a:cs typeface="+mn-cs"/>
              </a:rPr>
              <a:t>更接近全频谱增强加局部频率建模</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为什么选FiLM，而不是直接把embedding拼到输入</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FiLM用注册embedding直接生成特征级缩放和偏置，参数增量小，能在已有FullSubNet+内部做条件调制，不需要大幅改主干结构；本项目优先考虑可控改造和部署成本。</a:t>
            </a:r>
          </a:p>
          <a:p>
            <a:r>
              <a:rPr lang="en-US" altLang="zh-CN" sz="1200" b="1" kern="1200" dirty="0" err="1" smtClean="0">
                <a:solidFill>
                  <a:schemeClr val="tx1"/>
                </a:solidFill>
                <a:effectLst/>
                <a:latin typeface="+mn-lt"/>
                <a:ea typeface="+mn-ea"/>
                <a:cs typeface="+mn-cs"/>
              </a:rPr>
              <a:t>为什么后端冻结</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第一是保证收益归因到前端；第二是训练和推理用同一个验证器，减少分布变化；第三是便于后面跨后端测试前端的迁移能力</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FiLM为什么末层零初始化</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使初始γ</a:t>
            </a:r>
            <a:r>
              <a:rPr lang="en-US" altLang="zh-CN" sz="1200" kern="1200" dirty="0" smtClean="0">
                <a:solidFill>
                  <a:schemeClr val="tx1"/>
                </a:solidFill>
                <a:effectLst/>
                <a:latin typeface="+mn-lt"/>
                <a:ea typeface="+mn-ea"/>
                <a:cs typeface="+mn-cs"/>
              </a:rPr>
              <a:t>、β</a:t>
            </a:r>
            <a:r>
              <a:rPr lang="en-US" altLang="zh-CN" sz="1200" kern="1200" dirty="0" err="1" smtClean="0">
                <a:solidFill>
                  <a:schemeClr val="tx1"/>
                </a:solidFill>
                <a:effectLst/>
                <a:latin typeface="+mn-lt"/>
                <a:ea typeface="+mn-ea"/>
                <a:cs typeface="+mn-cs"/>
              </a:rPr>
              <a:t>接近恒等调制，训练起点尽量接近原版通用前端，避免条件模块一接入就破坏已有增强能力</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31.7M是怎么来的？</a:t>
            </a:r>
          </a:p>
          <a:p>
            <a:r>
              <a:rPr lang="en-US" altLang="zh-CN" sz="1200" kern="1200" dirty="0" smtClean="0">
                <a:solidFill>
                  <a:schemeClr val="tx1"/>
                </a:solidFill>
                <a:effectLst/>
                <a:latin typeface="+mn-lt"/>
                <a:ea typeface="+mn-ea"/>
                <a:cs typeface="+mn-cs"/>
              </a:rPr>
              <a:t>部署栈包含前端约9.2M和冻结声纹后端，条件提取与最终打分复用同一后端，不需要两套独立声纹网络。</a:t>
            </a:r>
            <a:endParaRPr lang="en-US" altLang="zh-CN" sz="1200" b="1"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13</a:t>
            </a:fld>
            <a:endParaRPr lang="zh-CN" altLang="en-US"/>
          </a:p>
        </p:txBody>
      </p:sp>
    </p:spTree>
    <p:extLst>
      <p:ext uri="{BB962C8B-B14F-4D97-AF65-F5344CB8AC3E}">
        <p14:creationId xmlns:p14="http://schemas.microsoft.com/office/powerpoint/2010/main" val="3632215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第一，Lse是信号重建，保证增强结果至少是可恢复的，不要为了声纹分数把语音改坏。第二，Lspk是说话人保持，把增强后的embedding往注册身份拉近。第三，Lns是难负原型抑制，从冻结原型库里找最容易混淆的非目标身份，把增强embedding和它们拉开。最后Lce再补一个判别分类约束。</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所以这四项可以概括成一句话：既要把声音恢复出来，也要“拉近自己、推远别人”，最后再强化判别边界。所有梯度只更新前端，声纹后端和原型库都不动。</a:t>
            </a:r>
          </a:p>
          <a:p>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信号重建：标准答案是掩码：理想掩码 </a:t>
            </a:r>
            <a:r>
              <a:rPr lang="en-US" altLang="zh-CN" sz="1200" kern="1200" dirty="0" err="1" smtClean="0">
                <a:solidFill>
                  <a:schemeClr val="tx1"/>
                </a:solidFill>
                <a:effectLst/>
                <a:latin typeface="+mn-lt"/>
                <a:ea typeface="+mn-ea"/>
                <a:cs typeface="+mn-cs"/>
              </a:rPr>
              <a:t>M_cIRM</a:t>
            </a:r>
            <a:r>
              <a:rPr lang="en-US" altLang="zh-CN" sz="1200" kern="1200" dirty="0" smtClean="0">
                <a:solidFill>
                  <a:schemeClr val="tx1"/>
                </a:solidFill>
                <a:effectLst/>
                <a:latin typeface="+mn-lt"/>
                <a:ea typeface="+mn-ea"/>
                <a:cs typeface="+mn-cs"/>
              </a:rPr>
              <a:t> = </a:t>
            </a:r>
            <a:r>
              <a:rPr lang="zh-CN" altLang="en-US" sz="1200" kern="1200" dirty="0" smtClean="0">
                <a:solidFill>
                  <a:schemeClr val="tx1"/>
                </a:solidFill>
                <a:effectLst/>
                <a:latin typeface="+mn-lt"/>
                <a:ea typeface="+mn-ea"/>
                <a:cs typeface="+mn-cs"/>
              </a:rPr>
              <a:t>干净谱 </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带噪谱</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逐格复数相除</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，由合成时的那对 </a:t>
            </a:r>
            <a:r>
              <a:rPr lang="en-US" altLang="zh-CN" sz="1200" kern="1200" dirty="0" smtClean="0">
                <a:solidFill>
                  <a:schemeClr val="tx1"/>
                </a:solidFill>
                <a:effectLst/>
                <a:latin typeface="+mn-lt"/>
                <a:ea typeface="+mn-ea"/>
                <a:cs typeface="+mn-cs"/>
              </a:rPr>
              <a:t>clean/noisy </a:t>
            </a:r>
            <a:r>
              <a:rPr lang="zh-CN" altLang="en-US" sz="1200" kern="1200" dirty="0" smtClean="0">
                <a:solidFill>
                  <a:schemeClr val="tx1"/>
                </a:solidFill>
                <a:effectLst/>
                <a:latin typeface="+mn-lt"/>
                <a:ea typeface="+mn-ea"/>
                <a:cs typeface="+mn-cs"/>
              </a:rPr>
              <a:t>现场算出；</a:t>
            </a:r>
            <a:r>
              <a:rPr lang="en-US" altLang="zh-CN" sz="1200" kern="1200" dirty="0" smtClean="0">
                <a:solidFill>
                  <a:schemeClr val="tx1"/>
                </a:solidFill>
                <a:effectLst/>
                <a:latin typeface="+mn-lt"/>
                <a:ea typeface="+mn-ea"/>
                <a:cs typeface="+mn-cs"/>
              </a:rPr>
              <a:t>3. </a:t>
            </a:r>
            <a:r>
              <a:rPr lang="en-US" altLang="zh-CN" sz="1200" kern="1200" dirty="0" err="1" smtClean="0">
                <a:solidFill>
                  <a:schemeClr val="tx1"/>
                </a:solidFill>
                <a:effectLst/>
                <a:latin typeface="+mn-lt"/>
                <a:ea typeface="+mn-ea"/>
                <a:cs typeface="+mn-cs"/>
              </a:rPr>
              <a:t>L_se</a:t>
            </a:r>
            <a:r>
              <a:rPr lang="en-US" altLang="zh-CN" sz="1200" kern="1200" dirty="0" smtClean="0">
                <a:solidFill>
                  <a:schemeClr val="tx1"/>
                </a:solidFill>
                <a:effectLst/>
                <a:latin typeface="+mn-lt"/>
                <a:ea typeface="+mn-ea"/>
                <a:cs typeface="+mn-cs"/>
              </a:rPr>
              <a:t> = ‖M̂ − M_cIRM‖²:</a:t>
            </a:r>
            <a:r>
              <a:rPr lang="zh-CN" altLang="en-US" sz="1200" kern="1200" dirty="0" smtClean="0">
                <a:solidFill>
                  <a:schemeClr val="tx1"/>
                </a:solidFill>
                <a:effectLst/>
                <a:latin typeface="+mn-lt"/>
                <a:ea typeface="+mn-ea"/>
                <a:cs typeface="+mn-cs"/>
              </a:rPr>
              <a:t>惩罚“网络估的掩码”和“理想掩码”逐格均方差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等价于要求 </a:t>
            </a:r>
            <a:r>
              <a:rPr lang="en-US" altLang="zh-CN" sz="1200" kern="1200" dirty="0" smtClean="0">
                <a:solidFill>
                  <a:schemeClr val="tx1"/>
                </a:solidFill>
                <a:effectLst/>
                <a:latin typeface="+mn-lt"/>
                <a:ea typeface="+mn-ea"/>
                <a:cs typeface="+mn-cs"/>
              </a:rPr>
              <a:t>M̂⊙Y ≈ </a:t>
            </a:r>
            <a:r>
              <a:rPr lang="zh-CN" altLang="en-US" sz="1200" kern="1200" dirty="0" smtClean="0">
                <a:solidFill>
                  <a:schemeClr val="tx1"/>
                </a:solidFill>
                <a:effectLst/>
                <a:latin typeface="+mn-lt"/>
                <a:ea typeface="+mn-ea"/>
                <a:cs typeface="+mn-cs"/>
              </a:rPr>
              <a:t>干净谱，也就是你说的“降噪结果要和同一句干净语音一致”；</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dirty="0" err="1" smtClean="0"/>
              <a:t>peaker</a:t>
            </a:r>
            <a:r>
              <a:rPr lang="en-US" altLang="zh-CN" dirty="0" smtClean="0"/>
              <a:t> prototype</a:t>
            </a:r>
            <a:r>
              <a:rPr lang="zh-CN" altLang="en-US" dirty="0" smtClean="0"/>
              <a:t>（说话人原型）原型来自冻结验证器分类头权重：原型 </a:t>
            </a:r>
            <a:r>
              <a:rPr lang="en-US" altLang="zh-CN" dirty="0" smtClean="0"/>
              <a:t>= </a:t>
            </a:r>
            <a:r>
              <a:rPr lang="zh-CN" altLang="en-US" dirty="0" smtClean="0"/>
              <a:t>分类头权重行</a:t>
            </a:r>
            <a:r>
              <a:rPr lang="en-US" altLang="zh-CN" dirty="0" smtClean="0"/>
              <a:t>(L2</a:t>
            </a:r>
            <a:r>
              <a:rPr lang="zh-CN" altLang="en-US" dirty="0" smtClean="0"/>
              <a:t>归一</a:t>
            </a:r>
            <a:r>
              <a:rPr lang="en-US" altLang="zh-CN" dirty="0" smtClean="0"/>
              <a:t>)</a:t>
            </a:r>
            <a:r>
              <a:rPr lang="en-US" altLang="zh-CN" baseline="0" dirty="0" smtClean="0"/>
              <a:t> </a:t>
            </a:r>
            <a:r>
              <a:rPr lang="en-US" altLang="zh-CN" dirty="0" smtClean="0"/>
              <a:t>B</a:t>
            </a:r>
            <a:r>
              <a:rPr lang="zh-CN" altLang="en-US" dirty="0" smtClean="0"/>
              <a:t>离</a:t>
            </a:r>
            <a:r>
              <a:rPr lang="en-US" altLang="zh-CN" dirty="0" smtClean="0"/>
              <a:t>A</a:t>
            </a:r>
            <a:r>
              <a:rPr lang="zh-CN" altLang="en-US" dirty="0" smtClean="0"/>
              <a:t>最近。这个</a:t>
            </a:r>
            <a:r>
              <a:rPr lang="en-US" altLang="zh-CN" dirty="0" smtClean="0"/>
              <a:t>B</a:t>
            </a:r>
            <a:r>
              <a:rPr lang="zh-CN" altLang="en-US" dirty="0" smtClean="0"/>
              <a:t>叫：</a:t>
            </a:r>
            <a:r>
              <a:rPr lang="en-US" altLang="zh-CN" dirty="0" smtClean="0"/>
              <a:t>hard negative</a:t>
            </a:r>
            <a:r>
              <a:rPr lang="zh-CN" altLang="en-US" dirty="0" smtClean="0"/>
              <a:t>（困难负样本）</a:t>
            </a:r>
            <a:endParaRPr lang="en-US" altLang="zh-CN" dirty="0" smtClean="0"/>
          </a:p>
          <a:p>
            <a:r>
              <a:rPr lang="en-US" altLang="zh-CN" dirty="0" smtClean="0"/>
              <a:t>prototype</a:t>
            </a:r>
            <a:r>
              <a:rPr lang="zh-CN" altLang="en-US" dirty="0" smtClean="0"/>
              <a:t>是冻结声纹分类头中每个说话人类别权重向量归一化后的方向表示；训练时，对于每一个增强后的</a:t>
            </a:r>
            <a:r>
              <a:rPr lang="en-US" altLang="zh-CN" dirty="0" smtClean="0"/>
              <a:t>embedding</a:t>
            </a:r>
            <a:r>
              <a:rPr lang="zh-CN" altLang="en-US" dirty="0" smtClean="0"/>
              <a:t>，会与全部非目标说话人的</a:t>
            </a:r>
            <a:r>
              <a:rPr lang="en-US" altLang="zh-CN" dirty="0" smtClean="0"/>
              <a:t>prototype</a:t>
            </a:r>
            <a:r>
              <a:rPr lang="zh-CN" altLang="en-US" dirty="0" smtClean="0"/>
              <a:t>计算余弦相似度，动态选择</a:t>
            </a:r>
            <a:r>
              <a:rPr lang="en-US" altLang="zh-CN" dirty="0" smtClean="0"/>
              <a:t>Top-8</a:t>
            </a:r>
            <a:r>
              <a:rPr lang="zh-CN" altLang="en-US" dirty="0" smtClean="0"/>
              <a:t>最相似类别作为</a:t>
            </a:r>
            <a:r>
              <a:rPr lang="en-US" altLang="zh-CN" dirty="0" smtClean="0"/>
              <a:t>hard negative</a:t>
            </a:r>
            <a:r>
              <a:rPr lang="zh-CN" altLang="en-US" dirty="0" smtClean="0"/>
              <a:t>，并仅对这些类别施加抑制约束。</a:t>
            </a:r>
            <a:r>
              <a:rPr lang="en-US" altLang="zh-CN" dirty="0" smtClean="0"/>
              <a:t>Top-8</a:t>
            </a:r>
            <a:r>
              <a:rPr lang="zh-CN" altLang="en-US" dirty="0" smtClean="0"/>
              <a:t>不是固定说话人，而是在训练过程中随模型输出不断变化。</a:t>
            </a:r>
          </a:p>
          <a:p>
            <a:endParaRPr lang="en-US" altLang="zh-CN" dirty="0" smtClean="0"/>
          </a:p>
          <a:p>
            <a:r>
              <a:rPr lang="zh-CN" altLang="en-US" dirty="0" smtClean="0"/>
              <a:t>使用 </a:t>
            </a:r>
            <a:r>
              <a:rPr lang="en-US" altLang="zh-CN" dirty="0" smtClean="0"/>
              <a:t>AAM-</a:t>
            </a:r>
            <a:r>
              <a:rPr lang="en-US" altLang="zh-CN" dirty="0" err="1" smtClean="0"/>
              <a:t>Softmax</a:t>
            </a:r>
            <a:r>
              <a:rPr lang="en-US" altLang="zh-CN" dirty="0" smtClean="0"/>
              <a:t> logits</a:t>
            </a:r>
            <a:r>
              <a:rPr lang="zh-CN" altLang="en-US" dirty="0" smtClean="0"/>
              <a:t>（</a:t>
            </a:r>
            <a:r>
              <a:rPr lang="en-US" altLang="zh-CN" dirty="0" smtClean="0"/>
              <a:t>Additive Angular Margin</a:t>
            </a:r>
            <a:r>
              <a:rPr lang="zh-CN" altLang="en-US" dirty="0" smtClean="0"/>
              <a:t>）</a:t>
            </a:r>
            <a:r>
              <a:rPr lang="en-US" altLang="zh-CN" dirty="0" smtClean="0"/>
              <a:t> </a:t>
            </a:r>
            <a:r>
              <a:rPr lang="zh-CN" altLang="en-US" dirty="0" smtClean="0"/>
              <a:t>的交叉熵分类损失。它对真实类别额外增加一个角度 </a:t>
            </a:r>
            <a:r>
              <a:rPr lang="en-US" altLang="zh-CN" dirty="0" smtClean="0"/>
              <a:t>margin</a:t>
            </a:r>
            <a:r>
              <a:rPr lang="zh-CN" altLang="en-US" dirty="0" smtClean="0"/>
              <a:t>：</a:t>
            </a:r>
            <a:r>
              <a:rPr lang="en-US" altLang="zh-CN" dirty="0" smtClean="0"/>
              <a:t>cos(</a:t>
            </a:r>
            <a:r>
              <a:rPr lang="en-US" altLang="zh-CN" dirty="0" err="1" smtClean="0"/>
              <a:t>θy+m</a:t>
            </a:r>
            <a:r>
              <a:rPr lang="en-US" altLang="zh-CN" dirty="0" smtClean="0"/>
              <a:t>)</a:t>
            </a:r>
            <a:r>
              <a:rPr lang="zh-CN" altLang="en-US" dirty="0" smtClean="0"/>
              <a:t>，</a:t>
            </a:r>
            <a:r>
              <a:rPr lang="en-US" altLang="zh-CN" dirty="0" smtClean="0"/>
              <a:t>m&gt;0</a:t>
            </a:r>
            <a:r>
              <a:rPr lang="zh-CN" altLang="en-US" dirty="0" smtClean="0"/>
              <a:t>，因为</a:t>
            </a:r>
            <a:r>
              <a:rPr lang="en-US" altLang="zh-CN" dirty="0" smtClean="0"/>
              <a:t>m&gt;0</a:t>
            </a:r>
            <a:r>
              <a:rPr lang="zh-CN" altLang="en-US" dirty="0" smtClean="0"/>
              <a:t>，所以这一项会偏小，所以跟要求相比，它需要大更多才行，</a:t>
            </a:r>
            <a:r>
              <a:rPr lang="en-US" altLang="zh-CN" dirty="0" smtClean="0"/>
              <a:t>m=0.2.</a:t>
            </a:r>
            <a:r>
              <a:rPr lang="zh-CN" altLang="en-US" dirty="0" smtClean="0"/>
              <a:t>强迫前端生成一种语音，使冻结的声纹验证器更容易把它放回正确说话人的 </a:t>
            </a:r>
            <a:r>
              <a:rPr lang="en-US" altLang="zh-CN" dirty="0" smtClean="0"/>
              <a:t>embedding </a:t>
            </a:r>
            <a:r>
              <a:rPr lang="zh-CN" altLang="en-US" dirty="0" smtClean="0"/>
              <a:t>区域。为什么你已经有 </a:t>
            </a:r>
            <a:r>
              <a:rPr lang="en-US" altLang="zh-CN" dirty="0" err="1" smtClean="0"/>
              <a:t>Lspk</a:t>
            </a:r>
            <a:r>
              <a:rPr lang="en-US" altLang="zh-CN" dirty="0" smtClean="0"/>
              <a:t> </a:t>
            </a:r>
            <a:r>
              <a:rPr lang="zh-CN" altLang="en-US" dirty="0" smtClean="0"/>
              <a:t>了，还需要 </a:t>
            </a:r>
            <a:r>
              <a:rPr lang="en-US" altLang="zh-CN" dirty="0" smtClean="0"/>
              <a:t>AAM-CE?</a:t>
            </a:r>
            <a:r>
              <a:rPr lang="zh-CN" altLang="en-US" dirty="0" smtClean="0"/>
              <a:t> </a:t>
            </a:r>
            <a:r>
              <a:rPr lang="en-US" altLang="zh-CN" dirty="0" smtClean="0"/>
              <a:t>AAM-CE </a:t>
            </a:r>
            <a:r>
              <a:rPr lang="zh-CN" altLang="en-US" dirty="0" smtClean="0"/>
              <a:t>则是在整个类别空间里问：你不仅要像 </a:t>
            </a:r>
            <a:r>
              <a:rPr lang="en-US" altLang="zh-CN" dirty="0" smtClean="0"/>
              <a:t>A</a:t>
            </a:r>
            <a:r>
              <a:rPr lang="zh-CN" altLang="en-US" dirty="0" smtClean="0"/>
              <a:t>，你还必须比 </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明显更像 </a:t>
            </a:r>
            <a:r>
              <a:rPr lang="en-US" altLang="zh-CN" dirty="0" smtClean="0"/>
              <a:t>A</a:t>
            </a:r>
            <a:r>
              <a:rPr lang="zh-CN" altLang="en-US" dirty="0" smtClean="0"/>
              <a:t>。</a:t>
            </a:r>
            <a:endParaRPr lang="en-US" altLang="zh-CN" dirty="0" smtClean="0"/>
          </a:p>
          <a:p>
            <a:r>
              <a:rPr lang="en-US" altLang="zh-CN" dirty="0" smtClean="0"/>
              <a:t>AAM-CE</a:t>
            </a:r>
            <a:r>
              <a:rPr lang="zh-CN" altLang="en-US" dirty="0" smtClean="0"/>
              <a:t>可以理解成带加性角度间隔的交叉熵分类损失。普通</a:t>
            </a:r>
            <a:r>
              <a:rPr lang="en-US" altLang="zh-CN" dirty="0" err="1" smtClean="0"/>
              <a:t>Softmax</a:t>
            </a:r>
            <a:r>
              <a:rPr lang="zh-CN" altLang="en-US" dirty="0" smtClean="0"/>
              <a:t>只要求正确类得分最高，</a:t>
            </a:r>
            <a:r>
              <a:rPr lang="en-US" altLang="zh-CN" dirty="0" smtClean="0"/>
              <a:t>AAM</a:t>
            </a:r>
            <a:r>
              <a:rPr lang="zh-CN" altLang="en-US" dirty="0" smtClean="0"/>
              <a:t>会额外给真实类别增加一个角度</a:t>
            </a:r>
            <a:r>
              <a:rPr lang="en-US" altLang="zh-CN" dirty="0" smtClean="0"/>
              <a:t>margin</a:t>
            </a:r>
            <a:r>
              <a:rPr lang="zh-CN" altLang="en-US" dirty="0" smtClean="0"/>
              <a:t>，要求正确说话人不仅赢，而且要和其他说话人拉开更明显的角度间隔。我们这里分类头和声纹后端都是冻结的，所以这个</a:t>
            </a:r>
            <a:r>
              <a:rPr lang="en-US" altLang="zh-CN" dirty="0" smtClean="0"/>
              <a:t>loss</a:t>
            </a:r>
            <a:r>
              <a:rPr lang="zh-CN" altLang="en-US" dirty="0" smtClean="0"/>
              <a:t>不是训练后端，而是通过冻结验证器把梯度传回前端，让增强后的语音在已有声纹空间里更容易落到正确身份区域。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s</a:t>
            </a:r>
            <a:r>
              <a:rPr lang="zh-CN" altLang="en-US" dirty="0" smtClean="0"/>
              <a:t>作用：把</a:t>
            </a:r>
            <a:r>
              <a:rPr lang="en-US" altLang="zh-CN" dirty="0" smtClean="0"/>
              <a:t>[-1,1]</a:t>
            </a:r>
            <a:r>
              <a:rPr lang="zh-CN" altLang="en-US" dirty="0" smtClean="0"/>
              <a:t>范围的余弦相似度放大成适合分类优化的</a:t>
            </a:r>
            <a:r>
              <a:rPr lang="en-US" altLang="zh-CN" dirty="0" smtClean="0"/>
              <a:t>logit</a:t>
            </a:r>
            <a:r>
              <a:rPr lang="zh-CN" altLang="en-US" dirty="0" smtClean="0"/>
              <a:t>。</a:t>
            </a:r>
            <a:r>
              <a:rPr lang="en-US" altLang="zh-CN" dirty="0" smtClean="0"/>
              <a:t>CE</a:t>
            </a:r>
            <a:r>
              <a:rPr lang="zh-CN" altLang="en-US" dirty="0" smtClean="0"/>
              <a:t>会拉开距离，但</a:t>
            </a:r>
            <a:r>
              <a:rPr lang="en-US" altLang="zh-CN" dirty="0" smtClean="0"/>
              <a:t>AAM</a:t>
            </a:r>
            <a:r>
              <a:rPr lang="zh-CN" altLang="en-US" dirty="0" smtClean="0"/>
              <a:t>让这种距离变成有明确角度</a:t>
            </a:r>
            <a:r>
              <a:rPr lang="en-US" altLang="zh-CN" dirty="0" smtClean="0"/>
              <a:t>margin</a:t>
            </a:r>
            <a:r>
              <a:rPr lang="zh-CN" altLang="en-US" dirty="0" smtClean="0"/>
              <a:t>约束的判别空间</a:t>
            </a:r>
          </a:p>
          <a:p>
            <a:r>
              <a:rPr lang="en-US" altLang="zh-CN" b="1" dirty="0" smtClean="0"/>
              <a:t>7. </a:t>
            </a:r>
            <a:r>
              <a:rPr lang="zh-CN" altLang="en-US" b="1" dirty="0" smtClean="0"/>
              <a:t>如果老师问：“既然有</a:t>
            </a:r>
            <a:r>
              <a:rPr lang="en-US" altLang="zh-CN" b="1" dirty="0" smtClean="0"/>
              <a:t>AAM-CE</a:t>
            </a:r>
            <a:r>
              <a:rPr lang="zh-CN" altLang="en-US" b="1" dirty="0" smtClean="0"/>
              <a:t>，为什么还需要难负？”</a:t>
            </a:r>
          </a:p>
          <a:p>
            <a:r>
              <a:rPr lang="en-US" altLang="zh-CN" dirty="0" smtClean="0"/>
              <a:t>AAM-CE</a:t>
            </a:r>
            <a:r>
              <a:rPr lang="zh-CN" altLang="en-US" dirty="0" smtClean="0"/>
              <a:t>从全局类别空间优化判别边界，它要求真实说话人与所有其他类别保持角度间隔；但开集验证中的误接受往往由少数高度相似的困难说话人产生，这些局部混淆样本未必能被全局分类边界充分关注。因此我们额外引入难负原型抑制，动态选择与当前目标最接近的</a:t>
            </a:r>
            <a:r>
              <a:rPr lang="en-US" altLang="zh-CN" dirty="0" smtClean="0"/>
              <a:t>Top-K</a:t>
            </a:r>
            <a:r>
              <a:rPr lang="zh-CN" altLang="en-US" dirty="0" smtClean="0"/>
              <a:t>非目标原型，对其施加针对性惩罚。二者分别解决全局类间分离和局部冒认风险问题。</a:t>
            </a:r>
          </a:p>
          <a:p>
            <a:endParaRPr lang="en-US" altLang="zh-CN" sz="1200"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Lspk和Lns是不是重复</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不重复。Lspk解决“像不像目标”，属于正向拉近；Lns解决“是否远离最难非目标”，属于负向边界约束。一个只拉近目标可能会把整体空间一起挤近，所以还需要显式推远非目标。</a:t>
            </a:r>
          </a:p>
          <a:p>
            <a:r>
              <a:rPr lang="en-US" altLang="zh-CN" sz="1200" b="1" kern="1200" dirty="0" smtClean="0">
                <a:solidFill>
                  <a:schemeClr val="tx1"/>
                </a:solidFill>
                <a:effectLst/>
                <a:latin typeface="+mn-lt"/>
                <a:ea typeface="+mn-ea"/>
                <a:cs typeface="+mn-cs"/>
              </a:rPr>
              <a:t>Top-K为什么是8？τ为什么0.30？</a:t>
            </a:r>
          </a:p>
          <a:p>
            <a:r>
              <a:rPr lang="en-US" altLang="zh-CN" sz="1200" kern="1200" dirty="0" err="1" smtClean="0">
                <a:solidFill>
                  <a:schemeClr val="tx1"/>
                </a:solidFill>
                <a:effectLst/>
                <a:latin typeface="+mn-lt"/>
                <a:ea typeface="+mn-ea"/>
                <a:cs typeface="+mn-cs"/>
              </a:rPr>
              <a:t>这是训练超参数，来自代理验证集上的选点</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消融。答辩时不把它包装成理论最优，而是说明在固定预算下该组合表现最好、训练稳定</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为什么还需要Lce？有Lspk和Lns不够吗</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Lspk和Lns主要约束相似关系，Lce用AAM-CE从整体分类边界上增强判别性，三者关注的层次不同</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为什么不用SI-SNR或PESQ直接优化</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本任务最终指标是声纹验证而不是纯听感质量。信号恢复由Lse负责兜底，身份相关损失直接针对EER所需的判别特征</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14</a:t>
            </a:fld>
            <a:endParaRPr lang="zh-CN" altLang="en-US"/>
          </a:p>
        </p:txBody>
      </p:sp>
    </p:spTree>
    <p:extLst>
      <p:ext uri="{BB962C8B-B14F-4D97-AF65-F5344CB8AC3E}">
        <p14:creationId xmlns:p14="http://schemas.microsoft.com/office/powerpoint/2010/main" val="3830571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训练上我们没有一次把所有东西堆进去，而是一步一步加</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第一步把条件化前端接入打分链路：</a:t>
            </a:r>
            <a:r>
              <a:rPr lang="en-US" altLang="zh-CN" sz="1200" kern="1200" dirty="0" err="1" smtClean="0">
                <a:solidFill>
                  <a:schemeClr val="tx1"/>
                </a:solidFill>
                <a:effectLst/>
                <a:latin typeface="+mn-lt"/>
                <a:ea typeface="+mn-ea"/>
                <a:cs typeface="+mn-cs"/>
              </a:rPr>
              <a:t>FiLM</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调制模块零初始化、从通用降噪基座恒等起步，只做“掩码重建</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分类”两项损失的基座适配训练 </a:t>
            </a:r>
            <a:r>
              <a:rPr lang="en-US" altLang="zh-CN" sz="1200" kern="1200" dirty="0" smtClean="0">
                <a:solidFill>
                  <a:schemeClr val="tx1"/>
                </a:solidFill>
                <a:effectLst/>
                <a:latin typeface="+mn-lt"/>
                <a:ea typeface="+mn-ea"/>
                <a:cs typeface="+mn-cs"/>
              </a:rPr>
              <a:t>3 </a:t>
            </a:r>
            <a:r>
              <a:rPr lang="zh-CN" altLang="en-US" sz="1200" kern="1200" dirty="0" smtClean="0">
                <a:solidFill>
                  <a:schemeClr val="tx1"/>
                </a:solidFill>
                <a:effectLst/>
                <a:latin typeface="+mn-lt"/>
                <a:ea typeface="+mn-ea"/>
                <a:cs typeface="+mn-cs"/>
              </a:rPr>
              <a:t>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分类损失从这一步就在，它把前端往“验证器心目中的好嵌入”方向拉</a:t>
            </a:r>
            <a:r>
              <a:rPr lang="en-US" altLang="zh-CN" sz="1200" kern="1200" dirty="0" smtClean="0">
                <a:solidFill>
                  <a:schemeClr val="tx1"/>
                </a:solidFill>
                <a:effectLst/>
                <a:latin typeface="+mn-lt"/>
                <a:ea typeface="+mn-ea"/>
                <a:cs typeface="+mn-cs"/>
              </a:rPr>
              <a:t>；再加说话人保持，解决“像不像目标”。第三步加入难负原型抑制和分类判别，显式解决“是不是远离非目标”，这一阶段提升最明显。继续训练出现明显回归后我们就停止，没有为了追更好看的结果继续刷官方测试。</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最后再加入1、2、3秒随机裁切，主要解决短语音问题，得到最终交付的4.89和5.56。</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这套策略的核心不是“</a:t>
            </a:r>
            <a:r>
              <a:rPr lang="en-US" altLang="zh-CN" sz="1200" kern="1200" dirty="0" err="1" smtClean="0">
                <a:solidFill>
                  <a:schemeClr val="tx1"/>
                </a:solidFill>
                <a:effectLst/>
                <a:latin typeface="+mn-lt"/>
                <a:ea typeface="+mn-ea"/>
                <a:cs typeface="+mn-cs"/>
              </a:rPr>
              <a:t>训练越久越好</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而是每次只引入一个主要变化，收益来源比较容易归因</a:t>
            </a:r>
            <a:r>
              <a:rPr lang="en-US" altLang="zh-CN" sz="1200" kern="1200" dirty="0" smtClean="0">
                <a:solidFill>
                  <a:schemeClr val="tx1"/>
                </a:solidFill>
                <a:effectLst/>
                <a:latin typeface="+mn-lt"/>
                <a:ea typeface="+mn-ea"/>
                <a:cs typeface="+mn-cs"/>
              </a:rPr>
              <a:t>。</a:t>
            </a:r>
          </a:p>
          <a:p>
            <a:endParaRPr lang="en-US" altLang="zh-CN" b="1" dirty="0" smtClean="0"/>
          </a:p>
          <a:p>
            <a:r>
              <a:rPr lang="zh-CN" altLang="en-US" b="1" dirty="0" smtClean="0"/>
              <a:t>“你不是最后还是用</a:t>
            </a:r>
            <a:r>
              <a:rPr lang="en-US" altLang="zh-CN" b="1" dirty="0" smtClean="0"/>
              <a:t>3</a:t>
            </a:r>
            <a:r>
              <a:rPr lang="zh-CN" altLang="en-US" b="1" dirty="0" smtClean="0"/>
              <a:t>秒测试吗？为什么随机</a:t>
            </a:r>
            <a:r>
              <a:rPr lang="en-US" altLang="zh-CN" b="1" dirty="0" smtClean="0"/>
              <a:t>1/2/3</a:t>
            </a:r>
            <a:r>
              <a:rPr lang="zh-CN" altLang="en-US" b="1" dirty="0" smtClean="0"/>
              <a:t>秒训练还能提升</a:t>
            </a:r>
            <a:r>
              <a:rPr lang="en-US" altLang="zh-CN" b="1" dirty="0" smtClean="0"/>
              <a:t>3</a:t>
            </a:r>
            <a:r>
              <a:rPr lang="zh-CN" altLang="en-US" b="1" dirty="0" smtClean="0"/>
              <a:t>秒？”</a:t>
            </a:r>
            <a:endParaRPr lang="zh-CN" altLang="en-US" dirty="0" smtClean="0"/>
          </a:p>
          <a:p>
            <a:r>
              <a:rPr lang="zh-CN" altLang="en-US" dirty="0" smtClean="0"/>
              <a:t>是的，测试端的</a:t>
            </a:r>
            <a:r>
              <a:rPr lang="en-US" altLang="zh-CN" dirty="0" smtClean="0"/>
              <a:t>3</a:t>
            </a:r>
            <a:r>
              <a:rPr lang="zh-CN" altLang="en-US" dirty="0" smtClean="0"/>
              <a:t>秒协议没有变化，随机时长只作用在训练阶段。它的作用不只是补短语音，而是一种时长维度的数据增强和正则化。固定</a:t>
            </a:r>
            <a:r>
              <a:rPr lang="en-US" altLang="zh-CN" dirty="0" smtClean="0"/>
              <a:t>3</a:t>
            </a:r>
            <a:r>
              <a:rPr lang="zh-CN" altLang="en-US" dirty="0" smtClean="0"/>
              <a:t>秒训练会使前端依赖固定的时间上下文，甚至学习与</a:t>
            </a:r>
            <a:r>
              <a:rPr lang="en-US" altLang="zh-CN" dirty="0" smtClean="0"/>
              <a:t>3</a:t>
            </a:r>
            <a:r>
              <a:rPr lang="zh-CN" altLang="en-US" dirty="0" smtClean="0"/>
              <a:t>秒段长相关的捷径；随机</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秒裁切以后，同一说话人的不同长度片段都需要在注册条件下映射到一致的身份区域，因此模型被迫学习对时长更不敏感、更加稳定的说话人特征。对我们的身份保持损失和难负抑制损失来说，相当于从多个不同长度视图共同压缩目标类内方差、扩大与非目标的间隔。所以即使最终仍用</a:t>
            </a:r>
            <a:r>
              <a:rPr lang="en-US" altLang="zh-CN" dirty="0" smtClean="0"/>
              <a:t>3</a:t>
            </a:r>
            <a:r>
              <a:rPr lang="zh-CN" altLang="en-US" dirty="0" smtClean="0"/>
              <a:t>秒测试，</a:t>
            </a:r>
            <a:r>
              <a:rPr lang="en-US" altLang="zh-CN" dirty="0" smtClean="0"/>
              <a:t>3</a:t>
            </a:r>
            <a:r>
              <a:rPr lang="zh-CN" altLang="en-US" dirty="0" smtClean="0"/>
              <a:t>秒上的泛化性能也可能进一步提高。严格来说，目前随机时长与最终交付后端之间还存在评测口径变化，因此如果要单独量化随机时长对</a:t>
            </a:r>
            <a:r>
              <a:rPr lang="en-US" altLang="zh-CN" dirty="0" smtClean="0"/>
              <a:t>3</a:t>
            </a:r>
            <a:r>
              <a:rPr lang="zh-CN" altLang="en-US" dirty="0" smtClean="0"/>
              <a:t>秒的净贡献，还需要做同</a:t>
            </a:r>
            <a:r>
              <a:rPr lang="en-US" altLang="zh-CN" dirty="0" smtClean="0"/>
              <a:t>checkpoint</a:t>
            </a:r>
            <a:r>
              <a:rPr lang="zh-CN" altLang="en-US" dirty="0" smtClean="0"/>
              <a:t>、同后端、同预算的固定</a:t>
            </a:r>
            <a:r>
              <a:rPr lang="en-US" altLang="zh-CN" dirty="0" smtClean="0"/>
              <a:t>3</a:t>
            </a:r>
            <a:r>
              <a:rPr lang="zh-CN" altLang="en-US" dirty="0" smtClean="0"/>
              <a:t>秒与随机时长对照实验。</a:t>
            </a:r>
            <a:r>
              <a:rPr lang="en-US" altLang="zh-CN" dirty="0" err="1" smtClean="0"/>
              <a:t>FullSubNet</a:t>
            </a:r>
            <a:r>
              <a:rPr lang="en-US" altLang="zh-CN" dirty="0" smtClean="0"/>
              <a:t>+ </a:t>
            </a:r>
            <a:r>
              <a:rPr lang="zh-CN" altLang="en-US" dirty="0" smtClean="0"/>
              <a:t>本身有 </a:t>
            </a:r>
            <a:r>
              <a:rPr lang="en-US" altLang="zh-CN" dirty="0" smtClean="0"/>
              <a:t>LSTM</a:t>
            </a:r>
            <a:r>
              <a:rPr lang="zh-CN" altLang="en-US" dirty="0" smtClean="0"/>
              <a:t>，全带和子带都在建模时间上下文。你的报告里也是以全带 </a:t>
            </a:r>
            <a:r>
              <a:rPr lang="en-US" altLang="zh-CN" dirty="0" smtClean="0"/>
              <a:t>LSTM 512</a:t>
            </a:r>
            <a:r>
              <a:rPr lang="zh-CN" altLang="en-US" dirty="0" smtClean="0"/>
              <a:t>、子带 </a:t>
            </a:r>
            <a:r>
              <a:rPr lang="en-US" altLang="zh-CN" dirty="0" smtClean="0"/>
              <a:t>LSTM 384 </a:t>
            </a:r>
            <a:r>
              <a:rPr lang="zh-CN" altLang="en-US" dirty="0" smtClean="0"/>
              <a:t>的形式使用</a:t>
            </a:r>
            <a:r>
              <a:rPr lang="en-US" altLang="zh-CN" dirty="0" smtClean="0"/>
              <a:t>,</a:t>
            </a:r>
            <a:r>
              <a:rPr lang="zh-CN" altLang="en-US" dirty="0" smtClean="0"/>
              <a:t>而随机时长会导致它有时只能看到较短序列。因此网络会更倾向于利用</a:t>
            </a:r>
            <a:r>
              <a:rPr lang="zh-CN" altLang="en-US" b="1" dirty="0" smtClean="0"/>
              <a:t>局部、稳定、重复出现的声学模式</a:t>
            </a:r>
            <a:r>
              <a:rPr lang="zh-CN" altLang="en-US" dirty="0" smtClean="0"/>
              <a:t>，而不是强依赖远距离上下文。</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为什么第三步从6.52/8.17又能到5.24/6.10？是不是还有别的技巧？</a:t>
            </a:r>
          </a:p>
          <a:p>
            <a:r>
              <a:rPr lang="en-US" altLang="zh-CN" sz="1200" kern="1200" dirty="0" smtClean="0">
                <a:solidFill>
                  <a:schemeClr val="tx1"/>
                </a:solidFill>
                <a:effectLst/>
                <a:latin typeface="+mn-lt"/>
                <a:ea typeface="+mn-ea"/>
                <a:cs typeface="+mn-cs"/>
              </a:rPr>
              <a:t>没有再引入新的核心损失项，主要是在同一判别配方下继续训练到验证集最优点。汇报里把它统一归到“难负原型抑制+分类判别阶段”，不单独包装成另一种新方法。</a:t>
            </a:r>
          </a:p>
          <a:p>
            <a:r>
              <a:rPr lang="en-US" altLang="zh-CN" sz="1200" b="1" kern="1200" dirty="0" smtClean="0">
                <a:solidFill>
                  <a:schemeClr val="tx1"/>
                </a:solidFill>
                <a:effectLst/>
                <a:latin typeface="+mn-lt"/>
                <a:ea typeface="+mn-ea"/>
                <a:cs typeface="+mn-cs"/>
              </a:rPr>
              <a:t>为什么第4轮回归就停？</a:t>
            </a:r>
          </a:p>
          <a:p>
            <a:r>
              <a:rPr lang="en-US" altLang="zh-CN" sz="1200" kern="1200" dirty="0" err="1" smtClean="0">
                <a:solidFill>
                  <a:schemeClr val="tx1"/>
                </a:solidFill>
                <a:effectLst/>
                <a:latin typeface="+mn-lt"/>
                <a:ea typeface="+mn-ea"/>
                <a:cs typeface="+mn-cs"/>
              </a:rPr>
              <a:t>因为模型选择依据代理验证集的预设规则。继续训练已经出现明显回归，说明开始过拟合；官方测试集不用于反复挑轮数</a:t>
            </a:r>
            <a:r>
              <a:rPr lang="en-US" altLang="zh-CN" sz="1200" kern="1200" dirty="0" smtClean="0">
                <a:solidFill>
                  <a:schemeClr val="tx1"/>
                </a:solidFill>
                <a:effectLst/>
                <a:latin typeface="+mn-lt"/>
                <a:ea typeface="+mn-ea"/>
                <a:cs typeface="+mn-cs"/>
              </a:rPr>
              <a:t>。</a:t>
            </a:r>
            <a:endParaRPr lang="en-US" altLang="zh-CN" sz="1200" b="1"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随机时长增强为什么能解决1秒？</a:t>
            </a:r>
          </a:p>
          <a:p>
            <a:r>
              <a:rPr lang="en-US" altLang="zh-CN" sz="1200" kern="1200" dirty="0" smtClean="0">
                <a:solidFill>
                  <a:schemeClr val="tx1"/>
                </a:solidFill>
                <a:effectLst/>
                <a:latin typeface="+mn-lt"/>
                <a:ea typeface="+mn-ea"/>
                <a:cs typeface="+mn-cs"/>
              </a:rPr>
              <a:t>固定3秒训练会让模型习惯较长上下文，1秒时身份信息更少、统计更不稳定。随机1/2/3秒让训练阶段提前适应短片段。</a:t>
            </a:r>
          </a:p>
          <a:p>
            <a:r>
              <a:rPr lang="en-US" altLang="zh-CN" sz="1200" b="1" kern="1200" dirty="0" smtClean="0">
                <a:solidFill>
                  <a:schemeClr val="tx1"/>
                </a:solidFill>
                <a:effectLst/>
                <a:latin typeface="+mn-lt"/>
                <a:ea typeface="+mn-ea"/>
                <a:cs typeface="+mn-cs"/>
              </a:rPr>
              <a:t>步骤1—4和步骤5为什么口径不同？</a:t>
            </a:r>
          </a:p>
          <a:p>
            <a:r>
              <a:rPr lang="en-US" altLang="zh-CN" sz="1200" kern="1200" dirty="0" smtClean="0">
                <a:solidFill>
                  <a:schemeClr val="tx1"/>
                </a:solidFill>
                <a:effectLst/>
                <a:latin typeface="+mn-lt"/>
                <a:ea typeface="+mn-ea"/>
                <a:cs typeface="+mn-cs"/>
              </a:rPr>
              <a:t>前几步用冻结训练期验证器做选点，最后一步回到最终交付后端做官方口径终评。因此PPT已明确标注两种口径，不能把数字理解成严格同一后端上的连续曲线。</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15</a:t>
            </a:fld>
            <a:endParaRPr lang="zh-CN" altLang="en-US"/>
          </a:p>
        </p:txBody>
      </p:sp>
    </p:spTree>
    <p:extLst>
      <p:ext uri="{BB962C8B-B14F-4D97-AF65-F5344CB8AC3E}">
        <p14:creationId xmlns:p14="http://schemas.microsoft.com/office/powerpoint/2010/main" val="2237688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第五部分</a:t>
            </a:r>
            <a:r>
              <a:rPr lang="en-US" altLang="zh-CN" dirty="0" smtClean="0"/>
              <a:t>,</a:t>
            </a:r>
            <a:r>
              <a:rPr lang="zh-CN" altLang="en-US" dirty="0" smtClean="0"/>
              <a:t>实验结果与消融。</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16</a:t>
            </a:fld>
            <a:endParaRPr lang="zh-CN" altLang="en-US"/>
          </a:p>
        </p:txBody>
      </p:sp>
    </p:spTree>
    <p:extLst>
      <p:ext uri="{BB962C8B-B14F-4D97-AF65-F5344CB8AC3E}">
        <p14:creationId xmlns:p14="http://schemas.microsoft.com/office/powerpoint/2010/main" val="494533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这页就是最终验收结果</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主力ERes2Net在0 dB从8.39降到4.89，相对下降41.7%；-5 dB从11.06降到5.56，下降49.7%，两档都明显超过30%的验收线。</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ECAPA也分别下降43.3%和50.3%，同样过线，这说明前端的收益不是只绑定一个主力后端。轻量的ReDimNet-B6也有提升，但只有23.7%和28.2%，接近验收线但没有完全过，这也是后面要讲的一个局限。另外clean从5.29到4.17，至少说明前端没有以牺牲干净语音为代价换取噪声场景收益。</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为什么ReDimNet没过线</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目前最合理的解释是训练监督主要来自ERes2Net系冻结验证器，前端学到的身份判别方向与B6嵌入空间不完全匹配。这个是解释性判断，不是已被严格证明的因果机理；下一步最直接的实验就是用B6自身作为验证器重训前端。</a:t>
            </a:r>
          </a:p>
          <a:p>
            <a:r>
              <a:rPr lang="zh-CN" altLang="en-US" sz="1200" b="1" kern="1200" dirty="0" smtClean="0">
                <a:solidFill>
                  <a:schemeClr val="tx1"/>
                </a:solidFill>
                <a:effectLst/>
                <a:latin typeface="+mn-lt"/>
                <a:ea typeface="+mn-ea"/>
                <a:cs typeface="+mn-cs"/>
              </a:rPr>
              <a:t>反而比</a:t>
            </a:r>
            <a:r>
              <a:rPr lang="en-US" altLang="zh-CN" sz="1200" b="1" kern="1200" dirty="0" smtClean="0">
                <a:solidFill>
                  <a:schemeClr val="tx1"/>
                </a:solidFill>
                <a:effectLst/>
                <a:latin typeface="+mn-lt"/>
                <a:ea typeface="+mn-ea"/>
                <a:cs typeface="+mn-cs"/>
              </a:rPr>
              <a:t>clean</a:t>
            </a:r>
            <a:r>
              <a:rPr lang="zh-CN" altLang="en-US" sz="1200" b="1" kern="1200" dirty="0" smtClean="0">
                <a:solidFill>
                  <a:schemeClr val="tx1"/>
                </a:solidFill>
                <a:effectLst/>
                <a:latin typeface="+mn-lt"/>
                <a:ea typeface="+mn-ea"/>
                <a:cs typeface="+mn-cs"/>
              </a:rPr>
              <a:t>还好</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是不是因为前端在做域归一化</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这个现象并不表示增强语音在物理意义上比</a:t>
            </a:r>
            <a:r>
              <a:rPr lang="en-US" altLang="zh-CN" dirty="0" smtClean="0"/>
              <a:t>clean</a:t>
            </a:r>
            <a:r>
              <a:rPr lang="zh-CN" altLang="en-US" dirty="0" smtClean="0"/>
              <a:t>语音更真实，而是因为我们的优化目标不是语音重建，而是声纹验证性能。传统</a:t>
            </a:r>
            <a:r>
              <a:rPr lang="en-US" altLang="zh-CN" dirty="0" smtClean="0"/>
              <a:t>clean</a:t>
            </a:r>
            <a:r>
              <a:rPr lang="zh-CN" altLang="en-US" dirty="0" smtClean="0"/>
              <a:t>语音包含完整声学信息，但其中部分变化来自通道、内容和环境，对身份判别并非都是有益信息。我们的前端在冻结声纹后端的约束下，通过说话人保持、难负抑制和</a:t>
            </a:r>
            <a:r>
              <a:rPr lang="en-US" altLang="zh-CN" dirty="0" smtClean="0"/>
              <a:t>AAM</a:t>
            </a:r>
            <a:r>
              <a:rPr lang="zh-CN" altLang="en-US" dirty="0" smtClean="0"/>
              <a:t>分类损失，主动增强与身份相关的判别特征，使输出</a:t>
            </a:r>
            <a:r>
              <a:rPr lang="en-US" altLang="zh-CN" dirty="0" smtClean="0"/>
              <a:t>embedding</a:t>
            </a:r>
            <a:r>
              <a:rPr lang="zh-CN" altLang="en-US" dirty="0" smtClean="0"/>
              <a:t>更加接近目标类别中心并远离混淆类别。因此在特定验证任务中，经过身份感知优化后的表示可能优于未经处理的</a:t>
            </a:r>
            <a:r>
              <a:rPr lang="en-US" altLang="zh-CN" dirty="0" smtClean="0"/>
              <a:t>clean</a:t>
            </a:r>
            <a:r>
              <a:rPr lang="zh-CN" altLang="en-US" dirty="0" smtClean="0"/>
              <a:t>输入。该结果说明模型优化的是声纹判别空间，而不是单纯恢复波形。</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17</a:t>
            </a:fld>
            <a:endParaRPr lang="zh-CN" altLang="en-US"/>
          </a:p>
        </p:txBody>
      </p:sp>
    </p:spTree>
    <p:extLst>
      <p:ext uri="{BB962C8B-B14F-4D97-AF65-F5344CB8AC3E}">
        <p14:creationId xmlns:p14="http://schemas.microsoft.com/office/powerpoint/2010/main" val="2986295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数字之外，我放一个3秒的真实样本帮助大家建立直观感受。</a:t>
            </a:r>
            <a:br>
              <a:rPr lang="en-US" altLang="zh-CN" sz="1200" kern="1200" dirty="0" smtClean="0">
                <a:solidFill>
                  <a:schemeClr val="tx1"/>
                </a:solidFill>
                <a:effectLst/>
                <a:latin typeface="+mn-lt"/>
                <a:ea typeface="+mn-ea"/>
                <a:cs typeface="+mn-cs"/>
              </a:rPr>
            </a:br>
            <a:r>
              <a:rPr lang="en-US" altLang="zh-CN" sz="1200" kern="1200" dirty="0" smtClean="0">
                <a:solidFill>
                  <a:schemeClr val="tx1"/>
                </a:solidFill>
                <a:effectLst/>
                <a:latin typeface="+mn-lt"/>
                <a:ea typeface="+mn-ea"/>
                <a:cs typeface="+mn-cs"/>
              </a:rPr>
              <a:t>第一段是0 dB的原始带噪语音，也就是目标语音和噪声能量接近；第二段是交付前端的增强结果；第三段是同一说话人的clean参考。大家主要听两个点：噪声有没有明显被压下去，以及目标说话人的音色和内容有没有被破坏。</a:t>
            </a:r>
          </a:p>
          <a:p>
            <a:endParaRPr lang="en-US"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听感变好和EER变好一定一致吗</a:t>
            </a:r>
            <a:r>
              <a:rPr lang="en-US" altLang="zh-CN" sz="1200"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不一定，这也是我们前期通用降噪失败得到的教训。所以最终方法同时看信号恢复和身份判别，而不是只凭主观听感</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18</a:t>
            </a:fld>
            <a:endParaRPr lang="zh-CN" altLang="en-US"/>
          </a:p>
        </p:txBody>
      </p:sp>
    </p:spTree>
    <p:extLst>
      <p:ext uri="{BB962C8B-B14F-4D97-AF65-F5344CB8AC3E}">
        <p14:creationId xmlns:p14="http://schemas.microsoft.com/office/powerpoint/2010/main" val="4202290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前面的主结果只说明在主验收噪声池有效，所以我又把测试噪声换成训练阶段没见过的文件。纯音乐和SoundBible音效上仍然能保持接近40%以上的相对改善，说明主验收结果不是只记住了某一批噪声。但一旦换成竞争说话人，收益明显缩水，-5 </a:t>
            </a:r>
            <a:r>
              <a:rPr lang="en-US" altLang="zh-CN" sz="1200" kern="1200" dirty="0" err="1" smtClean="0">
                <a:solidFill>
                  <a:schemeClr val="tx1"/>
                </a:solidFill>
                <a:effectLst/>
                <a:latin typeface="+mn-lt"/>
                <a:ea typeface="+mn-ea"/>
                <a:cs typeface="+mn-cs"/>
              </a:rPr>
              <a:t>dB甚至略有恶化。这个对比很有价值：非人声噪声比较容易迁移，语音型干扰才是当前真正难的地方，和后面的多人重叠结果是同一个方向</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为什么竞争说话人比音乐</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音效难</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因为竞争人声和目标语音共享类似的语音结构、频谱和时序模式，不能简单把它当成背景噪声去压；在不损害目标身份的前提下做语音</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语音分离更难</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speech域-5 </a:t>
            </a:r>
            <a:r>
              <a:rPr lang="en-US" altLang="zh-CN" sz="1200" b="1" kern="1200" dirty="0" err="1" smtClean="0">
                <a:solidFill>
                  <a:schemeClr val="tx1"/>
                </a:solidFill>
                <a:effectLst/>
                <a:latin typeface="+mn-lt"/>
                <a:ea typeface="+mn-ea"/>
                <a:cs typeface="+mn-cs"/>
              </a:rPr>
              <a:t>dB反而变差，是不是方法失败</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说明当前方法对人声型干扰存在明确边界。我们没有把它隐藏掉，而是单独作为局限，并把后续工作优先放在人声混合训练和分离前端级联</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训练未见噪声文件能证明泛化吗</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提供更强的换域证据，但不是“对所有噪声都泛化”的绝对证明。因此表述是“</a:t>
            </a:r>
            <a:r>
              <a:rPr lang="en-US" altLang="zh-CN" sz="1200" kern="1200" dirty="0" err="1" smtClean="0">
                <a:solidFill>
                  <a:schemeClr val="tx1"/>
                </a:solidFill>
                <a:effectLst/>
                <a:latin typeface="+mn-lt"/>
                <a:ea typeface="+mn-ea"/>
                <a:cs typeface="+mn-cs"/>
              </a:rPr>
              <a:t>非人声换域噪声上稳定迁移</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不做无限外推</a:t>
            </a:r>
            <a:r>
              <a:rPr lang="en-US" altLang="zh-CN" sz="1200" kern="1200" dirty="0" smtClean="0">
                <a:solidFill>
                  <a:schemeClr val="tx1"/>
                </a:solidFill>
                <a:effectLst/>
                <a:latin typeface="+mn-lt"/>
                <a:ea typeface="+mn-ea"/>
                <a:cs typeface="+mn-cs"/>
              </a:rPr>
              <a:t>。</a:t>
            </a: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19</a:t>
            </a:fld>
            <a:endParaRPr lang="zh-CN" altLang="en-US"/>
          </a:p>
        </p:txBody>
      </p:sp>
    </p:spTree>
    <p:extLst>
      <p:ext uri="{BB962C8B-B14F-4D97-AF65-F5344CB8AC3E}">
        <p14:creationId xmlns:p14="http://schemas.microsoft.com/office/powerpoint/2010/main" val="4092559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这一页从三个维度补充泛化</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左边是时长：0 dB下1秒从18.56降到13.57，改善26.9%，还差一点到30%线；3秒和5秒都已经过线。</a:t>
            </a:r>
            <a:endParaRPr lang="zh-CN"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右上是复杂场景：混响有稳定改善，但多人重叠明显更难，再次说明语音型干扰是主要瓶颈</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右下是注册端鲁棒性。我们把注册语音本身从clean一路加噪到0 </a:t>
            </a:r>
            <a:r>
              <a:rPr lang="en-US" altLang="zh-CN" sz="1200" kern="1200" dirty="0" err="1" smtClean="0">
                <a:solidFill>
                  <a:schemeClr val="tx1"/>
                </a:solidFill>
                <a:effectLst/>
                <a:latin typeface="+mn-lt"/>
                <a:ea typeface="+mn-ea"/>
                <a:cs typeface="+mn-cs"/>
              </a:rPr>
              <a:t>dB，前端仍然保留比较明显的收益。也就是说，实际部署时注册阶段不一定非要达到录音棚级的clean条件</a:t>
            </a:r>
            <a:r>
              <a:rPr lang="en-US" altLang="zh-CN" sz="1200" kern="1200" dirty="0" smtClean="0">
                <a:solidFill>
                  <a:schemeClr val="tx1"/>
                </a:solidFill>
                <a:effectLst/>
                <a:latin typeface="+mn-lt"/>
                <a:ea typeface="+mn-ea"/>
                <a:cs typeface="+mn-cs"/>
              </a:rPr>
              <a:t>。</a:t>
            </a:r>
          </a:p>
          <a:p>
            <a:endParaRPr lang="en-US" altLang="zh-CN" sz="1200" b="1"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为什么注册端带噪实验不是官方测试口径</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这是补充鲁棒性诊断，使用100个未见说话人的代理验证集，目的不是替代主验收结论，而是观察注册质量变化时的趋势。主验收仍以官方冻结测试集为准。</a:t>
            </a:r>
          </a:p>
          <a:p>
            <a:r>
              <a:rPr lang="en-US" altLang="zh-CN" sz="1200" b="1" kern="1200" dirty="0" smtClean="0">
                <a:solidFill>
                  <a:schemeClr val="tx1"/>
                </a:solidFill>
                <a:effectLst/>
                <a:latin typeface="+mn-lt"/>
                <a:ea typeface="+mn-ea"/>
                <a:cs typeface="+mn-cs"/>
              </a:rPr>
              <a:t>为什么1秒只有26.9%，3秒和5秒明显更好？</a:t>
            </a:r>
          </a:p>
          <a:p>
            <a:r>
              <a:rPr lang="en-US" altLang="zh-CN" sz="1200" kern="1200" dirty="0" smtClean="0">
                <a:solidFill>
                  <a:schemeClr val="tx1"/>
                </a:solidFill>
                <a:effectLst/>
                <a:latin typeface="+mn-lt"/>
                <a:ea typeface="+mn-ea"/>
                <a:cs typeface="+mn-cs"/>
              </a:rPr>
              <a:t>1秒的身份信息更少，embedding估计方差更大，随机时长增强能缓解但不能凭空补回缺失信息，所以短语音仍是下一步重点。</a:t>
            </a:r>
          </a:p>
          <a:p>
            <a:r>
              <a:rPr lang="en-US" altLang="zh-CN" sz="1200" b="1" kern="1200" dirty="0" err="1" smtClean="0">
                <a:solidFill>
                  <a:schemeClr val="tx1"/>
                </a:solidFill>
                <a:effectLst/>
                <a:latin typeface="+mn-lt"/>
                <a:ea typeface="+mn-ea"/>
                <a:cs typeface="+mn-cs"/>
              </a:rPr>
              <a:t>三人中文重叠为什么降幅反而比二人中文更大</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相对降幅受到raw基线难度影响，三人重叠的原始EER更高，所以不能只看相对百分比判断哪个场景更容易；绝对EER仍然是三人重叠更困难。</a:t>
            </a:r>
            <a:endParaRPr lang="zh-CN"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9B40070-7991-483E-99D3-F39B8081B956}" type="slidenum">
              <a:rPr lang="zh-CN" altLang="en-US" smtClean="0"/>
              <a:t>20</a:t>
            </a:fld>
            <a:endParaRPr lang="zh-CN" altLang="en-US"/>
          </a:p>
        </p:txBody>
      </p:sp>
    </p:spTree>
    <p:extLst>
      <p:ext uri="{BB962C8B-B14F-4D97-AF65-F5344CB8AC3E}">
        <p14:creationId xmlns:p14="http://schemas.microsoft.com/office/powerpoint/2010/main" val="1873388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前面主要用EER看总体可分性，这里再看更接近工程部署的工作点</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minDCF和固定阈值下的FAR、FRR都和EER同方向改善。比如主力0 dB在FAR固定5%时，FRR从12.46%降到4.77%；</a:t>
            </a:r>
            <a:r>
              <a:rPr lang="en-US" altLang="zh-CN" sz="1200" kern="1200" dirty="0" err="1" smtClean="0">
                <a:solidFill>
                  <a:schemeClr val="tx1"/>
                </a:solidFill>
                <a:effectLst/>
                <a:latin typeface="+mn-lt"/>
                <a:ea typeface="+mn-ea"/>
                <a:cs typeface="+mn-cs"/>
              </a:rPr>
              <a:t>下面的DET曲线也能看到增强后整体往更优方向移动</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右边我另外做了失败样本统计，用来定位哪些说话人最容易漏判、哪些区域是模型边界。这部分主要用于诊断和后续方案设计，不会拿官方测试标签反过来修改测试集分布。</a:t>
            </a:r>
          </a:p>
          <a:p>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Detection Cost Function </a:t>
            </a:r>
            <a:r>
              <a:rPr lang="zh-CN" altLang="en-US" dirty="0" smtClean="0"/>
              <a:t>检测代价函数。</a:t>
            </a:r>
            <a:endParaRPr lang="en-US" altLang="zh-CN" dirty="0" smtClean="0"/>
          </a:p>
          <a:p>
            <a:r>
              <a:rPr lang="en-US" altLang="zh-CN" dirty="0" err="1" smtClean="0"/>
              <a:t>minDCF</a:t>
            </a:r>
            <a:r>
              <a:rPr lang="zh-CN" altLang="en-US" dirty="0" smtClean="0"/>
              <a:t>是考虑实际部署成本的评价指标，它通过给误拒绝和误接受设置不同权重，在所有判决阈值中寻找最低检测代价。相比</a:t>
            </a:r>
            <a:r>
              <a:rPr lang="en-US" altLang="zh-CN" dirty="0" smtClean="0"/>
              <a:t>EER</a:t>
            </a:r>
            <a:r>
              <a:rPr lang="zh-CN" altLang="en-US" dirty="0" smtClean="0"/>
              <a:t>只关注错误率相等的单一工作点，</a:t>
            </a:r>
            <a:r>
              <a:rPr lang="en-US" altLang="zh-CN" dirty="0" err="1" smtClean="0"/>
              <a:t>minDCF</a:t>
            </a:r>
            <a:r>
              <a:rPr lang="zh-CN" altLang="en-US" dirty="0" smtClean="0"/>
              <a:t>更能反映声纹系统在实际安全认证场景下的运行性能。本实验中</a:t>
            </a:r>
            <a:r>
              <a:rPr lang="en-US" altLang="zh-CN" dirty="0" smtClean="0"/>
              <a:t>EER</a:t>
            </a:r>
            <a:r>
              <a:rPr lang="zh-CN" altLang="en-US" dirty="0" smtClean="0"/>
              <a:t>降低的同时，</a:t>
            </a:r>
            <a:r>
              <a:rPr lang="en-US" altLang="zh-CN" dirty="0" err="1" smtClean="0"/>
              <a:t>minDCF</a:t>
            </a:r>
            <a:r>
              <a:rPr lang="zh-CN" altLang="en-US" dirty="0" smtClean="0"/>
              <a:t>同步下降，说明模型不仅改善平均判别能力，也改善了实际部署工作点下的风险。</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EER、minDCF、FAR</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FRR分别看什么</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smtClean="0">
                <a:solidFill>
                  <a:schemeClr val="tx1"/>
                </a:solidFill>
                <a:effectLst/>
                <a:latin typeface="+mn-lt"/>
                <a:ea typeface="+mn-ea"/>
                <a:cs typeface="+mn-cs"/>
              </a:rPr>
              <a:t>EER看整体可分性；固定FAR</a:t>
            </a:r>
            <a:r>
              <a:rPr lang="en-US" altLang="zh-CN" sz="1200" kern="1200" dirty="0" smtClean="0">
                <a:solidFill>
                  <a:schemeClr val="tx1"/>
                </a:solidFill>
                <a:effectLst/>
                <a:latin typeface="+mn-lt"/>
                <a:ea typeface="+mn-ea"/>
                <a:cs typeface="+mn-cs"/>
              </a:rPr>
              <a:t>/FRR看指定业务风险下另一类错误是多少；minDCF是在给定先验和代价下综合评价。三者同向改善，说明结果不是只在某一个阈值点好看。</a:t>
            </a:r>
            <a:endParaRPr lang="zh-CN"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DET曲线怎么看</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smtClean="0">
                <a:solidFill>
                  <a:schemeClr val="tx1"/>
                </a:solidFill>
                <a:effectLst/>
                <a:latin typeface="+mn-lt"/>
                <a:ea typeface="+mn-ea"/>
                <a:cs typeface="+mn-cs"/>
              </a:rPr>
              <a:t>横轴FAR、纵轴FRR，越靠左下越好。增强后的曲线整体位于baseline更优的一侧，说明不是只在EER交点附近改善</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失败样本分析会不会造成测试集泄漏</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不会用于重新训练或改测试分布。它用于结果诊断和困难说话人定位；模型选择仍在代理验证集，官方测试集冻结</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最困难说话人45.6%漏报说明什么？</a:t>
            </a:r>
          </a:p>
          <a:p>
            <a:r>
              <a:rPr lang="en-US" altLang="zh-CN" sz="1200" kern="1200" dirty="0" err="1" smtClean="0">
                <a:solidFill>
                  <a:schemeClr val="tx1"/>
                </a:solidFill>
                <a:effectLst/>
                <a:latin typeface="+mn-lt"/>
                <a:ea typeface="+mn-ea"/>
                <a:cs typeface="+mn-cs"/>
              </a:rPr>
              <a:t>说明错误并不是均匀分布的，少数说话人</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条件是主要风险来源。这有助于后续从数据质量、说话人特性、设备条件等角度做针对性诊断</a:t>
            </a:r>
            <a:r>
              <a:rPr lang="en-US" altLang="zh-CN" sz="1200" kern="1200" dirty="0" smtClean="0">
                <a:solidFill>
                  <a:schemeClr val="tx1"/>
                </a:solidFill>
                <a:effectLst/>
                <a:latin typeface="+mn-lt"/>
                <a:ea typeface="+mn-ea"/>
                <a:cs typeface="+mn-cs"/>
              </a:rPr>
              <a:t>。</a:t>
            </a:r>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21</a:t>
            </a:fld>
            <a:endParaRPr lang="zh-CN" altLang="en-US"/>
          </a:p>
        </p:txBody>
      </p:sp>
    </p:spTree>
    <p:extLst>
      <p:ext uri="{BB962C8B-B14F-4D97-AF65-F5344CB8AC3E}">
        <p14:creationId xmlns:p14="http://schemas.microsoft.com/office/powerpoint/2010/main" val="1330992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22 </a:t>
            </a:r>
            <a:r>
              <a:rPr lang="zh-CN" altLang="en-US" smtClean="0"/>
              <a:t>页 </a:t>
            </a:r>
            <a:r>
              <a:rPr lang="en-US" altLang="zh-CN" smtClean="0"/>
              <a:t>| </a:t>
            </a:r>
            <a:r>
              <a:rPr lang="zh-CN" altLang="en-US" smtClean="0"/>
              <a:t>分节</a:t>
            </a:r>
            <a:r>
              <a:rPr lang="en-US" altLang="zh-CN" smtClean="0"/>
              <a:t>:</a:t>
            </a:r>
            <a:r>
              <a:rPr lang="zh-CN" altLang="en-US" smtClean="0"/>
              <a:t>讨论与展望 </a:t>
            </a:r>
            <a:r>
              <a:rPr lang="en-US" altLang="zh-CN" smtClean="0"/>
              <a:t>| </a:t>
            </a:r>
            <a:r>
              <a:rPr lang="zh-CN" altLang="en-US" smtClean="0"/>
              <a:t>约 </a:t>
            </a:r>
            <a:r>
              <a:rPr lang="en-US" altLang="zh-CN" smtClean="0"/>
              <a:t>3 </a:t>
            </a:r>
            <a:r>
              <a:rPr lang="zh-CN" altLang="en-US" smtClean="0"/>
              <a:t>秒</a:t>
            </a:r>
            <a:r>
              <a:rPr lang="en-US" altLang="zh-CN" smtClean="0"/>
              <a:t>]</a:t>
            </a:r>
          </a:p>
          <a:p>
            <a:endParaRPr lang="en-US" altLang="zh-CN" smtClean="0"/>
          </a:p>
          <a:p>
            <a:r>
              <a:rPr lang="zh-CN" altLang="en-US" smtClean="0"/>
              <a:t>最后</a:t>
            </a:r>
            <a:r>
              <a:rPr lang="en-US" altLang="zh-CN" smtClean="0"/>
              <a:t>,</a:t>
            </a:r>
            <a:r>
              <a:rPr lang="zh-CN" altLang="en-US" smtClean="0"/>
              <a:t>讨论与展望。</a:t>
            </a:r>
            <a:endParaRPr lang="zh-CN" altLang="en-US"/>
          </a:p>
        </p:txBody>
      </p:sp>
      <p:sp>
        <p:nvSpPr>
          <p:cNvPr id="4" name="灯片编号占位符 3"/>
          <p:cNvSpPr>
            <a:spLocks noGrp="1"/>
          </p:cNvSpPr>
          <p:nvPr>
            <p:ph type="sldNum" sz="quarter" idx="10"/>
          </p:nvPr>
        </p:nvSpPr>
        <p:spPr/>
        <p:txBody>
          <a:bodyPr/>
          <a:lstStyle/>
          <a:p>
            <a:fld id="{83FA4863-82EA-4055-A6CB-D03302C3F2F9}" type="slidenum">
              <a:rPr lang="zh-CN" altLang="en-US" smtClean="0"/>
              <a:t>22</a:t>
            </a:fld>
            <a:endParaRPr lang="zh-CN" altLang="en-US"/>
          </a:p>
        </p:txBody>
      </p:sp>
    </p:spTree>
    <p:extLst>
      <p:ext uri="{BB962C8B-B14F-4D97-AF65-F5344CB8AC3E}">
        <p14:creationId xmlns:p14="http://schemas.microsoft.com/office/powerpoint/2010/main" val="789797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zh-CN" altLang="en-US" dirty="0" smtClean="0"/>
              <a:t>第 </a:t>
            </a:r>
            <a:r>
              <a:rPr lang="en-US" altLang="zh-CN" dirty="0" smtClean="0"/>
              <a:t>23 </a:t>
            </a:r>
            <a:r>
              <a:rPr lang="zh-CN" altLang="en-US" dirty="0" smtClean="0"/>
              <a:t>页 </a:t>
            </a:r>
            <a:r>
              <a:rPr lang="en-US" altLang="zh-CN" dirty="0" smtClean="0"/>
              <a:t>| </a:t>
            </a:r>
            <a:r>
              <a:rPr lang="zh-CN" altLang="en-US" dirty="0" smtClean="0"/>
              <a:t>局限性分析 </a:t>
            </a:r>
            <a:r>
              <a:rPr lang="en-US" altLang="zh-CN" dirty="0" smtClean="0"/>
              <a:t>| </a:t>
            </a:r>
            <a:r>
              <a:rPr lang="zh-CN" altLang="en-US" dirty="0" smtClean="0"/>
              <a:t>约 </a:t>
            </a:r>
            <a:r>
              <a:rPr lang="en-US" altLang="zh-CN" dirty="0" smtClean="0"/>
              <a:t>40 </a:t>
            </a:r>
            <a:r>
              <a:rPr lang="zh-CN" altLang="en-US" dirty="0" smtClean="0"/>
              <a:t>秒</a:t>
            </a:r>
            <a:r>
              <a:rPr lang="en-US" altLang="zh-CN" dirty="0" smtClean="0"/>
              <a:t>]</a:t>
            </a:r>
          </a:p>
          <a:p>
            <a:endParaRPr lang="en-US" altLang="zh-CN" dirty="0" smtClean="0"/>
          </a:p>
          <a:p>
            <a:r>
              <a:rPr lang="en-US" altLang="zh-CN" sz="1200" kern="1200" dirty="0" err="1" smtClean="0">
                <a:solidFill>
                  <a:schemeClr val="tx1"/>
                </a:solidFill>
                <a:effectLst/>
                <a:latin typeface="+mn-lt"/>
                <a:ea typeface="+mn-ea"/>
                <a:cs typeface="+mn-cs"/>
              </a:rPr>
              <a:t>结果过线不代表问题都解决了。目前我看到四个比较明确的边界</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第一，人声干扰和多人重叠仍然最难；第二，1秒短语音还差大约3个百分点到30%线；第三，轻量后端迁移时增益会打折；第四，离0.5%的挑战目标还有数量级差距。</a:t>
            </a:r>
            <a:endParaRPr lang="zh-CN"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我把这四点都当成后续研发问题，而不是用一个平均指标把它们盖掉。前面三项在下一页都有直接对应的技术路线</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你觉得当前最大的局限是哪一个</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优先级最高的是人声型干扰</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轻量后端兼容性不足只是猜测吗</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是解释性假设，不是已严格证明的机制。我们基于跨后端结果提出这个判断，下一步会用B6作为冻结验证器重训前端来验证。</a:t>
            </a:r>
            <a:endParaRPr lang="zh-CN"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23</a:t>
            </a:fld>
            <a:endParaRPr lang="zh-CN" altLang="en-US"/>
          </a:p>
        </p:txBody>
      </p:sp>
    </p:spTree>
    <p:extLst>
      <p:ext uri="{BB962C8B-B14F-4D97-AF65-F5344CB8AC3E}">
        <p14:creationId xmlns:p14="http://schemas.microsoft.com/office/powerpoint/2010/main" val="1921888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最后总结一下这次实习。我觉得最重要的不是某一个单独数字，而是把一条从“方案失败”到“方法重新定义”再到“正式交付”的路线完整走通了：先把评测体系校准，再证伪直接微调和通用增强，最后转到注册条件化的身份感知前端。最终9.2M可训练前端在两个主后端上都超过30%验收线，同时做了跨噪声、短语音、混响、重叠和注册端退化这些扩展验证。下一步优先解决三个最直接的问题：人声干扰、短语音和轻量后端；再往后才是语音大模型融合和真实终端部署。</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如果只给你一个月继续做，你第一件事做什么</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先做人声干扰。具体会先加入竞争说话人</a:t>
            </a:r>
            <a:r>
              <a:rPr lang="en-US" altLang="zh-CN" sz="1200" kern="1200" dirty="0" smtClean="0">
                <a:solidFill>
                  <a:schemeClr val="tx1"/>
                </a:solidFill>
                <a:effectLst/>
                <a:latin typeface="+mn-lt"/>
                <a:ea typeface="+mn-ea"/>
                <a:cs typeface="+mn-cs"/>
              </a:rPr>
              <a:t>/utterance mixing训练，再比较“条件化增强单前端”和“说话人分离前端级联”两条路线，因为当前两类独立实验都把人声干扰指向首要瓶颈。第一件事做什么？</a:t>
            </a:r>
          </a:p>
          <a:p>
            <a:r>
              <a:rPr lang="en-US" altLang="zh-CN" sz="1200" b="1" kern="1200" dirty="0" err="1" smtClean="0">
                <a:solidFill>
                  <a:schemeClr val="tx1"/>
                </a:solidFill>
                <a:effectLst/>
                <a:latin typeface="+mn-lt"/>
                <a:ea typeface="+mn-ea"/>
                <a:cs typeface="+mn-cs"/>
              </a:rPr>
              <a:t>为什么下一步要引入语音大模型</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不是因为“模型越大越好”，而是SSL模型可以提供更强的中文语音表征和跨场景先验。但是否值得部署要同时比较参数、延迟和真实EER收益。</a:t>
            </a:r>
          </a:p>
          <a:p>
            <a:r>
              <a:rPr lang="en-US" altLang="zh-CN" sz="1200" b="1" kern="1200" dirty="0" err="1" smtClean="0">
                <a:solidFill>
                  <a:schemeClr val="tx1"/>
                </a:solidFill>
                <a:effectLst/>
                <a:latin typeface="+mn-lt"/>
                <a:ea typeface="+mn-ea"/>
                <a:cs typeface="+mn-cs"/>
              </a:rPr>
              <a:t>WavLM做过吗？为什么PPT没放</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报告里做过补充探索，但在当前中文协议下没有成为最终交付方案，所以正文不占时间展开。被问到时可以说明：大模型并没有自动解决本任务，最终选择仍以同协议实测结果和部署性为准；具体数值以技术报告记录为准。</a:t>
            </a:r>
          </a:p>
          <a:p>
            <a:r>
              <a:rPr lang="en-US" altLang="zh-CN" sz="1200" b="1" kern="1200" dirty="0" err="1" smtClean="0">
                <a:solidFill>
                  <a:schemeClr val="tx1"/>
                </a:solidFill>
                <a:effectLst/>
                <a:latin typeface="+mn-lt"/>
                <a:ea typeface="+mn-ea"/>
                <a:cs typeface="+mn-cs"/>
              </a:rPr>
              <a:t>你认为这项工作的创新点是什么</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企业课题里我更愿意说三点贡献：一是把通用增强重新定义为注册条件化的身份感知增强；二是用“目标拉近+难负推远”的损失把增强目标和验证任务对齐；三是建立了严格隔离、可复现的多条件评测和交付闭环。</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24</a:t>
            </a:fld>
            <a:endParaRPr lang="zh-CN" altLang="en-US"/>
          </a:p>
        </p:txBody>
      </p:sp>
    </p:spTree>
    <p:extLst>
      <p:ext uri="{BB962C8B-B14F-4D97-AF65-F5344CB8AC3E}">
        <p14:creationId xmlns:p14="http://schemas.microsoft.com/office/powerpoint/2010/main" val="3447341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最后简单讲一下个人规划</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这次实习之后，我对智能语音这个方向的兴趣更明确了。研究生阶段，我会继续把声纹识别、语音增强和SSL语音大模型这些基础补扎实，同时把工程部署能力补起来。</a:t>
            </a:r>
            <a:endParaRPr lang="zh-CN" altLang="zh-CN" sz="1200" kern="1200" dirty="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毕业以后希望做智能语音算法研发，重点关注声纹验证、目标说话人提取和语音大模型在终端场景里的应用。长期来说，我希望能一直做“算法真正落到设备和产品里”这件事，而不是只停留在离线指标上。</a:t>
            </a:r>
            <a:endParaRPr lang="zh-CN" altLang="zh-CN" sz="120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25</a:t>
            </a:fld>
            <a:endParaRPr lang="zh-CN" altLang="en-US"/>
          </a:p>
        </p:txBody>
      </p:sp>
    </p:spTree>
    <p:extLst>
      <p:ext uri="{BB962C8B-B14F-4D97-AF65-F5344CB8AC3E}">
        <p14:creationId xmlns:p14="http://schemas.microsoft.com/office/powerpoint/2010/main" val="4127110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26 </a:t>
            </a:r>
            <a:r>
              <a:rPr lang="zh-CN" altLang="en-US" smtClean="0"/>
              <a:t>页 </a:t>
            </a:r>
            <a:r>
              <a:rPr lang="en-US" altLang="zh-CN" smtClean="0"/>
              <a:t>| </a:t>
            </a:r>
            <a:r>
              <a:rPr lang="zh-CN" altLang="en-US" smtClean="0"/>
              <a:t>谢谢 </a:t>
            </a:r>
            <a:r>
              <a:rPr lang="en-US" altLang="zh-CN" smtClean="0"/>
              <a:t>| </a:t>
            </a:r>
            <a:r>
              <a:rPr lang="zh-CN" altLang="en-US" smtClean="0"/>
              <a:t>约 </a:t>
            </a:r>
            <a:r>
              <a:rPr lang="en-US" altLang="zh-CN" smtClean="0"/>
              <a:t>8 </a:t>
            </a:r>
            <a:r>
              <a:rPr lang="zh-CN" altLang="en-US" smtClean="0"/>
              <a:t>秒</a:t>
            </a:r>
            <a:r>
              <a:rPr lang="en-US" altLang="zh-CN" smtClean="0"/>
              <a:t>]</a:t>
            </a:r>
          </a:p>
          <a:p>
            <a:endParaRPr lang="en-US" altLang="zh-CN" smtClean="0"/>
          </a:p>
          <a:p>
            <a:r>
              <a:rPr lang="zh-CN" altLang="en-US" smtClean="0"/>
              <a:t>我的汇报到此结束</a:t>
            </a:r>
            <a:r>
              <a:rPr lang="en-US" altLang="zh-CN" smtClean="0"/>
              <a:t>,</a:t>
            </a:r>
            <a:r>
              <a:rPr lang="zh-CN" altLang="en-US" smtClean="0"/>
              <a:t>谢谢各位老师</a:t>
            </a:r>
            <a:r>
              <a:rPr lang="en-US" altLang="zh-CN" smtClean="0"/>
              <a:t>,</a:t>
            </a:r>
            <a:r>
              <a:rPr lang="zh-CN" altLang="en-US" smtClean="0"/>
              <a:t>恳请批评指正。</a:t>
            </a:r>
            <a:endParaRPr lang="zh-CN" altLang="en-US"/>
          </a:p>
        </p:txBody>
      </p:sp>
      <p:sp>
        <p:nvSpPr>
          <p:cNvPr id="4" name="灯片编号占位符 3"/>
          <p:cNvSpPr>
            <a:spLocks noGrp="1"/>
          </p:cNvSpPr>
          <p:nvPr>
            <p:ph type="sldNum" sz="quarter" idx="10"/>
          </p:nvPr>
        </p:nvSpPr>
        <p:spPr/>
        <p:txBody>
          <a:bodyPr/>
          <a:lstStyle/>
          <a:p>
            <a:fld id="{83FA4863-82EA-4055-A6CB-D03302C3F2F9}" type="slidenum">
              <a:rPr lang="zh-CN" altLang="en-US" smtClean="0"/>
              <a:t>26</a:t>
            </a:fld>
            <a:endParaRPr lang="zh-CN" altLang="en-US"/>
          </a:p>
        </p:txBody>
      </p:sp>
    </p:spTree>
    <p:extLst>
      <p:ext uri="{BB962C8B-B14F-4D97-AF65-F5344CB8AC3E}">
        <p14:creationId xmlns:p14="http://schemas.microsoft.com/office/powerpoint/2010/main" val="2443816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zh-CN" altLang="en-US" dirty="0" smtClean="0"/>
              <a:t>第 </a:t>
            </a:r>
            <a:r>
              <a:rPr lang="en-US" altLang="zh-CN" dirty="0" smtClean="0"/>
              <a:t>29 </a:t>
            </a:r>
            <a:r>
              <a:rPr lang="zh-CN" altLang="en-US" dirty="0" smtClean="0"/>
              <a:t>页 </a:t>
            </a:r>
            <a:r>
              <a:rPr lang="en-US" altLang="zh-CN" dirty="0" smtClean="0"/>
              <a:t>| </a:t>
            </a:r>
            <a:r>
              <a:rPr lang="zh-CN" altLang="en-US" dirty="0" smtClean="0"/>
              <a:t>备用</a:t>
            </a:r>
            <a:r>
              <a:rPr lang="en-US" altLang="zh-CN" dirty="0" smtClean="0"/>
              <a:t>:</a:t>
            </a:r>
            <a:r>
              <a:rPr lang="zh-CN" altLang="en-US" dirty="0" smtClean="0"/>
              <a:t>指标口径速查</a:t>
            </a:r>
            <a:r>
              <a:rPr lang="en-US" altLang="zh-CN" dirty="0" smtClean="0"/>
              <a:t>(</a:t>
            </a:r>
            <a:r>
              <a:rPr lang="zh-CN" altLang="en-US" dirty="0" smtClean="0"/>
              <a:t>问及再讲</a:t>
            </a:r>
            <a:r>
              <a:rPr lang="en-US" altLang="zh-CN" dirty="0" smtClean="0"/>
              <a:t>) | </a:t>
            </a:r>
            <a:r>
              <a:rPr lang="zh-CN" altLang="en-US" dirty="0" smtClean="0"/>
              <a:t>约 </a:t>
            </a:r>
            <a:r>
              <a:rPr lang="en-US" altLang="zh-CN" dirty="0" smtClean="0"/>
              <a:t>70 </a:t>
            </a:r>
            <a:r>
              <a:rPr lang="zh-CN" altLang="en-US" dirty="0" smtClean="0"/>
              <a:t>秒</a:t>
            </a:r>
            <a:r>
              <a:rPr lang="en-US" altLang="zh-CN" dirty="0" smtClean="0"/>
              <a:t>]</a:t>
            </a:r>
          </a:p>
          <a:p>
            <a:endParaRPr lang="en-US" altLang="zh-CN" dirty="0" smtClean="0"/>
          </a:p>
          <a:p>
            <a:r>
              <a:rPr lang="zh-CN" altLang="en-US" dirty="0" smtClean="0"/>
              <a:t>如果老师问指标含义</a:t>
            </a:r>
            <a:r>
              <a:rPr lang="en-US" altLang="zh-CN" dirty="0" smtClean="0"/>
              <a:t>,</a:t>
            </a:r>
            <a:r>
              <a:rPr lang="zh-CN" altLang="en-US" dirty="0" smtClean="0"/>
              <a:t>用这一页。</a:t>
            </a:r>
          </a:p>
          <a:p>
            <a:r>
              <a:rPr lang="zh-CN" altLang="en-US" dirty="0" smtClean="0"/>
              <a:t>系统给每条试验打一个分</a:t>
            </a:r>
            <a:r>
              <a:rPr lang="en-US" altLang="zh-CN" dirty="0" smtClean="0"/>
              <a:t>,</a:t>
            </a:r>
            <a:r>
              <a:rPr lang="zh-CN" altLang="en-US" dirty="0" smtClean="0"/>
              <a:t>拿阈值切</a:t>
            </a:r>
            <a:r>
              <a:rPr lang="en-US" altLang="zh-CN" dirty="0" smtClean="0"/>
              <a:t>,</a:t>
            </a:r>
            <a:r>
              <a:rPr lang="zh-CN" altLang="en-US" dirty="0" smtClean="0"/>
              <a:t>只有两种错误</a:t>
            </a:r>
            <a:r>
              <a:rPr lang="en-US" altLang="zh-CN" dirty="0" smtClean="0"/>
              <a:t>:</a:t>
            </a:r>
            <a:r>
              <a:rPr lang="zh-CN" altLang="en-US" dirty="0" smtClean="0"/>
              <a:t>冒认被放进来是 </a:t>
            </a:r>
            <a:r>
              <a:rPr lang="en-US" altLang="zh-CN" dirty="0" smtClean="0"/>
              <a:t>FAR,</a:t>
            </a:r>
            <a:r>
              <a:rPr lang="zh-CN" altLang="en-US" dirty="0" smtClean="0"/>
              <a:t>本人被拒是 </a:t>
            </a:r>
            <a:r>
              <a:rPr lang="en-US" altLang="zh-CN" dirty="0" smtClean="0"/>
              <a:t>FRR——</a:t>
            </a:r>
            <a:r>
              <a:rPr lang="zh-CN" altLang="en-US" dirty="0" smtClean="0"/>
              <a:t>所有指标都是这对错误在不同读法下的数字。</a:t>
            </a:r>
          </a:p>
          <a:p>
            <a:r>
              <a:rPr lang="en-US" altLang="zh-CN" dirty="0" smtClean="0"/>
              <a:t>EER,</a:t>
            </a:r>
            <a:r>
              <a:rPr lang="zh-CN" altLang="en-US" dirty="0" smtClean="0"/>
              <a:t>是 </a:t>
            </a:r>
            <a:r>
              <a:rPr lang="en-US" altLang="zh-CN" dirty="0" smtClean="0"/>
              <a:t>FAR </a:t>
            </a:r>
            <a:r>
              <a:rPr lang="zh-CN" altLang="en-US" dirty="0" smtClean="0"/>
              <a:t>等于 </a:t>
            </a:r>
            <a:r>
              <a:rPr lang="en-US" altLang="zh-CN" dirty="0" smtClean="0"/>
              <a:t>FRR </a:t>
            </a:r>
            <a:r>
              <a:rPr lang="zh-CN" altLang="en-US" dirty="0" smtClean="0"/>
              <a:t>那一点</a:t>
            </a:r>
            <a:r>
              <a:rPr lang="en-US" altLang="zh-CN" dirty="0" smtClean="0"/>
              <a:t>,</a:t>
            </a:r>
            <a:r>
              <a:rPr lang="zh-CN" altLang="en-US" dirty="0" smtClean="0"/>
              <a:t>阈值无关</a:t>
            </a:r>
            <a:r>
              <a:rPr lang="en-US" altLang="zh-CN" dirty="0" smtClean="0"/>
              <a:t>,</a:t>
            </a:r>
            <a:r>
              <a:rPr lang="zh-CN" altLang="en-US" dirty="0" smtClean="0"/>
              <a:t>衡量可分性</a:t>
            </a:r>
            <a:r>
              <a:rPr lang="en-US" altLang="zh-CN" dirty="0" smtClean="0"/>
              <a:t>:</a:t>
            </a:r>
            <a:r>
              <a:rPr lang="zh-CN" altLang="en-US" dirty="0" smtClean="0"/>
              <a:t>主力 </a:t>
            </a:r>
            <a:r>
              <a:rPr lang="en-US" altLang="zh-CN" dirty="0" smtClean="0"/>
              <a:t>0 </a:t>
            </a:r>
            <a:r>
              <a:rPr lang="zh-CN" altLang="en-US" dirty="0" smtClean="0"/>
              <a:t>分贝 </a:t>
            </a:r>
            <a:r>
              <a:rPr lang="en-US" altLang="zh-CN" dirty="0" smtClean="0"/>
              <a:t>8.39 </a:t>
            </a:r>
            <a:r>
              <a:rPr lang="zh-CN" altLang="en-US" dirty="0" smtClean="0"/>
              <a:t>到 </a:t>
            </a:r>
            <a:r>
              <a:rPr lang="en-US" altLang="zh-CN" dirty="0" smtClean="0"/>
              <a:t>4.89</a:t>
            </a:r>
            <a:r>
              <a:rPr lang="zh-CN" altLang="en-US" dirty="0" smtClean="0"/>
              <a:t>。</a:t>
            </a:r>
          </a:p>
          <a:p>
            <a:r>
              <a:rPr lang="en-US" altLang="zh-CN" dirty="0" smtClean="0"/>
              <a:t>ROC </a:t>
            </a:r>
            <a:r>
              <a:rPr lang="zh-CN" altLang="en-US" dirty="0" smtClean="0"/>
              <a:t>和 </a:t>
            </a:r>
            <a:r>
              <a:rPr lang="en-US" altLang="zh-CN" dirty="0" smtClean="0"/>
              <a:t>DET,</a:t>
            </a:r>
            <a:r>
              <a:rPr lang="zh-CN" altLang="en-US" dirty="0" smtClean="0"/>
              <a:t>是全阈值段的权衡曲线</a:t>
            </a:r>
            <a:r>
              <a:rPr lang="en-US" altLang="zh-CN" dirty="0" smtClean="0"/>
              <a:t>,DET </a:t>
            </a:r>
            <a:r>
              <a:rPr lang="zh-CN" altLang="en-US" dirty="0" smtClean="0"/>
              <a:t>用正态概率刻度把尾部细节拉开</a:t>
            </a:r>
            <a:r>
              <a:rPr lang="en-US" altLang="zh-CN" dirty="0" smtClean="0"/>
              <a:t>,</a:t>
            </a:r>
            <a:r>
              <a:rPr lang="zh-CN" altLang="en-US" dirty="0" smtClean="0"/>
              <a:t>是声纹圈的标准画法。</a:t>
            </a:r>
          </a:p>
          <a:p>
            <a:r>
              <a:rPr lang="en-US" altLang="zh-CN" dirty="0" err="1" smtClean="0"/>
              <a:t>minDCF</a:t>
            </a:r>
            <a:r>
              <a:rPr lang="en-US" altLang="zh-CN" dirty="0" smtClean="0"/>
              <a:t>,</a:t>
            </a:r>
            <a:r>
              <a:rPr lang="zh-CN" altLang="en-US" dirty="0" smtClean="0"/>
              <a:t>是部署视角</a:t>
            </a:r>
            <a:r>
              <a:rPr lang="en-US" altLang="zh-CN" dirty="0" smtClean="0"/>
              <a:t>:</a:t>
            </a:r>
            <a:r>
              <a:rPr lang="zh-CN" altLang="en-US" dirty="0" smtClean="0"/>
              <a:t>假设每次验证只有百分之一概率是本人</a:t>
            </a:r>
            <a:r>
              <a:rPr lang="en-US" altLang="zh-CN" dirty="0" smtClean="0"/>
              <a:t>,</a:t>
            </a:r>
            <a:r>
              <a:rPr lang="zh-CN" altLang="en-US" dirty="0" smtClean="0"/>
              <a:t>挑最优阈值时的加权错误代价</a:t>
            </a:r>
            <a:r>
              <a:rPr lang="en-US" altLang="zh-CN" dirty="0" smtClean="0"/>
              <a:t>,1.0 </a:t>
            </a:r>
            <a:r>
              <a:rPr lang="zh-CN" altLang="en-US" dirty="0" smtClean="0"/>
              <a:t>等于全拒绝</a:t>
            </a:r>
            <a:r>
              <a:rPr lang="en-US" altLang="zh-CN" dirty="0" smtClean="0"/>
              <a:t>;</a:t>
            </a:r>
            <a:r>
              <a:rPr lang="zh-CN" altLang="en-US" dirty="0" smtClean="0"/>
              <a:t>我们从 </a:t>
            </a:r>
            <a:r>
              <a:rPr lang="en-US" altLang="zh-CN" dirty="0" smtClean="0"/>
              <a:t>0.628 </a:t>
            </a:r>
            <a:r>
              <a:rPr lang="zh-CN" altLang="en-US" dirty="0" smtClean="0"/>
              <a:t>降到 </a:t>
            </a:r>
            <a:r>
              <a:rPr lang="en-US" altLang="zh-CN" dirty="0" smtClean="0"/>
              <a:t>0.515,</a:t>
            </a:r>
            <a:r>
              <a:rPr lang="zh-CN" altLang="en-US" dirty="0" smtClean="0"/>
              <a:t>方向一致、幅度温和</a:t>
            </a:r>
            <a:r>
              <a:rPr lang="en-US" altLang="zh-CN" dirty="0" smtClean="0"/>
              <a:t>,</a:t>
            </a:r>
            <a:r>
              <a:rPr lang="zh-CN" altLang="en-US" dirty="0" smtClean="0"/>
              <a:t>因为低误报先验把工作点压到尾部区。</a:t>
            </a:r>
          </a:p>
          <a:p>
            <a:r>
              <a:rPr lang="zh-CN" altLang="en-US" dirty="0" smtClean="0"/>
              <a:t>固定工作点</a:t>
            </a:r>
            <a:r>
              <a:rPr lang="en-US" altLang="zh-CN" dirty="0" smtClean="0"/>
              <a:t>:FAR </a:t>
            </a:r>
            <a:r>
              <a:rPr lang="zh-CN" altLang="en-US" dirty="0" smtClean="0"/>
              <a:t>容忍 </a:t>
            </a:r>
            <a:r>
              <a:rPr lang="en-US" altLang="zh-CN" dirty="0" smtClean="0"/>
              <a:t>5% </a:t>
            </a:r>
            <a:r>
              <a:rPr lang="zh-CN" altLang="en-US" dirty="0" smtClean="0"/>
              <a:t>时本人被拒 </a:t>
            </a:r>
            <a:r>
              <a:rPr lang="en-US" altLang="zh-CN" dirty="0" smtClean="0"/>
              <a:t>4.77,FRR </a:t>
            </a:r>
            <a:r>
              <a:rPr lang="zh-CN" altLang="en-US" dirty="0" smtClean="0"/>
              <a:t>压到 </a:t>
            </a:r>
            <a:r>
              <a:rPr lang="en-US" altLang="zh-CN" dirty="0" smtClean="0"/>
              <a:t>5% </a:t>
            </a:r>
            <a:r>
              <a:rPr lang="zh-CN" altLang="en-US" dirty="0" smtClean="0"/>
              <a:t>时冒认漏进 </a:t>
            </a:r>
            <a:r>
              <a:rPr lang="en-US" altLang="zh-CN" dirty="0" smtClean="0"/>
              <a:t>4.77</a:t>
            </a:r>
            <a:r>
              <a:rPr lang="zh-CN" altLang="en-US" dirty="0" smtClean="0"/>
              <a:t>。两个数几乎一样不是笔误</a:t>
            </a:r>
            <a:r>
              <a:rPr lang="en-US" altLang="zh-CN" dirty="0" smtClean="0"/>
              <a:t>:</a:t>
            </a:r>
            <a:r>
              <a:rPr lang="zh-CN" altLang="en-US" dirty="0" smtClean="0"/>
              <a:t>这一格 </a:t>
            </a:r>
            <a:r>
              <a:rPr lang="en-US" altLang="zh-CN" dirty="0" smtClean="0"/>
              <a:t>EER 4.89 </a:t>
            </a:r>
            <a:r>
              <a:rPr lang="zh-CN" altLang="en-US" dirty="0" smtClean="0"/>
              <a:t>恰贴着 </a:t>
            </a:r>
            <a:r>
              <a:rPr lang="en-US" altLang="zh-CN" dirty="0" smtClean="0"/>
              <a:t>5%,</a:t>
            </a:r>
            <a:r>
              <a:rPr lang="zh-CN" altLang="en-US" dirty="0" smtClean="0"/>
              <a:t>两个交点关于对角线近似镜像</a:t>
            </a:r>
            <a:r>
              <a:rPr lang="en-US" altLang="zh-CN" dirty="0" smtClean="0"/>
              <a:t>;</a:t>
            </a:r>
            <a:r>
              <a:rPr lang="zh-CN" altLang="en-US" dirty="0" smtClean="0"/>
              <a:t>但并非逐位相等</a:t>
            </a:r>
            <a:r>
              <a:rPr lang="en-US" altLang="zh-CN" dirty="0" smtClean="0"/>
              <a:t>,</a:t>
            </a:r>
            <a:r>
              <a:rPr lang="zh-CN" altLang="en-US" dirty="0" smtClean="0"/>
              <a:t>精确值 </a:t>
            </a:r>
            <a:r>
              <a:rPr lang="en-US" altLang="zh-CN" dirty="0" smtClean="0"/>
              <a:t>4.771 </a:t>
            </a:r>
            <a:r>
              <a:rPr lang="zh-CN" altLang="en-US" dirty="0" smtClean="0"/>
              <a:t>和 </a:t>
            </a:r>
            <a:r>
              <a:rPr lang="en-US" altLang="zh-CN" dirty="0" smtClean="0"/>
              <a:t>4.769,</a:t>
            </a:r>
            <a:r>
              <a:rPr lang="zh-CN" altLang="en-US" dirty="0" smtClean="0"/>
              <a:t>千分位分开</a:t>
            </a:r>
            <a:r>
              <a:rPr lang="en-US" altLang="zh-CN" dirty="0" smtClean="0"/>
              <a:t>——</a:t>
            </a:r>
            <a:r>
              <a:rPr lang="zh-CN" altLang="en-US" dirty="0" smtClean="0"/>
              <a:t>若真逐位相等</a:t>
            </a:r>
            <a:r>
              <a:rPr lang="en-US" altLang="zh-CN" dirty="0" smtClean="0"/>
              <a:t>,EER </a:t>
            </a:r>
            <a:r>
              <a:rPr lang="zh-CN" altLang="en-US" dirty="0" smtClean="0"/>
              <a:t>应为整 </a:t>
            </a:r>
            <a:r>
              <a:rPr lang="en-US" altLang="zh-CN" dirty="0" smtClean="0"/>
              <a:t>5.00%</a:t>
            </a:r>
            <a:r>
              <a:rPr lang="zh-CN" altLang="en-US" dirty="0" smtClean="0"/>
              <a:t>。</a:t>
            </a:r>
            <a:r>
              <a:rPr lang="en-US" altLang="zh-CN" dirty="0" smtClean="0"/>
              <a:t>raw </a:t>
            </a:r>
            <a:r>
              <a:rPr lang="zh-CN" altLang="en-US" dirty="0" smtClean="0"/>
              <a:t>曲线 </a:t>
            </a:r>
            <a:r>
              <a:rPr lang="en-US" altLang="zh-CN" dirty="0" smtClean="0"/>
              <a:t>EER 8.39 </a:t>
            </a:r>
            <a:r>
              <a:rPr lang="zh-CN" altLang="en-US" dirty="0" smtClean="0"/>
              <a:t>远离 </a:t>
            </a:r>
            <a:r>
              <a:rPr lang="en-US" altLang="zh-CN" dirty="0" smtClean="0"/>
              <a:t>5%,</a:t>
            </a:r>
            <a:r>
              <a:rPr lang="zh-CN" altLang="en-US" dirty="0" smtClean="0"/>
              <a:t>两个读数就分开成 </a:t>
            </a:r>
            <a:r>
              <a:rPr lang="en-US" altLang="zh-CN" dirty="0" smtClean="0"/>
              <a:t>12.46 </a:t>
            </a:r>
            <a:r>
              <a:rPr lang="zh-CN" altLang="en-US" dirty="0" smtClean="0"/>
              <a:t>和 </a:t>
            </a:r>
            <a:r>
              <a:rPr lang="en-US" altLang="zh-CN" dirty="0" smtClean="0"/>
              <a:t>14.98</a:t>
            </a:r>
            <a:r>
              <a:rPr lang="zh-CN" altLang="en-US" dirty="0" smtClean="0"/>
              <a:t>。全量 </a:t>
            </a:r>
            <a:r>
              <a:rPr lang="en-US" altLang="zh-CN" dirty="0" smtClean="0"/>
              <a:t>137.8 </a:t>
            </a:r>
            <a:r>
              <a:rPr lang="zh-CN" altLang="en-US" dirty="0" smtClean="0"/>
              <a:t>万条 </a:t>
            </a:r>
            <a:r>
              <a:rPr lang="en-US" altLang="zh-CN" dirty="0" smtClean="0"/>
              <a:t>trial </a:t>
            </a:r>
            <a:r>
              <a:rPr lang="zh-CN" altLang="en-US" dirty="0" smtClean="0"/>
              <a:t>独立复算核实。</a:t>
            </a:r>
          </a:p>
          <a:p>
            <a:r>
              <a:rPr lang="zh-CN" altLang="en-US" dirty="0" smtClean="0"/>
              <a:t>最后强调阈值纪律</a:t>
            </a:r>
            <a:r>
              <a:rPr lang="en-US" altLang="zh-CN" dirty="0" smtClean="0"/>
              <a:t>:</a:t>
            </a:r>
            <a:r>
              <a:rPr lang="zh-CN" altLang="en-US" dirty="0" smtClean="0"/>
              <a:t>阈值只能在验证集定、测试集冻结</a:t>
            </a:r>
            <a:r>
              <a:rPr lang="en-US" altLang="zh-CN" dirty="0" smtClean="0"/>
              <a:t>,</a:t>
            </a:r>
            <a:r>
              <a:rPr lang="zh-CN" altLang="en-US" dirty="0" smtClean="0"/>
              <a:t>全部工作点按冻结口径报告。</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27</a:t>
            </a:fld>
            <a:endParaRPr lang="zh-CN" altLang="en-US"/>
          </a:p>
        </p:txBody>
      </p:sp>
    </p:spTree>
    <p:extLst>
      <p:ext uri="{BB962C8B-B14F-4D97-AF65-F5344CB8AC3E}">
        <p14:creationId xmlns:p14="http://schemas.microsoft.com/office/powerpoint/2010/main" val="1782045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27 </a:t>
            </a:r>
            <a:r>
              <a:rPr lang="zh-CN" altLang="en-US" smtClean="0"/>
              <a:t>页 </a:t>
            </a:r>
            <a:r>
              <a:rPr lang="en-US" altLang="zh-CN" smtClean="0"/>
              <a:t>| </a:t>
            </a:r>
            <a:r>
              <a:rPr lang="zh-CN" altLang="en-US" smtClean="0"/>
              <a:t>备用</a:t>
            </a:r>
            <a:r>
              <a:rPr lang="en-US" altLang="zh-CN" smtClean="0"/>
              <a:t>:claim </a:t>
            </a:r>
            <a:r>
              <a:rPr lang="zh-CN" altLang="en-US" smtClean="0"/>
              <a:t>部署口径</a:t>
            </a:r>
            <a:r>
              <a:rPr lang="en-US" altLang="zh-CN" smtClean="0"/>
              <a:t>——</a:t>
            </a:r>
            <a:r>
              <a:rPr lang="zh-CN" altLang="en-US" smtClean="0"/>
              <a:t>机理与前沿</a:t>
            </a:r>
            <a:r>
              <a:rPr lang="en-US" altLang="zh-CN" smtClean="0"/>
              <a:t>(</a:t>
            </a:r>
            <a:r>
              <a:rPr lang="zh-CN" altLang="en-US" smtClean="0"/>
              <a:t>问及再讲</a:t>
            </a:r>
            <a:r>
              <a:rPr lang="en-US" altLang="zh-CN" smtClean="0"/>
              <a:t>) | </a:t>
            </a:r>
            <a:r>
              <a:rPr lang="zh-CN" altLang="en-US" smtClean="0"/>
              <a:t>约 </a:t>
            </a:r>
            <a:r>
              <a:rPr lang="en-US" altLang="zh-CN" smtClean="0"/>
              <a:t>80 </a:t>
            </a:r>
            <a:r>
              <a:rPr lang="zh-CN" altLang="en-US" smtClean="0"/>
              <a:t>秒</a:t>
            </a:r>
            <a:r>
              <a:rPr lang="en-US" altLang="zh-CN" smtClean="0"/>
              <a:t>]</a:t>
            </a:r>
          </a:p>
          <a:p>
            <a:endParaRPr lang="en-US" altLang="zh-CN" smtClean="0"/>
          </a:p>
          <a:p>
            <a:r>
              <a:rPr lang="zh-CN" altLang="en-US" smtClean="0"/>
              <a:t>这一页回应「部署真实条件下方法还行不行」。之前的交付表格都是 </a:t>
            </a:r>
            <a:r>
              <a:rPr lang="en-US" altLang="zh-CN" smtClean="0"/>
              <a:t>oracle </a:t>
            </a:r>
            <a:r>
              <a:rPr lang="zh-CN" altLang="en-US" smtClean="0"/>
              <a:t>口径</a:t>
            </a:r>
            <a:r>
              <a:rPr lang="en-US" altLang="zh-CN" smtClean="0"/>
              <a:t>——</a:t>
            </a:r>
            <a:r>
              <a:rPr lang="zh-CN" altLang="en-US" smtClean="0"/>
              <a:t>按测试句真实说话人做增强条件</a:t>
            </a:r>
            <a:r>
              <a:rPr lang="en-US" altLang="zh-CN" smtClean="0"/>
              <a:t>,</a:t>
            </a:r>
            <a:r>
              <a:rPr lang="zh-CN" altLang="en-US" smtClean="0"/>
              <a:t>相当于系统知道这句话是谁的。但部署时系统只知道对方声称的身份</a:t>
            </a:r>
            <a:r>
              <a:rPr lang="en-US" altLang="zh-CN" smtClean="0"/>
              <a:t>,</a:t>
            </a:r>
            <a:r>
              <a:rPr lang="zh-CN" altLang="en-US" smtClean="0"/>
              <a:t>冒认者会拿别人的身份攻击系统。所以我们复测了 </a:t>
            </a:r>
            <a:r>
              <a:rPr lang="en-US" altLang="zh-CN" smtClean="0"/>
              <a:t>claim </a:t>
            </a:r>
            <a:r>
              <a:rPr lang="zh-CN" altLang="en-US" smtClean="0"/>
              <a:t>口径</a:t>
            </a:r>
            <a:r>
              <a:rPr lang="en-US" altLang="zh-CN" smtClean="0"/>
              <a:t>:</a:t>
            </a:r>
            <a:r>
              <a:rPr lang="zh-CN" altLang="en-US" smtClean="0"/>
              <a:t>冒认句按声称者的注册语音做条件。</a:t>
            </a:r>
          </a:p>
          <a:p>
            <a:r>
              <a:rPr lang="zh-CN" altLang="en-US" smtClean="0"/>
              <a:t>结果</a:t>
            </a:r>
            <a:r>
              <a:rPr lang="en-US" altLang="zh-CN" smtClean="0"/>
              <a:t>,0 </a:t>
            </a:r>
            <a:r>
              <a:rPr lang="zh-CN" altLang="en-US" smtClean="0"/>
              <a:t>分贝下 </a:t>
            </a:r>
            <a:r>
              <a:rPr lang="en-US" altLang="zh-CN" smtClean="0"/>
              <a:t>claim 10.72,</a:t>
            </a:r>
            <a:r>
              <a:rPr lang="zh-CN" altLang="en-US" smtClean="0"/>
              <a:t>比 </a:t>
            </a:r>
            <a:r>
              <a:rPr lang="en-US" altLang="zh-CN" smtClean="0"/>
              <a:t>raw </a:t>
            </a:r>
            <a:r>
              <a:rPr lang="zh-CN" altLang="en-US" smtClean="0"/>
              <a:t>的 </a:t>
            </a:r>
            <a:r>
              <a:rPr lang="en-US" altLang="zh-CN" smtClean="0"/>
              <a:t>8.37 </a:t>
            </a:r>
            <a:r>
              <a:rPr lang="zh-CN" altLang="en-US" smtClean="0"/>
              <a:t>还差 </a:t>
            </a:r>
            <a:r>
              <a:rPr lang="en-US" altLang="zh-CN" smtClean="0"/>
              <a:t>2.36 </a:t>
            </a:r>
            <a:r>
              <a:rPr lang="zh-CN" altLang="en-US" smtClean="0"/>
              <a:t>个点。</a:t>
            </a:r>
          </a:p>
          <a:p>
            <a:r>
              <a:rPr lang="zh-CN" altLang="en-US" smtClean="0"/>
              <a:t>机理是冒认泄漏</a:t>
            </a:r>
            <a:r>
              <a:rPr lang="en-US" altLang="zh-CN" smtClean="0"/>
              <a:t>:</a:t>
            </a:r>
            <a:r>
              <a:rPr lang="zh-CN" altLang="en-US" smtClean="0"/>
              <a:t>增强把冒认者的语音往声称者拉</a:t>
            </a:r>
            <a:r>
              <a:rPr lang="en-US" altLang="zh-CN" smtClean="0"/>
              <a:t>,</a:t>
            </a:r>
            <a:r>
              <a:rPr lang="zh-CN" altLang="en-US" smtClean="0"/>
              <a:t>冒认分数中位数从 </a:t>
            </a:r>
            <a:r>
              <a:rPr lang="en-US" altLang="zh-CN" smtClean="0"/>
              <a:t>0.044 </a:t>
            </a:r>
            <a:r>
              <a:rPr lang="zh-CN" altLang="en-US" smtClean="0"/>
              <a:t>抬到 </a:t>
            </a:r>
            <a:r>
              <a:rPr lang="en-US" altLang="zh-CN" smtClean="0"/>
              <a:t>0.129,</a:t>
            </a:r>
            <a:r>
              <a:rPr lang="zh-CN" altLang="en-US" smtClean="0"/>
              <a:t>涨了三倍</a:t>
            </a:r>
            <a:r>
              <a:rPr lang="en-US" altLang="zh-CN" smtClean="0"/>
              <a:t>——</a:t>
            </a:r>
            <a:r>
              <a:rPr lang="zh-CN" altLang="en-US" smtClean="0"/>
              <a:t>注册身份信息经条件化增强</a:t>
            </a:r>
            <a:r>
              <a:rPr lang="en-US" altLang="zh-CN" smtClean="0"/>
              <a:t>,</a:t>
            </a:r>
            <a:r>
              <a:rPr lang="zh-CN" altLang="en-US" smtClean="0"/>
              <a:t>泄漏进了输出语音本身</a:t>
            </a:r>
            <a:r>
              <a:rPr lang="en-US" altLang="zh-CN" smtClean="0"/>
              <a:t>;</a:t>
            </a:r>
            <a:r>
              <a:rPr lang="zh-CN" altLang="en-US" smtClean="0"/>
              <a:t>去噪越成功</a:t>
            </a:r>
            <a:r>
              <a:rPr lang="en-US" altLang="zh-CN" smtClean="0"/>
              <a:t>,</a:t>
            </a:r>
            <a:r>
              <a:rPr lang="zh-CN" altLang="en-US" smtClean="0"/>
              <a:t>冒认语音越像声称者</a:t>
            </a:r>
            <a:r>
              <a:rPr lang="en-US" altLang="zh-CN" smtClean="0"/>
              <a:t>,</a:t>
            </a:r>
            <a:r>
              <a:rPr lang="zh-CN" altLang="en-US" smtClean="0"/>
              <a:t>这是结构性机理</a:t>
            </a:r>
            <a:r>
              <a:rPr lang="en-US" altLang="zh-CN" smtClean="0"/>
              <a:t>,</a:t>
            </a:r>
            <a:r>
              <a:rPr lang="zh-CN" altLang="en-US" smtClean="0"/>
              <a:t>不是调参能解决的。</a:t>
            </a:r>
          </a:p>
          <a:p>
            <a:r>
              <a:rPr lang="en-US" altLang="zh-CN" smtClean="0"/>
              <a:t>claim </a:t>
            </a:r>
            <a:r>
              <a:rPr lang="zh-CN" altLang="en-US" smtClean="0"/>
              <a:t>最好的臂是难负原型抑制占比加码到 </a:t>
            </a:r>
            <a:r>
              <a:rPr lang="en-US" altLang="zh-CN" smtClean="0"/>
              <a:t>70%:claim 8.11 </a:t>
            </a:r>
            <a:r>
              <a:rPr lang="zh-CN" altLang="en-US" smtClean="0"/>
              <a:t>首次低于 </a:t>
            </a:r>
            <a:r>
              <a:rPr lang="en-US" altLang="zh-CN" smtClean="0"/>
              <a:t>raw,</a:t>
            </a:r>
            <a:r>
              <a:rPr lang="zh-CN" altLang="en-US" smtClean="0"/>
              <a:t>但 </a:t>
            </a:r>
            <a:r>
              <a:rPr lang="en-US" altLang="zh-CN" smtClean="0"/>
              <a:t>oracle </a:t>
            </a:r>
            <a:r>
              <a:rPr lang="zh-CN" altLang="en-US" smtClean="0"/>
              <a:t>退到 </a:t>
            </a:r>
            <a:r>
              <a:rPr lang="en-US" altLang="zh-CN" smtClean="0"/>
              <a:t>6.69,</a:t>
            </a:r>
            <a:r>
              <a:rPr lang="zh-CN" altLang="en-US" smtClean="0"/>
              <a:t>距达标线 </a:t>
            </a:r>
            <a:r>
              <a:rPr lang="en-US" altLang="zh-CN" smtClean="0"/>
              <a:t>5.87 </a:t>
            </a:r>
            <a:r>
              <a:rPr lang="zh-CN" altLang="en-US" smtClean="0"/>
              <a:t>还差 </a:t>
            </a:r>
            <a:r>
              <a:rPr lang="en-US" altLang="zh-CN" smtClean="0"/>
              <a:t>0.8 </a:t>
            </a:r>
            <a:r>
              <a:rPr lang="zh-CN" altLang="en-US" smtClean="0"/>
              <a:t>个点</a:t>
            </a:r>
            <a:r>
              <a:rPr lang="en-US" altLang="zh-CN" smtClean="0"/>
              <a:t>——15 </a:t>
            </a:r>
            <a:r>
              <a:rPr lang="zh-CN" altLang="en-US" smtClean="0"/>
              <a:t>个臂无一进入「双达标区」。这 </a:t>
            </a:r>
            <a:r>
              <a:rPr lang="en-US" altLang="zh-CN" smtClean="0"/>
              <a:t>15 </a:t>
            </a:r>
            <a:r>
              <a:rPr lang="zh-CN" altLang="en-US" smtClean="0"/>
              <a:t>臂具体做了什么</a:t>
            </a:r>
            <a:r>
              <a:rPr lang="en-US" altLang="zh-CN" smtClean="0"/>
              <a:t>,</a:t>
            </a:r>
            <a:r>
              <a:rPr lang="zh-CN" altLang="en-US" smtClean="0"/>
              <a:t>下一页全景表专门讲。</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28</a:t>
            </a:fld>
            <a:endParaRPr lang="zh-CN" altLang="en-US"/>
          </a:p>
        </p:txBody>
      </p:sp>
    </p:spTree>
    <p:extLst>
      <p:ext uri="{BB962C8B-B14F-4D97-AF65-F5344CB8AC3E}">
        <p14:creationId xmlns:p14="http://schemas.microsoft.com/office/powerpoint/2010/main" val="403725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28 </a:t>
            </a:r>
            <a:r>
              <a:rPr lang="zh-CN" altLang="en-US" smtClean="0"/>
              <a:t>页 </a:t>
            </a:r>
            <a:r>
              <a:rPr lang="en-US" altLang="zh-CN" smtClean="0"/>
              <a:t>| </a:t>
            </a:r>
            <a:r>
              <a:rPr lang="zh-CN" altLang="en-US" smtClean="0"/>
              <a:t>备用</a:t>
            </a:r>
            <a:r>
              <a:rPr lang="en-US" altLang="zh-CN" smtClean="0"/>
              <a:t>:claim </a:t>
            </a:r>
            <a:r>
              <a:rPr lang="zh-CN" altLang="en-US" smtClean="0"/>
              <a:t>修复努力全景</a:t>
            </a:r>
            <a:r>
              <a:rPr lang="en-US" altLang="zh-CN" smtClean="0"/>
              <a:t>(</a:t>
            </a:r>
            <a:r>
              <a:rPr lang="zh-CN" altLang="en-US" smtClean="0"/>
              <a:t>问及再讲</a:t>
            </a:r>
            <a:r>
              <a:rPr lang="en-US" altLang="zh-CN" smtClean="0"/>
              <a:t>) | </a:t>
            </a:r>
            <a:r>
              <a:rPr lang="zh-CN" altLang="en-US" smtClean="0"/>
              <a:t>约 </a:t>
            </a:r>
            <a:r>
              <a:rPr lang="en-US" altLang="zh-CN" smtClean="0"/>
              <a:t>90 </a:t>
            </a:r>
            <a:r>
              <a:rPr lang="zh-CN" altLang="en-US" smtClean="0"/>
              <a:t>秒</a:t>
            </a:r>
            <a:r>
              <a:rPr lang="en-US" altLang="zh-CN" smtClean="0"/>
              <a:t>]</a:t>
            </a:r>
          </a:p>
          <a:p>
            <a:endParaRPr lang="en-US" altLang="zh-CN" smtClean="0"/>
          </a:p>
          <a:p>
            <a:r>
              <a:rPr lang="zh-CN" altLang="en-US" smtClean="0"/>
              <a:t>这页把 </a:t>
            </a:r>
            <a:r>
              <a:rPr lang="en-US" altLang="zh-CN" smtClean="0"/>
              <a:t>15 </a:t>
            </a:r>
            <a:r>
              <a:rPr lang="zh-CN" altLang="en-US" smtClean="0"/>
              <a:t>个补救臂摊开</a:t>
            </a:r>
            <a:r>
              <a:rPr lang="en-US" altLang="zh-CN" smtClean="0"/>
              <a:t>,13 </a:t>
            </a:r>
            <a:r>
              <a:rPr lang="zh-CN" altLang="en-US" smtClean="0"/>
              <a:t>个训练侧、</a:t>
            </a:r>
            <a:r>
              <a:rPr lang="en-US" altLang="zh-CN" smtClean="0"/>
              <a:t>2 </a:t>
            </a:r>
            <a:r>
              <a:rPr lang="zh-CN" altLang="en-US" smtClean="0"/>
              <a:t>个推理侧。训练侧四族</a:t>
            </a:r>
            <a:r>
              <a:rPr lang="en-US" altLang="zh-CN" smtClean="0"/>
              <a:t>:</a:t>
            </a:r>
          </a:p>
          <a:p>
            <a:r>
              <a:rPr lang="en-US" altLang="zh-CN" smtClean="0"/>
              <a:t>A </a:t>
            </a:r>
            <a:r>
              <a:rPr lang="zh-CN" altLang="en-US" smtClean="0"/>
              <a:t>族</a:t>
            </a:r>
            <a:r>
              <a:rPr lang="en-US" altLang="zh-CN" smtClean="0"/>
              <a:t>,</a:t>
            </a:r>
            <a:r>
              <a:rPr lang="zh-CN" altLang="en-US" smtClean="0"/>
              <a:t>难负原型抑制加码</a:t>
            </a:r>
            <a:r>
              <a:rPr lang="en-US" altLang="zh-CN" smtClean="0"/>
              <a:t>:</a:t>
            </a:r>
            <a:r>
              <a:rPr lang="zh-CN" altLang="en-US" smtClean="0"/>
              <a:t>抑制占比从 </a:t>
            </a:r>
            <a:r>
              <a:rPr lang="en-US" altLang="zh-CN" smtClean="0"/>
              <a:t>30% </a:t>
            </a:r>
            <a:r>
              <a:rPr lang="zh-CN" altLang="en-US" smtClean="0"/>
              <a:t>加到 </a:t>
            </a:r>
            <a:r>
              <a:rPr lang="en-US" altLang="zh-CN" smtClean="0"/>
              <a:t>50%</a:t>
            </a:r>
            <a:r>
              <a:rPr lang="zh-CN" altLang="en-US" smtClean="0"/>
              <a:t>、</a:t>
            </a:r>
            <a:r>
              <a:rPr lang="en-US" altLang="zh-CN" smtClean="0"/>
              <a:t>70%,</a:t>
            </a:r>
            <a:r>
              <a:rPr lang="zh-CN" altLang="en-US" smtClean="0"/>
              <a:t>再加反拉项</a:t>
            </a:r>
            <a:r>
              <a:rPr lang="en-US" altLang="zh-CN" smtClean="0"/>
              <a:t>——claim </a:t>
            </a:r>
            <a:r>
              <a:rPr lang="zh-CN" altLang="en-US" smtClean="0"/>
              <a:t>从 </a:t>
            </a:r>
            <a:r>
              <a:rPr lang="en-US" altLang="zh-CN" smtClean="0"/>
              <a:t>10.72 </a:t>
            </a:r>
            <a:r>
              <a:rPr lang="zh-CN" altLang="en-US" smtClean="0"/>
              <a:t>压到 </a:t>
            </a:r>
            <a:r>
              <a:rPr lang="en-US" altLang="zh-CN" smtClean="0"/>
              <a:t>8.11,</a:t>
            </a:r>
            <a:r>
              <a:rPr lang="zh-CN" altLang="en-US" smtClean="0"/>
              <a:t>首次低于 </a:t>
            </a:r>
            <a:r>
              <a:rPr lang="en-US" altLang="zh-CN" smtClean="0"/>
              <a:t>raw,</a:t>
            </a:r>
            <a:r>
              <a:rPr lang="zh-CN" altLang="en-US" smtClean="0"/>
              <a:t>但 </a:t>
            </a:r>
            <a:r>
              <a:rPr lang="en-US" altLang="zh-CN" smtClean="0"/>
              <a:t>oracle </a:t>
            </a:r>
            <a:r>
              <a:rPr lang="zh-CN" altLang="en-US" smtClean="0"/>
              <a:t>从 </a:t>
            </a:r>
            <a:r>
              <a:rPr lang="en-US" altLang="zh-CN" smtClean="0"/>
              <a:t>4.88 </a:t>
            </a:r>
            <a:r>
              <a:rPr lang="zh-CN" altLang="en-US" smtClean="0"/>
              <a:t>退到 </a:t>
            </a:r>
            <a:r>
              <a:rPr lang="en-US" altLang="zh-CN" smtClean="0"/>
              <a:t>6.69,</a:t>
            </a:r>
            <a:r>
              <a:rPr lang="zh-CN" altLang="en-US" smtClean="0"/>
              <a:t>距达标线差 </a:t>
            </a:r>
            <a:r>
              <a:rPr lang="en-US" altLang="zh-CN" smtClean="0"/>
              <a:t>0.8 </a:t>
            </a:r>
            <a:r>
              <a:rPr lang="zh-CN" altLang="en-US" smtClean="0"/>
              <a:t>个点</a:t>
            </a:r>
            <a:r>
              <a:rPr lang="en-US" altLang="zh-CN" smtClean="0"/>
              <a:t>,</a:t>
            </a:r>
            <a:r>
              <a:rPr lang="zh-CN" altLang="en-US" smtClean="0"/>
              <a:t>不过线。</a:t>
            </a:r>
          </a:p>
          <a:p>
            <a:r>
              <a:rPr lang="en-US" altLang="zh-CN" smtClean="0"/>
              <a:t>B </a:t>
            </a:r>
            <a:r>
              <a:rPr lang="zh-CN" altLang="en-US" smtClean="0"/>
              <a:t>族</a:t>
            </a:r>
            <a:r>
              <a:rPr lang="en-US" altLang="zh-CN" smtClean="0"/>
              <a:t>,</a:t>
            </a:r>
            <a:r>
              <a:rPr lang="zh-CN" altLang="en-US" smtClean="0"/>
              <a:t>判别损失中性化</a:t>
            </a:r>
            <a:r>
              <a:rPr lang="en-US" altLang="zh-CN" smtClean="0"/>
              <a:t>:</a:t>
            </a:r>
            <a:r>
              <a:rPr lang="zh-CN" altLang="en-US" smtClean="0"/>
              <a:t>把判别损失清零、减半、再到配方强化</a:t>
            </a:r>
            <a:r>
              <a:rPr lang="en-US" altLang="zh-CN" smtClean="0"/>
              <a:t>——claim </a:t>
            </a:r>
            <a:r>
              <a:rPr lang="zh-CN" altLang="en-US" smtClean="0"/>
              <a:t>能到 </a:t>
            </a:r>
            <a:r>
              <a:rPr lang="en-US" altLang="zh-CN" smtClean="0"/>
              <a:t>7.79,</a:t>
            </a:r>
            <a:r>
              <a:rPr lang="zh-CN" altLang="en-US" smtClean="0"/>
              <a:t>但 </a:t>
            </a:r>
            <a:r>
              <a:rPr lang="en-US" altLang="zh-CN" smtClean="0"/>
              <a:t>oracle </a:t>
            </a:r>
            <a:r>
              <a:rPr lang="zh-CN" altLang="en-US" smtClean="0"/>
              <a:t>也退到 </a:t>
            </a:r>
            <a:r>
              <a:rPr lang="en-US" altLang="zh-CN" smtClean="0"/>
              <a:t>7.78,</a:t>
            </a:r>
            <a:r>
              <a:rPr lang="zh-CN" altLang="en-US" smtClean="0"/>
              <a:t>前端增益归零</a:t>
            </a:r>
            <a:r>
              <a:rPr lang="en-US" altLang="zh-CN" smtClean="0"/>
              <a:t>,</a:t>
            </a:r>
            <a:r>
              <a:rPr lang="zh-CN" altLang="en-US" smtClean="0"/>
              <a:t>只是权衡前沿的另一个端点。</a:t>
            </a:r>
          </a:p>
          <a:p>
            <a:r>
              <a:rPr lang="en-US" altLang="zh-CN" smtClean="0"/>
              <a:t>C </a:t>
            </a:r>
            <a:r>
              <a:rPr lang="zh-CN" altLang="en-US" smtClean="0"/>
              <a:t>族</a:t>
            </a:r>
            <a:r>
              <a:rPr lang="en-US" altLang="zh-CN" smtClean="0"/>
              <a:t>,</a:t>
            </a:r>
            <a:r>
              <a:rPr lang="zh-CN" altLang="en-US" smtClean="0"/>
              <a:t>冒认条件混合训练</a:t>
            </a:r>
            <a:r>
              <a:rPr lang="en-US" altLang="zh-CN" smtClean="0"/>
              <a:t>:</a:t>
            </a:r>
            <a:r>
              <a:rPr lang="zh-CN" altLang="en-US" smtClean="0"/>
              <a:t>训练时混入按冒认身份条件化的样本</a:t>
            </a:r>
            <a:r>
              <a:rPr lang="en-US" altLang="zh-CN" smtClean="0"/>
              <a:t>,</a:t>
            </a:r>
            <a:r>
              <a:rPr lang="zh-CN" altLang="en-US" smtClean="0"/>
              <a:t>强度 </a:t>
            </a:r>
            <a:r>
              <a:rPr lang="en-US" altLang="zh-CN" smtClean="0"/>
              <a:t>0.3</a:t>
            </a:r>
            <a:r>
              <a:rPr lang="zh-CN" altLang="en-US" smtClean="0"/>
              <a:t>、</a:t>
            </a:r>
            <a:r>
              <a:rPr lang="en-US" altLang="zh-CN" smtClean="0"/>
              <a:t>0.5,</a:t>
            </a:r>
            <a:r>
              <a:rPr lang="zh-CN" altLang="en-US" smtClean="0"/>
              <a:t>再加排序损失、直到强化版</a:t>
            </a:r>
            <a:r>
              <a:rPr lang="en-US" altLang="zh-CN" smtClean="0"/>
              <a:t>——claim </a:t>
            </a:r>
            <a:r>
              <a:rPr lang="zh-CN" altLang="en-US" smtClean="0"/>
              <a:t>最好只到 </a:t>
            </a:r>
            <a:r>
              <a:rPr lang="en-US" altLang="zh-CN" smtClean="0"/>
              <a:t>9.33,</a:t>
            </a:r>
            <a:r>
              <a:rPr lang="zh-CN" altLang="en-US" smtClean="0"/>
              <a:t>泄漏没有堵住。</a:t>
            </a:r>
          </a:p>
          <a:p>
            <a:r>
              <a:rPr lang="en-US" altLang="zh-CN" smtClean="0"/>
              <a:t>D </a:t>
            </a:r>
            <a:r>
              <a:rPr lang="zh-CN" altLang="en-US" smtClean="0"/>
              <a:t>族最激进</a:t>
            </a:r>
            <a:r>
              <a:rPr lang="en-US" altLang="zh-CN" smtClean="0"/>
              <a:t>:</a:t>
            </a:r>
            <a:r>
              <a:rPr lang="zh-CN" altLang="en-US" smtClean="0"/>
              <a:t>把冒认段做静音掩蔽再加排序损失</a:t>
            </a:r>
            <a:r>
              <a:rPr lang="en-US" altLang="zh-CN" smtClean="0"/>
              <a:t>——oracle 4.73 </a:t>
            </a:r>
            <a:r>
              <a:rPr lang="zh-CN" altLang="en-US" smtClean="0"/>
              <a:t>全场最优</a:t>
            </a:r>
            <a:r>
              <a:rPr lang="en-US" altLang="zh-CN" smtClean="0"/>
              <a:t>,claim 12.60 </a:t>
            </a:r>
            <a:r>
              <a:rPr lang="zh-CN" altLang="en-US" smtClean="0"/>
              <a:t>全场最差</a:t>
            </a:r>
            <a:r>
              <a:rPr lang="en-US" altLang="zh-CN" smtClean="0"/>
              <a:t>,</a:t>
            </a:r>
            <a:r>
              <a:rPr lang="zh-CN" altLang="en-US" smtClean="0"/>
              <a:t>越保护交付口径、泄漏越重。</a:t>
            </a:r>
          </a:p>
          <a:p>
            <a:r>
              <a:rPr lang="zh-CN" altLang="en-US" smtClean="0"/>
              <a:t>推理侧两臂</a:t>
            </a:r>
            <a:r>
              <a:rPr lang="en-US" altLang="zh-CN" smtClean="0"/>
              <a:t>:</a:t>
            </a:r>
            <a:r>
              <a:rPr lang="zh-CN" altLang="en-US" smtClean="0"/>
              <a:t>能量门控</a:t>
            </a:r>
            <a:r>
              <a:rPr lang="en-US" altLang="zh-CN" smtClean="0"/>
              <a:t>,</a:t>
            </a:r>
            <a:r>
              <a:rPr lang="zh-CN" altLang="en-US" smtClean="0"/>
              <a:t>按增强语音能量把可疑段静音</a:t>
            </a:r>
            <a:r>
              <a:rPr lang="en-US" altLang="zh-CN" smtClean="0"/>
              <a:t>,</a:t>
            </a:r>
            <a:r>
              <a:rPr lang="zh-CN" altLang="en-US" smtClean="0"/>
              <a:t>门限从负 </a:t>
            </a:r>
            <a:r>
              <a:rPr lang="en-US" altLang="zh-CN" smtClean="0"/>
              <a:t>60 </a:t>
            </a:r>
            <a:r>
              <a:rPr lang="zh-CN" altLang="en-US" smtClean="0"/>
              <a:t>扫到负 </a:t>
            </a:r>
            <a:r>
              <a:rPr lang="en-US" altLang="zh-CN" smtClean="0"/>
              <a:t>10 </a:t>
            </a:r>
            <a:r>
              <a:rPr lang="zh-CN" altLang="en-US" smtClean="0"/>
              <a:t>分贝</a:t>
            </a:r>
            <a:r>
              <a:rPr lang="en-US" altLang="zh-CN" smtClean="0"/>
              <a:t>,</a:t>
            </a:r>
            <a:r>
              <a:rPr lang="zh-CN" altLang="en-US" smtClean="0"/>
              <a:t>任何门限下 </a:t>
            </a:r>
            <a:r>
              <a:rPr lang="en-US" altLang="zh-CN" smtClean="0"/>
              <a:t>claim </a:t>
            </a:r>
            <a:r>
              <a:rPr lang="zh-CN" altLang="en-US" smtClean="0"/>
              <a:t>都劣于 </a:t>
            </a:r>
            <a:r>
              <a:rPr lang="en-US" altLang="zh-CN" smtClean="0"/>
              <a:t>oracle,</a:t>
            </a:r>
            <a:r>
              <a:rPr lang="zh-CN" altLang="en-US" smtClean="0"/>
              <a:t>救不回</a:t>
            </a:r>
            <a:r>
              <a:rPr lang="en-US" altLang="zh-CN" smtClean="0"/>
              <a:t>;raw </a:t>
            </a:r>
            <a:r>
              <a:rPr lang="zh-CN" altLang="en-US" smtClean="0"/>
              <a:t>加 </a:t>
            </a:r>
            <a:r>
              <a:rPr lang="en-US" altLang="zh-CN" smtClean="0"/>
              <a:t>claim </a:t>
            </a:r>
            <a:r>
              <a:rPr lang="zh-CN" altLang="en-US" smtClean="0"/>
              <a:t>分数融合</a:t>
            </a:r>
            <a:r>
              <a:rPr lang="en-US" altLang="zh-CN" smtClean="0"/>
              <a:t>,</a:t>
            </a:r>
            <a:r>
              <a:rPr lang="zh-CN" altLang="en-US" smtClean="0"/>
              <a:t>验证集上网格搜权重</a:t>
            </a:r>
            <a:r>
              <a:rPr lang="en-US" altLang="zh-CN" smtClean="0"/>
              <a:t>,</a:t>
            </a:r>
            <a:r>
              <a:rPr lang="zh-CN" altLang="en-US" smtClean="0"/>
              <a:t>最优 </a:t>
            </a:r>
            <a:r>
              <a:rPr lang="en-US" altLang="zh-CN" smtClean="0"/>
              <a:t>8.23,</a:t>
            </a:r>
            <a:r>
              <a:rPr lang="zh-CN" altLang="en-US" smtClean="0"/>
              <a:t>只是回到 </a:t>
            </a:r>
            <a:r>
              <a:rPr lang="en-US" altLang="zh-CN" smtClean="0"/>
              <a:t>raw </a:t>
            </a:r>
            <a:r>
              <a:rPr lang="zh-CN" altLang="en-US" smtClean="0"/>
              <a:t>附近</a:t>
            </a:r>
            <a:r>
              <a:rPr lang="en-US" altLang="zh-CN" smtClean="0"/>
              <a:t>,</a:t>
            </a:r>
            <a:r>
              <a:rPr lang="zh-CN" altLang="en-US" smtClean="0"/>
              <a:t>没有净增益。</a:t>
            </a:r>
          </a:p>
          <a:p>
            <a:r>
              <a:rPr lang="zh-CN" altLang="en-US" smtClean="0"/>
              <a:t>结论</a:t>
            </a:r>
            <a:r>
              <a:rPr lang="en-US" altLang="zh-CN" smtClean="0"/>
              <a:t>:15 </a:t>
            </a:r>
            <a:r>
              <a:rPr lang="zh-CN" altLang="en-US" smtClean="0"/>
              <a:t>臂全部只在前沿上滑动</a:t>
            </a:r>
            <a:r>
              <a:rPr lang="en-US" altLang="zh-CN" smtClean="0"/>
              <a:t>——</a:t>
            </a:r>
            <a:r>
              <a:rPr lang="zh-CN" altLang="en-US" smtClean="0"/>
              <a:t>「条件化增强把身份写进语音」是结构性机理</a:t>
            </a:r>
            <a:r>
              <a:rPr lang="en-US" altLang="zh-CN" smtClean="0"/>
              <a:t>,</a:t>
            </a:r>
            <a:r>
              <a:rPr lang="zh-CN" altLang="en-US" smtClean="0"/>
              <a:t>非调参可解。下一步三个方向已写在展望</a:t>
            </a:r>
            <a:r>
              <a:rPr lang="en-US" altLang="zh-CN" smtClean="0"/>
              <a:t>:</a:t>
            </a:r>
            <a:r>
              <a:rPr lang="zh-CN" altLang="en-US" smtClean="0"/>
              <a:t>条件扰动 </a:t>
            </a:r>
            <a:r>
              <a:rPr lang="en-US" altLang="zh-CN" smtClean="0"/>
              <a:t>dropout </a:t>
            </a:r>
            <a:r>
              <a:rPr lang="zh-CN" altLang="en-US" smtClean="0"/>
              <a:t>式训练、冒认感知的分数域校准、改条件注入位置。</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29</a:t>
            </a:fld>
            <a:endParaRPr lang="zh-CN" altLang="en-US"/>
          </a:p>
        </p:txBody>
      </p:sp>
    </p:spTree>
    <p:extLst>
      <p:ext uri="{BB962C8B-B14F-4D97-AF65-F5344CB8AC3E}">
        <p14:creationId xmlns:p14="http://schemas.microsoft.com/office/powerpoint/2010/main" val="729960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1790777F-255D-4534-8952-E04E84580E24}" type="datetime1">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29405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784357-628E-4B06-9542-52565D19EFF0}" type="datetime1">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73114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7698075-6C5D-479B-9349-FE70644687AE}" type="datetime1">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24151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9F1ACB9-785B-4ED7-B638-CDB35BE59611}" type="datetime1">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431861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14B678A-074F-4652-A169-842B4211CBA0}" type="datetime1">
              <a:rPr lang="zh-CN" altLang="en-US" smtClean="0"/>
              <a:t>2026/9/7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5222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6ABB96B-F56D-40AE-A3F3-E8E1DEE466D7}" type="datetime1">
              <a:rPr lang="zh-CN" altLang="en-US" smtClean="0"/>
              <a:t>2026/9/7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4093429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EBA67A-1A19-46A3-9E5D-46C69239F1BA}" type="datetime1">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355403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0B57BC1-256A-4C48-9958-A4D3EC0C8564}" type="datetime1">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486804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7C17EED-BBC7-419C-B7D5-698DDF1FBF75}" type="datetime1">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1688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607677-CB6D-4A10-B359-81C51C3A9188}" type="datetime1">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338523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EAECED3-ECD4-4267-9704-70A5D5599FE9}" type="datetime1">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4076554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CE0F6A-F3AD-4C1F-88B7-8F40BA950951}" type="datetime1">
              <a:rPr lang="zh-CN" altLang="en-US" smtClean="0"/>
              <a:t>2026/9/7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88537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microsoft.com/office/2007/relationships/media" Target="../media/media2.wav"/><Relationship Id="rId7"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media3.wav"/><Relationship Id="rId5" Type="http://schemas.microsoft.com/office/2007/relationships/media" Target="../media/media3.wav"/><Relationship Id="rId4" Type="http://schemas.openxmlformats.org/officeDocument/2006/relationships/audio" Target="../media/media2.wav"/><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0" y="1470241"/>
            <a:ext cx="12192000" cy="338554"/>
          </a:xfrm>
          <a:prstGeom prst="rect">
            <a:avLst/>
          </a:prstGeom>
          <a:noFill/>
        </p:spPr>
        <p:txBody>
          <a:bodyPr vert="horz" rtlCol="0">
            <a:spAutoFit/>
          </a:bodyPr>
          <a:lstStyle/>
          <a:p>
            <a:pPr algn="ct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中国移动实习项目 </a:t>
            </a:r>
            <a:r>
              <a:rPr lang="en-US" altLang="zh-CN"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基于</a:t>
            </a:r>
            <a:r>
              <a:rPr lang="zh-CN" altLang="en-US" sz="16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大模型的多条件中文声纹识别与噪声鲁棒性</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增强 </a:t>
            </a:r>
            <a:r>
              <a:rPr lang="en-US" altLang="zh-CN"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子课题一</a:t>
            </a:r>
            <a:endParaRPr lang="zh-CN" altLang="en-US" sz="16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0" y="2206841"/>
            <a:ext cx="12192000" cy="646331"/>
          </a:xfrm>
          <a:prstGeom prst="rect">
            <a:avLst/>
          </a:prstGeom>
          <a:noFill/>
        </p:spPr>
        <p:txBody>
          <a:bodyPr vert="horz" rtlCol="0">
            <a:spAutoFit/>
          </a:bodyPr>
          <a:lstStyle/>
          <a:p>
            <a:pPr algn="ctr"/>
            <a:r>
              <a:rPr lang="zh-CN" altLang="en-US" sz="36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多条件中文声纹识别与噪声鲁棒性增强</a:t>
            </a:r>
            <a:endParaRPr lang="zh-CN" altLang="en-US" sz="36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0" y="3299041"/>
            <a:ext cx="12192000" cy="353943"/>
          </a:xfrm>
          <a:prstGeom prst="rect">
            <a:avLst/>
          </a:prstGeom>
          <a:noFill/>
        </p:spPr>
        <p:txBody>
          <a:bodyPr vert="horz" rtlCol="0">
            <a:spAutoFit/>
          </a:bodyPr>
          <a:lstStyle/>
          <a:p>
            <a:pPr algn="ctr"/>
            <a:r>
              <a:rPr lang="en-US" altLang="zh-CN"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注册条件化目标说话人提取：面向智能终端的开集声纹验证 </a:t>
            </a:r>
            <a:r>
              <a:rPr lang="en-US" altLang="zh-CN"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文本框 6"/>
          <p:cNvSpPr txBox="1"/>
          <p:nvPr/>
        </p:nvSpPr>
        <p:spPr>
          <a:xfrm>
            <a:off x="0" y="4305670"/>
            <a:ext cx="12192000" cy="553998"/>
          </a:xfrm>
          <a:prstGeom prst="rect">
            <a:avLst/>
          </a:prstGeom>
          <a:noFill/>
        </p:spPr>
        <p:txBody>
          <a:bodyPr vert="horz" rtlCol="0">
            <a:spAutoFit/>
          </a:bodyPr>
          <a:lstStyle/>
          <a:p>
            <a:pPr algn="ct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汇报人：张启元（中国科学院大学</a:t>
            </a:r>
            <a:r>
              <a:rPr lang="zh-CN" altLang="en-US"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2026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年 </a:t>
            </a: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9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月 </a:t>
            </a:r>
            <a:r>
              <a:rPr lang="en-US" altLang="zh-CN"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8</a:t>
            </a: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日</a:t>
            </a:r>
            <a:endParaRPr lang="zh-CN" altLang="en-US"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80157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小组成员与分工</a:t>
            </a:r>
            <a:endParaRPr lang="zh-CN" altLang="en-US" sz="24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 name="矩形 4"/>
          <p:cNvSpPr/>
          <p:nvPr/>
        </p:nvSpPr>
        <p:spPr>
          <a:xfrm>
            <a:off x="508000" y="1168399"/>
            <a:ext cx="5486400" cy="4462087"/>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168400"/>
            <a:ext cx="5486400" cy="762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812800" y="1422400"/>
            <a:ext cx="4953000" cy="384721"/>
          </a:xfrm>
          <a:prstGeom prst="rect">
            <a:avLst/>
          </a:prstGeom>
          <a:noFill/>
        </p:spPr>
        <p:txBody>
          <a:bodyPr vert="horz" rtlCol="0">
            <a:spAutoFit/>
          </a:bodyPr>
          <a:lstStyle/>
          <a:p>
            <a:r>
              <a:rPr lang="zh-CN" altLang="en-US" sz="19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张启元</a:t>
            </a:r>
            <a:endParaRPr lang="zh-CN" altLang="en-US" sz="19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12800" y="1879600"/>
            <a:ext cx="4953000" cy="323165"/>
          </a:xfrm>
          <a:prstGeom prst="rect">
            <a:avLst/>
          </a:prstGeom>
          <a:noFill/>
        </p:spPr>
        <p:txBody>
          <a:bodyPr vert="horz" rtlCol="0">
            <a:spAutoFit/>
          </a:bodyPr>
          <a:lstStyle/>
          <a:p>
            <a:r>
              <a:rPr lang="zh-CN" altLang="en-US" sz="15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算法与实验主线</a:t>
            </a:r>
            <a:endParaRPr lang="zh-CN" altLang="en-US" sz="15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812800" y="2362200"/>
            <a:ext cx="4953000" cy="1705595"/>
          </a:xfrm>
          <a:prstGeom prst="rect">
            <a:avLst/>
          </a:prstGeom>
          <a:noFill/>
        </p:spPr>
        <p:txBody>
          <a:bodyPr vert="horz" rtlCol="0">
            <a:spAutoFit/>
          </a:bodyPr>
          <a:lstStyle/>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子课题需求分解与达标路线设计</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评测环境与自动化管线搭建</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鲁棒方案设计与四轮迭代</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交付前端</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三后端全量实验与官方终评</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失败案例挖掘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ROC/DET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分析</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技术报告与汇报材料</a:t>
            </a:r>
            <a:endPar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248400" y="1168400"/>
            <a:ext cx="5486400" cy="4462086"/>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p:cNvSpPr/>
          <p:nvPr/>
        </p:nvSpPr>
        <p:spPr>
          <a:xfrm>
            <a:off x="6248400" y="1168400"/>
            <a:ext cx="5486400" cy="762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文本框 11"/>
          <p:cNvSpPr txBox="1"/>
          <p:nvPr/>
        </p:nvSpPr>
        <p:spPr>
          <a:xfrm>
            <a:off x="6553200" y="1422400"/>
            <a:ext cx="4953000" cy="384721"/>
          </a:xfrm>
          <a:prstGeom prst="rect">
            <a:avLst/>
          </a:prstGeom>
          <a:noFill/>
        </p:spPr>
        <p:txBody>
          <a:bodyPr vert="horz" rtlCol="0">
            <a:spAutoFit/>
          </a:bodyPr>
          <a:lstStyle/>
          <a:p>
            <a:r>
              <a:rPr lang="zh-CN" altLang="en-US" sz="19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邓姣姣</a:t>
            </a:r>
            <a:endParaRPr lang="zh-CN" altLang="en-US" sz="19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6553200" y="1879600"/>
            <a:ext cx="4953000" cy="323165"/>
          </a:xfrm>
          <a:prstGeom prst="rect">
            <a:avLst/>
          </a:prstGeom>
          <a:noFill/>
        </p:spPr>
        <p:txBody>
          <a:bodyPr vert="horz" rtlCol="0">
            <a:spAutoFit/>
          </a:bodyPr>
          <a:lstStyle/>
          <a:p>
            <a:r>
              <a:rPr lang="zh-CN" altLang="en-US" sz="15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数据与评测支撑</a:t>
            </a:r>
            <a:endParaRPr lang="zh-CN" altLang="en-US" sz="15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6553200" y="2362200"/>
            <a:ext cx="4953000" cy="1426031"/>
          </a:xfrm>
          <a:prstGeom prst="rect">
            <a:avLst/>
          </a:prstGeom>
          <a:noFill/>
        </p:spPr>
        <p:txBody>
          <a:bodyPr vert="horz" rtlCol="0">
            <a:spAutoFit/>
          </a:bodyPr>
          <a:lstStyle/>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声学条件测试数据协议与构建</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多人重叠数据合成</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(SNR / TIR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记录</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三重数据泄漏检查</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MD5 /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切片</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统一评测脚本</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 </a:t>
            </a:r>
            <a:r>
              <a:rPr lang="en-US" altLang="zh-CN" sz="14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minDCF</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ROC-DET · FAR/FRR)</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鲁棒性文献调研</a:t>
            </a:r>
            <a:endPar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p:cNvSpPr/>
          <p:nvPr/>
        </p:nvSpPr>
        <p:spPr>
          <a:xfrm>
            <a:off x="508000" y="5948052"/>
            <a:ext cx="112268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文本框 15"/>
          <p:cNvSpPr txBox="1"/>
          <p:nvPr/>
        </p:nvSpPr>
        <p:spPr>
          <a:xfrm>
            <a:off x="508000" y="6056440"/>
            <a:ext cx="11226800" cy="315471"/>
          </a:xfrm>
          <a:prstGeom prst="rect">
            <a:avLst/>
          </a:prstGeom>
          <a:noFill/>
        </p:spPr>
        <p:txBody>
          <a:bodyPr vert="horz" rtlCol="0">
            <a:spAutoFit/>
          </a:bodyPr>
          <a:lstStyle/>
          <a:p>
            <a:pPr algn="ct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协作模式：「可复现评测基座 </a:t>
            </a:r>
            <a:r>
              <a:rPr lang="en-US" altLang="zh-CN"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鲁棒算法主线」 </a:t>
            </a:r>
            <a:r>
              <a:rPr lang="en-US" altLang="zh-CN"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每周对齐进度</a:t>
            </a:r>
            <a:endParaRPr lang="zh-CN" altLang="en-US" sz="1450" b="1"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灯片编号占位符 16"/>
          <p:cNvSpPr>
            <a:spLocks noGrp="1"/>
          </p:cNvSpPr>
          <p:nvPr>
            <p:ph type="sldNum" sz="quarter" idx="12"/>
          </p:nvPr>
        </p:nvSpPr>
        <p:spPr/>
        <p:txBody>
          <a:bodyPr/>
          <a:lstStyle/>
          <a:p>
            <a:fld id="{7BF2EA3F-D088-4729-88F9-9D4FADF26323}" type="slidenum">
              <a:rPr lang="zh-CN" altLang="en-US" smtClean="0"/>
              <a:t>2</a:t>
            </a:fld>
            <a:endParaRPr lang="zh-CN" altLang="en-US"/>
          </a:p>
        </p:txBody>
      </p:sp>
    </p:spTree>
    <p:extLst>
      <p:ext uri="{BB962C8B-B14F-4D97-AF65-F5344CB8AC3E}">
        <p14:creationId xmlns:p14="http://schemas.microsoft.com/office/powerpoint/2010/main" val="1189992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824388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326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2003" y="1329620"/>
            <a:ext cx="6098267" cy="4890052"/>
          </a:xfrm>
          <a:prstGeom prst="rect">
            <a:avLst/>
          </a:prstGeom>
        </p:spPr>
      </p:pic>
      <p:sp>
        <p:nvSpPr>
          <p:cNvPr id="2" name="矩形 1"/>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任务背景：智能终端上的声纹验证</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8000" y="1006455"/>
            <a:ext cx="11303000" cy="338554"/>
          </a:xfrm>
          <a:prstGeom prst="rect">
            <a:avLst/>
          </a:prstGeom>
          <a:noFill/>
        </p:spPr>
        <p:txBody>
          <a:bodyPr vert="horz" rtlCol="0">
            <a:spAutoFit/>
          </a:bodyPr>
          <a:lstStyle/>
          <a:p>
            <a:r>
              <a:rPr lang="en-US" altLang="zh-CN" sz="1600" b="1" dirty="0" smtClean="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1600" b="1" dirty="0" smtClean="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rPr>
              <a:t>眼镜等终端需要理解用户身份：通过注册语音建立声纹模板，并在开放环境中判断当前用户身份</a:t>
            </a:r>
            <a:endParaRPr lang="zh-CN" altLang="en-US" sz="1600" b="1" dirty="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520700" y="1492944"/>
            <a:ext cx="5230133" cy="4842351"/>
          </a:xfrm>
          <a:prstGeom prst="rect">
            <a:avLst/>
          </a:prstGeom>
          <a:noFill/>
        </p:spPr>
        <p:txBody>
          <a:bodyPr vert="horz" wrap="square" rtlCol="0">
            <a:spAutoFit/>
          </a:bodyPr>
          <a:lstStyle/>
          <a:p>
            <a:pPr>
              <a:spcAft>
                <a:spcPts val="800"/>
              </a:spcAft>
            </a:pPr>
            <a:r>
              <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应用需求：让终端理解“是谁在说话”</a:t>
            </a:r>
            <a:endPar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用户</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注册少量语音建立身份</a:t>
            </a: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模板</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后续</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无需唤醒词，即可验证是否</a:t>
            </a: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本人</a:t>
            </a:r>
            <a:endParaRPr lang="en-US" altLang="zh-CN"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区别</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于分类任务，属于开集声纹验证</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spcAft>
                <a:spcPts val="800"/>
              </a:spcAft>
            </a:pPr>
            <a:r>
              <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核心挑战：五</a:t>
            </a:r>
            <a:r>
              <a:rPr lang="zh-CN" altLang="en-US"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类典型场景</a:t>
            </a:r>
            <a:endParaRPr lang="en-US" altLang="zh-CN"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环境噪声干扰</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回声 </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混响</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多人重叠说话</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短语音输入</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跨设备采集差异</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spcAft>
                <a:spcPts val="800"/>
              </a:spcAft>
            </a:pPr>
            <a:r>
              <a:rPr lang="en-US" altLang="zh-CN" sz="15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5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任务目标：面向</a:t>
            </a:r>
            <a:r>
              <a:rPr lang="zh-CN" altLang="en-US" sz="15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中文复杂环境的鲁棒声纹验证</a:t>
            </a:r>
            <a:endParaRPr lang="en-US" altLang="zh-CN" sz="15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基于 </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3D-Speaker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中文语音数据集 </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构建开集验证任务训练</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测试严格按说话人隔离</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提升低信噪比条件下身份判别稳定性</a:t>
            </a:r>
          </a:p>
        </p:txBody>
      </p:sp>
      <p:sp>
        <p:nvSpPr>
          <p:cNvPr id="14" name="AutoShape 6" descr="ai眼镜 车载座舱声纹识别 的图像结果"/>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8" descr="ai眼镜 车载座舱声纹识别 的图像结果"/>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文本框 16"/>
          <p:cNvSpPr txBox="1"/>
          <p:nvPr/>
        </p:nvSpPr>
        <p:spPr>
          <a:xfrm>
            <a:off x="5832003" y="6147445"/>
            <a:ext cx="5978997" cy="307777"/>
          </a:xfrm>
          <a:prstGeom prst="rect">
            <a:avLst/>
          </a:prstGeom>
          <a:noFill/>
        </p:spPr>
        <p:txBody>
          <a:bodyPr vert="horz" wrap="square" rtlCol="0">
            <a:spAutoFit/>
          </a:bodyPr>
          <a:lstStyle/>
          <a:p>
            <a:pPr algn="ct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图 </a:t>
            </a: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开集</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声纹</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验证的</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标准</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流程图</a:t>
            </a:r>
            <a:r>
              <a:rPr lang="en-US" altLang="zh-CN" sz="1400" baseline="30000" dirty="0" smtClean="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5</a:t>
            </a:fld>
            <a:endParaRPr lang="zh-CN" altLang="en-US" dirty="0"/>
          </a:p>
        </p:txBody>
      </p:sp>
      <p:sp>
        <p:nvSpPr>
          <p:cNvPr id="10" name="矩形 9"/>
          <p:cNvSpPr/>
          <p:nvPr/>
        </p:nvSpPr>
        <p:spPr>
          <a:xfrm>
            <a:off x="0" y="6690773"/>
            <a:ext cx="12192000" cy="167228"/>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latin typeface="Times New Roman" panose="02020603050405020304" pitchFamily="18" charset="0"/>
                <a:cs typeface="Times New Roman" panose="02020603050405020304" pitchFamily="18" charset="0"/>
              </a:rPr>
              <a:t>[1] D</a:t>
            </a:r>
            <a:r>
              <a:rPr lang="en-US" altLang="zh-CN" sz="1050" dirty="0">
                <a:latin typeface="Times New Roman" panose="02020603050405020304" pitchFamily="18" charset="0"/>
                <a:cs typeface="Times New Roman" panose="02020603050405020304" pitchFamily="18" charset="0"/>
              </a:rPr>
              <a:t>. A. Reynolds and R. C. Rose, “Robust text-independent speaker identification using Gaussian mixture speaker models,” </a:t>
            </a:r>
            <a:r>
              <a:rPr lang="en-US" altLang="zh-CN" sz="1050" i="1" dirty="0">
                <a:latin typeface="Times New Roman" panose="02020603050405020304" pitchFamily="18" charset="0"/>
                <a:cs typeface="Times New Roman" panose="02020603050405020304" pitchFamily="18" charset="0"/>
              </a:rPr>
              <a:t>IEEE Trans. on Speech and Audio Processing</a:t>
            </a:r>
            <a:r>
              <a:rPr lang="en-US" altLang="zh-CN" sz="1050" dirty="0">
                <a:latin typeface="Times New Roman" panose="02020603050405020304" pitchFamily="18" charset="0"/>
                <a:cs typeface="Times New Roman" panose="02020603050405020304" pitchFamily="18" charset="0"/>
              </a:rPr>
              <a:t>, vol. 3, no. 1, pp. 72–83, Jan. 1995.</a:t>
            </a:r>
            <a:endParaRPr lang="zh-CN" alt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514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任务</a:t>
            </a:r>
            <a:r>
              <a:rPr lang="zh-CN" altLang="en-US" sz="2400" b="1" dirty="0">
                <a:solidFill>
                  <a:srgbClr val="1F3864"/>
                </a:solidFill>
                <a:latin typeface="微软雅黑" panose="020B0503020204020204" pitchFamily="34" charset="-122"/>
                <a:ea typeface="微软雅黑" panose="020B0503020204020204" pitchFamily="34" charset="-122"/>
              </a:rPr>
              <a:t>目标与验收标准</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669692057"/>
              </p:ext>
            </p:extLst>
          </p:nvPr>
        </p:nvGraphicFramePr>
        <p:xfrm>
          <a:off x="508000" y="1270000"/>
          <a:ext cx="11303001" cy="2997201"/>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615833026"/>
                    </a:ext>
                  </a:extLst>
                </a:gridCol>
                <a:gridCol w="3767667">
                  <a:extLst>
                    <a:ext uri="{9D8B030D-6E8A-4147-A177-3AD203B41FA5}">
                      <a16:colId xmlns:a16="http://schemas.microsoft.com/office/drawing/2014/main" val="3216877120"/>
                    </a:ext>
                  </a:extLst>
                </a:gridCol>
                <a:gridCol w="3767667">
                  <a:extLst>
                    <a:ext uri="{9D8B030D-6E8A-4147-A177-3AD203B41FA5}">
                      <a16:colId xmlns:a16="http://schemas.microsoft.com/office/drawing/2014/main" val="2551294609"/>
                    </a:ext>
                  </a:extLst>
                </a:gridCol>
              </a:tblGrid>
              <a:tr h="465667">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层级</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指标</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完成情况</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106160828"/>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挑战目标</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单说话人噪声两档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均 ≤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超出现阶段能力范围（未冲击）</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919542371"/>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达标目标</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单说话人噪声两档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相对下降≥</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b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下降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41.7%</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下降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2755081840"/>
                  </a:ext>
                </a:extLst>
              </a:tr>
              <a:tr h="465667">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基线定义</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未增强原始骨干模型</a:t>
                      </a:r>
                      <a:endPar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（禁用前端增强</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鲁棒训练</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域适配</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后端校准）</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逐后端同条件对照</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交付大表</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123738327"/>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其他场景</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不设硬阈值，分项报告</a:t>
                      </a:r>
                      <a:endPar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 </a:t>
                      </a:r>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minDCF</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ROC-DET / FAR-FRR</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全部已产出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529865241"/>
                  </a:ext>
                </a:extLst>
              </a:tr>
              <a:tr h="465667">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交付物</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模型、权重、代码、对比报告、失败案例</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全部已产出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4120950408"/>
                  </a:ext>
                </a:extLst>
              </a:tr>
            </a:tbl>
          </a:graphicData>
        </a:graphic>
      </p:graphicFrame>
      <p:sp>
        <p:nvSpPr>
          <p:cNvPr id="7" name="文本框 6"/>
          <p:cNvSpPr txBox="1"/>
          <p:nvPr/>
        </p:nvSpPr>
        <p:spPr>
          <a:xfrm>
            <a:off x="419100" y="4585857"/>
            <a:ext cx="5080000" cy="338554"/>
          </a:xfrm>
          <a:prstGeom prst="rect">
            <a:avLst/>
          </a:prstGeom>
          <a:noFill/>
        </p:spPr>
        <p:txBody>
          <a:bodyPr vert="horz" rtlCol="0">
            <a:spAutoFit/>
          </a:bodyPr>
          <a:lstStyle/>
          <a:p>
            <a:r>
              <a:rPr lang="zh-CN" altLang="en-US" sz="16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评测规范：保证</a:t>
            </a:r>
            <a:r>
              <a:rPr lang="zh-CN" altLang="en-US" sz="16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结果公平可信</a:t>
            </a:r>
          </a:p>
        </p:txBody>
      </p:sp>
      <p:sp>
        <p:nvSpPr>
          <p:cNvPr id="8" name="文本框 7"/>
          <p:cNvSpPr txBox="1"/>
          <p:nvPr/>
        </p:nvSpPr>
        <p:spPr>
          <a:xfrm>
            <a:off x="520700" y="5007538"/>
            <a:ext cx="11303000" cy="1250342"/>
          </a:xfrm>
          <a:prstGeom prst="rect">
            <a:avLst/>
          </a:prstGeom>
          <a:noFill/>
        </p:spPr>
        <p:txBody>
          <a:bodyPr vert="horz" rtlCol="0">
            <a:spAutoFit/>
          </a:bodyPr>
          <a:lstStyle/>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测试说话人互不重叠，禁止同源切片泄漏</a:t>
            </a:r>
          </a:p>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固定注册数量、测试时长</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(1s/3s/5s)</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、正负试验清单与比例</a:t>
            </a:r>
          </a:p>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阈值只能在验证集确定</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测试集冻结</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不得重调</a:t>
            </a:r>
            <a:endPar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6</a:t>
            </a:fld>
            <a:endParaRPr lang="zh-CN" altLang="en-US"/>
          </a:p>
        </p:txBody>
      </p:sp>
      <p:sp>
        <p:nvSpPr>
          <p:cNvPr id="11" name="矩形 10"/>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62448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994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圆角矩形 214"/>
          <p:cNvSpPr/>
          <p:nvPr/>
        </p:nvSpPr>
        <p:spPr>
          <a:xfrm>
            <a:off x="9822139" y="1824036"/>
            <a:ext cx="2057400" cy="4560509"/>
          </a:xfrm>
          <a:prstGeom prst="roundRect">
            <a:avLst>
              <a:gd name="adj" fmla="val 6000"/>
            </a:avLst>
          </a:prstGeom>
          <a:solidFill>
            <a:srgbClr val="FDF3E7"/>
          </a:solidFill>
          <a:ln w="15875">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研究思路：从</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语音增强到身份感知增强</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2650849" y="1169569"/>
            <a:ext cx="2057400" cy="496332"/>
            <a:chOff x="2717163" y="1184968"/>
            <a:chExt cx="2057400" cy="496332"/>
          </a:xfrm>
        </p:grpSpPr>
        <p:sp>
          <p:nvSpPr>
            <p:cNvPr id="204" name="圆角矩形 203"/>
            <p:cNvSpPr/>
            <p:nvPr/>
          </p:nvSpPr>
          <p:spPr>
            <a:xfrm>
              <a:off x="2717163" y="1184968"/>
              <a:ext cx="2057400" cy="482600"/>
            </a:xfrm>
            <a:prstGeom prst="roundRect">
              <a:avLst>
                <a:gd name="adj" fmla="val 6000"/>
              </a:avLst>
            </a:prstGeom>
            <a:solidFill>
              <a:srgbClr val="8B641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5" name="文本框 204"/>
            <p:cNvSpPr txBox="1"/>
            <p:nvPr/>
          </p:nvSpPr>
          <p:spPr>
            <a:xfrm>
              <a:off x="2742563" y="1311968"/>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关键机理发现</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06" name="圆角矩形 205"/>
          <p:cNvSpPr/>
          <p:nvPr/>
        </p:nvSpPr>
        <p:spPr>
          <a:xfrm>
            <a:off x="2642508" y="1824036"/>
            <a:ext cx="2057400" cy="4590157"/>
          </a:xfrm>
          <a:prstGeom prst="roundRect">
            <a:avLst>
              <a:gd name="adj" fmla="val 6000"/>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5029200" y="1166936"/>
            <a:ext cx="2057400" cy="496332"/>
            <a:chOff x="5163819" y="1181793"/>
            <a:chExt cx="2057400" cy="496332"/>
          </a:xfrm>
        </p:grpSpPr>
        <p:sp>
          <p:nvSpPr>
            <p:cNvPr id="207" name="圆角矩形 206"/>
            <p:cNvSpPr/>
            <p:nvPr/>
          </p:nvSpPr>
          <p:spPr>
            <a:xfrm>
              <a:off x="5163819" y="1181793"/>
              <a:ext cx="2057400" cy="482600"/>
            </a:xfrm>
            <a:prstGeom prst="roundRect">
              <a:avLst>
                <a:gd name="adj" fmla="val 6000"/>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8" name="文本框 207"/>
            <p:cNvSpPr txBox="1"/>
            <p:nvPr/>
          </p:nvSpPr>
          <p:spPr>
            <a:xfrm>
              <a:off x="5189219" y="1308793"/>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方法</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重新定义</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2" name="组合 11"/>
          <p:cNvGrpSpPr/>
          <p:nvPr/>
        </p:nvGrpSpPr>
        <p:grpSpPr>
          <a:xfrm>
            <a:off x="7432951" y="1167848"/>
            <a:ext cx="2057400" cy="496332"/>
            <a:chOff x="7349489" y="1181793"/>
            <a:chExt cx="2057400" cy="496332"/>
          </a:xfrm>
        </p:grpSpPr>
        <p:sp>
          <p:nvSpPr>
            <p:cNvPr id="210" name="圆角矩形 209"/>
            <p:cNvSpPr/>
            <p:nvPr/>
          </p:nvSpPr>
          <p:spPr>
            <a:xfrm>
              <a:off x="7349489" y="1181793"/>
              <a:ext cx="2057400" cy="482600"/>
            </a:xfrm>
            <a:prstGeom prst="roundRect">
              <a:avLst>
                <a:gd name="adj" fmla="val 6000"/>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1" name="文本框 210"/>
            <p:cNvSpPr txBox="1"/>
            <p:nvPr/>
          </p:nvSpPr>
          <p:spPr>
            <a:xfrm>
              <a:off x="7374889" y="1308793"/>
              <a:ext cx="2006600" cy="369332"/>
            </a:xfrm>
            <a:prstGeom prst="rect">
              <a:avLst/>
            </a:prstGeom>
            <a:noFill/>
          </p:spPr>
          <p:txBody>
            <a:bodyPr vert="horz" wrap="square" lIns="0" tIns="0" rIns="0" bIns="0" rtlCol="0">
              <a:noAutofit/>
            </a:bodyPr>
            <a:lstStyle>
              <a:defPPr>
                <a:defRPr lang="zh-CN"/>
              </a:defPPr>
              <a:lvl1pPr algn="ctr">
                <a:defRPr sz="11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4.  </a:t>
              </a:r>
              <a:r>
                <a:rPr lang="zh-CN" altLang="en-US" dirty="0" smtClean="0"/>
                <a:t>身份保持优化</a:t>
              </a:r>
              <a:endParaRPr lang="zh-CN" altLang="en-US" dirty="0"/>
            </a:p>
          </p:txBody>
        </p:sp>
      </p:grpSp>
      <p:sp>
        <p:nvSpPr>
          <p:cNvPr id="212" name="圆角矩形 211"/>
          <p:cNvSpPr/>
          <p:nvPr/>
        </p:nvSpPr>
        <p:spPr>
          <a:xfrm>
            <a:off x="7416800" y="1824037"/>
            <a:ext cx="2057400" cy="4565134"/>
          </a:xfrm>
          <a:prstGeom prst="roundRect">
            <a:avLst>
              <a:gd name="adj" fmla="val 6000"/>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4" name="组合 13"/>
          <p:cNvGrpSpPr/>
          <p:nvPr/>
        </p:nvGrpSpPr>
        <p:grpSpPr>
          <a:xfrm>
            <a:off x="9836702" y="1160070"/>
            <a:ext cx="2057400" cy="496332"/>
            <a:chOff x="9822139" y="1168061"/>
            <a:chExt cx="2057400" cy="496332"/>
          </a:xfrm>
        </p:grpSpPr>
        <p:sp>
          <p:nvSpPr>
            <p:cNvPr id="213" name="圆角矩形 212"/>
            <p:cNvSpPr/>
            <p:nvPr/>
          </p:nvSpPr>
          <p:spPr>
            <a:xfrm>
              <a:off x="9822139" y="1168061"/>
              <a:ext cx="2057400" cy="482600"/>
            </a:xfrm>
            <a:prstGeom prst="roundRect">
              <a:avLst>
                <a:gd name="adj" fmla="val 6000"/>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4" name="文本框 213"/>
            <p:cNvSpPr txBox="1"/>
            <p:nvPr/>
          </p:nvSpPr>
          <p:spPr>
            <a:xfrm>
              <a:off x="9847539" y="1295061"/>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最终交付结果</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6" name="右箭头 215"/>
          <p:cNvSpPr/>
          <p:nvPr/>
        </p:nvSpPr>
        <p:spPr>
          <a:xfrm>
            <a:off x="2330720" y="3984048"/>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2" name="圆角矩形 231"/>
          <p:cNvSpPr/>
          <p:nvPr/>
        </p:nvSpPr>
        <p:spPr>
          <a:xfrm>
            <a:off x="2744108" y="4930927"/>
            <a:ext cx="1854200" cy="1131907"/>
          </a:xfrm>
          <a:prstGeom prst="roundRect">
            <a:avLst>
              <a:gd name="adj" fmla="val 6000"/>
            </a:avLst>
          </a:prstGeom>
          <a:solidFill>
            <a:schemeClr val="bg1"/>
          </a:solidFill>
          <a:ln w="15875" cap="flat" cmpd="sng" algn="ctr">
            <a:solidFill>
              <a:srgbClr val="8B6414"/>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3" name="文本框 232"/>
          <p:cNvSpPr txBox="1"/>
          <p:nvPr/>
        </p:nvSpPr>
        <p:spPr>
          <a:xfrm>
            <a:off x="2744108" y="5073906"/>
            <a:ext cx="1843043" cy="369332"/>
          </a:xfrm>
          <a:prstGeom prst="rect">
            <a:avLst/>
          </a:prstGeom>
          <a:noFill/>
        </p:spPr>
        <p:txBody>
          <a:bodyPr vert="horz" wrap="square" lIns="0" tIns="0" rIns="0" bIns="0" rtlCol="0">
            <a:noAutofit/>
          </a:bodyPr>
          <a:lstStyle/>
          <a:p>
            <a:pPr algn="ctr"/>
            <a:r>
              <a:rPr lang="zh-CN" altLang="en-US"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降噪前后目标</a:t>
            </a:r>
            <a:r>
              <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对分数均值</a:t>
            </a:r>
          </a:p>
        </p:txBody>
      </p:sp>
      <p:sp>
        <p:nvSpPr>
          <p:cNvPr id="234" name="文本框 233"/>
          <p:cNvSpPr txBox="1"/>
          <p:nvPr/>
        </p:nvSpPr>
        <p:spPr>
          <a:xfrm>
            <a:off x="2738529" y="5302015"/>
            <a:ext cx="1854199" cy="181688"/>
          </a:xfrm>
          <a:prstGeom prst="rect">
            <a:avLst/>
          </a:prstGeom>
          <a:noFill/>
        </p:spPr>
        <p:txBody>
          <a:bodyPr vert="horz" wrap="square" lIns="0" tIns="0" rIns="0" bIns="0" rtlCol="0">
            <a:noAutofit/>
          </a:bodyPr>
          <a:lstStyle/>
          <a:p>
            <a:pPr algn="ctr"/>
            <a:r>
              <a:rPr lang="en-US" altLang="zh-CN"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0.422 → 0.391</a:t>
            </a:r>
            <a:endPar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5" name="椭圆 234"/>
          <p:cNvSpPr/>
          <p:nvPr/>
        </p:nvSpPr>
        <p:spPr>
          <a:xfrm>
            <a:off x="3249654" y="5549212"/>
            <a:ext cx="149371" cy="149371"/>
          </a:xfrm>
          <a:prstGeom prst="ellipse">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6" name="圆角矩形 235"/>
          <p:cNvSpPr/>
          <p:nvPr/>
        </p:nvSpPr>
        <p:spPr>
          <a:xfrm>
            <a:off x="3150186" y="5757526"/>
            <a:ext cx="348308" cy="191421"/>
          </a:xfrm>
          <a:prstGeom prst="roundRect">
            <a:avLst>
              <a:gd name="adj" fmla="val 50000"/>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239" name="直接连接符 238"/>
          <p:cNvCxnSpPr/>
          <p:nvPr/>
        </p:nvCxnSpPr>
        <p:spPr>
          <a:xfrm>
            <a:off x="3508655" y="5697175"/>
            <a:ext cx="330200" cy="0"/>
          </a:xfrm>
          <a:prstGeom prst="line">
            <a:avLst/>
          </a:prstGeom>
          <a:ln w="19050" cap="sq">
            <a:solidFill>
              <a:srgbClr val="595959"/>
            </a:solidFill>
            <a:prstDash val="dot"/>
            <a:tailEnd type="triangle" w="med" len="med"/>
          </a:ln>
        </p:spPr>
        <p:style>
          <a:lnRef idx="1">
            <a:schemeClr val="accent1"/>
          </a:lnRef>
          <a:fillRef idx="0">
            <a:schemeClr val="accent1"/>
          </a:fillRef>
          <a:effectRef idx="0">
            <a:schemeClr val="accent1"/>
          </a:effectRef>
          <a:fontRef idx="minor">
            <a:schemeClr val="tx1"/>
          </a:fontRef>
        </p:style>
      </p:cxnSp>
      <p:sp>
        <p:nvSpPr>
          <p:cNvPr id="262" name="下箭头 261"/>
          <p:cNvSpPr/>
          <p:nvPr/>
        </p:nvSpPr>
        <p:spPr>
          <a:xfrm>
            <a:off x="8353309" y="2976026"/>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2" name="下箭头 271"/>
          <p:cNvSpPr/>
          <p:nvPr/>
        </p:nvSpPr>
        <p:spPr>
          <a:xfrm>
            <a:off x="8369300" y="5344337"/>
            <a:ext cx="152400" cy="101600"/>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7" name="圆角矩形 276"/>
          <p:cNvSpPr/>
          <p:nvPr/>
        </p:nvSpPr>
        <p:spPr>
          <a:xfrm>
            <a:off x="9961839" y="2126678"/>
            <a:ext cx="1803400" cy="2721040"/>
          </a:xfrm>
          <a:prstGeom prst="roundRect">
            <a:avLst>
              <a:gd name="adj" fmla="val 6000"/>
            </a:avLst>
          </a:prstGeom>
          <a:solidFill>
            <a:srgbClr val="FFFFFF"/>
          </a:solidFill>
          <a:ln w="19050">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8" name="文本框 277"/>
          <p:cNvSpPr txBox="1"/>
          <p:nvPr/>
        </p:nvSpPr>
        <p:spPr>
          <a:xfrm>
            <a:off x="9961839" y="2126678"/>
            <a:ext cx="1803400" cy="744906"/>
          </a:xfrm>
          <a:prstGeom prst="rect">
            <a:avLst/>
          </a:prstGeom>
          <a:noFill/>
        </p:spPr>
        <p:txBody>
          <a:bodyPr vert="horz" wrap="square" lIns="0" tIns="0" rIns="0" bIns="0" rtlCol="0" anchor="ctr">
            <a:noAutofit/>
          </a:bodyPr>
          <a:lstStyle/>
          <a:p>
            <a:pPr algn="ctr"/>
            <a:r>
              <a:rPr lang="zh-CN" altLang="en-US" sz="10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最终</a:t>
            </a: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交付结果</a:t>
            </a:r>
            <a:endParaRPr lang="en-US" altLang="zh-CN"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ERes2Net-large + </a:t>
            </a: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前端</a:t>
            </a:r>
            <a:endParaRPr lang="zh-CN" altLang="en-US" sz="10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5" name="矩形 29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6" name="圆角矩形 295"/>
          <p:cNvSpPr/>
          <p:nvPr/>
        </p:nvSpPr>
        <p:spPr>
          <a:xfrm>
            <a:off x="9961839" y="5395137"/>
            <a:ext cx="1803400" cy="669600"/>
          </a:xfrm>
          <a:prstGeom prst="roundRect">
            <a:avLst>
              <a:gd name="adj" fmla="val 6000"/>
            </a:avLst>
          </a:prstGeom>
          <a:solidFill>
            <a:schemeClr val="bg1"/>
          </a:solidFill>
          <a:ln w="19050" cap="flat" cmpd="sng" algn="ctr">
            <a:solidFill>
              <a:schemeClr val="accent2">
                <a:lumMod val="75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结论：显著超过验收要求的 </a:t>
            </a:r>
            <a:r>
              <a:rPr lang="en-US" altLang="zh-CN"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30% </a:t>
            </a:r>
            <a:r>
              <a:rPr lang="zh-CN" altLang="en-US"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相对降幅线</a:t>
            </a:r>
            <a:endParaRPr lang="zh-CN" altLang="en-US" sz="105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7" name="组合 16"/>
          <p:cNvGrpSpPr/>
          <p:nvPr/>
        </p:nvGrpSpPr>
        <p:grpSpPr>
          <a:xfrm>
            <a:off x="227645" y="1182526"/>
            <a:ext cx="2057400" cy="482600"/>
            <a:chOff x="211769" y="1181793"/>
            <a:chExt cx="2057400" cy="482600"/>
          </a:xfrm>
        </p:grpSpPr>
        <p:sp>
          <p:nvSpPr>
            <p:cNvPr id="104" name="圆角矩形 103"/>
            <p:cNvSpPr/>
            <p:nvPr/>
          </p:nvSpPr>
          <p:spPr>
            <a:xfrm>
              <a:off x="211769" y="1181793"/>
              <a:ext cx="2057400" cy="482600"/>
            </a:xfrm>
            <a:prstGeom prst="roundRect">
              <a:avLst>
                <a:gd name="adj" fmla="val 6000"/>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5" name="文本框 104"/>
            <p:cNvSpPr txBox="1"/>
            <p:nvPr/>
          </p:nvSpPr>
          <p:spPr>
            <a:xfrm>
              <a:off x="237169" y="1308793"/>
              <a:ext cx="2006600" cy="330200"/>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传统方法验证</a:t>
              </a:r>
              <a:endPar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8" name="组合 7"/>
          <p:cNvGrpSpPr/>
          <p:nvPr/>
        </p:nvGrpSpPr>
        <p:grpSpPr>
          <a:xfrm>
            <a:off x="227645" y="1824036"/>
            <a:ext cx="2057400" cy="4572000"/>
            <a:chOff x="211769" y="1715194"/>
            <a:chExt cx="2057400" cy="4572000"/>
          </a:xfrm>
        </p:grpSpPr>
        <p:sp>
          <p:nvSpPr>
            <p:cNvPr id="106" name="圆角矩形 105"/>
            <p:cNvSpPr/>
            <p:nvPr/>
          </p:nvSpPr>
          <p:spPr>
            <a:xfrm>
              <a:off x="211769" y="1715194"/>
              <a:ext cx="2057400" cy="4572000"/>
            </a:xfrm>
            <a:prstGeom prst="roundRect">
              <a:avLst>
                <a:gd name="adj" fmla="val 6000"/>
              </a:avLst>
            </a:prstGeom>
            <a:solidFill>
              <a:srgbClr val="FDF1F0"/>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0" name="圆角矩形 219"/>
            <p:cNvSpPr/>
            <p:nvPr/>
          </p:nvSpPr>
          <p:spPr>
            <a:xfrm>
              <a:off x="338769" y="2019993"/>
              <a:ext cx="1803400" cy="1371600"/>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1" name="文本框 220"/>
            <p:cNvSpPr txBox="1"/>
            <p:nvPr/>
          </p:nvSpPr>
          <p:spPr>
            <a:xfrm>
              <a:off x="440369" y="2121593"/>
              <a:ext cx="1600200" cy="369332"/>
            </a:xfrm>
            <a:prstGeom prst="rect">
              <a:avLst/>
            </a:prstGeom>
            <a:noFill/>
          </p:spPr>
          <p:txBody>
            <a:bodyPr vert="horz" wrap="square" lIns="0" tIns="0" rIns="0" bIns="0" rtlCol="0">
              <a:noAutofit/>
            </a:bodyPr>
            <a:lstStyle/>
            <a:p>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冻结式鲁棒后端微调</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2" name="文本框 221"/>
            <p:cNvSpPr txBox="1"/>
            <p:nvPr/>
          </p:nvSpPr>
          <p:spPr>
            <a:xfrm>
              <a:off x="440369" y="2350193"/>
              <a:ext cx="1651000" cy="762000"/>
            </a:xfrm>
            <a:prstGeom prst="rect">
              <a:avLst/>
            </a:prstGeom>
            <a:noFill/>
          </p:spPr>
          <p:txBody>
            <a:bodyPr vert="horz" wrap="square" lIns="0" tIns="0" rIns="0" bIns="0" rtlCol="0">
              <a:noAutofit/>
            </a:bodyPr>
            <a:lstStyle/>
            <a:p>
              <a:pPr marL="171450" indent="-171450">
                <a:lnSpc>
                  <a:spcPct val="150000"/>
                </a:lnSpc>
                <a:spcAft>
                  <a:spcPts val="300"/>
                </a:spcAft>
                <a:buFont typeface="Arial" panose="020B0604020202020204" pitchFamily="34" charset="0"/>
                <a:buChar char="•"/>
              </a:pP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clean </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0 dB / -5 dB </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混合</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分层</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冻结策略</a:t>
              </a:r>
              <a:endPar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lnSpc>
                  <a:spcPct val="150000"/>
                </a:lnSpc>
                <a:spcAft>
                  <a:spcPts val="300"/>
                </a:spcAft>
                <a:buFont typeface="Arial" panose="020B0604020202020204" pitchFamily="34" charset="0"/>
                <a:buChar char="•"/>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有一定鲁棒性提升</a:t>
              </a:r>
            </a:p>
          </p:txBody>
        </p:sp>
        <p:sp>
          <p:nvSpPr>
            <p:cNvPr id="223" name="文本框 222"/>
            <p:cNvSpPr txBox="1"/>
            <p:nvPr/>
          </p:nvSpPr>
          <p:spPr>
            <a:xfrm>
              <a:off x="338769" y="3156735"/>
              <a:ext cx="1803400" cy="205736"/>
            </a:xfrm>
            <a:prstGeom prst="rect">
              <a:avLst/>
            </a:prstGeom>
            <a:noFill/>
          </p:spPr>
          <p:txBody>
            <a:bodyPr vert="horz" wrap="square" lIns="0" tIns="0" rIns="0" bIns="0" rtlCol="0">
              <a:noAutofit/>
            </a:bodyPr>
            <a:lstStyle/>
            <a:p>
              <a:pPr algn="ct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8.39% → 7.69%</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7" name="圆角矩形 226"/>
            <p:cNvSpPr/>
            <p:nvPr/>
          </p:nvSpPr>
          <p:spPr>
            <a:xfrm>
              <a:off x="351136" y="5538356"/>
              <a:ext cx="1803400" cy="415636"/>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结论：两条路线均</a:t>
              </a:r>
              <a:endPar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未达到交付要求</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p:cNvGrpSpPr/>
            <p:nvPr/>
          </p:nvGrpSpPr>
          <p:grpSpPr>
            <a:xfrm>
              <a:off x="338769" y="3654779"/>
              <a:ext cx="1803400" cy="1594189"/>
              <a:chOff x="333688" y="3536489"/>
              <a:chExt cx="1803400" cy="1594189"/>
            </a:xfrm>
          </p:grpSpPr>
          <p:sp>
            <p:nvSpPr>
              <p:cNvPr id="224" name="圆角矩形 223"/>
              <p:cNvSpPr/>
              <p:nvPr/>
            </p:nvSpPr>
            <p:spPr>
              <a:xfrm>
                <a:off x="333688" y="3536489"/>
                <a:ext cx="1803400" cy="1572895"/>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5" name="文本框 224"/>
              <p:cNvSpPr txBox="1"/>
              <p:nvPr/>
            </p:nvSpPr>
            <p:spPr>
              <a:xfrm>
                <a:off x="435288" y="3633790"/>
                <a:ext cx="1600200" cy="223246"/>
              </a:xfrm>
              <a:prstGeom prst="rect">
                <a:avLst/>
              </a:prstGeom>
              <a:noFill/>
            </p:spPr>
            <p:txBody>
              <a:bodyPr vert="horz" wrap="square" lIns="0" tIns="0" rIns="0" bIns="0" rtlCol="0">
                <a:noAutofit/>
              </a:bodyPr>
              <a:lstStyle/>
              <a:p>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通用语音增强</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6" name="文本框 225"/>
              <p:cNvSpPr txBox="1"/>
              <p:nvPr/>
            </p:nvSpPr>
            <p:spPr>
              <a:xfrm>
                <a:off x="437825" y="3839384"/>
                <a:ext cx="1651000" cy="1270000"/>
              </a:xfrm>
              <a:prstGeom prst="rect">
                <a:avLst/>
              </a:prstGeom>
              <a:noFill/>
            </p:spPr>
            <p:txBody>
              <a:bodyPr vert="horz" wrap="square" lIns="0" tIns="0" rIns="0" bIns="0" rtlCol="0">
                <a:noAutofit/>
              </a:bodyPr>
              <a:lstStyle/>
              <a:p>
                <a:pPr marL="171450" indent="-171450">
                  <a:lnSpc>
                    <a:spcPct val="150000"/>
                  </a:lnSpc>
                  <a:spcAft>
                    <a:spcPts val="300"/>
                  </a:spcAft>
                  <a:buFont typeface="Arial" panose="020B0604020202020204" pitchFamily="34" charset="0"/>
                  <a:buChar char="•"/>
                </a:pPr>
                <a:r>
                  <a:rPr lang="en-US" altLang="zh-CN" sz="95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以信号重建为目标</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输出</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增强语音送入验证器</a:t>
                </a:r>
                <a:endPar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lnSpc>
                    <a:spcPct val="150000"/>
                  </a:lnSpc>
                  <a:spcAft>
                    <a:spcPts val="300"/>
                  </a:spcAft>
                  <a:buFont typeface="Arial" panose="020B0604020202020204" pitchFamily="34" charset="0"/>
                  <a:buChar char="•"/>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跨句稳定身份特征被削弱</a:t>
                </a:r>
              </a:p>
            </p:txBody>
          </p:sp>
          <p:sp>
            <p:nvSpPr>
              <p:cNvPr id="298" name="文本框 297"/>
              <p:cNvSpPr txBox="1"/>
              <p:nvPr/>
            </p:nvSpPr>
            <p:spPr>
              <a:xfrm>
                <a:off x="333688" y="4907038"/>
                <a:ext cx="1803400" cy="223640"/>
              </a:xfrm>
              <a:prstGeom prst="rect">
                <a:avLst/>
              </a:prstGeom>
              <a:noFill/>
            </p:spPr>
            <p:txBody>
              <a:bodyPr vert="horz" wrap="square" lIns="0" tIns="0" rIns="0" bIns="0" rtlCol="0">
                <a:noAutofit/>
              </a:bodyPr>
              <a:lstStyle/>
              <a:p>
                <a:pPr algn="ct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 </a:t>
                </a:r>
                <a:r>
                  <a:rPr lang="en-US" altLang="zh-CN"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dB</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EER</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8.39% → 10.11%</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
        <p:nvSpPr>
          <p:cNvPr id="299" name="圆角矩形 298"/>
          <p:cNvSpPr/>
          <p:nvPr/>
        </p:nvSpPr>
        <p:spPr>
          <a:xfrm>
            <a:off x="2802370" y="2126679"/>
            <a:ext cx="1803400" cy="843620"/>
          </a:xfrm>
          <a:prstGeom prst="roundRect">
            <a:avLst>
              <a:gd name="adj" fmla="val 6000"/>
            </a:avLst>
          </a:prstGeom>
          <a:solidFill>
            <a:schemeClr val="bg1"/>
          </a:solidFill>
          <a:ln w="19050" cap="flat" cmpd="sng" algn="ctr">
            <a:solidFill>
              <a:schemeClr val="accent4">
                <a:lumMod val="50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语音增强优化的是信号质量，而声纹验证关注的是身份判别</a:t>
            </a:r>
            <a:r>
              <a:rPr lang="zh-CN" altLang="en-US"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特征。</a:t>
            </a:r>
            <a:endParaRPr lang="en-US" altLang="zh-CN"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5019039" y="1824036"/>
            <a:ext cx="2057400" cy="4565511"/>
            <a:chOff x="5163819" y="1824036"/>
            <a:chExt cx="2057400" cy="4528443"/>
          </a:xfrm>
        </p:grpSpPr>
        <p:sp>
          <p:nvSpPr>
            <p:cNvPr id="209" name="圆角矩形 208"/>
            <p:cNvSpPr/>
            <p:nvPr/>
          </p:nvSpPr>
          <p:spPr>
            <a:xfrm>
              <a:off x="5163819" y="1824036"/>
              <a:ext cx="2057400" cy="4528443"/>
            </a:xfrm>
            <a:prstGeom prst="roundRect">
              <a:avLst>
                <a:gd name="adj" fmla="val 6000"/>
              </a:avLst>
            </a:prstGeom>
            <a:solidFill>
              <a:srgbClr val="EAF1F9"/>
            </a:solidFill>
            <a:ln w="15875">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0" name="圆角矩形 239"/>
            <p:cNvSpPr/>
            <p:nvPr/>
          </p:nvSpPr>
          <p:spPr>
            <a:xfrm>
              <a:off x="5303604" y="2124221"/>
              <a:ext cx="1803400" cy="669627"/>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注册条件化</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目标说话人提取（</a:t>
              </a:r>
              <a:r>
                <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TSE</a:t>
              </a: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43" name="圆角矩形 242"/>
            <p:cNvSpPr/>
            <p:nvPr/>
          </p:nvSpPr>
          <p:spPr>
            <a:xfrm>
              <a:off x="5271680" y="3199313"/>
              <a:ext cx="793579" cy="502627"/>
            </a:xfrm>
            <a:prstGeom prst="roundRect">
              <a:avLst>
                <a:gd name="adj" fmla="val 6000"/>
              </a:avLst>
            </a:prstGeom>
            <a:solidFill>
              <a:schemeClr val="bg1"/>
            </a:solidFill>
            <a:ln w="1905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a:t>
              </a:r>
              <a:r>
                <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注册语音</a:t>
              </a:r>
              <a:endPar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9" name="下箭头 248"/>
            <p:cNvSpPr/>
            <p:nvPr/>
          </p:nvSpPr>
          <p:spPr>
            <a:xfrm>
              <a:off x="5586809" y="3830070"/>
              <a:ext cx="152400" cy="366515"/>
            </a:xfrm>
            <a:prstGeom prst="down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1" name="圆角矩形 250"/>
            <p:cNvSpPr/>
            <p:nvPr/>
          </p:nvSpPr>
          <p:spPr>
            <a:xfrm>
              <a:off x="5271680" y="4328451"/>
              <a:ext cx="1803401" cy="575474"/>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输出</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目标说话人语音</a:t>
              </a:r>
            </a:p>
          </p:txBody>
        </p:sp>
        <p:sp>
          <p:nvSpPr>
            <p:cNvPr id="302" name="圆角矩形 301"/>
            <p:cNvSpPr/>
            <p:nvPr/>
          </p:nvSpPr>
          <p:spPr>
            <a:xfrm>
              <a:off x="6246408" y="3199313"/>
              <a:ext cx="828673" cy="502627"/>
            </a:xfrm>
            <a:prstGeom prst="roundRect">
              <a:avLst>
                <a:gd name="adj" fmla="val 6000"/>
              </a:avLst>
            </a:prstGeom>
            <a:solidFill>
              <a:schemeClr val="bg1"/>
            </a:solidFill>
            <a:ln w="1905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 </a:t>
              </a:r>
              <a:r>
                <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带噪语音</a:t>
              </a:r>
              <a:endPar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3" name="下箭头 302"/>
            <p:cNvSpPr/>
            <p:nvPr/>
          </p:nvSpPr>
          <p:spPr>
            <a:xfrm>
              <a:off x="6582957" y="3831991"/>
              <a:ext cx="152400" cy="366515"/>
            </a:xfrm>
            <a:prstGeom prst="down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4" name="圆角矩形 303"/>
            <p:cNvSpPr/>
            <p:nvPr/>
          </p:nvSpPr>
          <p:spPr>
            <a:xfrm>
              <a:off x="5271680" y="5358819"/>
              <a:ext cx="1803401" cy="6696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注册语音</a:t>
              </a: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提供</a:t>
              </a:r>
              <a:endPar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提取谁」</a:t>
              </a: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的身份条件</a:t>
              </a:r>
              <a:endPar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5" name="右箭头 304"/>
          <p:cNvSpPr/>
          <p:nvPr/>
        </p:nvSpPr>
        <p:spPr>
          <a:xfrm>
            <a:off x="4733290" y="3982659"/>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6" name="右箭头 305"/>
          <p:cNvSpPr/>
          <p:nvPr/>
        </p:nvSpPr>
        <p:spPr>
          <a:xfrm>
            <a:off x="7110095" y="3985953"/>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7" name="右箭头 306"/>
          <p:cNvSpPr/>
          <p:nvPr/>
        </p:nvSpPr>
        <p:spPr>
          <a:xfrm>
            <a:off x="9514090" y="3982659"/>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aphicFrame>
        <p:nvGraphicFramePr>
          <p:cNvPr id="15" name="表格 14"/>
          <p:cNvGraphicFramePr>
            <a:graphicFrameLocks noGrp="1"/>
          </p:cNvGraphicFramePr>
          <p:nvPr>
            <p:extLst>
              <p:ext uri="{D42A27DB-BD31-4B8C-83A1-F6EECF244321}">
                <p14:modId xmlns:p14="http://schemas.microsoft.com/office/powerpoint/2010/main" val="3911795914"/>
              </p:ext>
            </p:extLst>
          </p:nvPr>
        </p:nvGraphicFramePr>
        <p:xfrm>
          <a:off x="10038039" y="2840035"/>
          <a:ext cx="1651000" cy="1635760"/>
        </p:xfrm>
        <a:graphic>
          <a:graphicData uri="http://schemas.openxmlformats.org/drawingml/2006/table">
            <a:tbl>
              <a:tblPr firstRow="1" bandRow="1">
                <a:tableStyleId>{21E4AEA4-8DFA-4A89-87EB-49C32662AFE0}</a:tableStyleId>
              </a:tblPr>
              <a:tblGrid>
                <a:gridCol w="553245">
                  <a:extLst>
                    <a:ext uri="{9D8B030D-6E8A-4147-A177-3AD203B41FA5}">
                      <a16:colId xmlns:a16="http://schemas.microsoft.com/office/drawing/2014/main" val="1402492811"/>
                    </a:ext>
                  </a:extLst>
                </a:gridCol>
                <a:gridCol w="1097755">
                  <a:extLst>
                    <a:ext uri="{9D8B030D-6E8A-4147-A177-3AD203B41FA5}">
                      <a16:colId xmlns:a16="http://schemas.microsoft.com/office/drawing/2014/main" val="2012017389"/>
                    </a:ext>
                  </a:extLst>
                </a:gridCol>
              </a:tblGrid>
              <a:tr h="408940">
                <a:tc>
                  <a:txBody>
                    <a:bodyPr/>
                    <a:lstStyle/>
                    <a:p>
                      <a:pPr algn="ctr"/>
                      <a:r>
                        <a:rPr lang="zh-CN" altLang="en-US"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信噪比</a:t>
                      </a:r>
                      <a:endParaRPr lang="zh-CN" altLang="en-US" sz="950" b="1"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变化</a:t>
                      </a:r>
                      <a:endParaRPr lang="zh-CN" altLang="en-US" sz="950" b="1"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1306920422"/>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clean</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5.29% → 4.17%</a:t>
                      </a:r>
                      <a:b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(-21.2%)</a:t>
                      </a:r>
                      <a:endParaRPr lang="zh-CN" altLang="en-US"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564479552"/>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 → 4.89%</a:t>
                      </a:r>
                      <a:endPar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(-41.7%)</a:t>
                      </a:r>
                      <a:endParaRPr lang="zh-CN" altLang="en-US"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797852448"/>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 dB</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 → 5.56%</a:t>
                      </a:r>
                      <a:endPar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638320872"/>
                  </a:ext>
                </a:extLst>
              </a:tr>
            </a:tbl>
          </a:graphicData>
        </a:graphic>
      </p:graphicFrame>
      <p:grpSp>
        <p:nvGrpSpPr>
          <p:cNvPr id="16" name="组合 15"/>
          <p:cNvGrpSpPr/>
          <p:nvPr/>
        </p:nvGrpSpPr>
        <p:grpSpPr>
          <a:xfrm>
            <a:off x="7528906" y="2127947"/>
            <a:ext cx="1854200" cy="786959"/>
            <a:chOff x="7518400" y="2161288"/>
            <a:chExt cx="1854200" cy="786959"/>
          </a:xfrm>
        </p:grpSpPr>
        <p:sp>
          <p:nvSpPr>
            <p:cNvPr id="258" name="圆角矩形 257"/>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条件化前端</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接入</a:t>
              </a:r>
              <a:endPar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9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调制</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重建</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分类损失</a:t>
              </a:r>
              <a:endPar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8" name="文本框 307"/>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8.39% → 7.38%</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09" name="组合 308"/>
          <p:cNvGrpSpPr/>
          <p:nvPr/>
        </p:nvGrpSpPr>
        <p:grpSpPr>
          <a:xfrm>
            <a:off x="7516206" y="3209911"/>
            <a:ext cx="1854200" cy="786959"/>
            <a:chOff x="7518400" y="2161288"/>
            <a:chExt cx="1854200" cy="786959"/>
          </a:xfrm>
        </p:grpSpPr>
        <p:sp>
          <p:nvSpPr>
            <p:cNvPr id="310" name="圆角矩形 309"/>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说话</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人保持</a:t>
              </a:r>
              <a:endPar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150"/>
                </a:spcAft>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保持</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增强前后身份嵌入一致</a:t>
              </a:r>
            </a:p>
          </p:txBody>
        </p:sp>
        <p:sp>
          <p:nvSpPr>
            <p:cNvPr id="311" name="文本框 310"/>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7.38% → 7.29%</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12" name="组合 311"/>
          <p:cNvGrpSpPr/>
          <p:nvPr/>
        </p:nvGrpSpPr>
        <p:grpSpPr>
          <a:xfrm>
            <a:off x="7503506" y="4244654"/>
            <a:ext cx="1859181" cy="786959"/>
            <a:chOff x="7500719" y="2160640"/>
            <a:chExt cx="1859181" cy="786959"/>
          </a:xfrm>
        </p:grpSpPr>
        <p:sp>
          <p:nvSpPr>
            <p:cNvPr id="313" name="圆角矩形 312"/>
            <p:cNvSpPr/>
            <p:nvPr/>
          </p:nvSpPr>
          <p:spPr>
            <a:xfrm>
              <a:off x="7500719" y="2160640"/>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难负原型抑制</a:t>
              </a:r>
              <a:endPar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推离最难混淆原型</a:t>
              </a:r>
            </a:p>
          </p:txBody>
        </p:sp>
        <p:sp>
          <p:nvSpPr>
            <p:cNvPr id="314" name="文本框 313"/>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7.29% → 6.52%</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15" name="组合 314"/>
          <p:cNvGrpSpPr/>
          <p:nvPr/>
        </p:nvGrpSpPr>
        <p:grpSpPr>
          <a:xfrm>
            <a:off x="7518400" y="5280045"/>
            <a:ext cx="1854200" cy="786959"/>
            <a:chOff x="7518400" y="2161288"/>
            <a:chExt cx="1854200" cy="786959"/>
          </a:xfrm>
        </p:grpSpPr>
        <p:sp>
          <p:nvSpPr>
            <p:cNvPr id="316" name="圆角矩形 315"/>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随机时长增强</a:t>
              </a:r>
              <a:endPar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150"/>
                </a:spcAft>
              </a:pP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1s </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2s / 3s </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随机裁切</a:t>
              </a:r>
            </a:p>
            <a:p>
              <a:pPr>
                <a:lnSpc>
                  <a:spcPct val="150000"/>
                </a:lnSpc>
                <a:spcAft>
                  <a:spcPts val="150"/>
                </a:spcAft>
              </a:pPr>
              <a:endPar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7" name="文本框 316"/>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6.52% → 4.89%</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18" name="下箭头 317"/>
          <p:cNvSpPr/>
          <p:nvPr/>
        </p:nvSpPr>
        <p:spPr>
          <a:xfrm>
            <a:off x="8350796" y="4019459"/>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9" name="下箭头 318"/>
          <p:cNvSpPr/>
          <p:nvPr/>
        </p:nvSpPr>
        <p:spPr>
          <a:xfrm>
            <a:off x="8351115" y="5049724"/>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0" name="圆角矩形 319"/>
          <p:cNvSpPr/>
          <p:nvPr/>
        </p:nvSpPr>
        <p:spPr>
          <a:xfrm>
            <a:off x="2794908" y="3273161"/>
            <a:ext cx="1792244" cy="1219382"/>
          </a:xfrm>
          <a:prstGeom prst="roundRect">
            <a:avLst>
              <a:gd name="adj" fmla="val 6000"/>
            </a:avLst>
          </a:prstGeom>
          <a:solidFill>
            <a:schemeClr val="bg1"/>
          </a:solidFill>
          <a:ln w="19050" cap="flat" cmpd="sng" algn="ctr">
            <a:solidFill>
              <a:schemeClr val="accent4">
                <a:lumMod val="50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Wingdings" panose="05000000000000000000" pitchFamily="2" charset="2"/>
              <a:buChar char="Ø"/>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降</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噪器会保留所有</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语音，因此</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会保留干扰说话人</a:t>
            </a:r>
          </a:p>
          <a:p>
            <a:pPr marL="171450" indent="-171450">
              <a:lnSpc>
                <a:spcPct val="150000"/>
              </a:lnSpc>
              <a:buFont typeface="Wingdings" panose="05000000000000000000" pitchFamily="2" charset="2"/>
              <a:buChar char="Ø"/>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降</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噪抹平了跨句稳定的说话人身份特征</a:t>
            </a:r>
          </a:p>
        </p:txBody>
      </p:sp>
      <p:sp>
        <p:nvSpPr>
          <p:cNvPr id="323" name="椭圆 322"/>
          <p:cNvSpPr/>
          <p:nvPr/>
        </p:nvSpPr>
        <p:spPr>
          <a:xfrm>
            <a:off x="3938323" y="5547804"/>
            <a:ext cx="149371" cy="149371"/>
          </a:xfrm>
          <a:prstGeom prst="ellipse">
            <a:avLst/>
          </a:prstGeom>
          <a:solidFill>
            <a:schemeClr val="accent4">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4" name="圆角矩形 323"/>
          <p:cNvSpPr/>
          <p:nvPr/>
        </p:nvSpPr>
        <p:spPr>
          <a:xfrm>
            <a:off x="3838855" y="5757526"/>
            <a:ext cx="348308" cy="191421"/>
          </a:xfrm>
          <a:prstGeom prst="roundRect">
            <a:avLst>
              <a:gd name="adj" fmla="val 50000"/>
            </a:avLst>
          </a:prstGeom>
          <a:solidFill>
            <a:schemeClr val="accent4">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7BF2EA3F-D088-4729-88F9-9D4FADF26323}" type="slidenum">
              <a:rPr lang="zh-CN" altLang="en-US" smtClean="0"/>
              <a:t>8</a:t>
            </a:fld>
            <a:endParaRPr lang="zh-CN" altLang="en-US"/>
          </a:p>
        </p:txBody>
      </p:sp>
    </p:spTree>
    <p:extLst>
      <p:ext uri="{BB962C8B-B14F-4D97-AF65-F5344CB8AC3E}">
        <p14:creationId xmlns:p14="http://schemas.microsoft.com/office/powerpoint/2010/main" val="14923774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536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微软雅黑" panose="020B0503020204020204" pitchFamily="34" charset="-122"/>
                <a:ea typeface="微软雅黑" panose="020B0503020204020204" pitchFamily="34" charset="-122"/>
              </a:rPr>
              <a:t>实验条件与训练参数</a:t>
            </a:r>
            <a:endParaRPr lang="zh-CN" altLang="en-US" sz="2400" b="1">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392137652"/>
              </p:ext>
            </p:extLst>
          </p:nvPr>
        </p:nvGraphicFramePr>
        <p:xfrm>
          <a:off x="508000" y="11684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1103085786"/>
                    </a:ext>
                  </a:extLst>
                </a:gridCol>
                <a:gridCol w="5651500">
                  <a:extLst>
                    <a:ext uri="{9D8B030D-6E8A-4147-A177-3AD203B41FA5}">
                      <a16:colId xmlns:a16="http://schemas.microsoft.com/office/drawing/2014/main" val="2627228004"/>
                    </a:ext>
                  </a:extLst>
                </a:gridCol>
              </a:tblGrid>
              <a:tr h="571500">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实验条件</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配置</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1990711421"/>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算力</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 × NVIDIA Tesla P100 12GB</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；训练与全量评测共享使用，单卡单任务</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983555078"/>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3D-Speaker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中文数据：</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190 GB / 579,003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条；每轮抽样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30,000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条；训练</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测试按说话人严格隔离</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531849082"/>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MUSAN free-sound</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；训练池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615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条、测试池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168+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条，严格隔离，每次训练时动态混噪，</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SNR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−5}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随机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3710413484"/>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声学前端</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采样率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16 kHz</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STFT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：窗长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、帧移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256</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257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维频谱；交付版随机采样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 2, 3} s</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1102117485"/>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模型</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：全带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LSTM 512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、子带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384</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0.52M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参数；前端总参数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9.20M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414940588"/>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优化</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lr</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1×10⁻⁵</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batch size = 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workers = 6</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；每级续训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轮；</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seed = 2026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650401730"/>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纪律</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100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个未见说话人代理验证集选点；阈值仅在验证集确定，官方测试集冻结；每个决策仅跑一次官方评测；增益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&lt; 0.08 pp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自动停止</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656836245"/>
                  </a:ext>
                </a:extLst>
              </a:tr>
            </a:tbl>
          </a:graphicData>
        </a:graphic>
      </p:graphicFrame>
      <p:sp>
        <p:nvSpPr>
          <p:cNvPr id="7" name="灯片编号占位符 6"/>
          <p:cNvSpPr>
            <a:spLocks noGrp="1"/>
          </p:cNvSpPr>
          <p:nvPr>
            <p:ph type="sldNum" sz="quarter" idx="12"/>
          </p:nvPr>
        </p:nvSpPr>
        <p:spPr/>
        <p:txBody>
          <a:bodyPr/>
          <a:lstStyle/>
          <a:p>
            <a:fld id="{7BF2EA3F-D088-4729-88F9-9D4FADF26323}" type="slidenum">
              <a:rPr lang="zh-CN" altLang="en-US" smtClean="0"/>
              <a:t>10</a:t>
            </a:fld>
            <a:endParaRPr lang="zh-CN" altLang="en-US"/>
          </a:p>
        </p:txBody>
      </p:sp>
      <p:sp>
        <p:nvSpPr>
          <p:cNvPr id="9" name="矩形 8"/>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51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微软雅黑" panose="020B0503020204020204" pitchFamily="34" charset="-122"/>
                <a:ea typeface="微软雅黑" panose="020B0503020204020204" pitchFamily="34" charset="-122"/>
              </a:rPr>
              <a:t>评测协议与基线</a:t>
            </a:r>
            <a:endParaRPr lang="zh-CN" altLang="en-US" sz="2400" b="1">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31800" y="1053603"/>
            <a:ext cx="10565161" cy="1508105"/>
          </a:xfrm>
          <a:prstGeom prst="rect">
            <a:avLst/>
          </a:prstGeom>
          <a:noFill/>
        </p:spPr>
        <p:txBody>
          <a:bodyPr vert="horz" wrap="square" rtlCol="0">
            <a:spAutoFit/>
          </a:bodyPr>
          <a:lstStyle/>
          <a:p>
            <a:pPr>
              <a:lnSpc>
                <a:spcPct val="150000"/>
              </a:lnSpc>
              <a:spcAft>
                <a:spcPts val="600"/>
              </a:spcAft>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统一评测</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协议：</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240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个官方测试说话</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人；</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8,687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条注册</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语音；官方 </a:t>
            </a:r>
            <a:r>
              <a:rPr lang="en-US" altLang="zh-CN" sz="14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trials_cross_device</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共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1,378,206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trial</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目标：非</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5.5</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seed=2026</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，可复现。</a:t>
            </a:r>
          </a:p>
          <a:p>
            <a:pPr>
              <a:lnSpc>
                <a:spcPct val="150000"/>
              </a:lnSpc>
              <a:spcAft>
                <a:spcPts val="600"/>
              </a:spcAft>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官方协议</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校准：</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实测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9.31%</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（论文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8.87%</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实测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6.87%</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（论文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6.34%</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），偏差均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&lt; 0.6 pp</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，验证评测管线可靠。</a:t>
            </a:r>
          </a:p>
        </p:txBody>
      </p:sp>
      <p:sp>
        <p:nvSpPr>
          <p:cNvPr id="7" name="文本框 6"/>
          <p:cNvSpPr txBox="1"/>
          <p:nvPr/>
        </p:nvSpPr>
        <p:spPr>
          <a:xfrm>
            <a:off x="381000" y="2625955"/>
            <a:ext cx="11303000" cy="338554"/>
          </a:xfrm>
          <a:prstGeom prst="rect">
            <a:avLst/>
          </a:prstGeom>
          <a:noFill/>
        </p:spPr>
        <p:txBody>
          <a:bodyPr vert="horz" rtlCol="0">
            <a:spAutoFit/>
          </a:bodyPr>
          <a:lstStyle/>
          <a:p>
            <a:r>
              <a:rPr lang="zh-CN" altLang="en-US" sz="1600" b="1" smtClean="0">
                <a:solidFill>
                  <a:srgbClr val="1F3864"/>
                </a:solidFill>
                <a:latin typeface="微软雅黑" panose="020B0503020204020204" pitchFamily="34" charset="-122"/>
                <a:ea typeface="微软雅黑" panose="020B0503020204020204" pitchFamily="34" charset="-122"/>
              </a:rPr>
              <a:t>未增强基线锚点 </a:t>
            </a:r>
            <a:r>
              <a:rPr lang="en-US" altLang="zh-CN" sz="1600" b="1" smtClean="0">
                <a:solidFill>
                  <a:srgbClr val="1F3864"/>
                </a:solidFill>
                <a:latin typeface="微软雅黑" panose="020B0503020204020204" pitchFamily="34" charset="-122"/>
                <a:ea typeface="微软雅黑" panose="020B0503020204020204" pitchFamily="34" charset="-122"/>
              </a:rPr>
              <a:t>EER(%)(</a:t>
            </a:r>
            <a:r>
              <a:rPr lang="zh-CN" altLang="en-US" sz="1600" b="1" smtClean="0">
                <a:solidFill>
                  <a:srgbClr val="1F3864"/>
                </a:solidFill>
                <a:latin typeface="微软雅黑" panose="020B0503020204020204" pitchFamily="34" charset="-122"/>
                <a:ea typeface="微软雅黑" panose="020B0503020204020204" pitchFamily="34" charset="-122"/>
              </a:rPr>
              <a:t>主线一切对比的起点</a:t>
            </a:r>
            <a:r>
              <a:rPr lang="en-US" altLang="zh-CN" sz="1600" b="1" smtClean="0">
                <a:solidFill>
                  <a:srgbClr val="1F3864"/>
                </a:solidFill>
                <a:latin typeface="微软雅黑" panose="020B0503020204020204" pitchFamily="34" charset="-122"/>
                <a:ea typeface="微软雅黑" panose="020B0503020204020204" pitchFamily="34" charset="-122"/>
              </a:rPr>
              <a:t>)</a:t>
            </a:r>
            <a:endParaRPr lang="zh-CN" altLang="en-US" sz="1600" b="1">
              <a:solidFill>
                <a:srgbClr val="1F3864"/>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795816300"/>
              </p:ext>
            </p:extLst>
          </p:nvPr>
        </p:nvGraphicFramePr>
        <p:xfrm>
          <a:off x="482600" y="3030654"/>
          <a:ext cx="11303000" cy="2012950"/>
        </p:xfrm>
        <a:graphic>
          <a:graphicData uri="http://schemas.openxmlformats.org/drawingml/2006/table">
            <a:tbl>
              <a:tblPr firstRow="1" bandRow="1">
                <a:tableStyleId>{5C22544A-7EE6-4342-B048-85BDC9FD1C3A}</a:tableStyleId>
              </a:tblPr>
              <a:tblGrid>
                <a:gridCol w="1412875">
                  <a:extLst>
                    <a:ext uri="{9D8B030D-6E8A-4147-A177-3AD203B41FA5}">
                      <a16:colId xmlns:a16="http://schemas.microsoft.com/office/drawing/2014/main" val="3303335917"/>
                    </a:ext>
                  </a:extLst>
                </a:gridCol>
                <a:gridCol w="1412875">
                  <a:extLst>
                    <a:ext uri="{9D8B030D-6E8A-4147-A177-3AD203B41FA5}">
                      <a16:colId xmlns:a16="http://schemas.microsoft.com/office/drawing/2014/main" val="3510024397"/>
                    </a:ext>
                  </a:extLst>
                </a:gridCol>
                <a:gridCol w="1412875">
                  <a:extLst>
                    <a:ext uri="{9D8B030D-6E8A-4147-A177-3AD203B41FA5}">
                      <a16:colId xmlns:a16="http://schemas.microsoft.com/office/drawing/2014/main" val="1078286356"/>
                    </a:ext>
                  </a:extLst>
                </a:gridCol>
                <a:gridCol w="1412875">
                  <a:extLst>
                    <a:ext uri="{9D8B030D-6E8A-4147-A177-3AD203B41FA5}">
                      <a16:colId xmlns:a16="http://schemas.microsoft.com/office/drawing/2014/main" val="1818152361"/>
                    </a:ext>
                  </a:extLst>
                </a:gridCol>
                <a:gridCol w="1412875">
                  <a:extLst>
                    <a:ext uri="{9D8B030D-6E8A-4147-A177-3AD203B41FA5}">
                      <a16:colId xmlns:a16="http://schemas.microsoft.com/office/drawing/2014/main" val="2473028247"/>
                    </a:ext>
                  </a:extLst>
                </a:gridCol>
                <a:gridCol w="1412875">
                  <a:extLst>
                    <a:ext uri="{9D8B030D-6E8A-4147-A177-3AD203B41FA5}">
                      <a16:colId xmlns:a16="http://schemas.microsoft.com/office/drawing/2014/main" val="711313070"/>
                    </a:ext>
                  </a:extLst>
                </a:gridCol>
                <a:gridCol w="1412875">
                  <a:extLst>
                    <a:ext uri="{9D8B030D-6E8A-4147-A177-3AD203B41FA5}">
                      <a16:colId xmlns:a16="http://schemas.microsoft.com/office/drawing/2014/main" val="2621846952"/>
                    </a:ext>
                  </a:extLst>
                </a:gridCol>
                <a:gridCol w="1412875">
                  <a:extLst>
                    <a:ext uri="{9D8B030D-6E8A-4147-A177-3AD203B41FA5}">
                      <a16:colId xmlns:a16="http://schemas.microsoft.com/office/drawing/2014/main" val="2075891995"/>
                    </a:ext>
                  </a:extLst>
                </a:gridCol>
              </a:tblGrid>
              <a:tr h="412750">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后端（参数量）</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Clean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1s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1s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5s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5s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4205504199"/>
                  </a:ext>
                </a:extLst>
              </a:tr>
              <a:tr h="412750">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ERes2Net-large(29.1M)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5.29</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18.56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21.44</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7.86</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10.08</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3746392399"/>
                  </a:ext>
                </a:extLst>
              </a:tr>
              <a:tr h="412750">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ECAPA-TDNN(20.8M)</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6.92</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11.15</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14.36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24.51</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27.47</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10.36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13.37</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2036033139"/>
                  </a:ext>
                </a:extLst>
              </a:tr>
              <a:tr h="412750">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ReDimNet2-B6(12.7M)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6.13</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9.94</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13.03</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21.73</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25.55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9.50</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12.35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802494625"/>
                  </a:ext>
                </a:extLst>
              </a:tr>
            </a:tbl>
          </a:graphicData>
        </a:graphic>
      </p:graphicFrame>
      <p:sp>
        <p:nvSpPr>
          <p:cNvPr id="9" name="文本框 8"/>
          <p:cNvSpPr txBox="1"/>
          <p:nvPr/>
        </p:nvSpPr>
        <p:spPr>
          <a:xfrm>
            <a:off x="508000" y="5408729"/>
            <a:ext cx="11303000" cy="796372"/>
          </a:xfrm>
          <a:prstGeom prst="rect">
            <a:avLst/>
          </a:prstGeom>
          <a:noFill/>
        </p:spPr>
        <p:txBody>
          <a:bodyPr vert="horz" rtlCol="0">
            <a:spAutoFit/>
          </a:bodyPr>
          <a:lstStyle/>
          <a:p>
            <a:pPr>
              <a:lnSpc>
                <a:spcPct val="150000"/>
              </a:lnSpc>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验收档（</a:t>
            </a:r>
            <a:r>
              <a:rPr lang="en-US" altLang="zh-CN"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3s</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主力后端未增强基线为锚点，</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 / -5 dB EER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需分别 ≤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5.874% / 7.739%</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（相对下降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训练</a:t>
            </a:r>
            <a:r>
              <a:rPr lang="en-US" altLang="zh-CN" sz="1600" dirty="0">
                <a:solidFill>
                  <a:srgbClr val="FF0000"/>
                </a:solidFill>
              </a:rPr>
              <a:t>/</a:t>
            </a:r>
            <a:r>
              <a:rPr lang="zh-CN" altLang="en-US" sz="1600" dirty="0">
                <a:solidFill>
                  <a:srgbClr val="FF0000"/>
                </a:solidFill>
              </a:rPr>
              <a:t>验证</a:t>
            </a:r>
            <a:r>
              <a:rPr lang="en-US" altLang="zh-CN" sz="1600" dirty="0">
                <a:solidFill>
                  <a:srgbClr val="FF0000"/>
                </a:solidFill>
              </a:rPr>
              <a:t>/</a:t>
            </a:r>
            <a:r>
              <a:rPr lang="zh-CN" altLang="en-US" sz="1600" dirty="0">
                <a:solidFill>
                  <a:srgbClr val="FF0000"/>
                </a:solidFill>
              </a:rPr>
              <a:t>测试说话人严格</a:t>
            </a:r>
            <a:r>
              <a:rPr lang="zh-CN" altLang="en-US" sz="1600" dirty="0" smtClean="0">
                <a:solidFill>
                  <a:srgbClr val="FF0000"/>
                </a:solidFill>
              </a:rPr>
              <a:t>隔离；阈值</a:t>
            </a:r>
            <a:r>
              <a:rPr lang="zh-CN" altLang="en-US" sz="1600" dirty="0">
                <a:solidFill>
                  <a:srgbClr val="FF0000"/>
                </a:solidFill>
              </a:rPr>
              <a:t>仅在验证集确定，官方测试集冻结。</a:t>
            </a:r>
            <a:endParaRPr lang="zh-CN" altLang="en-US" sz="1450" dirty="0">
              <a:solidFill>
                <a:srgbClr val="FF0000"/>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7BF2EA3F-D088-4729-88F9-9D4FADF26323}" type="slidenum">
              <a:rPr lang="zh-CN" altLang="en-US" smtClean="0"/>
              <a:t>11</a:t>
            </a:fld>
            <a:endParaRPr lang="zh-CN" altLang="en-US" dirty="0"/>
          </a:p>
        </p:txBody>
      </p:sp>
      <p:sp>
        <p:nvSpPr>
          <p:cNvPr id="13" name="矩形 12"/>
          <p:cNvSpPr/>
          <p:nvPr/>
        </p:nvSpPr>
        <p:spPr>
          <a:xfrm>
            <a:off x="508000" y="5068431"/>
            <a:ext cx="8027020" cy="315471"/>
          </a:xfrm>
          <a:prstGeom prst="rect">
            <a:avLst/>
          </a:prstGeom>
        </p:spPr>
        <p:txBody>
          <a:bodyPr wrap="square">
            <a:spAutoFit/>
          </a:bodyPr>
          <a:lstStyle/>
          <a:p>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Clean </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完整</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时长</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基准：</a:t>
            </a:r>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1s </a:t>
            </a:r>
            <a:r>
              <a:rPr lang="en-US" altLang="zh-CN"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3s / </a:t>
            </a:r>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5s</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；主力</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后端分别为 </a:t>
            </a:r>
            <a:r>
              <a:rPr lang="en-US" altLang="zh-CN"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13.37 / 5.29 / 5.06%</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矩形 13"/>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52803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415498"/>
          </a:xfrm>
          <a:prstGeom prst="rect">
            <a:avLst/>
          </a:prstGeom>
          <a:noFill/>
        </p:spPr>
        <p:txBody>
          <a:bodyPr vert="horz" rtlCol="0">
            <a:spAutoFit/>
          </a:bodyPr>
          <a:lstStyle/>
          <a:p>
            <a:r>
              <a:rPr lang="zh-CN" altLang="en-US" sz="210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8115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1/3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模型结构：注册条件化目标说话人提取前端</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圆角矩形 5"/>
          <p:cNvSpPr/>
          <p:nvPr/>
        </p:nvSpPr>
        <p:spPr>
          <a:xfrm>
            <a:off x="695960" y="1022588"/>
            <a:ext cx="7924800" cy="2159000"/>
          </a:xfrm>
          <a:prstGeom prst="roundRect">
            <a:avLst>
              <a:gd name="adj" fmla="val 6000"/>
            </a:avLst>
          </a:prstGeom>
          <a:solidFill>
            <a:srgbClr val="FDF3E7"/>
          </a:solidFill>
          <a:ln w="25400">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899160" y="1168400"/>
            <a:ext cx="2540000" cy="369332"/>
          </a:xfrm>
          <a:prstGeom prst="rect">
            <a:avLst/>
          </a:prstGeom>
          <a:noFill/>
        </p:spPr>
        <p:txBody>
          <a:bodyPr vert="horz" wrap="square" lIns="0" tIns="0" rIns="0" bIns="0" rtlCol="0">
            <a:noAutofit/>
          </a:bodyPr>
          <a:lstStyle/>
          <a:p>
            <a:r>
              <a:rPr lang="zh-CN" altLang="en-US" sz="1250" b="1"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注册条件路径</a:t>
            </a:r>
            <a:endParaRPr lang="zh-CN" altLang="en-US" sz="1250" b="1">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99160" y="1422400"/>
            <a:ext cx="2794000" cy="369332"/>
          </a:xfrm>
          <a:prstGeom prst="rect">
            <a:avLst/>
          </a:prstGeom>
          <a:noFill/>
        </p:spPr>
        <p:txBody>
          <a:bodyPr vert="horz" wrap="square" lIns="0" tIns="0" rIns="0" bIns="0" rtlCol="0">
            <a:noAutofit/>
          </a:bodyPr>
          <a:lstStyle/>
          <a:p>
            <a:r>
              <a:rPr lang="zh-CN" altLang="en-US" sz="90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提供「提取谁」的条件</a:t>
            </a:r>
            <a:endParaRPr lang="zh-CN" altLang="en-US" sz="90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圆角矩形 8"/>
          <p:cNvSpPr/>
          <p:nvPr/>
        </p:nvSpPr>
        <p:spPr>
          <a:xfrm>
            <a:off x="899160" y="1701800"/>
            <a:ext cx="17780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椭圆 9"/>
          <p:cNvSpPr/>
          <p:nvPr/>
        </p:nvSpPr>
        <p:spPr>
          <a:xfrm>
            <a:off x="1026160" y="18034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1305560" y="1828800"/>
            <a:ext cx="12700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注册语音</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9" name="组合 28"/>
          <p:cNvGrpSpPr/>
          <p:nvPr/>
        </p:nvGrpSpPr>
        <p:grpSpPr>
          <a:xfrm>
            <a:off x="1034098" y="2248409"/>
            <a:ext cx="1476375" cy="508000"/>
            <a:chOff x="1049973" y="2425700"/>
            <a:chExt cx="1476375" cy="508000"/>
          </a:xfrm>
        </p:grpSpPr>
        <p:sp>
          <p:nvSpPr>
            <p:cNvPr id="13" name="w10"/>
            <p:cNvSpPr/>
            <p:nvPr/>
          </p:nvSpPr>
          <p:spPr>
            <a:xfrm>
              <a:off x="1049973" y="2584450"/>
              <a:ext cx="47625" cy="190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w11"/>
            <p:cNvSpPr/>
            <p:nvPr/>
          </p:nvSpPr>
          <p:spPr>
            <a:xfrm>
              <a:off x="1145223" y="2514600"/>
              <a:ext cx="47625" cy="330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w12"/>
            <p:cNvSpPr/>
            <p:nvPr/>
          </p:nvSpPr>
          <p:spPr>
            <a:xfrm>
              <a:off x="1240473" y="2457450"/>
              <a:ext cx="47625"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w13"/>
            <p:cNvSpPr/>
            <p:nvPr/>
          </p:nvSpPr>
          <p:spPr>
            <a:xfrm>
              <a:off x="1335723" y="2536825"/>
              <a:ext cx="47625" cy="2857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w14"/>
            <p:cNvSpPr/>
            <p:nvPr/>
          </p:nvSpPr>
          <p:spPr>
            <a:xfrm>
              <a:off x="1430973" y="2425700"/>
              <a:ext cx="47625" cy="508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w15"/>
            <p:cNvSpPr/>
            <p:nvPr/>
          </p:nvSpPr>
          <p:spPr>
            <a:xfrm>
              <a:off x="1526223" y="2489200"/>
              <a:ext cx="47625"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w16"/>
            <p:cNvSpPr/>
            <p:nvPr/>
          </p:nvSpPr>
          <p:spPr>
            <a:xfrm>
              <a:off x="1621473" y="2568575"/>
              <a:ext cx="47625" cy="222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w17"/>
            <p:cNvSpPr/>
            <p:nvPr/>
          </p:nvSpPr>
          <p:spPr>
            <a:xfrm>
              <a:off x="1716723" y="2505075"/>
              <a:ext cx="47625"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w18"/>
            <p:cNvSpPr/>
            <p:nvPr/>
          </p:nvSpPr>
          <p:spPr>
            <a:xfrm>
              <a:off x="1811973" y="2441575"/>
              <a:ext cx="47625" cy="476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 name="w19"/>
            <p:cNvSpPr/>
            <p:nvPr/>
          </p:nvSpPr>
          <p:spPr>
            <a:xfrm>
              <a:off x="1907223" y="2520950"/>
              <a:ext cx="47625"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 name="w110"/>
            <p:cNvSpPr/>
            <p:nvPr/>
          </p:nvSpPr>
          <p:spPr>
            <a:xfrm>
              <a:off x="2002473" y="2473325"/>
              <a:ext cx="47625" cy="4127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w111"/>
            <p:cNvSpPr/>
            <p:nvPr/>
          </p:nvSpPr>
          <p:spPr>
            <a:xfrm>
              <a:off x="2097723" y="2552700"/>
              <a:ext cx="47625" cy="254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w112"/>
            <p:cNvSpPr/>
            <p:nvPr/>
          </p:nvSpPr>
          <p:spPr>
            <a:xfrm>
              <a:off x="2192973" y="2457450"/>
              <a:ext cx="47625"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w113"/>
            <p:cNvSpPr/>
            <p:nvPr/>
          </p:nvSpPr>
          <p:spPr>
            <a:xfrm>
              <a:off x="2288223" y="2505075"/>
              <a:ext cx="47625"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w114"/>
            <p:cNvSpPr/>
            <p:nvPr/>
          </p:nvSpPr>
          <p:spPr>
            <a:xfrm>
              <a:off x="2383473" y="2578100"/>
              <a:ext cx="47625" cy="203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w115"/>
            <p:cNvSpPr/>
            <p:nvPr/>
          </p:nvSpPr>
          <p:spPr>
            <a:xfrm>
              <a:off x="2478723" y="2489200"/>
              <a:ext cx="47625"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30" name="右箭头 29"/>
          <p:cNvSpPr/>
          <p:nvPr/>
        </p:nvSpPr>
        <p:spPr>
          <a:xfrm>
            <a:off x="2747096" y="2137284"/>
            <a:ext cx="203200" cy="254000"/>
          </a:xfrm>
          <a:prstGeom prst="rightArrow">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圆角矩形 30"/>
          <p:cNvSpPr/>
          <p:nvPr/>
        </p:nvSpPr>
        <p:spPr>
          <a:xfrm>
            <a:off x="3032760" y="1701800"/>
            <a:ext cx="19050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5" name="组合 214"/>
          <p:cNvGrpSpPr/>
          <p:nvPr/>
        </p:nvGrpSpPr>
        <p:grpSpPr>
          <a:xfrm>
            <a:off x="3159760" y="1837098"/>
            <a:ext cx="1676400" cy="394732"/>
            <a:chOff x="3159760" y="1803400"/>
            <a:chExt cx="1676400" cy="394732"/>
          </a:xfrm>
        </p:grpSpPr>
        <p:sp>
          <p:nvSpPr>
            <p:cNvPr id="32" name="椭圆 31"/>
            <p:cNvSpPr/>
            <p:nvPr/>
          </p:nvSpPr>
          <p:spPr>
            <a:xfrm>
              <a:off x="3159760" y="18034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文本框 32"/>
            <p:cNvSpPr txBox="1"/>
            <p:nvPr/>
          </p:nvSpPr>
          <p:spPr>
            <a:xfrm>
              <a:off x="3439160" y="1828800"/>
              <a:ext cx="13970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冻结的 </a:t>
              </a:r>
              <a:r>
                <a:rPr lang="en-US" altLang="zh-CN"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4" name="文本框 33"/>
          <p:cNvSpPr txBox="1"/>
          <p:nvPr/>
        </p:nvSpPr>
        <p:spPr>
          <a:xfrm>
            <a:off x="3159760" y="2165090"/>
            <a:ext cx="1676400" cy="187834"/>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提取说话人嵌入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维</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6" name="组合 215"/>
          <p:cNvGrpSpPr/>
          <p:nvPr/>
        </p:nvGrpSpPr>
        <p:grpSpPr>
          <a:xfrm>
            <a:off x="3161088" y="2356366"/>
            <a:ext cx="1708150" cy="419993"/>
            <a:chOff x="3185160" y="2501900"/>
            <a:chExt cx="1708150" cy="419993"/>
          </a:xfrm>
        </p:grpSpPr>
        <p:sp>
          <p:nvSpPr>
            <p:cNvPr id="35" name="矩形 34"/>
            <p:cNvSpPr/>
            <p:nvPr/>
          </p:nvSpPr>
          <p:spPr>
            <a:xfrm>
              <a:off x="3185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6" name="矩形 35"/>
            <p:cNvSpPr/>
            <p:nvPr/>
          </p:nvSpPr>
          <p:spPr>
            <a:xfrm>
              <a:off x="3375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3566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8" name="矩形 37"/>
            <p:cNvSpPr/>
            <p:nvPr/>
          </p:nvSpPr>
          <p:spPr>
            <a:xfrm>
              <a:off x="3756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9" name="矩形 38"/>
            <p:cNvSpPr/>
            <p:nvPr/>
          </p:nvSpPr>
          <p:spPr>
            <a:xfrm>
              <a:off x="3947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0" name="矩形 39"/>
            <p:cNvSpPr/>
            <p:nvPr/>
          </p:nvSpPr>
          <p:spPr>
            <a:xfrm>
              <a:off x="4137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4328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2" name="文本框 41"/>
            <p:cNvSpPr txBox="1"/>
            <p:nvPr/>
          </p:nvSpPr>
          <p:spPr>
            <a:xfrm>
              <a:off x="4518660" y="2501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42"/>
            <p:cNvSpPr txBox="1"/>
            <p:nvPr/>
          </p:nvSpPr>
          <p:spPr>
            <a:xfrm>
              <a:off x="3191510" y="2769493"/>
              <a:ext cx="1701800" cy="152400"/>
            </a:xfrm>
            <a:prstGeom prst="rect">
              <a:avLst/>
            </a:prstGeom>
            <a:noFill/>
          </p:spPr>
          <p:txBody>
            <a:bodyPr vert="horz" wrap="square" lIns="0" tIns="0" rIns="0" bIns="0" rtlCol="0">
              <a:noAutofit/>
            </a:bodyPr>
            <a:lstStyle/>
            <a:p>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Step 8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共享同一冻结后端</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4" name="右箭头 43"/>
          <p:cNvSpPr/>
          <p:nvPr/>
        </p:nvSpPr>
        <p:spPr>
          <a:xfrm>
            <a:off x="5013960" y="2260600"/>
            <a:ext cx="203200" cy="254000"/>
          </a:xfrm>
          <a:prstGeom prst="rightArrow">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圆角矩形 44"/>
          <p:cNvSpPr/>
          <p:nvPr/>
        </p:nvSpPr>
        <p:spPr>
          <a:xfrm>
            <a:off x="5293360" y="1701800"/>
            <a:ext cx="18288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4" name="组合 213"/>
          <p:cNvGrpSpPr/>
          <p:nvPr/>
        </p:nvGrpSpPr>
        <p:grpSpPr>
          <a:xfrm>
            <a:off x="5427980" y="1817886"/>
            <a:ext cx="1625600" cy="394732"/>
            <a:chOff x="5420360" y="1752600"/>
            <a:chExt cx="1625600" cy="394732"/>
          </a:xfrm>
        </p:grpSpPr>
        <p:sp>
          <p:nvSpPr>
            <p:cNvPr id="46" name="椭圆 45"/>
            <p:cNvSpPr/>
            <p:nvPr/>
          </p:nvSpPr>
          <p:spPr>
            <a:xfrm>
              <a:off x="5420360" y="17526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6"/>
            <p:cNvSpPr txBox="1"/>
            <p:nvPr/>
          </p:nvSpPr>
          <p:spPr>
            <a:xfrm>
              <a:off x="5699760" y="1778000"/>
              <a:ext cx="1346200" cy="369332"/>
            </a:xfrm>
            <a:prstGeom prst="rect">
              <a:avLst/>
            </a:prstGeom>
            <a:noFill/>
          </p:spPr>
          <p:txBody>
            <a:bodyPr vert="horz" wrap="square" lIns="0" tIns="0" rIns="0" bIns="0" rtlCol="0">
              <a:noAutofit/>
            </a:bodyPr>
            <a:lstStyle/>
            <a:p>
              <a:r>
                <a:rPr lang="en-US" altLang="zh-CN" sz="1000" b="1"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8" name="文本框 47"/>
          <p:cNvSpPr txBox="1"/>
          <p:nvPr/>
        </p:nvSpPr>
        <p:spPr>
          <a:xfrm>
            <a:off x="5469688" y="2052087"/>
            <a:ext cx="1625600" cy="266343"/>
          </a:xfrm>
          <a:prstGeom prst="rect">
            <a:avLst/>
          </a:prstGeom>
          <a:noFill/>
        </p:spPr>
        <p:txBody>
          <a:bodyPr vert="horz" wrap="square" lIns="0" tIns="0" rIns="0" bIns="0" rtlCol="0">
            <a:noAutofit/>
          </a:bodyPr>
          <a:lstStyle/>
          <a:p>
            <a:pPr algn="ct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根据</a:t>
            </a:r>
            <a:r>
              <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注册说话人</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Embedding</a:t>
            </a:r>
          </a:p>
          <a:p>
            <a:pPr algn="ct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生成 </a:t>
            </a:r>
            <a:r>
              <a:rPr lang="en-US" altLang="zh-CN" sz="900" dirty="0" err="1"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γ</a:t>
            </a:r>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文本框 48"/>
          <p:cNvSpPr txBox="1"/>
          <p:nvPr/>
        </p:nvSpPr>
        <p:spPr>
          <a:xfrm>
            <a:off x="5475490" y="2377122"/>
            <a:ext cx="177800" cy="369332"/>
          </a:xfrm>
          <a:prstGeom prst="rect">
            <a:avLst/>
          </a:prstGeom>
          <a:noFill/>
        </p:spPr>
        <p:txBody>
          <a:bodyPr vert="horz" wrap="square" lIns="0" tIns="0" rIns="0" bIns="0" rtlCol="0">
            <a:noAutofit/>
          </a:bodyPr>
          <a:lstStyle/>
          <a:p>
            <a:r>
              <a:rPr lang="el-GR" altLang="zh-CN"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γ</a:t>
            </a:r>
            <a:r>
              <a:rPr lang="zh-CN" altLang="el-GR"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矩形 49"/>
          <p:cNvSpPr/>
          <p:nvPr/>
        </p:nvSpPr>
        <p:spPr>
          <a:xfrm>
            <a:off x="56743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1" name="矩形 50"/>
          <p:cNvSpPr/>
          <p:nvPr/>
        </p:nvSpPr>
        <p:spPr>
          <a:xfrm>
            <a:off x="58394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2" name="矩形 51"/>
          <p:cNvSpPr/>
          <p:nvPr/>
        </p:nvSpPr>
        <p:spPr>
          <a:xfrm>
            <a:off x="60045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3" name="矩形 52"/>
          <p:cNvSpPr/>
          <p:nvPr/>
        </p:nvSpPr>
        <p:spPr>
          <a:xfrm>
            <a:off x="61696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4" name="矩形 53"/>
          <p:cNvSpPr/>
          <p:nvPr/>
        </p:nvSpPr>
        <p:spPr>
          <a:xfrm>
            <a:off x="63347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5" name="矩形 54"/>
          <p:cNvSpPr/>
          <p:nvPr/>
        </p:nvSpPr>
        <p:spPr>
          <a:xfrm>
            <a:off x="64998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6" name="文本框 55"/>
          <p:cNvSpPr txBox="1"/>
          <p:nvPr/>
        </p:nvSpPr>
        <p:spPr>
          <a:xfrm>
            <a:off x="6664960" y="2374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7" name="文本框 56"/>
          <p:cNvSpPr txBox="1"/>
          <p:nvPr/>
        </p:nvSpPr>
        <p:spPr>
          <a:xfrm>
            <a:off x="5469688" y="2648964"/>
            <a:ext cx="177800" cy="369332"/>
          </a:xfrm>
          <a:prstGeom prst="rect">
            <a:avLst/>
          </a:prstGeom>
          <a:noFill/>
        </p:spPr>
        <p:txBody>
          <a:bodyPr vert="horz" wrap="square" lIns="0" tIns="0" rIns="0" bIns="0" rtlCol="0">
            <a:noAutofit/>
          </a:bodyPr>
          <a:lstStyle/>
          <a:p>
            <a:r>
              <a:rPr lang="el-GR" altLang="zh-CN"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l-GR"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矩形 57"/>
          <p:cNvSpPr/>
          <p:nvPr/>
        </p:nvSpPr>
        <p:spPr>
          <a:xfrm>
            <a:off x="56743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9" name="矩形 58"/>
          <p:cNvSpPr/>
          <p:nvPr/>
        </p:nvSpPr>
        <p:spPr>
          <a:xfrm>
            <a:off x="58394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0" name="矩形 59"/>
          <p:cNvSpPr/>
          <p:nvPr/>
        </p:nvSpPr>
        <p:spPr>
          <a:xfrm>
            <a:off x="60045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1" name="矩形 60"/>
          <p:cNvSpPr/>
          <p:nvPr/>
        </p:nvSpPr>
        <p:spPr>
          <a:xfrm>
            <a:off x="61696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2" name="矩形 61"/>
          <p:cNvSpPr/>
          <p:nvPr/>
        </p:nvSpPr>
        <p:spPr>
          <a:xfrm>
            <a:off x="63347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3" name="矩形 62"/>
          <p:cNvSpPr/>
          <p:nvPr/>
        </p:nvSpPr>
        <p:spPr>
          <a:xfrm>
            <a:off x="64998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4" name="文本框 63"/>
          <p:cNvSpPr txBox="1"/>
          <p:nvPr/>
        </p:nvSpPr>
        <p:spPr>
          <a:xfrm>
            <a:off x="6664960" y="2628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3" name="组合 212"/>
          <p:cNvGrpSpPr/>
          <p:nvPr/>
        </p:nvGrpSpPr>
        <p:grpSpPr>
          <a:xfrm>
            <a:off x="7340215" y="1701801"/>
            <a:ext cx="1168400" cy="1164352"/>
            <a:chOff x="7198360" y="1752600"/>
            <a:chExt cx="1168400" cy="1163082"/>
          </a:xfrm>
        </p:grpSpPr>
        <p:sp>
          <p:nvSpPr>
            <p:cNvPr id="65" name="圆角矩形 64"/>
            <p:cNvSpPr/>
            <p:nvPr/>
          </p:nvSpPr>
          <p:spPr>
            <a:xfrm>
              <a:off x="7198360" y="1752600"/>
              <a:ext cx="1168400" cy="1163082"/>
            </a:xfrm>
            <a:prstGeom prst="roundRect">
              <a:avLst>
                <a:gd name="adj" fmla="val 6000"/>
              </a:avLst>
            </a:prstGeom>
            <a:solidFill>
              <a:schemeClr val="bg1"/>
            </a:solidFill>
            <a:ln w="15875" cap="flat" cmpd="sng" algn="ctr">
              <a:solidFill>
                <a:srgbClr val="D2691E"/>
              </a:solidFill>
              <a:prstDash val="dash"/>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6" name="文本框 65"/>
            <p:cNvSpPr txBox="1"/>
            <p:nvPr/>
          </p:nvSpPr>
          <p:spPr>
            <a:xfrm>
              <a:off x="7299960" y="1854200"/>
              <a:ext cx="965200" cy="369332"/>
            </a:xfrm>
            <a:prstGeom prst="rect">
              <a:avLst/>
            </a:prstGeom>
            <a:noFill/>
          </p:spPr>
          <p:txBody>
            <a:bodyPr vert="horz" wrap="square" lIns="0" tIns="0" rIns="0" bIns="0" rtlCol="0">
              <a:noAutofit/>
            </a:bodyPr>
            <a:lstStyle/>
            <a:p>
              <a:r>
                <a:rPr lang="zh-CN" altLang="en-US" sz="9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条件注入说明</a:t>
              </a:r>
              <a:endParaRPr lang="zh-CN" altLang="en-US" sz="9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7" name="文本框 66"/>
            <p:cNvSpPr txBox="1"/>
            <p:nvPr/>
          </p:nvSpPr>
          <p:spPr>
            <a:xfrm>
              <a:off x="7299960" y="2082800"/>
              <a:ext cx="1066800" cy="369332"/>
            </a:xfrm>
            <a:prstGeom prst="rect">
              <a:avLst/>
            </a:prstGeom>
            <a:noFill/>
          </p:spPr>
          <p:txBody>
            <a:bodyPr vert="horz" wrap="square" lIns="0" tIns="0" rIns="0" bIns="0" rtlCol="0">
              <a:noAutofit/>
            </a:bodyPr>
            <a:lstStyle/>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特征级调制</a:t>
              </a:r>
            </a:p>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约 </a:t>
              </a: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0.52M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a:t>
              </a:r>
            </a:p>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末层零初始化</a:t>
              </a:r>
              <a:endParaRPr lang="zh-CN" altLang="en-US" sz="9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8" name="圆角矩形 67"/>
          <p:cNvSpPr/>
          <p:nvPr/>
        </p:nvSpPr>
        <p:spPr>
          <a:xfrm>
            <a:off x="695960" y="3327400"/>
            <a:ext cx="7912100" cy="2260600"/>
          </a:xfrm>
          <a:prstGeom prst="roundRect">
            <a:avLst>
              <a:gd name="adj" fmla="val 6000"/>
            </a:avLst>
          </a:prstGeom>
          <a:solidFill>
            <a:srgbClr val="EAF1F9"/>
          </a:solidFill>
          <a:ln w="2540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9" name="文本框 68"/>
          <p:cNvSpPr txBox="1"/>
          <p:nvPr/>
        </p:nvSpPr>
        <p:spPr>
          <a:xfrm>
            <a:off x="899160" y="3429000"/>
            <a:ext cx="2540000" cy="369332"/>
          </a:xfrm>
          <a:prstGeom prst="rect">
            <a:avLst/>
          </a:prstGeom>
          <a:noFill/>
        </p:spPr>
        <p:txBody>
          <a:bodyPr vert="horz" wrap="square" lIns="0" tIns="0" rIns="0" bIns="0" rtlCol="0">
            <a:noAutofit/>
          </a:bodyPr>
          <a:lstStyle/>
          <a:p>
            <a:r>
              <a:rPr lang="zh-CN" altLang="en-US" sz="1250" b="1"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带噪测试路径</a:t>
            </a:r>
            <a:endParaRPr lang="zh-CN" altLang="en-US" sz="1250" b="1">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0" name="文本框 69"/>
          <p:cNvSpPr txBox="1"/>
          <p:nvPr/>
        </p:nvSpPr>
        <p:spPr>
          <a:xfrm>
            <a:off x="899160" y="3683000"/>
            <a:ext cx="2794000" cy="369332"/>
          </a:xfrm>
          <a:prstGeom prst="rect">
            <a:avLst/>
          </a:prstGeom>
          <a:noFill/>
        </p:spPr>
        <p:txBody>
          <a:bodyPr vert="horz" wrap="square" lIns="0" tIns="0" rIns="0" bIns="0" rtlCol="0">
            <a:noAutofit/>
          </a:bodyPr>
          <a:lstStyle/>
          <a:p>
            <a:r>
              <a:rPr lang="zh-CN" altLang="en-US" sz="900"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输入待增强的带噪语音</a:t>
            </a:r>
            <a:endParaRPr lang="zh-CN" altLang="en-US" sz="900"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1" name="圆角矩形 70"/>
          <p:cNvSpPr/>
          <p:nvPr/>
        </p:nvSpPr>
        <p:spPr>
          <a:xfrm>
            <a:off x="899160" y="3962400"/>
            <a:ext cx="14224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2" name="椭圆 71"/>
          <p:cNvSpPr/>
          <p:nvPr/>
        </p:nvSpPr>
        <p:spPr>
          <a:xfrm>
            <a:off x="1026160" y="40640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3" name="文本框 72"/>
          <p:cNvSpPr txBox="1"/>
          <p:nvPr/>
        </p:nvSpPr>
        <p:spPr>
          <a:xfrm>
            <a:off x="1305560" y="4089400"/>
            <a:ext cx="9398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带噪测试语音</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4" name="文本框 73"/>
          <p:cNvSpPr txBox="1"/>
          <p:nvPr/>
        </p:nvSpPr>
        <p:spPr>
          <a:xfrm>
            <a:off x="1038860" y="4426311"/>
            <a:ext cx="1168400" cy="369332"/>
          </a:xfrm>
          <a:prstGeom prst="rect">
            <a:avLst/>
          </a:prstGeom>
          <a:noFill/>
        </p:spPr>
        <p:txBody>
          <a:bodyPr vert="horz" wrap="square" lIns="0" tIns="0" rIns="0" bIns="0" rtlCol="0">
            <a:noAutofit/>
          </a:bodyPr>
          <a:lstStyle/>
          <a:p>
            <a:pPr algn="ct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(0 dB / -5 dB)</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3" name="组合 92"/>
          <p:cNvGrpSpPr/>
          <p:nvPr/>
        </p:nvGrpSpPr>
        <p:grpSpPr>
          <a:xfrm>
            <a:off x="1042388" y="4690110"/>
            <a:ext cx="1135944" cy="627380"/>
            <a:chOff x="1042388" y="4690110"/>
            <a:chExt cx="1135944" cy="627380"/>
          </a:xfrm>
        </p:grpSpPr>
        <p:sp>
          <p:nvSpPr>
            <p:cNvPr id="75" name="w20"/>
            <p:cNvSpPr/>
            <p:nvPr/>
          </p:nvSpPr>
          <p:spPr>
            <a:xfrm>
              <a:off x="1042388" y="4799076"/>
              <a:ext cx="32455" cy="409448"/>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6" name="w21"/>
            <p:cNvSpPr/>
            <p:nvPr/>
          </p:nvSpPr>
          <p:spPr>
            <a:xfrm>
              <a:off x="1107299" y="4706620"/>
              <a:ext cx="32455" cy="59436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7" name="w22"/>
            <p:cNvSpPr/>
            <p:nvPr/>
          </p:nvSpPr>
          <p:spPr>
            <a:xfrm>
              <a:off x="1172210" y="4752848"/>
              <a:ext cx="32456" cy="50190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8" name="w23"/>
            <p:cNvSpPr/>
            <p:nvPr/>
          </p:nvSpPr>
          <p:spPr>
            <a:xfrm>
              <a:off x="1237121" y="4693412"/>
              <a:ext cx="32456" cy="620776"/>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9" name="w24"/>
            <p:cNvSpPr/>
            <p:nvPr/>
          </p:nvSpPr>
          <p:spPr>
            <a:xfrm>
              <a:off x="1302032" y="4772660"/>
              <a:ext cx="32456" cy="46228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0" name="w25"/>
            <p:cNvSpPr/>
            <p:nvPr/>
          </p:nvSpPr>
          <p:spPr>
            <a:xfrm>
              <a:off x="1366943" y="4719828"/>
              <a:ext cx="32456" cy="56794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1" name="w26"/>
            <p:cNvSpPr/>
            <p:nvPr/>
          </p:nvSpPr>
          <p:spPr>
            <a:xfrm>
              <a:off x="1431854" y="4690110"/>
              <a:ext cx="32456" cy="62738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2" name="w27"/>
            <p:cNvSpPr/>
            <p:nvPr/>
          </p:nvSpPr>
          <p:spPr>
            <a:xfrm>
              <a:off x="1496766" y="4785868"/>
              <a:ext cx="32455" cy="43586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3" name="w28"/>
            <p:cNvSpPr/>
            <p:nvPr/>
          </p:nvSpPr>
          <p:spPr>
            <a:xfrm>
              <a:off x="1561677" y="4706620"/>
              <a:ext cx="32455" cy="59436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4" name="w29"/>
            <p:cNvSpPr/>
            <p:nvPr/>
          </p:nvSpPr>
          <p:spPr>
            <a:xfrm>
              <a:off x="1626588" y="4739640"/>
              <a:ext cx="32455" cy="52832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5" name="w210"/>
            <p:cNvSpPr/>
            <p:nvPr/>
          </p:nvSpPr>
          <p:spPr>
            <a:xfrm>
              <a:off x="1691499" y="4693412"/>
              <a:ext cx="32455" cy="620776"/>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6" name="w211"/>
            <p:cNvSpPr/>
            <p:nvPr/>
          </p:nvSpPr>
          <p:spPr>
            <a:xfrm>
              <a:off x="1756410" y="4769358"/>
              <a:ext cx="32456" cy="46888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7" name="w212"/>
            <p:cNvSpPr/>
            <p:nvPr/>
          </p:nvSpPr>
          <p:spPr>
            <a:xfrm>
              <a:off x="1821321" y="4713224"/>
              <a:ext cx="32456" cy="58115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8" name="w213"/>
            <p:cNvSpPr/>
            <p:nvPr/>
          </p:nvSpPr>
          <p:spPr>
            <a:xfrm>
              <a:off x="1886232" y="4756150"/>
              <a:ext cx="32456" cy="4953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9" name="w214"/>
            <p:cNvSpPr/>
            <p:nvPr/>
          </p:nvSpPr>
          <p:spPr>
            <a:xfrm>
              <a:off x="1951143" y="4700016"/>
              <a:ext cx="32456" cy="607568"/>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0" name="w215"/>
            <p:cNvSpPr/>
            <p:nvPr/>
          </p:nvSpPr>
          <p:spPr>
            <a:xfrm>
              <a:off x="2016054" y="4779264"/>
              <a:ext cx="32456" cy="44907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1" name="w216"/>
            <p:cNvSpPr/>
            <p:nvPr/>
          </p:nvSpPr>
          <p:spPr>
            <a:xfrm>
              <a:off x="2080966" y="4723130"/>
              <a:ext cx="32455" cy="56134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2" name="w217"/>
            <p:cNvSpPr/>
            <p:nvPr/>
          </p:nvSpPr>
          <p:spPr>
            <a:xfrm>
              <a:off x="2145877" y="4746244"/>
              <a:ext cx="32455" cy="51511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94" name="右箭头 93"/>
          <p:cNvSpPr/>
          <p:nvPr/>
        </p:nvSpPr>
        <p:spPr>
          <a:xfrm>
            <a:off x="2346960" y="4572000"/>
            <a:ext cx="1778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5" name="圆角矩形 94"/>
          <p:cNvSpPr/>
          <p:nvPr/>
        </p:nvSpPr>
        <p:spPr>
          <a:xfrm>
            <a:off x="2550160" y="3962400"/>
            <a:ext cx="28194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8" name="组合 217"/>
          <p:cNvGrpSpPr/>
          <p:nvPr/>
        </p:nvGrpSpPr>
        <p:grpSpPr>
          <a:xfrm>
            <a:off x="2677160" y="4047347"/>
            <a:ext cx="2565400" cy="394732"/>
            <a:chOff x="2677160" y="4038600"/>
            <a:chExt cx="2565400" cy="394732"/>
          </a:xfrm>
        </p:grpSpPr>
        <p:sp>
          <p:nvSpPr>
            <p:cNvPr id="96" name="椭圆 95"/>
            <p:cNvSpPr/>
            <p:nvPr/>
          </p:nvSpPr>
          <p:spPr>
            <a:xfrm>
              <a:off x="2677160" y="40386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7" name="文本框 96"/>
            <p:cNvSpPr txBox="1"/>
            <p:nvPr/>
          </p:nvSpPr>
          <p:spPr>
            <a:xfrm>
              <a:off x="2956560" y="4064000"/>
              <a:ext cx="2286000" cy="369332"/>
            </a:xfrm>
            <a:prstGeom prst="rect">
              <a:avLst/>
            </a:prstGeom>
            <a:noFill/>
          </p:spPr>
          <p:txBody>
            <a:bodyPr vert="horz" wrap="square" lIns="0" tIns="0" rIns="0" bIns="0" rtlCol="0">
              <a:noAutofit/>
            </a:bodyPr>
            <a:lstStyle/>
            <a:p>
              <a:r>
                <a:rPr lang="en-US" altLang="zh-CN" sz="1000" b="1"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（条件化增强网络）</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98" name="文本框 97"/>
          <p:cNvSpPr txBox="1"/>
          <p:nvPr/>
        </p:nvSpPr>
        <p:spPr>
          <a:xfrm>
            <a:off x="2677160" y="4318000"/>
            <a:ext cx="2159000" cy="369332"/>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全带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LSTM 512 +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子带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384</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9" name="圆角矩形 98"/>
          <p:cNvSpPr/>
          <p:nvPr/>
        </p:nvSpPr>
        <p:spPr>
          <a:xfrm>
            <a:off x="2626360" y="4546600"/>
            <a:ext cx="2667000" cy="203200"/>
          </a:xfrm>
          <a:prstGeom prst="roundRect">
            <a:avLst>
              <a:gd name="adj" fmla="val 6000"/>
            </a:avLst>
          </a:prstGeom>
          <a:solidFill>
            <a:schemeClr val="bg1"/>
          </a:solidFill>
          <a:ln w="12700">
            <a:solidFill>
              <a:srgbClr val="D2691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0" name="文本框 99"/>
          <p:cNvSpPr txBox="1"/>
          <p:nvPr/>
        </p:nvSpPr>
        <p:spPr>
          <a:xfrm>
            <a:off x="2626360" y="4584700"/>
            <a:ext cx="2667000" cy="369332"/>
          </a:xfrm>
          <a:prstGeom prst="rect">
            <a:avLst/>
          </a:prstGeom>
          <a:noFill/>
        </p:spPr>
        <p:txBody>
          <a:bodyPr vert="horz" wrap="square" lIns="0" tIns="0" rIns="0" bIns="0" rtlCol="0">
            <a:noAutofit/>
          </a:bodyPr>
          <a:lstStyle/>
          <a:p>
            <a:pPr algn="ctr"/>
            <a:r>
              <a:rPr lang="en-US" altLang="zh-CN" sz="900" b="1" dirty="0" err="1"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特征调制（</a:t>
            </a:r>
            <a:r>
              <a:rPr lang="el-GR" altLang="zh-CN"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γ, β </a:t>
            </a:r>
            <a:r>
              <a:rPr lang="zh-CN" altLang="en-US"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注入点）</a:t>
            </a:r>
            <a:endParaRPr lang="zh-CN" altLang="en-US" sz="90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12" name="组合 111"/>
          <p:cNvGrpSpPr/>
          <p:nvPr/>
        </p:nvGrpSpPr>
        <p:grpSpPr>
          <a:xfrm>
            <a:off x="2691271" y="4787900"/>
            <a:ext cx="2552700" cy="533400"/>
            <a:chOff x="2702560" y="4826000"/>
            <a:chExt cx="2552700" cy="533400"/>
          </a:xfrm>
        </p:grpSpPr>
        <p:sp>
          <p:nvSpPr>
            <p:cNvPr id="101" name="enc0"/>
            <p:cNvSpPr/>
            <p:nvPr/>
          </p:nvSpPr>
          <p:spPr>
            <a:xfrm>
              <a:off x="2702560" y="4826000"/>
              <a:ext cx="139700" cy="533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2" name="enc1"/>
            <p:cNvSpPr/>
            <p:nvPr/>
          </p:nvSpPr>
          <p:spPr>
            <a:xfrm>
              <a:off x="2943860" y="4920996"/>
              <a:ext cx="139700" cy="43840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3" name="enc2"/>
            <p:cNvSpPr/>
            <p:nvPr/>
          </p:nvSpPr>
          <p:spPr>
            <a:xfrm>
              <a:off x="3185160" y="5007356"/>
              <a:ext cx="139700" cy="35204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4" name="enc3"/>
            <p:cNvSpPr/>
            <p:nvPr/>
          </p:nvSpPr>
          <p:spPr>
            <a:xfrm>
              <a:off x="3426460" y="5076444"/>
              <a:ext cx="139700" cy="282956"/>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5" name="enc4"/>
            <p:cNvSpPr/>
            <p:nvPr/>
          </p:nvSpPr>
          <p:spPr>
            <a:xfrm>
              <a:off x="3667760" y="5128260"/>
              <a:ext cx="139700" cy="23114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6" name="enc5"/>
            <p:cNvSpPr/>
            <p:nvPr/>
          </p:nvSpPr>
          <p:spPr>
            <a:xfrm>
              <a:off x="3909060" y="5162804"/>
              <a:ext cx="139700" cy="196596"/>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7" name="enc6"/>
            <p:cNvSpPr/>
            <p:nvPr/>
          </p:nvSpPr>
          <p:spPr>
            <a:xfrm>
              <a:off x="4150360" y="5128260"/>
              <a:ext cx="139700" cy="23114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8" name="enc7"/>
            <p:cNvSpPr/>
            <p:nvPr/>
          </p:nvSpPr>
          <p:spPr>
            <a:xfrm>
              <a:off x="4391660" y="5067808"/>
              <a:ext cx="139700" cy="291592"/>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9" name="enc8"/>
            <p:cNvSpPr/>
            <p:nvPr/>
          </p:nvSpPr>
          <p:spPr>
            <a:xfrm>
              <a:off x="4632960" y="4998720"/>
              <a:ext cx="139700" cy="36068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0" name="enc9"/>
            <p:cNvSpPr/>
            <p:nvPr/>
          </p:nvSpPr>
          <p:spPr>
            <a:xfrm>
              <a:off x="4874260" y="4920996"/>
              <a:ext cx="139700" cy="43840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1" name="enc10"/>
            <p:cNvSpPr/>
            <p:nvPr/>
          </p:nvSpPr>
          <p:spPr>
            <a:xfrm>
              <a:off x="5115560" y="4843272"/>
              <a:ext cx="139700" cy="516128"/>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113" name="文本框 112"/>
          <p:cNvSpPr txBox="1"/>
          <p:nvPr/>
        </p:nvSpPr>
        <p:spPr>
          <a:xfrm>
            <a:off x="2691271" y="5313402"/>
            <a:ext cx="508000" cy="369332"/>
          </a:xfrm>
          <a:prstGeom prst="rect">
            <a:avLst/>
          </a:prstGeom>
          <a:noFill/>
        </p:spPr>
        <p:txBody>
          <a:bodyPr vert="horz" wrap="square" lIns="0" tIns="0" rIns="0" bIns="0" rtlCol="0">
            <a:noAutofit/>
          </a:bodyPr>
          <a:lstStyle/>
          <a:p>
            <a:r>
              <a:rPr lang="zh-CN" altLang="en-US"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编码器</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4" name="文本框 113"/>
          <p:cNvSpPr txBox="1"/>
          <p:nvPr/>
        </p:nvSpPr>
        <p:spPr>
          <a:xfrm>
            <a:off x="4634371" y="5321022"/>
            <a:ext cx="609600" cy="369332"/>
          </a:xfrm>
          <a:prstGeom prst="rect">
            <a:avLst/>
          </a:prstGeom>
          <a:noFill/>
        </p:spPr>
        <p:txBody>
          <a:bodyPr vert="horz" wrap="square" lIns="0" tIns="0" rIns="0" bIns="0" rtlCol="0">
            <a:noAutofit/>
          </a:bodyPr>
          <a:lstStyle/>
          <a:p>
            <a:pPr algn="r"/>
            <a:r>
              <a:rPr lang="zh-CN" altLang="en-US"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解码器</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右箭头 114"/>
          <p:cNvSpPr/>
          <p:nvPr/>
        </p:nvSpPr>
        <p:spPr>
          <a:xfrm>
            <a:off x="5420360" y="4572000"/>
            <a:ext cx="1778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6" name="圆角矩形 115"/>
          <p:cNvSpPr/>
          <p:nvPr/>
        </p:nvSpPr>
        <p:spPr>
          <a:xfrm>
            <a:off x="5646103" y="3962400"/>
            <a:ext cx="12700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9" name="组合 218"/>
          <p:cNvGrpSpPr/>
          <p:nvPr/>
        </p:nvGrpSpPr>
        <p:grpSpPr>
          <a:xfrm>
            <a:off x="5754370" y="4059160"/>
            <a:ext cx="1117600" cy="394732"/>
            <a:chOff x="5750560" y="4114800"/>
            <a:chExt cx="1117600" cy="394732"/>
          </a:xfrm>
        </p:grpSpPr>
        <p:sp>
          <p:nvSpPr>
            <p:cNvPr id="117" name="椭圆 116"/>
            <p:cNvSpPr/>
            <p:nvPr/>
          </p:nvSpPr>
          <p:spPr>
            <a:xfrm>
              <a:off x="5750560" y="41148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 name="文本框 117"/>
            <p:cNvSpPr txBox="1"/>
            <p:nvPr/>
          </p:nvSpPr>
          <p:spPr>
            <a:xfrm>
              <a:off x="6029960" y="4140200"/>
              <a:ext cx="8382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复值掩码估计</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9" name="文本框 118"/>
          <p:cNvSpPr txBox="1"/>
          <p:nvPr/>
        </p:nvSpPr>
        <p:spPr>
          <a:xfrm>
            <a:off x="5839460" y="4341599"/>
            <a:ext cx="1016000" cy="369332"/>
          </a:xfrm>
          <a:prstGeom prst="rect">
            <a:avLst/>
          </a:prstGeom>
          <a:noFill/>
        </p:spPr>
        <p:txBody>
          <a:bodyPr vert="horz" wrap="square" lIns="0" tIns="0" rIns="0" bIns="0" rtlCol="0">
            <a:noAutofit/>
          </a:bodyPr>
          <a:lstStyle/>
          <a:p>
            <a:pPr algn="ct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900" dirty="0" err="1"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cIRM</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44" name="组合 143"/>
          <p:cNvGrpSpPr/>
          <p:nvPr/>
        </p:nvGrpSpPr>
        <p:grpSpPr>
          <a:xfrm>
            <a:off x="5794693" y="4596130"/>
            <a:ext cx="685800" cy="609600"/>
            <a:chOff x="5750560" y="4699000"/>
            <a:chExt cx="685800" cy="609600"/>
          </a:xfrm>
        </p:grpSpPr>
        <p:sp>
          <p:nvSpPr>
            <p:cNvPr id="120" name="hm00"/>
            <p:cNvSpPr/>
            <p:nvPr/>
          </p:nvSpPr>
          <p:spPr>
            <a:xfrm>
              <a:off x="5750560" y="46990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1" name="hm01"/>
            <p:cNvSpPr/>
            <p:nvPr/>
          </p:nvSpPr>
          <p:spPr>
            <a:xfrm>
              <a:off x="5864860" y="46990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2" name="hm02"/>
            <p:cNvSpPr/>
            <p:nvPr/>
          </p:nvSpPr>
          <p:spPr>
            <a:xfrm>
              <a:off x="5979160" y="4699000"/>
              <a:ext cx="114300" cy="1524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3" name="hm03"/>
            <p:cNvSpPr/>
            <p:nvPr/>
          </p:nvSpPr>
          <p:spPr>
            <a:xfrm>
              <a:off x="6093460" y="46990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4" name="hm04"/>
            <p:cNvSpPr/>
            <p:nvPr/>
          </p:nvSpPr>
          <p:spPr>
            <a:xfrm>
              <a:off x="6207760" y="46990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5" name="hm05"/>
            <p:cNvSpPr/>
            <p:nvPr/>
          </p:nvSpPr>
          <p:spPr>
            <a:xfrm>
              <a:off x="6322060" y="46990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6" name="hm10"/>
            <p:cNvSpPr/>
            <p:nvPr/>
          </p:nvSpPr>
          <p:spPr>
            <a:xfrm>
              <a:off x="5750560" y="48514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7" name="hm11"/>
            <p:cNvSpPr/>
            <p:nvPr/>
          </p:nvSpPr>
          <p:spPr>
            <a:xfrm>
              <a:off x="5864860" y="48514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8" name="hm12"/>
            <p:cNvSpPr/>
            <p:nvPr/>
          </p:nvSpPr>
          <p:spPr>
            <a:xfrm>
              <a:off x="5979160" y="4851400"/>
              <a:ext cx="114300" cy="1524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9" name="hm13"/>
            <p:cNvSpPr/>
            <p:nvPr/>
          </p:nvSpPr>
          <p:spPr>
            <a:xfrm>
              <a:off x="6093460" y="48514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0" name="hm14"/>
            <p:cNvSpPr/>
            <p:nvPr/>
          </p:nvSpPr>
          <p:spPr>
            <a:xfrm>
              <a:off x="6207760" y="48514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1" name="hm15"/>
            <p:cNvSpPr/>
            <p:nvPr/>
          </p:nvSpPr>
          <p:spPr>
            <a:xfrm>
              <a:off x="6322060" y="48514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2" name="hm20"/>
            <p:cNvSpPr/>
            <p:nvPr/>
          </p:nvSpPr>
          <p:spPr>
            <a:xfrm>
              <a:off x="5750560" y="50038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3" name="hm21"/>
            <p:cNvSpPr/>
            <p:nvPr/>
          </p:nvSpPr>
          <p:spPr>
            <a:xfrm>
              <a:off x="5864860" y="50038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4" name="hm22"/>
            <p:cNvSpPr/>
            <p:nvPr/>
          </p:nvSpPr>
          <p:spPr>
            <a:xfrm>
              <a:off x="5979160" y="50038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5" name="hm23"/>
            <p:cNvSpPr/>
            <p:nvPr/>
          </p:nvSpPr>
          <p:spPr>
            <a:xfrm>
              <a:off x="6093460" y="5003800"/>
              <a:ext cx="114300" cy="1524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6" name="hm24"/>
            <p:cNvSpPr/>
            <p:nvPr/>
          </p:nvSpPr>
          <p:spPr>
            <a:xfrm>
              <a:off x="6207760" y="50038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7" name="hm25"/>
            <p:cNvSpPr/>
            <p:nvPr/>
          </p:nvSpPr>
          <p:spPr>
            <a:xfrm>
              <a:off x="6322060" y="50038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8" name="hm30"/>
            <p:cNvSpPr/>
            <p:nvPr/>
          </p:nvSpPr>
          <p:spPr>
            <a:xfrm>
              <a:off x="5750560" y="51562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9" name="hm31"/>
            <p:cNvSpPr/>
            <p:nvPr/>
          </p:nvSpPr>
          <p:spPr>
            <a:xfrm>
              <a:off x="5864860" y="51562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0" name="hm32"/>
            <p:cNvSpPr/>
            <p:nvPr/>
          </p:nvSpPr>
          <p:spPr>
            <a:xfrm>
              <a:off x="5979160" y="51562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1" name="hm33"/>
            <p:cNvSpPr/>
            <p:nvPr/>
          </p:nvSpPr>
          <p:spPr>
            <a:xfrm>
              <a:off x="6093460" y="5156200"/>
              <a:ext cx="114300" cy="1524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2" name="hm34"/>
            <p:cNvSpPr/>
            <p:nvPr/>
          </p:nvSpPr>
          <p:spPr>
            <a:xfrm>
              <a:off x="6207760" y="51562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3" name="hm35"/>
            <p:cNvSpPr/>
            <p:nvPr/>
          </p:nvSpPr>
          <p:spPr>
            <a:xfrm>
              <a:off x="6322060" y="51562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145" name="矩形 144"/>
          <p:cNvSpPr/>
          <p:nvPr/>
        </p:nvSpPr>
        <p:spPr>
          <a:xfrm>
            <a:off x="6626860" y="4598416"/>
            <a:ext cx="88900" cy="2032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6" name="矩形 145"/>
          <p:cNvSpPr/>
          <p:nvPr/>
        </p:nvSpPr>
        <p:spPr>
          <a:xfrm>
            <a:off x="6626860" y="4801616"/>
            <a:ext cx="88900" cy="2032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7" name="矩形 146"/>
          <p:cNvSpPr/>
          <p:nvPr/>
        </p:nvSpPr>
        <p:spPr>
          <a:xfrm>
            <a:off x="6626860" y="5004816"/>
            <a:ext cx="88900" cy="2032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8" name="文本框 147"/>
          <p:cNvSpPr txBox="1"/>
          <p:nvPr/>
        </p:nvSpPr>
        <p:spPr>
          <a:xfrm>
            <a:off x="6766560" y="4584700"/>
            <a:ext cx="1270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9" name="文本框 148"/>
          <p:cNvSpPr txBox="1"/>
          <p:nvPr/>
        </p:nvSpPr>
        <p:spPr>
          <a:xfrm>
            <a:off x="6766560" y="4826000"/>
            <a:ext cx="1270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0" name="文本框 149"/>
          <p:cNvSpPr txBox="1"/>
          <p:nvPr/>
        </p:nvSpPr>
        <p:spPr>
          <a:xfrm>
            <a:off x="6741160" y="5080000"/>
            <a:ext cx="1524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 name="右箭头 150"/>
          <p:cNvSpPr/>
          <p:nvPr/>
        </p:nvSpPr>
        <p:spPr>
          <a:xfrm>
            <a:off x="6969760" y="4572000"/>
            <a:ext cx="2032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2" name="圆角矩形 151"/>
          <p:cNvSpPr/>
          <p:nvPr/>
        </p:nvSpPr>
        <p:spPr>
          <a:xfrm>
            <a:off x="7213917" y="3962400"/>
            <a:ext cx="11938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20" name="组合 219"/>
          <p:cNvGrpSpPr/>
          <p:nvPr/>
        </p:nvGrpSpPr>
        <p:grpSpPr>
          <a:xfrm>
            <a:off x="7287260" y="4064604"/>
            <a:ext cx="1066800" cy="394732"/>
            <a:chOff x="7325360" y="4114800"/>
            <a:chExt cx="1066800" cy="394732"/>
          </a:xfrm>
        </p:grpSpPr>
        <p:sp>
          <p:nvSpPr>
            <p:cNvPr id="153" name="椭圆 152"/>
            <p:cNvSpPr/>
            <p:nvPr/>
          </p:nvSpPr>
          <p:spPr>
            <a:xfrm>
              <a:off x="7325360" y="41148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4" name="文本框 153"/>
            <p:cNvSpPr txBox="1"/>
            <p:nvPr/>
          </p:nvSpPr>
          <p:spPr>
            <a:xfrm>
              <a:off x="7553960" y="4140200"/>
              <a:ext cx="838200" cy="369332"/>
            </a:xfrm>
            <a:prstGeom prst="rect">
              <a:avLst/>
            </a:prstGeom>
            <a:noFill/>
          </p:spPr>
          <p:txBody>
            <a:bodyPr vert="horz" wrap="square" lIns="0" tIns="0" rIns="0" bIns="0" rtlCol="0">
              <a:noAutofit/>
            </a:bodyPr>
            <a:lstStyle/>
            <a:p>
              <a:r>
                <a:rPr lang="zh-CN" altLang="en-US"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增强后测试语音</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55" name="文本框 154"/>
          <p:cNvSpPr txBox="1"/>
          <p:nvPr/>
        </p:nvSpPr>
        <p:spPr>
          <a:xfrm>
            <a:off x="7304193" y="4386818"/>
            <a:ext cx="1092200" cy="369332"/>
          </a:xfrm>
          <a:prstGeom prst="rect">
            <a:avLst/>
          </a:prstGeom>
          <a:noFill/>
        </p:spPr>
        <p:txBody>
          <a:bodyPr vert="horz" wrap="square" lIns="0" tIns="0" rIns="0" bIns="0" rtlCol="0">
            <a:noAutofit/>
          </a:bodyPr>
          <a:lstStyle/>
          <a:p>
            <a:pPr algn="ct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保留</a:t>
            </a:r>
            <a:r>
              <a:rPr lang="zh-CN" altLang="en-US" sz="8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注册说话人</a:t>
            </a: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的</a:t>
            </a:r>
            <a:endParaRPr lang="en-US" altLang="zh-CN"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身份</a:t>
            </a:r>
            <a:r>
              <a:rPr lang="zh-CN" altLang="en-US" sz="8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判别特征</a:t>
            </a:r>
          </a:p>
        </p:txBody>
      </p:sp>
      <p:grpSp>
        <p:nvGrpSpPr>
          <p:cNvPr id="168" name="组合 167"/>
          <p:cNvGrpSpPr/>
          <p:nvPr/>
        </p:nvGrpSpPr>
        <p:grpSpPr>
          <a:xfrm>
            <a:off x="7321127" y="4826000"/>
            <a:ext cx="973666" cy="482600"/>
            <a:chOff x="7321127" y="4826000"/>
            <a:chExt cx="973666" cy="482600"/>
          </a:xfrm>
        </p:grpSpPr>
        <p:sp>
          <p:nvSpPr>
            <p:cNvPr id="156" name="w30"/>
            <p:cNvSpPr/>
            <p:nvPr/>
          </p:nvSpPr>
          <p:spPr>
            <a:xfrm>
              <a:off x="7321127" y="4908550"/>
              <a:ext cx="42333"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7" name="w31"/>
            <p:cNvSpPr/>
            <p:nvPr/>
          </p:nvSpPr>
          <p:spPr>
            <a:xfrm>
              <a:off x="7405794" y="4838700"/>
              <a:ext cx="42333" cy="457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8" name="w32"/>
            <p:cNvSpPr/>
            <p:nvPr/>
          </p:nvSpPr>
          <p:spPr>
            <a:xfrm>
              <a:off x="7490460" y="4876800"/>
              <a:ext cx="42333"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9" name="w33"/>
            <p:cNvSpPr/>
            <p:nvPr/>
          </p:nvSpPr>
          <p:spPr>
            <a:xfrm>
              <a:off x="7575127" y="4826000"/>
              <a:ext cx="42333" cy="4826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0" name="w34"/>
            <p:cNvSpPr/>
            <p:nvPr/>
          </p:nvSpPr>
          <p:spPr>
            <a:xfrm>
              <a:off x="7659794" y="4892675"/>
              <a:ext cx="42333"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1" name="w35"/>
            <p:cNvSpPr/>
            <p:nvPr/>
          </p:nvSpPr>
          <p:spPr>
            <a:xfrm>
              <a:off x="7744460" y="4857750"/>
              <a:ext cx="42333" cy="4191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2" name="w36"/>
            <p:cNvSpPr/>
            <p:nvPr/>
          </p:nvSpPr>
          <p:spPr>
            <a:xfrm>
              <a:off x="7829127" y="4845050"/>
              <a:ext cx="42333"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3" name="w37"/>
            <p:cNvSpPr/>
            <p:nvPr/>
          </p:nvSpPr>
          <p:spPr>
            <a:xfrm>
              <a:off x="7913794" y="4908550"/>
              <a:ext cx="42333"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4" name="w38"/>
            <p:cNvSpPr/>
            <p:nvPr/>
          </p:nvSpPr>
          <p:spPr>
            <a:xfrm>
              <a:off x="7998460" y="4870450"/>
              <a:ext cx="42333" cy="3937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5" name="w39"/>
            <p:cNvSpPr/>
            <p:nvPr/>
          </p:nvSpPr>
          <p:spPr>
            <a:xfrm>
              <a:off x="8083127" y="4832350"/>
              <a:ext cx="42333" cy="4699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6" name="w310"/>
            <p:cNvSpPr/>
            <p:nvPr/>
          </p:nvSpPr>
          <p:spPr>
            <a:xfrm>
              <a:off x="8167794" y="4883150"/>
              <a:ext cx="42333" cy="3683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7" name="w311"/>
            <p:cNvSpPr/>
            <p:nvPr/>
          </p:nvSpPr>
          <p:spPr>
            <a:xfrm>
              <a:off x="8252460" y="4851400"/>
              <a:ext cx="42333" cy="4318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grpSp>
        <p:nvGrpSpPr>
          <p:cNvPr id="211" name="组合 210"/>
          <p:cNvGrpSpPr/>
          <p:nvPr/>
        </p:nvGrpSpPr>
        <p:grpSpPr>
          <a:xfrm>
            <a:off x="8862060" y="1371600"/>
            <a:ext cx="2926079" cy="3886200"/>
            <a:chOff x="8658860" y="1308100"/>
            <a:chExt cx="2926079" cy="3886200"/>
          </a:xfrm>
        </p:grpSpPr>
        <p:sp>
          <p:nvSpPr>
            <p:cNvPr id="173" name="圆角矩形 172"/>
            <p:cNvSpPr/>
            <p:nvPr/>
          </p:nvSpPr>
          <p:spPr>
            <a:xfrm>
              <a:off x="8658860" y="1308100"/>
              <a:ext cx="2926079" cy="3886200"/>
            </a:xfrm>
            <a:prstGeom prst="roundRect">
              <a:avLst>
                <a:gd name="adj" fmla="val 6000"/>
              </a:avLst>
            </a:prstGeom>
            <a:solidFill>
              <a:srgbClr val="F0F5EB"/>
            </a:solidFill>
            <a:ln w="2540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4" name="文本框 173"/>
            <p:cNvSpPr txBox="1"/>
            <p:nvPr/>
          </p:nvSpPr>
          <p:spPr>
            <a:xfrm>
              <a:off x="8836660" y="1409700"/>
              <a:ext cx="2540000" cy="369332"/>
            </a:xfrm>
            <a:prstGeom prst="rect">
              <a:avLst/>
            </a:prstGeom>
            <a:noFill/>
          </p:spPr>
          <p:txBody>
            <a:bodyPr vert="horz" wrap="square" lIns="0" tIns="0" rIns="0" bIns="0" rtlCol="0">
              <a:noAutofit/>
            </a:bodyPr>
            <a:lstStyle/>
            <a:p>
              <a:r>
                <a:rPr lang="zh-CN" altLang="en-US" sz="1250" b="1"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验证打分路径</a:t>
              </a:r>
              <a:endParaRPr lang="zh-CN" altLang="en-US" sz="1250" b="1">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5" name="文本框 174"/>
            <p:cNvSpPr txBox="1"/>
            <p:nvPr/>
          </p:nvSpPr>
          <p:spPr>
            <a:xfrm>
              <a:off x="8836660" y="1663700"/>
              <a:ext cx="2540000" cy="369332"/>
            </a:xfrm>
            <a:prstGeom prst="rect">
              <a:avLst/>
            </a:prstGeom>
            <a:noFill/>
          </p:spPr>
          <p:txBody>
            <a:bodyPr vert="horz" wrap="square" lIns="0" tIns="0" rIns="0" bIns="0" rtlCol="0">
              <a:noAutofit/>
            </a:bodyPr>
            <a:lstStyle/>
            <a:p>
              <a:r>
                <a:rPr lang="zh-CN" altLang="en-US" sz="900" dirty="0"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增强后打分验证</a:t>
              </a:r>
              <a:endParaRPr lang="zh-CN" altLang="en-US" sz="900" dirty="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7" name="圆角矩形 176"/>
            <p:cNvSpPr/>
            <p:nvPr/>
          </p:nvSpPr>
          <p:spPr>
            <a:xfrm>
              <a:off x="8811260" y="1917700"/>
              <a:ext cx="2616200" cy="1066800"/>
            </a:xfrm>
            <a:prstGeom prst="roundRect">
              <a:avLst>
                <a:gd name="adj" fmla="val 6000"/>
              </a:avLst>
            </a:prstGeom>
            <a:solidFill>
              <a:schemeClr val="bg1"/>
            </a:solidFill>
            <a:ln w="19050" cap="flat" cmpd="sng" algn="ctr">
              <a:solidFill>
                <a:srgbClr val="4E7B3A"/>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8" name="椭圆 177"/>
            <p:cNvSpPr/>
            <p:nvPr/>
          </p:nvSpPr>
          <p:spPr>
            <a:xfrm>
              <a:off x="8938260" y="2019300"/>
              <a:ext cx="203200" cy="203200"/>
            </a:xfrm>
            <a:prstGeom prst="ellipse">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8</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9" name="文本框 178"/>
            <p:cNvSpPr txBox="1"/>
            <p:nvPr/>
          </p:nvSpPr>
          <p:spPr>
            <a:xfrm>
              <a:off x="9217660" y="2044700"/>
              <a:ext cx="15240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冻结的 </a:t>
              </a:r>
              <a:r>
                <a:rPr lang="en-US" altLang="zh-CN"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文本框 179"/>
            <p:cNvSpPr txBox="1"/>
            <p:nvPr/>
          </p:nvSpPr>
          <p:spPr>
            <a:xfrm>
              <a:off x="8938260" y="2324100"/>
              <a:ext cx="2362200" cy="369332"/>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提取增强后嵌入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维</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1" name="文本框 180"/>
            <p:cNvSpPr txBox="1"/>
            <p:nvPr/>
          </p:nvSpPr>
          <p:spPr>
            <a:xfrm>
              <a:off x="8938260" y="2527300"/>
              <a:ext cx="2413000" cy="369332"/>
            </a:xfrm>
            <a:prstGeom prst="rect">
              <a:avLst/>
            </a:prstGeom>
            <a:noFill/>
          </p:spPr>
          <p:txBody>
            <a:bodyPr vert="horz" wrap="square" lIns="0" tIns="0" rIns="0" bIns="0" rtlCol="0">
              <a:noAutofit/>
            </a:bodyPr>
            <a:lstStyle/>
            <a:p>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Step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共享同一冻结后端</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2" name="矩形 181"/>
            <p:cNvSpPr/>
            <p:nvPr/>
          </p:nvSpPr>
          <p:spPr>
            <a:xfrm>
              <a:off x="8963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3" name="矩形 182"/>
            <p:cNvSpPr/>
            <p:nvPr/>
          </p:nvSpPr>
          <p:spPr>
            <a:xfrm>
              <a:off x="91541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4" name="矩形 183"/>
            <p:cNvSpPr/>
            <p:nvPr/>
          </p:nvSpPr>
          <p:spPr>
            <a:xfrm>
              <a:off x="9344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5" name="矩形 184"/>
            <p:cNvSpPr/>
            <p:nvPr/>
          </p:nvSpPr>
          <p:spPr>
            <a:xfrm>
              <a:off x="95351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6" name="矩形 185"/>
            <p:cNvSpPr/>
            <p:nvPr/>
          </p:nvSpPr>
          <p:spPr>
            <a:xfrm>
              <a:off x="9725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7" name="文本框 186"/>
            <p:cNvSpPr txBox="1"/>
            <p:nvPr/>
          </p:nvSpPr>
          <p:spPr>
            <a:xfrm>
              <a:off x="9916160" y="26670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8" name="下箭头 187"/>
            <p:cNvSpPr/>
            <p:nvPr/>
          </p:nvSpPr>
          <p:spPr>
            <a:xfrm>
              <a:off x="10005060" y="3035300"/>
              <a:ext cx="203200" cy="228600"/>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9" name="圆角矩形 188"/>
            <p:cNvSpPr/>
            <p:nvPr/>
          </p:nvSpPr>
          <p:spPr>
            <a:xfrm>
              <a:off x="8811260" y="3340100"/>
              <a:ext cx="2616200" cy="1752600"/>
            </a:xfrm>
            <a:prstGeom prst="roundRect">
              <a:avLst>
                <a:gd name="adj" fmla="val 6000"/>
              </a:avLst>
            </a:prstGeom>
            <a:solidFill>
              <a:schemeClr val="bg1"/>
            </a:solidFill>
            <a:ln w="19050" cap="flat" cmpd="sng" algn="ctr">
              <a:solidFill>
                <a:srgbClr val="4E7B3A"/>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0" name="椭圆 189"/>
            <p:cNvSpPr/>
            <p:nvPr/>
          </p:nvSpPr>
          <p:spPr>
            <a:xfrm>
              <a:off x="8938260" y="3441700"/>
              <a:ext cx="203200" cy="203200"/>
            </a:xfrm>
            <a:prstGeom prst="ellipse">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9</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1" name="文本框 190"/>
            <p:cNvSpPr txBox="1"/>
            <p:nvPr/>
          </p:nvSpPr>
          <p:spPr>
            <a:xfrm>
              <a:off x="9217660" y="3467100"/>
              <a:ext cx="21336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与注册嵌入计算余弦相似度</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2" name="文本框 191"/>
            <p:cNvSpPr txBox="1"/>
            <p:nvPr/>
          </p:nvSpPr>
          <p:spPr>
            <a:xfrm>
              <a:off x="8938260" y="3784600"/>
              <a:ext cx="558800" cy="369332"/>
            </a:xfrm>
            <a:prstGeom prst="rect">
              <a:avLst/>
            </a:prstGeom>
            <a:noFill/>
          </p:spPr>
          <p:txBody>
            <a:bodyPr vert="horz" wrap="square" lIns="0" tIns="0" rIns="0" bIns="0" rtlCol="0">
              <a:noAutofit/>
            </a:bodyPr>
            <a:lstStyle/>
            <a:p>
              <a:r>
                <a:rPr lang="zh-CN" altLang="en-US" sz="9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注册嵌入</a:t>
              </a:r>
              <a:endParaRPr lang="zh-CN" altLang="en-US" sz="9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3" name="矩形 192"/>
            <p:cNvSpPr/>
            <p:nvPr/>
          </p:nvSpPr>
          <p:spPr>
            <a:xfrm>
              <a:off x="95224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4" name="矩形 193"/>
            <p:cNvSpPr/>
            <p:nvPr/>
          </p:nvSpPr>
          <p:spPr>
            <a:xfrm>
              <a:off x="96875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5" name="矩形 194"/>
            <p:cNvSpPr/>
            <p:nvPr/>
          </p:nvSpPr>
          <p:spPr>
            <a:xfrm>
              <a:off x="98526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6" name="矩形 195"/>
            <p:cNvSpPr/>
            <p:nvPr/>
          </p:nvSpPr>
          <p:spPr>
            <a:xfrm>
              <a:off x="100177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7" name="文本框 196"/>
            <p:cNvSpPr txBox="1"/>
            <p:nvPr/>
          </p:nvSpPr>
          <p:spPr>
            <a:xfrm>
              <a:off x="10182860" y="37211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8" name="文本框 197"/>
            <p:cNvSpPr txBox="1"/>
            <p:nvPr/>
          </p:nvSpPr>
          <p:spPr>
            <a:xfrm>
              <a:off x="8900160" y="4032889"/>
              <a:ext cx="635000" cy="369332"/>
            </a:xfrm>
            <a:prstGeom prst="rect">
              <a:avLst/>
            </a:prstGeom>
            <a:noFill/>
          </p:spPr>
          <p:txBody>
            <a:bodyPr vert="horz" wrap="square" lIns="0" tIns="0" rIns="0" bIns="0" rtlCol="0">
              <a:noAutofit/>
            </a:bodyPr>
            <a:lstStyle/>
            <a:p>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增强后嵌入</a:t>
              </a:r>
              <a:endParaRPr lang="zh-CN" altLang="en-US" sz="9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9" name="矩形 198"/>
            <p:cNvSpPr/>
            <p:nvPr/>
          </p:nvSpPr>
          <p:spPr>
            <a:xfrm>
              <a:off x="95224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0" name="矩形 199"/>
            <p:cNvSpPr/>
            <p:nvPr/>
          </p:nvSpPr>
          <p:spPr>
            <a:xfrm>
              <a:off x="96875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1" name="矩形 200"/>
            <p:cNvSpPr/>
            <p:nvPr/>
          </p:nvSpPr>
          <p:spPr>
            <a:xfrm>
              <a:off x="98526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2" name="矩形 201"/>
            <p:cNvSpPr/>
            <p:nvPr/>
          </p:nvSpPr>
          <p:spPr>
            <a:xfrm>
              <a:off x="100177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3" name="文本框 202"/>
            <p:cNvSpPr txBox="1"/>
            <p:nvPr/>
          </p:nvSpPr>
          <p:spPr>
            <a:xfrm>
              <a:off x="10182860" y="39751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4" name="椭圆 203"/>
            <p:cNvSpPr/>
            <p:nvPr/>
          </p:nvSpPr>
          <p:spPr>
            <a:xfrm>
              <a:off x="10436860" y="3822700"/>
              <a:ext cx="711200" cy="508000"/>
            </a:xfrm>
            <a:prstGeom prst="ellipse">
              <a:avLst/>
            </a:prstGeom>
            <a:solidFill>
              <a:srgbClr val="FFFFFF"/>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5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cos </a:t>
              </a:r>
              <a:r>
                <a:rPr lang="el-GR" altLang="zh-CN" sz="105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θ</a:t>
              </a:r>
              <a:endParaRPr lang="zh-CN" altLang="en-US" sz="105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5" name="文本框 204"/>
            <p:cNvSpPr txBox="1"/>
            <p:nvPr/>
          </p:nvSpPr>
          <p:spPr>
            <a:xfrm>
              <a:off x="8938260" y="4432300"/>
              <a:ext cx="2362200" cy="369332"/>
            </a:xfrm>
            <a:prstGeom prst="rect">
              <a:avLst/>
            </a:prstGeom>
            <a:noFill/>
          </p:spPr>
          <p:txBody>
            <a:bodyPr vert="horz" wrap="square" lIns="0" tIns="0" rIns="0" bIns="0" rtlCol="0">
              <a:noAutofit/>
            </a:bodyPr>
            <a:lstStyle/>
            <a:p>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Cosine similarity →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阈值比较 → 判定</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6" name="圆角矩形 205"/>
            <p:cNvSpPr/>
            <p:nvPr/>
          </p:nvSpPr>
          <p:spPr>
            <a:xfrm>
              <a:off x="8938260" y="4660900"/>
              <a:ext cx="1117600" cy="254000"/>
            </a:xfrm>
            <a:prstGeom prst="roundRect">
              <a:avLst>
                <a:gd name="adj" fmla="val 50000"/>
              </a:avLst>
            </a:prstGeom>
            <a:solidFill>
              <a:srgbClr val="E8F1E4"/>
            </a:solidFill>
            <a:ln w="1270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50" b="1"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 Accept</a:t>
              </a:r>
              <a:endParaRPr lang="zh-CN" altLang="en-US" sz="850" b="1">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7" name="圆角矩形 206"/>
            <p:cNvSpPr/>
            <p:nvPr/>
          </p:nvSpPr>
          <p:spPr>
            <a:xfrm>
              <a:off x="10233660" y="4660900"/>
              <a:ext cx="1117600" cy="254000"/>
            </a:xfrm>
            <a:prstGeom prst="roundRect">
              <a:avLst>
                <a:gd name="adj" fmla="val 50000"/>
              </a:avLst>
            </a:prstGeom>
            <a:solidFill>
              <a:srgbClr val="FBE9E7"/>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50" b="1"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Reject</a:t>
              </a:r>
              <a:endParaRPr lang="zh-CN" altLang="en-US" sz="85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08" name="圆角矩形 207"/>
          <p:cNvSpPr/>
          <p:nvPr/>
        </p:nvSpPr>
        <p:spPr>
          <a:xfrm>
            <a:off x="695960" y="5689600"/>
            <a:ext cx="10800080" cy="355600"/>
          </a:xfrm>
          <a:prstGeom prst="roundRect">
            <a:avLst>
              <a:gd name="adj" fmla="val 6000"/>
            </a:avLst>
          </a:prstGeom>
          <a:solidFill>
            <a:srgbClr val="F2F2F2"/>
          </a:solidFill>
          <a:ln w="127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可训练</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部分：</a:t>
            </a:r>
            <a:r>
              <a:rPr lang="en-US" altLang="zh-CN" sz="145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4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9.20M </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后端全程冻结，推理时条件提取与打分复用同一后端。</a:t>
            </a:r>
          </a:p>
        </p:txBody>
      </p:sp>
      <p:sp>
        <p:nvSpPr>
          <p:cNvPr id="209" name="圆角矩形 208"/>
          <p:cNvSpPr/>
          <p:nvPr/>
        </p:nvSpPr>
        <p:spPr>
          <a:xfrm>
            <a:off x="695960" y="6121400"/>
            <a:ext cx="10800080" cy="345440"/>
          </a:xfrm>
          <a:prstGeom prst="roundRect">
            <a:avLst>
              <a:gd name="adj" fmla="val 6000"/>
            </a:avLst>
          </a:prstGeom>
          <a:solidFill>
            <a:srgbClr val="FFF7DE"/>
          </a:solidFill>
          <a:ln w="12700">
            <a:solidFill>
              <a:srgbClr val="E8C8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50" b="1" dirty="0" smtClean="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特点：</a:t>
            </a:r>
            <a:r>
              <a:rPr lang="zh-CN" altLang="en-US" sz="1450" dirty="0" smtClean="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注册语音提供“提取谁”的条件</a:t>
            </a:r>
            <a:r>
              <a:rPr lang="zh-CN" altLang="en-US" sz="1450" dirty="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，前端只增强目标身份相关语音特征，而不是保留所有语音。</a:t>
            </a:r>
          </a:p>
        </p:txBody>
      </p:sp>
      <p:sp>
        <p:nvSpPr>
          <p:cNvPr id="210" name="文本框 209"/>
          <p:cNvSpPr txBox="1"/>
          <p:nvPr/>
        </p:nvSpPr>
        <p:spPr>
          <a:xfrm>
            <a:off x="791210" y="6522464"/>
            <a:ext cx="11176000" cy="315471"/>
          </a:xfrm>
          <a:prstGeom prst="rect">
            <a:avLst/>
          </a:prstGeom>
          <a:noFill/>
        </p:spPr>
        <p:txBody>
          <a:bodyPr vert="horz" rtlCol="0">
            <a:spAutoFit/>
          </a:bodyPr>
          <a:lstStyle/>
          <a:p>
            <a:pPr algn="ct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部署栈 ≈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31.7M </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约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127MB fp32) · </a:t>
            </a:r>
            <a:r>
              <a:rPr lang="en-US" altLang="zh-CN" sz="1450" dirty="0" err="1"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末层采用零初始化：训练起点等价原版通用前端</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已有能力不被破坏</a:t>
            </a:r>
            <a:endParaRPr lang="zh-CN" altLang="en-US" sz="145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1" name="灯片编号占位符 220"/>
          <p:cNvSpPr>
            <a:spLocks noGrp="1"/>
          </p:cNvSpPr>
          <p:nvPr>
            <p:ph type="sldNum" sz="quarter" idx="12"/>
          </p:nvPr>
        </p:nvSpPr>
        <p:spPr>
          <a:xfrm>
            <a:off x="9268460" y="6457712"/>
            <a:ext cx="2743200" cy="365125"/>
          </a:xfrm>
        </p:spPr>
        <p:txBody>
          <a:bodyPr/>
          <a:lstStyle/>
          <a:p>
            <a:fld id="{7BF2EA3F-D088-4729-88F9-9D4FADF26323}" type="slidenum">
              <a:rPr lang="zh-CN" altLang="en-US" smtClean="0"/>
              <a:t>13</a:t>
            </a:fld>
            <a:endParaRPr lang="zh-CN" altLang="en-US" dirty="0"/>
          </a:p>
        </p:txBody>
      </p:sp>
      <p:sp>
        <p:nvSpPr>
          <p:cNvPr id="222" name="矩形 221"/>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6839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2/3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损失函数：四项加权和</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092200"/>
            <a:ext cx="11303000" cy="660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635000" y="1193800"/>
            <a:ext cx="8128000" cy="400110"/>
          </a:xfrm>
          <a:prstGeom prst="rect">
            <a:avLst/>
          </a:prstGeom>
          <a:noFill/>
        </p:spPr>
        <p:txBody>
          <a:bodyPr vert="horz" rtlCol="0">
            <a:spAutoFit/>
          </a:bodyPr>
          <a:lstStyle/>
          <a:p>
            <a:pPr algn="ct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+ 0.3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+ 0.5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+ 1.0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ce</a:t>
            </a:r>
            <a:endParaRPr lang="zh-CN" altLang="en-US" sz="20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890000" y="1168400"/>
            <a:ext cx="27940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λ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系数由代理验证集消融确定</a:t>
            </a:r>
            <a:endPar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0.3 / 0.5 / 1.0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为最优点）</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482600" y="1843215"/>
            <a:ext cx="11303000" cy="761747"/>
          </a:xfrm>
          <a:prstGeom prst="rect">
            <a:avLst/>
          </a:prstGeom>
          <a:noFill/>
        </p:spPr>
        <p:txBody>
          <a:bodyPr vert="horz" rtlCol="0">
            <a:spAutoFit/>
          </a:bodyPr>
          <a:lstStyle/>
          <a:p>
            <a:pPr>
              <a:lnSpc>
                <a:spcPct val="150000"/>
              </a:lnSpc>
            </a:pP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四项损失分别约束</a:t>
            </a:r>
            <a:r>
              <a:rPr lang="zh-CN" altLang="en-US" sz="14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信号恢复、身份保持、干扰抑制和判别能力</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增强语音经冻结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后端提取嵌入参与监督；梯度仅更新前端，</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后端与原型库全程冻结。</a:t>
            </a:r>
          </a:p>
        </p:txBody>
      </p:sp>
      <p:sp>
        <p:nvSpPr>
          <p:cNvPr id="10" name="矩形 9"/>
          <p:cNvSpPr/>
          <p:nvPr/>
        </p:nvSpPr>
        <p:spPr>
          <a:xfrm>
            <a:off x="508000" y="27178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1" name="矩形 10"/>
          <p:cNvSpPr/>
          <p:nvPr/>
        </p:nvSpPr>
        <p:spPr>
          <a:xfrm>
            <a:off x="508000" y="2717800"/>
            <a:ext cx="76200" cy="7620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736600" y="29464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信号重建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3175000" y="28702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cIRM</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aseline="30000" dirty="0" smtClean="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000"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8807450" y="2815062"/>
            <a:ext cx="29019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防退化锚：</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维持增强语音基本可恢复性</a:t>
            </a:r>
          </a:p>
        </p:txBody>
      </p:sp>
      <p:sp>
        <p:nvSpPr>
          <p:cNvPr id="15" name="矩形 14"/>
          <p:cNvSpPr/>
          <p:nvPr/>
        </p:nvSpPr>
        <p:spPr>
          <a:xfrm>
            <a:off x="508000" y="35814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6" name="矩形 15"/>
          <p:cNvSpPr/>
          <p:nvPr/>
        </p:nvSpPr>
        <p:spPr>
          <a:xfrm>
            <a:off x="508000" y="3581400"/>
            <a:ext cx="76200" cy="7620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7" name="文本框 16"/>
          <p:cNvSpPr txBox="1"/>
          <p:nvPr/>
        </p:nvSpPr>
        <p:spPr>
          <a:xfrm>
            <a:off x="736600" y="38100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说话人保持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p:cNvSpPr txBox="1"/>
          <p:nvPr/>
        </p:nvSpPr>
        <p:spPr>
          <a:xfrm>
            <a:off x="3175000" y="37338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1 − cos(</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enh</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enr</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8836025" y="3679195"/>
            <a:ext cx="29019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增强嵌入向注册嵌入对齐</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（贡献约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4–5%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的相对降幅）</a:t>
            </a:r>
          </a:p>
        </p:txBody>
      </p:sp>
      <p:sp>
        <p:nvSpPr>
          <p:cNvPr id="20" name="矩形 19"/>
          <p:cNvSpPr/>
          <p:nvPr/>
        </p:nvSpPr>
        <p:spPr>
          <a:xfrm>
            <a:off x="508000" y="44450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1" name="矩形 20"/>
          <p:cNvSpPr/>
          <p:nvPr/>
        </p:nvSpPr>
        <p:spPr>
          <a:xfrm>
            <a:off x="508000" y="4445000"/>
            <a:ext cx="76200" cy="762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2" name="文本框 21"/>
          <p:cNvSpPr txBox="1"/>
          <p:nvPr/>
        </p:nvSpPr>
        <p:spPr>
          <a:xfrm>
            <a:off x="736600" y="4673600"/>
            <a:ext cx="24130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难负原型</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抑制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文本框 22"/>
          <p:cNvSpPr txBox="1"/>
          <p:nvPr/>
        </p:nvSpPr>
        <p:spPr>
          <a:xfrm>
            <a:off x="3175000" y="45974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a:t>
            </a: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l-GR"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Σ</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k∈TopK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max(0, cos(</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enh</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l-GR"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文本框 23"/>
          <p:cNvSpPr txBox="1"/>
          <p:nvPr/>
        </p:nvSpPr>
        <p:spPr>
          <a:xfrm>
            <a:off x="8807450" y="4546600"/>
            <a:ext cx="30035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拉远干扰说话人与目标身份</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（贡献约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10%–11%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的相对降幅）</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4"/>
          <p:cNvSpPr/>
          <p:nvPr/>
        </p:nvSpPr>
        <p:spPr>
          <a:xfrm>
            <a:off x="508000" y="53086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6" name="矩形 25"/>
          <p:cNvSpPr/>
          <p:nvPr/>
        </p:nvSpPr>
        <p:spPr>
          <a:xfrm>
            <a:off x="508000" y="5308600"/>
            <a:ext cx="76200" cy="7620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7" name="文本框 26"/>
          <p:cNvSpPr txBox="1"/>
          <p:nvPr/>
        </p:nvSpPr>
        <p:spPr>
          <a:xfrm>
            <a:off x="736600" y="55372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判别分类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ce</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文本框 27"/>
          <p:cNvSpPr txBox="1"/>
          <p:nvPr/>
        </p:nvSpPr>
        <p:spPr>
          <a:xfrm>
            <a:off x="3175000" y="5461000"/>
            <a:ext cx="5715000" cy="400110"/>
          </a:xfrm>
          <a:prstGeom prst="rect">
            <a:avLst/>
          </a:prstGeom>
          <a:noFill/>
        </p:spPr>
        <p:txBody>
          <a:bodyPr vert="horz" rtlCol="0">
            <a:spAutoFit/>
          </a:bodyPr>
          <a:lstStyle/>
          <a:p>
            <a:pPr algn="ctr"/>
            <a:r>
              <a:rPr lang="nl-NL"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L</a:t>
            </a:r>
            <a:r>
              <a:rPr lang="nl-NL"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ce</a:t>
            </a:r>
            <a:r>
              <a:rPr lang="nl-NL"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AAM-CE(</a:t>
            </a:r>
            <a:r>
              <a:rPr lang="nl-NL"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nl-NL"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enh</a:t>
            </a:r>
            <a:r>
              <a:rPr lang="nl-NL"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s = 32, m = 0.2)</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文本框 28"/>
          <p:cNvSpPr txBox="1"/>
          <p:nvPr/>
        </p:nvSpPr>
        <p:spPr>
          <a:xfrm>
            <a:off x="8807450" y="5410200"/>
            <a:ext cx="29781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判别梯度回传前端</a:t>
            </a: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分类头由冻结原型初始化</a:t>
            </a:r>
          </a:p>
        </p:txBody>
      </p:sp>
      <p:sp>
        <p:nvSpPr>
          <p:cNvPr id="30" name="矩形 29"/>
          <p:cNvSpPr/>
          <p:nvPr/>
        </p:nvSpPr>
        <p:spPr>
          <a:xfrm>
            <a:off x="508000" y="6223000"/>
            <a:ext cx="11303000" cy="4318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文本框 30"/>
          <p:cNvSpPr txBox="1"/>
          <p:nvPr/>
        </p:nvSpPr>
        <p:spPr>
          <a:xfrm>
            <a:off x="508000" y="6324600"/>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仅</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更新前端</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9.20M</a:t>
            </a: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SV</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后端与</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9900</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类原型全程冻结。训练与推理共享同一冻结验证器，避免训练</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测试不一致。</a:t>
            </a:r>
          </a:p>
        </p:txBody>
      </p:sp>
      <p:sp>
        <p:nvSpPr>
          <p:cNvPr id="32" name="灯片编号占位符 31"/>
          <p:cNvSpPr>
            <a:spLocks noGrp="1"/>
          </p:cNvSpPr>
          <p:nvPr>
            <p:ph type="sldNum" sz="quarter" idx="12"/>
          </p:nvPr>
        </p:nvSpPr>
        <p:spPr>
          <a:xfrm>
            <a:off x="9448800" y="6492875"/>
            <a:ext cx="2743200" cy="365125"/>
          </a:xfrm>
        </p:spPr>
        <p:txBody>
          <a:bodyPr/>
          <a:lstStyle/>
          <a:p>
            <a:fld id="{7BF2EA3F-D088-4729-88F9-9D4FADF26323}" type="slidenum">
              <a:rPr lang="zh-CN" altLang="en-US" smtClean="0"/>
              <a:t>14</a:t>
            </a:fld>
            <a:endParaRPr lang="zh-CN" altLang="en-US" dirty="0"/>
          </a:p>
        </p:txBody>
      </p:sp>
      <p:sp>
        <p:nvSpPr>
          <p:cNvPr id="34" name="矩形 33"/>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61519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训练策略：四级加码迭代与每一步的理由</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270000"/>
            <a:ext cx="2006600" cy="50800"/>
          </a:xfrm>
          <a:prstGeom prst="rect">
            <a:avLst/>
          </a:prstGeom>
          <a:solidFill>
            <a:srgbClr val="7F7F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558800" y="1397000"/>
            <a:ext cx="1917700" cy="284693"/>
          </a:xfrm>
          <a:prstGeom prst="rect">
            <a:avLst/>
          </a:prstGeom>
          <a:noFill/>
        </p:spPr>
        <p:txBody>
          <a:bodyPr vert="horz" wrap="square" rtlCol="0">
            <a:spAutoFit/>
          </a:bodyPr>
          <a:lstStyle/>
          <a:p>
            <a:pPr algn="ctr"/>
            <a:r>
              <a:rPr lang="zh-CN" altLang="en-US" sz="12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 条件</a:t>
            </a:r>
            <a:r>
              <a:rPr lang="zh-CN" altLang="en-US" sz="12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化前端接入</a:t>
            </a:r>
          </a:p>
        </p:txBody>
      </p:sp>
      <p:sp>
        <p:nvSpPr>
          <p:cNvPr id="9" name="文本框 8"/>
          <p:cNvSpPr txBox="1"/>
          <p:nvPr/>
        </p:nvSpPr>
        <p:spPr>
          <a:xfrm>
            <a:off x="463550" y="1659555"/>
            <a:ext cx="2095500" cy="392415"/>
          </a:xfrm>
          <a:prstGeom prst="rect">
            <a:avLst/>
          </a:prstGeom>
          <a:noFill/>
        </p:spPr>
        <p:txBody>
          <a:bodyPr vert="horz" wrap="square" rtlCol="0">
            <a:spAutoFit/>
          </a:bodyPr>
          <a:lstStyle/>
          <a:p>
            <a:pPr algn="ctr">
              <a:lnSpc>
                <a:spcPct val="150000"/>
              </a:lnSpc>
            </a:pPr>
            <a:r>
              <a:rPr lang="en-US" altLang="zh-CN" sz="1300" dirty="0" err="1" smtClean="0">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13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调制</a:t>
            </a:r>
            <a:r>
              <a:rPr lang="en-US" altLang="zh-CN" sz="13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重建</a:t>
            </a:r>
            <a:r>
              <a:rPr lang="en-US" altLang="zh-CN" sz="13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分类损失</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p:cNvSpPr txBox="1"/>
          <p:nvPr/>
        </p:nvSpPr>
        <p:spPr>
          <a:xfrm>
            <a:off x="508000" y="2184400"/>
            <a:ext cx="2006600" cy="300082"/>
          </a:xfrm>
          <a:prstGeom prst="rect">
            <a:avLst/>
          </a:prstGeom>
          <a:noFill/>
        </p:spPr>
        <p:txBody>
          <a:bodyPr vert="horz" rtlCol="0">
            <a:spAutoFit/>
          </a:bodyPr>
          <a:lstStyle/>
          <a:p>
            <a:pPr algn="ctr"/>
            <a:r>
              <a:rPr lang="en-US" altLang="zh-CN" sz="13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7.38 / 9.32</a:t>
            </a:r>
            <a:endParaRPr lang="zh-CN" altLang="en-US" sz="13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右箭头 10"/>
          <p:cNvSpPr/>
          <p:nvPr/>
        </p:nvSpPr>
        <p:spPr>
          <a:xfrm>
            <a:off x="25400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矩形 11"/>
          <p:cNvSpPr/>
          <p:nvPr/>
        </p:nvSpPr>
        <p:spPr>
          <a:xfrm>
            <a:off x="27686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2768600" y="1270000"/>
            <a:ext cx="2006600" cy="50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2743200" y="1397000"/>
            <a:ext cx="2057400" cy="284693"/>
          </a:xfrm>
          <a:prstGeom prst="rect">
            <a:avLst/>
          </a:prstGeom>
          <a:noFill/>
        </p:spPr>
        <p:txBody>
          <a:bodyPr vert="horz" wrap="square" rtlCol="0">
            <a:spAutoFit/>
          </a:bodyPr>
          <a:lstStyle/>
          <a:p>
            <a:pPr algn="ctr"/>
            <a:r>
              <a:rPr lang="zh-CN" altLang="en-US" sz="1250" b="1" dirty="0" smtClean="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② </a:t>
            </a:r>
            <a:r>
              <a:rPr lang="zh-CN" altLang="en-US" sz="12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说话</a:t>
            </a:r>
            <a:r>
              <a:rPr lang="zh-CN" altLang="en-US" sz="1250" b="1" dirty="0" smtClean="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人保持损失</a:t>
            </a:r>
            <a:endParaRPr lang="zh-CN" altLang="en-US" sz="12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768600" y="1705754"/>
            <a:ext cx="2006600" cy="307777"/>
          </a:xfrm>
          <a:prstGeom prst="rect">
            <a:avLst/>
          </a:prstGeom>
          <a:noFill/>
        </p:spPr>
        <p:txBody>
          <a:bodyPr vert="horz" wrap="square" rtlCol="0">
            <a:spAutoFit/>
          </a:bodyPr>
          <a:lstStyle/>
          <a:p>
            <a:pPr algn="ctr"/>
            <a:r>
              <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保持增强前后</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身份一致</a:t>
            </a:r>
            <a:endPar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2768600" y="2184400"/>
            <a:ext cx="2006600" cy="300082"/>
          </a:xfrm>
          <a:prstGeom prst="rect">
            <a:avLst/>
          </a:prstGeom>
          <a:noFill/>
        </p:spPr>
        <p:txBody>
          <a:bodyPr vert="horz" rtlCol="0">
            <a:spAutoFit/>
          </a:bodyPr>
          <a:lstStyle/>
          <a:p>
            <a:pPr algn="ctr"/>
            <a:r>
              <a:rPr lang="en-US" altLang="zh-CN" sz="13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7.29 / 9.20</a:t>
            </a:r>
            <a:endParaRPr lang="zh-CN" altLang="en-US" sz="13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右箭头 16"/>
          <p:cNvSpPr/>
          <p:nvPr/>
        </p:nvSpPr>
        <p:spPr>
          <a:xfrm>
            <a:off x="48006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矩形 17"/>
          <p:cNvSpPr/>
          <p:nvPr/>
        </p:nvSpPr>
        <p:spPr>
          <a:xfrm>
            <a:off x="50292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5029200" y="1270000"/>
            <a:ext cx="20066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4942840" y="1390503"/>
            <a:ext cx="2255520" cy="284693"/>
          </a:xfrm>
          <a:prstGeom prst="rect">
            <a:avLst/>
          </a:prstGeom>
          <a:noFill/>
        </p:spPr>
        <p:txBody>
          <a:bodyPr vert="horz" wrap="square" rtlCol="0">
            <a:spAutoFit/>
          </a:bodyPr>
          <a:lstStyle/>
          <a:p>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③ 难</a:t>
            </a:r>
            <a:r>
              <a:rPr lang="zh-CN" altLang="en-US" sz="12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负原型</a:t>
            </a:r>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抑制 </a:t>
            </a:r>
            <a:r>
              <a:rPr lang="en-US" altLang="zh-CN"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&amp; </a:t>
            </a:r>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分类判别</a:t>
            </a:r>
            <a:endParaRPr lang="zh-CN" altLang="en-US" sz="12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4935220" y="1726475"/>
            <a:ext cx="2194560" cy="292388"/>
          </a:xfrm>
          <a:prstGeom prst="rect">
            <a:avLst/>
          </a:prstGeom>
          <a:noFill/>
        </p:spPr>
        <p:txBody>
          <a:bodyPr vert="horz" wrap="square" rtlCol="0">
            <a:spAutoFit/>
          </a:bodyPr>
          <a:lstStyle/>
          <a:p>
            <a:pPr algn="ct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难负原型抑制拉大判别间隔</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p:cNvSpPr txBox="1"/>
          <p:nvPr/>
        </p:nvSpPr>
        <p:spPr>
          <a:xfrm>
            <a:off x="5029200" y="2184400"/>
            <a:ext cx="2006600" cy="300082"/>
          </a:xfrm>
          <a:prstGeom prst="rect">
            <a:avLst/>
          </a:prstGeom>
          <a:noFill/>
        </p:spPr>
        <p:txBody>
          <a:bodyPr vert="horz" rtlCol="0">
            <a:spAutoFit/>
          </a:bodyPr>
          <a:lstStyle/>
          <a:p>
            <a:pPr algn="ctr"/>
            <a:r>
              <a:rPr lang="en-US" altLang="zh-CN" sz="13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5.24 / 6.10</a:t>
            </a:r>
            <a:endParaRPr lang="zh-CN" altLang="en-US" sz="13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右箭头 22"/>
          <p:cNvSpPr/>
          <p:nvPr/>
        </p:nvSpPr>
        <p:spPr>
          <a:xfrm>
            <a:off x="70612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矩形 23"/>
          <p:cNvSpPr/>
          <p:nvPr/>
        </p:nvSpPr>
        <p:spPr>
          <a:xfrm>
            <a:off x="72898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矩形 24"/>
          <p:cNvSpPr/>
          <p:nvPr/>
        </p:nvSpPr>
        <p:spPr>
          <a:xfrm>
            <a:off x="7289800" y="1270000"/>
            <a:ext cx="2006600" cy="508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文本框 25"/>
          <p:cNvSpPr txBox="1"/>
          <p:nvPr/>
        </p:nvSpPr>
        <p:spPr>
          <a:xfrm>
            <a:off x="7302500" y="1397000"/>
            <a:ext cx="1993900" cy="284693"/>
          </a:xfrm>
          <a:prstGeom prst="rect">
            <a:avLst/>
          </a:prstGeom>
          <a:noFill/>
        </p:spPr>
        <p:txBody>
          <a:bodyPr vert="horz" wrap="square" rtlCol="0">
            <a:spAutoFit/>
          </a:bodyPr>
          <a:lstStyle/>
          <a:p>
            <a:pPr algn="ctr"/>
            <a:r>
              <a:rPr lang="zh-CN" altLang="en-US" sz="12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④ 训练止损</a:t>
            </a:r>
            <a:endParaRPr lang="zh-CN" altLang="en-US" sz="12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p:cNvSpPr txBox="1"/>
          <p:nvPr/>
        </p:nvSpPr>
        <p:spPr>
          <a:xfrm>
            <a:off x="7289800" y="1652162"/>
            <a:ext cx="2006600" cy="356893"/>
          </a:xfrm>
          <a:prstGeom prst="rect">
            <a:avLst/>
          </a:prstGeom>
          <a:noFill/>
        </p:spPr>
        <p:txBody>
          <a:bodyPr vert="horz" wrap="square" rtlCol="0">
            <a:spAutoFit/>
          </a:bodyPr>
          <a:lstStyle/>
          <a:p>
            <a:pPr algn="ctr">
              <a:lnSpc>
                <a:spcPct val="150000"/>
              </a:lnSpc>
            </a:pP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按</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预声明止</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损线停机</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文本框 27"/>
          <p:cNvSpPr txBox="1"/>
          <p:nvPr/>
        </p:nvSpPr>
        <p:spPr>
          <a:xfrm>
            <a:off x="7289800" y="2184400"/>
            <a:ext cx="2006600" cy="300082"/>
          </a:xfrm>
          <a:prstGeom prst="rect">
            <a:avLst/>
          </a:prstGeom>
          <a:noFill/>
        </p:spPr>
        <p:txBody>
          <a:bodyPr vert="horz" rtlCol="0">
            <a:spAutoFit/>
          </a:bodyPr>
          <a:lstStyle/>
          <a:p>
            <a:pPr algn="ctr"/>
            <a:r>
              <a:rPr lang="zh-CN" altLang="en-US" sz="13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回归 → 止损</a:t>
            </a:r>
            <a:endParaRPr lang="zh-CN" altLang="en-US" sz="13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右箭头 28"/>
          <p:cNvSpPr/>
          <p:nvPr/>
        </p:nvSpPr>
        <p:spPr>
          <a:xfrm>
            <a:off x="93218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 name="矩形 29"/>
          <p:cNvSpPr/>
          <p:nvPr/>
        </p:nvSpPr>
        <p:spPr>
          <a:xfrm>
            <a:off x="95504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矩形 30"/>
          <p:cNvSpPr/>
          <p:nvPr/>
        </p:nvSpPr>
        <p:spPr>
          <a:xfrm>
            <a:off x="9550400" y="1270000"/>
            <a:ext cx="20066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 name="文本框 31"/>
          <p:cNvSpPr txBox="1"/>
          <p:nvPr/>
        </p:nvSpPr>
        <p:spPr>
          <a:xfrm>
            <a:off x="9550400" y="1397000"/>
            <a:ext cx="2006600" cy="284693"/>
          </a:xfrm>
          <a:prstGeom prst="rect">
            <a:avLst/>
          </a:prstGeom>
          <a:noFill/>
        </p:spPr>
        <p:txBody>
          <a:bodyPr vert="horz" wrap="square" rtlCol="0">
            <a:spAutoFit/>
          </a:bodyPr>
          <a:lstStyle/>
          <a:p>
            <a:pPr algn="ctr"/>
            <a:r>
              <a:rPr lang="zh-CN" altLang="en-US" sz="12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⑤ 随机时长增强</a:t>
            </a:r>
            <a:endParaRPr lang="zh-CN" altLang="en-US" sz="12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文本框 32"/>
          <p:cNvSpPr txBox="1"/>
          <p:nvPr/>
        </p:nvSpPr>
        <p:spPr>
          <a:xfrm>
            <a:off x="9550400" y="1675983"/>
            <a:ext cx="2006600" cy="356893"/>
          </a:xfrm>
          <a:prstGeom prst="rect">
            <a:avLst/>
          </a:prstGeom>
          <a:noFill/>
        </p:spPr>
        <p:txBody>
          <a:bodyPr vert="horz" wrap="square" rtlCol="0">
            <a:spAutoFit/>
          </a:bodyPr>
          <a:lstStyle/>
          <a:p>
            <a:pPr algn="ctr">
              <a:lnSpc>
                <a:spcPct val="150000"/>
              </a:lnSpc>
            </a:pPr>
            <a:r>
              <a:rPr lang="en-US" altLang="zh-CN" sz="1300" dirty="0">
                <a:latin typeface="Times New Roman" panose="02020603050405020304" pitchFamily="18" charset="0"/>
                <a:ea typeface="微软雅黑" panose="020B0503020204020204" pitchFamily="34" charset="-122"/>
                <a:cs typeface="Times New Roman" panose="02020603050405020304" pitchFamily="18" charset="0"/>
              </a:rPr>
              <a:t>1s / 2s / 3s </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随机裁切</a:t>
            </a:r>
          </a:p>
        </p:txBody>
      </p:sp>
      <p:sp>
        <p:nvSpPr>
          <p:cNvPr id="34" name="文本框 33"/>
          <p:cNvSpPr txBox="1"/>
          <p:nvPr/>
        </p:nvSpPr>
        <p:spPr>
          <a:xfrm>
            <a:off x="9550400" y="2184400"/>
            <a:ext cx="2006600" cy="300082"/>
          </a:xfrm>
          <a:prstGeom prst="rect">
            <a:avLst/>
          </a:prstGeom>
          <a:noFill/>
        </p:spPr>
        <p:txBody>
          <a:bodyPr vert="horz" rtlCol="0">
            <a:spAutoFit/>
          </a:bodyPr>
          <a:lstStyle/>
          <a:p>
            <a:pPr algn="ctr"/>
            <a:r>
              <a:rPr lang="en-US" altLang="zh-CN" sz="13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4.89 / 5.56</a:t>
            </a:r>
            <a:endParaRPr lang="zh-CN" altLang="en-US" sz="13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文本框 34"/>
          <p:cNvSpPr txBox="1"/>
          <p:nvPr/>
        </p:nvSpPr>
        <p:spPr>
          <a:xfrm>
            <a:off x="508000" y="2565400"/>
            <a:ext cx="11303000" cy="261610"/>
          </a:xfrm>
          <a:prstGeom prst="rect">
            <a:avLst/>
          </a:prstGeom>
          <a:noFill/>
        </p:spPr>
        <p:txBody>
          <a:bodyPr vert="horz" rtlCol="0">
            <a:spAutoFit/>
          </a:bodyPr>
          <a:lstStyle/>
          <a:p>
            <a:pPr algn="ct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数值为 </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EER(%)</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，顺序为 </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0 dB / −5 dB</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–④</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为冻结验证器口径，⑤为最终交付口径。</a:t>
            </a:r>
          </a:p>
        </p:txBody>
      </p:sp>
      <p:sp>
        <p:nvSpPr>
          <p:cNvPr id="36" name="矩形 35"/>
          <p:cNvSpPr/>
          <p:nvPr/>
        </p:nvSpPr>
        <p:spPr>
          <a:xfrm>
            <a:off x="508000" y="28956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685800" y="3048000"/>
            <a:ext cx="279400" cy="2794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1</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38" name="文本框 37"/>
          <p:cNvSpPr txBox="1"/>
          <p:nvPr/>
        </p:nvSpPr>
        <p:spPr>
          <a:xfrm>
            <a:off x="1066800" y="3025921"/>
            <a:ext cx="4826000" cy="315471"/>
          </a:xfrm>
          <a:prstGeom prst="rect">
            <a:avLst/>
          </a:prstGeom>
          <a:noFill/>
        </p:spPr>
        <p:txBody>
          <a:bodyPr vert="horz" rtlCol="0">
            <a:spAutoFit/>
          </a:bodyPr>
          <a:lstStyle/>
          <a:p>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为什么逐级加码</a:t>
            </a:r>
            <a:endParaRPr lang="zh-CN" altLang="en-US" sz="1450" b="1" dirty="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文本框 38"/>
          <p:cNvSpPr txBox="1"/>
          <p:nvPr/>
        </p:nvSpPr>
        <p:spPr>
          <a:xfrm>
            <a:off x="685800" y="3429000"/>
            <a:ext cx="5207000" cy="538609"/>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每阶段只引入一个核心变化，使收益来源可归因；避免多个策略同时加入后无法判断真正有效因素。</a:t>
            </a:r>
          </a:p>
        </p:txBody>
      </p:sp>
      <p:sp>
        <p:nvSpPr>
          <p:cNvPr id="40" name="矩形 39"/>
          <p:cNvSpPr/>
          <p:nvPr/>
        </p:nvSpPr>
        <p:spPr>
          <a:xfrm>
            <a:off x="6248400" y="28956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6426200" y="3048000"/>
            <a:ext cx="279400" cy="2794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2</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6832600" y="3032211"/>
            <a:ext cx="4826000" cy="315471"/>
          </a:xfrm>
          <a:prstGeom prst="rect">
            <a:avLst/>
          </a:prstGeom>
          <a:noFill/>
        </p:spPr>
        <p:txBody>
          <a:bodyPr vert="horz" rtlCol="0">
            <a:spAutoFit/>
          </a:bodyPr>
          <a:lstStyle/>
          <a:p>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为什么</a:t>
            </a:r>
            <a:r>
              <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引入难负原型抑制</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和分类判别</a:t>
            </a:r>
            <a:endPar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42"/>
          <p:cNvSpPr txBox="1"/>
          <p:nvPr/>
        </p:nvSpPr>
        <p:spPr>
          <a:xfrm>
            <a:off x="6426200" y="3429000"/>
            <a:ext cx="5207000" cy="761747"/>
          </a:xfrm>
          <a:prstGeom prst="rect">
            <a:avLst/>
          </a:prstGeom>
          <a:noFill/>
        </p:spPr>
        <p:txBody>
          <a:bodyPr vert="horz" rtlCol="0">
            <a:spAutoFit/>
          </a:bodyPr>
          <a:lstStyle/>
          <a:p>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说话人保持只能解决“像不像目标”，还需要显式解决“是否远离非目标”。因此进一步压低增强嵌入与困难非目标原型的相似度，持续扩大目标</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非目标判别间隔</a:t>
            </a:r>
          </a:p>
        </p:txBody>
      </p:sp>
      <p:sp>
        <p:nvSpPr>
          <p:cNvPr id="44" name="矩形 43"/>
          <p:cNvSpPr/>
          <p:nvPr/>
        </p:nvSpPr>
        <p:spPr>
          <a:xfrm>
            <a:off x="508000" y="44450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矩形 44"/>
          <p:cNvSpPr/>
          <p:nvPr/>
        </p:nvSpPr>
        <p:spPr>
          <a:xfrm>
            <a:off x="685800" y="4597400"/>
            <a:ext cx="279400" cy="2794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3</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46" name="文本框 45"/>
          <p:cNvSpPr txBox="1"/>
          <p:nvPr/>
        </p:nvSpPr>
        <p:spPr>
          <a:xfrm>
            <a:off x="1092200" y="4592064"/>
            <a:ext cx="4826000" cy="315471"/>
          </a:xfrm>
          <a:prstGeom prst="rect">
            <a:avLst/>
          </a:prstGeom>
          <a:noFill/>
        </p:spPr>
        <p:txBody>
          <a:bodyPr vert="horz" rtlCol="0">
            <a:spAutoFit/>
          </a:bodyPr>
          <a:lstStyle/>
          <a:p>
            <a:r>
              <a:rPr lang="zh-CN" altLang="en-US" sz="14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为什么随机时长增强</a:t>
            </a:r>
            <a:endParaRPr lang="zh-CN" altLang="en-US" sz="14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6"/>
          <p:cNvSpPr txBox="1"/>
          <p:nvPr/>
        </p:nvSpPr>
        <p:spPr>
          <a:xfrm>
            <a:off x="685800" y="4978400"/>
            <a:ext cx="5207000" cy="761747"/>
          </a:xfrm>
          <a:prstGeom prst="rect">
            <a:avLst/>
          </a:prstGeom>
          <a:noFill/>
        </p:spPr>
        <p:txBody>
          <a:bodyPr vert="horz" rtlCol="0">
            <a:spAutoFit/>
          </a:bodyPr>
          <a:lstStyle/>
          <a:p>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固定 </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s </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容易形成对固定上下文长度的依赖。随机</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1/2/3 s</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裁切既补足短语音训练分布，又通过多时长视图约束增强前端学习时长不变的说话人表征，从而起到数据增强与正则化作</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a:t>
            </a:r>
            <a:endPar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矩形 47"/>
          <p:cNvSpPr/>
          <p:nvPr/>
        </p:nvSpPr>
        <p:spPr>
          <a:xfrm>
            <a:off x="6248400" y="44450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9" name="矩形 48"/>
          <p:cNvSpPr/>
          <p:nvPr/>
        </p:nvSpPr>
        <p:spPr>
          <a:xfrm>
            <a:off x="6426200" y="4597400"/>
            <a:ext cx="279400" cy="2794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4</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50" name="文本框 49"/>
          <p:cNvSpPr txBox="1"/>
          <p:nvPr/>
        </p:nvSpPr>
        <p:spPr>
          <a:xfrm>
            <a:off x="6781800" y="4592064"/>
            <a:ext cx="4826000" cy="315471"/>
          </a:xfrm>
          <a:prstGeom prst="rect">
            <a:avLst/>
          </a:prstGeom>
          <a:noFill/>
        </p:spPr>
        <p:txBody>
          <a:bodyPr vert="horz" rtlCol="0">
            <a:spAutoFit/>
          </a:bodyPr>
          <a:lstStyle/>
          <a:p>
            <a:r>
              <a:rPr lang="zh-CN" altLang="en-US" sz="14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为什么敢于止损</a:t>
            </a:r>
            <a:endParaRPr lang="zh-CN" altLang="en-US" sz="14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文本框 50"/>
          <p:cNvSpPr txBox="1"/>
          <p:nvPr/>
        </p:nvSpPr>
        <p:spPr>
          <a:xfrm>
            <a:off x="6426200" y="4978400"/>
            <a:ext cx="5207000" cy="761747"/>
          </a:xfrm>
          <a:prstGeom prst="rect">
            <a:avLst/>
          </a:prstGeom>
          <a:noFill/>
        </p:spPr>
        <p:txBody>
          <a:bodyPr vert="horz" rtlCol="0">
            <a:spAutoFit/>
          </a:bodyPr>
          <a:lstStyle/>
          <a:p>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继续训练并非越久越好。指标出现明显回归后立即停止，避免过拟合；模型选择始终依据代理验证集，不利用官方测试集反复调参。</a:t>
            </a:r>
          </a:p>
        </p:txBody>
      </p:sp>
      <p:sp>
        <p:nvSpPr>
          <p:cNvPr id="52" name="矩形 51"/>
          <p:cNvSpPr/>
          <p:nvPr/>
        </p:nvSpPr>
        <p:spPr>
          <a:xfrm>
            <a:off x="508000" y="5994400"/>
            <a:ext cx="11303000" cy="457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3" name="文本框 52"/>
          <p:cNvSpPr txBox="1"/>
          <p:nvPr/>
        </p:nvSpPr>
        <p:spPr>
          <a:xfrm>
            <a:off x="508000" y="6065264"/>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训练配置：</a:t>
            </a:r>
            <a:r>
              <a:rPr lang="en-US" altLang="zh-CN" sz="1450" b="1" dirty="0" err="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lr</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 1e</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−5 · </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batch = 2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每级</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轮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seed = 2026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4×Tesla P100</a:t>
            </a:r>
            <a:endPar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灯片编号占位符 53"/>
          <p:cNvSpPr>
            <a:spLocks noGrp="1"/>
          </p:cNvSpPr>
          <p:nvPr>
            <p:ph type="sldNum" sz="quarter" idx="12"/>
          </p:nvPr>
        </p:nvSpPr>
        <p:spPr>
          <a:xfrm>
            <a:off x="9423400" y="6492875"/>
            <a:ext cx="2743200" cy="365125"/>
          </a:xfrm>
        </p:spPr>
        <p:txBody>
          <a:bodyPr/>
          <a:lstStyle/>
          <a:p>
            <a:fld id="{7BF2EA3F-D088-4729-88F9-9D4FADF26323}" type="slidenum">
              <a:rPr lang="zh-CN" altLang="en-US" smtClean="0"/>
              <a:t>15</a:t>
            </a:fld>
            <a:endParaRPr lang="zh-CN" altLang="en-US" dirty="0"/>
          </a:p>
        </p:txBody>
      </p:sp>
      <p:sp>
        <p:nvSpPr>
          <p:cNvPr id="55" name="矩形 5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667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877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主结果</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三后端交付性能</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 s EER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验收档</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90746653"/>
              </p:ext>
            </p:extLst>
          </p:nvPr>
        </p:nvGraphicFramePr>
        <p:xfrm>
          <a:off x="508000" y="990600"/>
          <a:ext cx="11302998" cy="1219200"/>
        </p:xfrm>
        <a:graphic>
          <a:graphicData uri="http://schemas.openxmlformats.org/drawingml/2006/table">
            <a:tbl>
              <a:tblPr firstRow="1" bandRow="1">
                <a:tableStyleId>{5C22544A-7EE6-4342-B048-85BDC9FD1C3A}</a:tableStyleId>
              </a:tblPr>
              <a:tblGrid>
                <a:gridCol w="1883833">
                  <a:extLst>
                    <a:ext uri="{9D8B030D-6E8A-4147-A177-3AD203B41FA5}">
                      <a16:colId xmlns:a16="http://schemas.microsoft.com/office/drawing/2014/main" val="353885945"/>
                    </a:ext>
                  </a:extLst>
                </a:gridCol>
                <a:gridCol w="1883833">
                  <a:extLst>
                    <a:ext uri="{9D8B030D-6E8A-4147-A177-3AD203B41FA5}">
                      <a16:colId xmlns:a16="http://schemas.microsoft.com/office/drawing/2014/main" val="518618098"/>
                    </a:ext>
                  </a:extLst>
                </a:gridCol>
                <a:gridCol w="1883833">
                  <a:extLst>
                    <a:ext uri="{9D8B030D-6E8A-4147-A177-3AD203B41FA5}">
                      <a16:colId xmlns:a16="http://schemas.microsoft.com/office/drawing/2014/main" val="418081240"/>
                    </a:ext>
                  </a:extLst>
                </a:gridCol>
                <a:gridCol w="1883833">
                  <a:extLst>
                    <a:ext uri="{9D8B030D-6E8A-4147-A177-3AD203B41FA5}">
                      <a16:colId xmlns:a16="http://schemas.microsoft.com/office/drawing/2014/main" val="768937280"/>
                    </a:ext>
                  </a:extLst>
                </a:gridCol>
                <a:gridCol w="1883833">
                  <a:extLst>
                    <a:ext uri="{9D8B030D-6E8A-4147-A177-3AD203B41FA5}">
                      <a16:colId xmlns:a16="http://schemas.microsoft.com/office/drawing/2014/main" val="68794977"/>
                    </a:ext>
                  </a:extLst>
                </a:gridCol>
                <a:gridCol w="1883833">
                  <a:extLst>
                    <a:ext uri="{9D8B030D-6E8A-4147-A177-3AD203B41FA5}">
                      <a16:colId xmlns:a16="http://schemas.microsoft.com/office/drawing/2014/main" val="1062038068"/>
                    </a:ext>
                  </a:extLst>
                </a:gridCol>
              </a:tblGrid>
              <a:tr h="304800">
                <a:tc>
                  <a:txBody>
                    <a:bodyPr/>
                    <a:lstStyle/>
                    <a:p>
                      <a:pPr algn="ct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 dB EER(raw →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前端</a:t>
                      </a: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dB EER(raw →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前端</a:t>
                      </a: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 dB EER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相对降幅</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dB EER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相对降幅</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是否达标</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926233933"/>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主力</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 → 4.89</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 → 5.56</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-41.7%</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达标</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1271587839"/>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经典</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11.15 → 6.32</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14.36 → 7.13</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-43.3%</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-50.3%</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达标</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84435077"/>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ReDimNet2-B6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轻量</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9.94 → 7.58</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13.03 → 9.35</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-23.7%</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-28.2%</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未达到 </a:t>
                      </a:r>
                      <a:r>
                        <a:rPr lang="en-US" altLang="zh-CN"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 </a:t>
                      </a:r>
                      <a:r>
                        <a:rPr lang="zh-CN" altLang="en-US"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验收线</a:t>
                      </a:r>
                      <a:endParaRPr lang="zh-CN" altLang="en-US" sz="120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405893269"/>
                  </a:ext>
                </a:extLst>
              </a:tr>
            </a:tbl>
          </a:graphicData>
        </a:graphic>
      </p:graphicFrame>
      <p:pic>
        <p:nvPicPr>
          <p:cNvPr id="7" name="图片 6"/>
          <p:cNvPicPr>
            <a:picLocks/>
          </p:cNvPicPr>
          <p:nvPr/>
        </p:nvPicPr>
        <p:blipFill rotWithShape="1">
          <a:blip r:embed="rId3">
            <a:extLst>
              <a:ext uri="{28A0092B-C50C-407E-A947-70E740481C1C}">
                <a14:useLocalDpi xmlns:a14="http://schemas.microsoft.com/office/drawing/2010/main" val="0"/>
              </a:ext>
            </a:extLst>
          </a:blip>
          <a:srcRect t="9411"/>
          <a:stretch/>
        </p:blipFill>
        <p:spPr>
          <a:xfrm>
            <a:off x="508000" y="2702010"/>
            <a:ext cx="11156950" cy="2887705"/>
          </a:xfrm>
          <a:prstGeom prst="rect">
            <a:avLst/>
          </a:prstGeom>
        </p:spPr>
      </p:pic>
      <p:sp>
        <p:nvSpPr>
          <p:cNvPr id="8" name="矩形 7"/>
          <p:cNvSpPr/>
          <p:nvPr/>
        </p:nvSpPr>
        <p:spPr>
          <a:xfrm>
            <a:off x="508000" y="5943600"/>
            <a:ext cx="11303000" cy="406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文本框 8"/>
          <p:cNvSpPr txBox="1"/>
          <p:nvPr/>
        </p:nvSpPr>
        <p:spPr>
          <a:xfrm>
            <a:off x="508000" y="6000606"/>
            <a:ext cx="11303000" cy="292388"/>
          </a:xfrm>
          <a:prstGeom prst="rect">
            <a:avLst/>
          </a:prstGeom>
          <a:noFill/>
        </p:spPr>
        <p:txBody>
          <a:bodyPr vert="horz" rtlCol="0">
            <a:spAutoFit/>
          </a:bodyPr>
          <a:lstStyle/>
          <a:p>
            <a:pPr algn="ctr"/>
            <a:r>
              <a:rPr lang="zh-CN" altLang="en-US" sz="13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结论</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：主力后端（</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ERes2Net</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ECAPA</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）均超过</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验收线，轻量后端（</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ReDimNet-B6</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）接近验收</a:t>
            </a:r>
            <a:r>
              <a:rPr lang="zh-CN" altLang="en-US" sz="13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目标。</a:t>
            </a:r>
            <a:endPar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7BF2EA3F-D088-4729-88F9-9D4FADF26323}" type="slidenum">
              <a:rPr lang="zh-CN" altLang="en-US" smtClean="0"/>
              <a:t>17</a:t>
            </a:fld>
            <a:endParaRPr lang="zh-CN" altLang="en-US"/>
          </a:p>
        </p:txBody>
      </p:sp>
    </p:spTree>
    <p:extLst>
      <p:ext uri="{BB962C8B-B14F-4D97-AF65-F5344CB8AC3E}">
        <p14:creationId xmlns:p14="http://schemas.microsoft.com/office/powerpoint/2010/main" val="1660111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听</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感演示：主验收样例（</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 dB</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 s</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Speaker 06154</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524000"/>
            <a:ext cx="3556000" cy="63500"/>
          </a:xfrm>
          <a:prstGeom prst="rect">
            <a:avLst/>
          </a:prstGeom>
          <a:solidFill>
            <a:srgbClr val="7F7F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711200" y="1778000"/>
            <a:ext cx="3149600" cy="315471"/>
          </a:xfrm>
          <a:prstGeom prst="rect">
            <a:avLst/>
          </a:prstGeom>
          <a:noFill/>
        </p:spPr>
        <p:txBody>
          <a:bodyPr vert="horz" rtlCol="0">
            <a:spAutoFit/>
          </a:bodyPr>
          <a:lstStyle/>
          <a:p>
            <a:r>
              <a:rPr lang="zh-CN" altLang="en-US"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 增强前 </a:t>
            </a:r>
            <a:r>
              <a:rPr lang="en-US" altLang="zh-CN"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0 dB </a:t>
            </a:r>
            <a:r>
              <a:rPr lang="zh-CN" altLang="en-US"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带噪输入 </a:t>
            </a:r>
            <a:r>
              <a:rPr lang="en-US" altLang="zh-CN"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Noisy</a:t>
            </a:r>
            <a:endParaRPr lang="zh-CN" altLang="en-US" sz="14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711200" y="2184400"/>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目标语音与干扰</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噪声</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等强混合</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noise_0db_01_3D_SPK_06154_1原始带噪">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924908" y="2783250"/>
            <a:ext cx="720000" cy="720000"/>
          </a:xfrm>
          <a:prstGeom prst="rect">
            <a:avLst/>
          </a:prstGeom>
        </p:spPr>
      </p:pic>
      <p:sp>
        <p:nvSpPr>
          <p:cNvPr id="11" name="文本框 10"/>
          <p:cNvSpPr txBox="1"/>
          <p:nvPr/>
        </p:nvSpPr>
        <p:spPr>
          <a:xfrm>
            <a:off x="710108" y="3731934"/>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431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4318000" y="1524000"/>
            <a:ext cx="3556000" cy="635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4521200" y="1778000"/>
            <a:ext cx="3149600" cy="315471"/>
          </a:xfrm>
          <a:prstGeom prst="rect">
            <a:avLst/>
          </a:prstGeom>
          <a:noFill/>
        </p:spPr>
        <p:txBody>
          <a:bodyPr vert="horz" rtlCol="0">
            <a:spAutoFit/>
          </a:bodyPr>
          <a:lstStyle/>
          <a:p>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② 增强后 </a:t>
            </a:r>
            <a:r>
              <a:rPr lang="en-US" altLang="zh-CN"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交付前端输出 </a:t>
            </a:r>
            <a:r>
              <a:rPr lang="en-US" altLang="zh-CN" sz="1450" b="1" dirty="0" err="1"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Denoise</a:t>
            </a:r>
            <a:endParaRPr lang="zh-CN" altLang="en-US" sz="1450" b="1" dirty="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4521200" y="2184400"/>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前端只保留目标说话人的语音</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 name="noise_0db_01_3D_SPK_06154_2增强后">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5734908" y="2783250"/>
            <a:ext cx="720000" cy="720000"/>
          </a:xfrm>
          <a:prstGeom prst="rect">
            <a:avLst/>
          </a:prstGeom>
        </p:spPr>
      </p:pic>
      <p:sp>
        <p:nvSpPr>
          <p:cNvPr id="17" name="文本框 16"/>
          <p:cNvSpPr txBox="1"/>
          <p:nvPr/>
        </p:nvSpPr>
        <p:spPr>
          <a:xfrm>
            <a:off x="4520108" y="3731934"/>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812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8128000" y="1524000"/>
            <a:ext cx="3556000" cy="635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8331200" y="1778000"/>
            <a:ext cx="3149600" cy="315471"/>
          </a:xfrm>
          <a:prstGeom prst="rect">
            <a:avLst/>
          </a:prstGeom>
          <a:noFill/>
        </p:spPr>
        <p:txBody>
          <a:bodyPr vert="horz" rtlCol="0">
            <a:spAutoFit/>
          </a:bodyPr>
          <a:lstStyle/>
          <a:p>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③ 参考</a:t>
            </a:r>
            <a:r>
              <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语音</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同一说话人 </a:t>
            </a:r>
            <a:r>
              <a:rPr lang="en-US" altLang="zh-CN"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lean</a:t>
            </a:r>
            <a:endPar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8331200" y="2184400"/>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增强后音质的对齐目标</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2" name="clean_01_3D_SPK_06154_1原始带噪">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9544908" y="2783250"/>
            <a:ext cx="720000" cy="720000"/>
          </a:xfrm>
          <a:prstGeom prst="rect">
            <a:avLst/>
          </a:prstGeom>
        </p:spPr>
      </p:pic>
      <p:sp>
        <p:nvSpPr>
          <p:cNvPr id="23" name="文本框 22"/>
          <p:cNvSpPr txBox="1"/>
          <p:nvPr/>
        </p:nvSpPr>
        <p:spPr>
          <a:xfrm>
            <a:off x="8330108" y="3731934"/>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矩形 23"/>
          <p:cNvSpPr/>
          <p:nvPr/>
        </p:nvSpPr>
        <p:spPr>
          <a:xfrm>
            <a:off x="508000" y="5181600"/>
            <a:ext cx="11303000" cy="508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文本框 24"/>
          <p:cNvSpPr txBox="1"/>
          <p:nvPr/>
        </p:nvSpPr>
        <p:spPr>
          <a:xfrm>
            <a:off x="508000" y="5289448"/>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试</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听关注：✓ </a:t>
            </a: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干扰被</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抑制 ✓ 目标说话人完整保留 ✓增强音质接近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clean reference</a:t>
            </a:r>
          </a:p>
        </p:txBody>
      </p:sp>
      <p:sp>
        <p:nvSpPr>
          <p:cNvPr id="26" name="矩形 25"/>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7BF2EA3F-D088-4729-88F9-9D4FADF26323}" type="slidenum">
              <a:rPr lang="zh-CN" altLang="en-US" smtClean="0"/>
              <a:t>18</a:t>
            </a:fld>
            <a:endParaRPr lang="zh-CN" altLang="en-US"/>
          </a:p>
        </p:txBody>
      </p:sp>
    </p:spTree>
    <p:extLst>
      <p:ext uri="{BB962C8B-B14F-4D97-AF65-F5344CB8AC3E}">
        <p14:creationId xmlns:p14="http://schemas.microsoft.com/office/powerpoint/2010/main" val="6965253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 fill="hold"/>
                                        <p:tgtEl>
                                          <p:spTgt spid="10"/>
                                        </p:tgtEl>
                                      </p:cBhvr>
                                    </p:cmd>
                                  </p:childTnLst>
                                </p:cTn>
                              </p:par>
                            </p:childTnLst>
                          </p:cTn>
                        </p:par>
                      </p:childTnLst>
                    </p:cTn>
                  </p:par>
                </p:childTnLst>
              </p:cTn>
              <p:nextCondLst>
                <p:cond evt="onClick" delay="0">
                  <p:tgtEl>
                    <p:spTgt spid="10"/>
                  </p:tgtEl>
                </p:cond>
              </p:nextCondLst>
            </p:seq>
            <p:audio>
              <p:cMediaNode vol="80000">
                <p:cTn id="7" fill="hold" display="0">
                  <p:stCondLst>
                    <p:cond delay="indefinite"/>
                  </p:stCondLst>
                  <p:endCondLst>
                    <p:cond evt="onStopAudio" delay="0">
                      <p:tgtEl>
                        <p:sldTgt/>
                      </p:tgtEl>
                    </p:cond>
                  </p:endCondLst>
                </p:cTn>
                <p:tgtEl>
                  <p:spTgt spid="10"/>
                </p:tgtEl>
              </p:cMediaNode>
            </p:audi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3000" fill="hold"/>
                                        <p:tgtEl>
                                          <p:spTgt spid="16"/>
                                        </p:tgtEl>
                                      </p:cBhvr>
                                    </p:cmd>
                                  </p:childTnLst>
                                </p:cTn>
                              </p:par>
                            </p:childTnLst>
                          </p:cTn>
                        </p:par>
                      </p:childTnLst>
                    </p:cTn>
                  </p:par>
                </p:childTnLst>
              </p:cTn>
              <p:nextCondLst>
                <p:cond evt="onClick" delay="0">
                  <p:tgtEl>
                    <p:spTgt spid="16"/>
                  </p:tgtEl>
                </p:cond>
              </p:nextCondLst>
            </p:seq>
            <p:audio>
              <p:cMediaNode vol="80000">
                <p:cTn id="13" fill="hold" display="0">
                  <p:stCondLst>
                    <p:cond delay="indefinite"/>
                  </p:stCondLst>
                  <p:endCondLst>
                    <p:cond evt="onStopAudio" delay="0">
                      <p:tgtEl>
                        <p:sldTgt/>
                      </p:tgtEl>
                    </p:cond>
                  </p:endCondLst>
                </p:cTn>
                <p:tgtEl>
                  <p:spTgt spid="16"/>
                </p:tgtEl>
              </p:cMediaNode>
            </p:audio>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000" fill="hold"/>
                                        <p:tgtEl>
                                          <p:spTgt spid="22"/>
                                        </p:tgtEl>
                                      </p:cBhvr>
                                    </p:cmd>
                                  </p:childTnLst>
                                </p:cTn>
                              </p:par>
                            </p:childTnLst>
                          </p:cTn>
                        </p:par>
                      </p:childTnLst>
                    </p:cTn>
                  </p:par>
                </p:childTnLst>
              </p:cTn>
              <p:nextCondLst>
                <p:cond evt="onClick" delay="0">
                  <p:tgtEl>
                    <p:spTgt spid="22"/>
                  </p:tgtEl>
                </p:cond>
              </p:nextCondLst>
            </p:seq>
            <p:audio>
              <p:cMediaNode vol="80000">
                <p:cTn id="19" fill="hold" display="0">
                  <p:stCondLst>
                    <p:cond delay="indefinite"/>
                  </p:stCondLst>
                  <p:endCondLst>
                    <p:cond evt="onStopAudio" delay="0">
                      <p:tgtEl>
                        <p:sldTgt/>
                      </p:tgtEl>
                    </p:cond>
                  </p:endCondLst>
                </p:cTn>
                <p:tgtEl>
                  <p:spTgt spid="2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噪声域泛化：非人声噪声稳定迁移，人声干扰仍是瓶颈</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762000" y="1094317"/>
            <a:ext cx="10668000" cy="3678767"/>
          </a:xfrm>
          <a:prstGeom prst="rect">
            <a:avLst/>
          </a:prstGeom>
        </p:spPr>
      </p:pic>
      <p:sp>
        <p:nvSpPr>
          <p:cNvPr id="7" name="文本框 6"/>
          <p:cNvSpPr txBox="1"/>
          <p:nvPr/>
        </p:nvSpPr>
        <p:spPr>
          <a:xfrm>
            <a:off x="762000" y="4902200"/>
            <a:ext cx="10668000" cy="820994"/>
          </a:xfrm>
          <a:prstGeom prst="rect">
            <a:avLst/>
          </a:prstGeom>
          <a:noFill/>
        </p:spPr>
        <p:txBody>
          <a:bodyPr vert="horz" rtlCol="0">
            <a:spAutoFit/>
          </a:bodyPr>
          <a:lstStyle/>
          <a:p>
            <a:pPr marL="285750" indent="-285750">
              <a:lnSpc>
                <a:spcPct val="150000"/>
              </a:lnSpc>
              <a:spcAft>
                <a:spcPts val="600"/>
              </a:spcAft>
              <a:buFont typeface="Wingdings" panose="05000000000000000000" pitchFamily="2" charset="2"/>
              <a:buChar char="Ø"/>
            </a:pP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未见的 </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music </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15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soundbible</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噪声域仍保持约</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40%</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相对提升，说明方法未过拟合主验收</a:t>
            </a: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池</a:t>
            </a:r>
            <a:endParaRPr lang="en-US" altLang="zh-CN"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spcAft>
                <a:spcPts val="600"/>
              </a:spcAft>
              <a:buFont typeface="Wingdings" panose="05000000000000000000" pitchFamily="2" charset="2"/>
              <a:buChar char="Ø"/>
            </a:pP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竞争</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说话人域提升明显下降，与重叠语音结果一致，说明人声干扰仍是当前主要瓶颈</a:t>
            </a: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 name="矩形 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矩形 8"/>
          <p:cNvSpPr/>
          <p:nvPr/>
        </p:nvSpPr>
        <p:spPr>
          <a:xfrm>
            <a:off x="3921210" y="1680518"/>
            <a:ext cx="2001795" cy="5189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灯片编号占位符 9"/>
          <p:cNvSpPr>
            <a:spLocks noGrp="1"/>
          </p:cNvSpPr>
          <p:nvPr>
            <p:ph type="sldNum" sz="quarter" idx="12"/>
          </p:nvPr>
        </p:nvSpPr>
        <p:spPr/>
        <p:txBody>
          <a:bodyPr/>
          <a:lstStyle/>
          <a:p>
            <a:fld id="{7BF2EA3F-D088-4729-88F9-9D4FADF26323}" type="slidenum">
              <a:rPr lang="zh-CN" altLang="en-US" smtClean="0"/>
              <a:t>19</a:t>
            </a:fld>
            <a:endParaRPr lang="zh-CN" altLang="en-US"/>
          </a:p>
        </p:txBody>
      </p:sp>
    </p:spTree>
    <p:extLst>
      <p:ext uri="{BB962C8B-B14F-4D97-AF65-F5344CB8AC3E}">
        <p14:creationId xmlns:p14="http://schemas.microsoft.com/office/powerpoint/2010/main" val="7417074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扩展验证</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不同场景下的泛化能力</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508000" y="1067671"/>
            <a:ext cx="5334000" cy="4062257"/>
          </a:xfrm>
          <a:prstGeom prst="rect">
            <a:avLst/>
          </a:prstGeom>
        </p:spPr>
      </p:pic>
      <p:sp>
        <p:nvSpPr>
          <p:cNvPr id="7" name="矩形 6"/>
          <p:cNvSpPr/>
          <p:nvPr/>
        </p:nvSpPr>
        <p:spPr>
          <a:xfrm>
            <a:off x="508000" y="5257800"/>
            <a:ext cx="5334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584200" y="5383109"/>
            <a:ext cx="5664201" cy="284693"/>
          </a:xfrm>
          <a:prstGeom prst="rect">
            <a:avLst/>
          </a:prstGeom>
          <a:noFill/>
        </p:spPr>
        <p:txBody>
          <a:bodyPr vert="horz" wrap="square" rtlCol="0">
            <a:spAutoFit/>
          </a:bodyPr>
          <a:lstStyle/>
          <a:p>
            <a:r>
              <a:rPr lang="zh-CN" altLang="en-US" sz="1250" b="1" dirty="0">
                <a:latin typeface="Times New Roman" panose="02020603050405020304" pitchFamily="18" charset="0"/>
                <a:ea typeface="微软雅黑" panose="020B0503020204020204" pitchFamily="34" charset="-122"/>
                <a:cs typeface="Times New Roman" panose="02020603050405020304" pitchFamily="18" charset="0"/>
              </a:rPr>
              <a:t>时长泛化</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3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5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均满足验收线；</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1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提升</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26.9%</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，仍存在约</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3 pp</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提升空间。</a:t>
            </a:r>
          </a:p>
        </p:txBody>
      </p:sp>
      <p:pic>
        <p:nvPicPr>
          <p:cNvPr id="9" name="图片 8"/>
          <p:cNvPicPr>
            <a:picLocks/>
          </p:cNvPicPr>
          <p:nvPr/>
        </p:nvPicPr>
        <p:blipFill>
          <a:blip r:embed="rId4">
            <a:extLst>
              <a:ext uri="{28A0092B-C50C-407E-A947-70E740481C1C}">
                <a14:useLocalDpi xmlns:a14="http://schemas.microsoft.com/office/drawing/2010/main" val="0"/>
              </a:ext>
            </a:extLst>
          </a:blip>
          <a:stretch>
            <a:fillRect/>
          </a:stretch>
        </p:blipFill>
        <p:spPr>
          <a:xfrm>
            <a:off x="6096000" y="1068130"/>
            <a:ext cx="5588000" cy="2130940"/>
          </a:xfrm>
          <a:prstGeom prst="rect">
            <a:avLst/>
          </a:prstGeom>
        </p:spPr>
      </p:pic>
      <p:sp>
        <p:nvSpPr>
          <p:cNvPr id="10" name="矩形 9"/>
          <p:cNvSpPr/>
          <p:nvPr/>
        </p:nvSpPr>
        <p:spPr>
          <a:xfrm>
            <a:off x="6096000" y="3276600"/>
            <a:ext cx="5588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文本框 10"/>
          <p:cNvSpPr txBox="1"/>
          <p:nvPr/>
        </p:nvSpPr>
        <p:spPr>
          <a:xfrm>
            <a:off x="6096000" y="3403600"/>
            <a:ext cx="5715000" cy="284693"/>
          </a:xfrm>
          <a:prstGeom prst="rect">
            <a:avLst/>
          </a:prstGeom>
          <a:noFill/>
        </p:spPr>
        <p:txBody>
          <a:bodyPr vert="horz" wrap="square" rtlCol="0">
            <a:spAutoFit/>
          </a:bodyPr>
          <a:lstStyle/>
          <a:p>
            <a:r>
              <a:rPr lang="zh-CN" altLang="en-US" sz="1250" b="1" dirty="0" smtClean="0">
                <a:latin typeface="Times New Roman" panose="02020603050405020304" pitchFamily="18" charset="0"/>
                <a:ea typeface="微软雅黑" panose="020B0503020204020204" pitchFamily="34" charset="-122"/>
                <a:cs typeface="Times New Roman" panose="02020603050405020304" pitchFamily="18" charset="0"/>
              </a:rPr>
              <a:t>复杂场景泛化</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：非人</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声场景可稳定迁移，多说话人重叠仍是当前主要瓶颈。</a:t>
            </a:r>
          </a:p>
        </p:txBody>
      </p:sp>
      <p:pic>
        <p:nvPicPr>
          <p:cNvPr id="12" name="图片 11"/>
          <p:cNvPicPr>
            <a:picLocks/>
          </p:cNvPicPr>
          <p:nvPr/>
        </p:nvPicPr>
        <p:blipFill>
          <a:blip r:embed="rId5">
            <a:extLst>
              <a:ext uri="{28A0092B-C50C-407E-A947-70E740481C1C}">
                <a14:useLocalDpi xmlns:a14="http://schemas.microsoft.com/office/drawing/2010/main" val="0"/>
              </a:ext>
            </a:extLst>
          </a:blip>
          <a:stretch>
            <a:fillRect/>
          </a:stretch>
        </p:blipFill>
        <p:spPr>
          <a:xfrm>
            <a:off x="6096000" y="3785930"/>
            <a:ext cx="5588000" cy="2130940"/>
          </a:xfrm>
          <a:prstGeom prst="rect">
            <a:avLst/>
          </a:prstGeom>
        </p:spPr>
      </p:pic>
      <p:sp>
        <p:nvSpPr>
          <p:cNvPr id="13" name="矩形 12"/>
          <p:cNvSpPr/>
          <p:nvPr/>
        </p:nvSpPr>
        <p:spPr>
          <a:xfrm>
            <a:off x="6096000" y="5994400"/>
            <a:ext cx="5588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6096000" y="6110030"/>
            <a:ext cx="5715001" cy="477054"/>
          </a:xfrm>
          <a:prstGeom prst="rect">
            <a:avLst/>
          </a:prstGeom>
          <a:noFill/>
        </p:spPr>
        <p:txBody>
          <a:bodyPr vert="horz" wrap="square" rtlCol="0">
            <a:spAutoFit/>
          </a:bodyPr>
          <a:lstStyle/>
          <a:p>
            <a:r>
              <a:rPr lang="zh-CN" altLang="en-US" sz="1250" b="1" dirty="0">
                <a:latin typeface="Times New Roman" panose="02020603050405020304" pitchFamily="18" charset="0"/>
                <a:ea typeface="微软雅黑" panose="020B0503020204020204" pitchFamily="34" charset="-122"/>
                <a:cs typeface="Times New Roman" panose="02020603050405020304" pitchFamily="18" charset="0"/>
              </a:rPr>
              <a:t>注册退化泛化</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：注册语音降至 </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仍保持约 </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50% </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提升</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对</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注册端噪声具有一定鲁棒性</a:t>
            </a:r>
          </a:p>
        </p:txBody>
      </p:sp>
      <p:sp>
        <p:nvSpPr>
          <p:cNvPr id="15" name="矩形 1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灯片编号占位符 15"/>
          <p:cNvSpPr>
            <a:spLocks noGrp="1"/>
          </p:cNvSpPr>
          <p:nvPr>
            <p:ph type="sldNum" sz="quarter" idx="12"/>
          </p:nvPr>
        </p:nvSpPr>
        <p:spPr/>
        <p:txBody>
          <a:bodyPr/>
          <a:lstStyle/>
          <a:p>
            <a:fld id="{7BF2EA3F-D088-4729-88F9-9D4FADF26323}" type="slidenum">
              <a:rPr lang="zh-CN" altLang="en-US" smtClean="0"/>
              <a:t>20</a:t>
            </a:fld>
            <a:endParaRPr lang="zh-CN" altLang="en-US"/>
          </a:p>
        </p:txBody>
      </p:sp>
    </p:spTree>
    <p:extLst>
      <p:ext uri="{BB962C8B-B14F-4D97-AF65-F5344CB8AC3E}">
        <p14:creationId xmlns:p14="http://schemas.microsoft.com/office/powerpoint/2010/main" val="2080816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微软雅黑" panose="020B0503020204020204" pitchFamily="34" charset="-122"/>
                <a:ea typeface="微软雅黑" panose="020B0503020204020204" pitchFamily="34" charset="-122"/>
              </a:rPr>
              <a:t>工程工作点验证与失败样本分析</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18010"/>
            <a:ext cx="11303000" cy="5104581"/>
          </a:xfrm>
          <a:prstGeom prst="rect">
            <a:avLst/>
          </a:prstGeom>
        </p:spPr>
      </p:pic>
      <p:sp>
        <p:nvSpPr>
          <p:cNvPr id="7" name="矩形 6"/>
          <p:cNvSpPr/>
          <p:nvPr/>
        </p:nvSpPr>
        <p:spPr>
          <a:xfrm>
            <a:off x="508000" y="6350000"/>
            <a:ext cx="11303000" cy="381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84200" y="6382764"/>
            <a:ext cx="11303000" cy="315471"/>
          </a:xfrm>
          <a:prstGeom prst="rect">
            <a:avLst/>
          </a:prstGeom>
          <a:noFill/>
        </p:spPr>
        <p:txBody>
          <a:bodyPr vert="horz" rtlCol="0">
            <a:spAutoFit/>
          </a:bodyPr>
          <a:lstStyle/>
          <a:p>
            <a:pPr algn="ctr"/>
            <a:r>
              <a:rPr lang="zh-CN" altLang="en-US" sz="1450" b="1" dirty="0">
                <a:solidFill>
                  <a:srgbClr val="1F3864"/>
                </a:solidFill>
                <a:latin typeface="微软雅黑" panose="020B0503020204020204" pitchFamily="34" charset="-122"/>
                <a:ea typeface="微软雅黑" panose="020B0503020204020204" pitchFamily="34" charset="-122"/>
              </a:rPr>
              <a:t>工程指标：</a:t>
            </a:r>
            <a:r>
              <a:rPr lang="en-US" altLang="zh-CN" sz="1450" b="1" dirty="0" err="1">
                <a:solidFill>
                  <a:srgbClr val="1F3864"/>
                </a:solidFill>
                <a:latin typeface="微软雅黑" panose="020B0503020204020204" pitchFamily="34" charset="-122"/>
                <a:ea typeface="微软雅黑" panose="020B0503020204020204" pitchFamily="34" charset="-122"/>
              </a:rPr>
              <a:t>minDCF</a:t>
            </a:r>
            <a:r>
              <a:rPr lang="en-US" altLang="zh-CN" sz="1450" b="1" dirty="0">
                <a:solidFill>
                  <a:srgbClr val="1F3864"/>
                </a:solidFill>
                <a:latin typeface="微软雅黑" panose="020B0503020204020204" pitchFamily="34" charset="-122"/>
                <a:ea typeface="微软雅黑" panose="020B0503020204020204" pitchFamily="34" charset="-122"/>
              </a:rPr>
              <a:t> </a:t>
            </a:r>
            <a:r>
              <a:rPr lang="zh-CN" altLang="en-US" sz="1450" b="1" dirty="0">
                <a:solidFill>
                  <a:srgbClr val="1F3864"/>
                </a:solidFill>
                <a:latin typeface="微软雅黑" panose="020B0503020204020204" pitchFamily="34" charset="-122"/>
                <a:ea typeface="微软雅黑" panose="020B0503020204020204" pitchFamily="34" charset="-122"/>
              </a:rPr>
              <a:t>与固定阈值工作点均与 </a:t>
            </a:r>
            <a:r>
              <a:rPr lang="en-US" altLang="zh-CN" sz="1450" b="1" dirty="0">
                <a:solidFill>
                  <a:srgbClr val="1F3864"/>
                </a:solidFill>
                <a:latin typeface="微软雅黑" panose="020B0503020204020204" pitchFamily="34" charset="-122"/>
                <a:ea typeface="微软雅黑" panose="020B0503020204020204" pitchFamily="34" charset="-122"/>
              </a:rPr>
              <a:t>EER </a:t>
            </a:r>
            <a:r>
              <a:rPr lang="zh-CN" altLang="en-US" sz="1450" b="1" dirty="0">
                <a:solidFill>
                  <a:srgbClr val="1F3864"/>
                </a:solidFill>
                <a:latin typeface="微软雅黑" panose="020B0503020204020204" pitchFamily="34" charset="-122"/>
                <a:ea typeface="微软雅黑" panose="020B0503020204020204" pitchFamily="34" charset="-122"/>
              </a:rPr>
              <a:t>同向改善</a:t>
            </a:r>
            <a:r>
              <a:rPr lang="zh-CN" altLang="en-US" sz="1450" b="1" dirty="0" smtClean="0">
                <a:solidFill>
                  <a:srgbClr val="1F3864"/>
                </a:solidFill>
                <a:latin typeface="微软雅黑" panose="020B0503020204020204" pitchFamily="34" charset="-122"/>
                <a:ea typeface="微软雅黑" panose="020B0503020204020204" pitchFamily="34" charset="-122"/>
              </a:rPr>
              <a:t>。      训练</a:t>
            </a:r>
            <a:r>
              <a:rPr lang="zh-CN" altLang="en-US" sz="1450" b="1" dirty="0">
                <a:solidFill>
                  <a:srgbClr val="1F3864"/>
                </a:solidFill>
                <a:latin typeface="微软雅黑" panose="020B0503020204020204" pitchFamily="34" charset="-122"/>
                <a:ea typeface="微软雅黑" panose="020B0503020204020204" pitchFamily="34" charset="-122"/>
              </a:rPr>
              <a:t>闭环：失败样本</a:t>
            </a:r>
            <a:r>
              <a:rPr lang="zh-CN" altLang="en-US" sz="1450" b="1" dirty="0" smtClean="0">
                <a:solidFill>
                  <a:srgbClr val="1F3864"/>
                </a:solidFill>
                <a:latin typeface="微软雅黑" panose="020B0503020204020204" pitchFamily="34" charset="-122"/>
                <a:ea typeface="微软雅黑" panose="020B0503020204020204" pitchFamily="34" charset="-122"/>
              </a:rPr>
              <a:t>统计用于困难说话人定位。</a:t>
            </a:r>
            <a:endParaRPr lang="zh-CN" altLang="en-US" sz="1450" b="1" dirty="0">
              <a:solidFill>
                <a:srgbClr val="1F3864"/>
              </a:solidFill>
              <a:latin typeface="微软雅黑" panose="020B0503020204020204" pitchFamily="34" charset="-122"/>
              <a:ea typeface="微软雅黑" panose="020B0503020204020204" pitchFamily="34" charset="-122"/>
            </a:endParaRPr>
          </a:p>
        </p:txBody>
      </p:sp>
      <p:sp>
        <p:nvSpPr>
          <p:cNvPr id="9" name="矩形 8"/>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矩形 9"/>
          <p:cNvSpPr/>
          <p:nvPr/>
        </p:nvSpPr>
        <p:spPr>
          <a:xfrm>
            <a:off x="1186249" y="1598141"/>
            <a:ext cx="1919415"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a:xfrm>
            <a:off x="9448800" y="6514041"/>
            <a:ext cx="2743200" cy="365125"/>
          </a:xfrm>
        </p:spPr>
        <p:txBody>
          <a:bodyPr/>
          <a:lstStyle/>
          <a:p>
            <a:fld id="{7BF2EA3F-D088-4729-88F9-9D4FADF26323}" type="slidenum">
              <a:rPr lang="zh-CN" altLang="en-US" smtClean="0"/>
              <a:t>21</a:t>
            </a:fld>
            <a:endParaRPr lang="zh-CN" altLang="en-US" dirty="0"/>
          </a:p>
        </p:txBody>
      </p:sp>
    </p:spTree>
    <p:extLst>
      <p:ext uri="{BB962C8B-B14F-4D97-AF65-F5344CB8AC3E}">
        <p14:creationId xmlns:p14="http://schemas.microsoft.com/office/powerpoint/2010/main" val="40326438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415498"/>
          </a:xfrm>
          <a:prstGeom prst="rect">
            <a:avLst/>
          </a:prstGeom>
          <a:noFill/>
        </p:spPr>
        <p:txBody>
          <a:bodyPr vert="horz" rtlCol="0">
            <a:spAutoFit/>
          </a:bodyPr>
          <a:lstStyle/>
          <a:p>
            <a:r>
              <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讨论</a:t>
            </a:r>
            <a:r>
              <a:rPr lang="zh-CN" altLang="en-US" sz="210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与展望</a:t>
            </a:r>
            <a:endPar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讨论</a:t>
            </a:r>
            <a:r>
              <a:rPr lang="zh-CN" altLang="en-US" sz="30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与展望</a:t>
            </a:r>
            <a:endParaRPr lang="zh-CN" altLang="en-US" sz="30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7360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局限性</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分析：当前方法的四个主要局限</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1684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168400"/>
            <a:ext cx="5524500" cy="762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矩形 7"/>
          <p:cNvSpPr/>
          <p:nvPr/>
        </p:nvSpPr>
        <p:spPr>
          <a:xfrm>
            <a:off x="812800" y="1498600"/>
            <a:ext cx="558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a:t>
            </a:r>
          </a:p>
        </p:txBody>
      </p:sp>
      <p:sp>
        <p:nvSpPr>
          <p:cNvPr id="9" name="文本框 8"/>
          <p:cNvSpPr txBox="1"/>
          <p:nvPr/>
        </p:nvSpPr>
        <p:spPr>
          <a:xfrm>
            <a:off x="1574800" y="15494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人声干扰</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p:cNvSpPr txBox="1"/>
          <p:nvPr/>
        </p:nvSpPr>
        <p:spPr>
          <a:xfrm>
            <a:off x="812800" y="2286000"/>
            <a:ext cx="49784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多人重叠与竞争说话人场景仍存在身份混淆</a:t>
            </a:r>
          </a:p>
        </p:txBody>
      </p:sp>
      <p:sp>
        <p:nvSpPr>
          <p:cNvPr id="11" name="矩形 10"/>
          <p:cNvSpPr/>
          <p:nvPr/>
        </p:nvSpPr>
        <p:spPr>
          <a:xfrm>
            <a:off x="6286500" y="11684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矩形 11"/>
          <p:cNvSpPr/>
          <p:nvPr/>
        </p:nvSpPr>
        <p:spPr>
          <a:xfrm>
            <a:off x="6286500" y="1168400"/>
            <a:ext cx="5524500" cy="762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6591300" y="1498600"/>
            <a:ext cx="558800" cy="5588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文本框 13"/>
          <p:cNvSpPr txBox="1"/>
          <p:nvPr/>
        </p:nvSpPr>
        <p:spPr>
          <a:xfrm>
            <a:off x="7353300" y="1549400"/>
            <a:ext cx="4191000" cy="353943"/>
          </a:xfrm>
          <a:prstGeom prst="rect">
            <a:avLst/>
          </a:prstGeom>
          <a:noFill/>
        </p:spPr>
        <p:txBody>
          <a:bodyPr vert="horz" rtlCol="0">
            <a:spAutoFit/>
          </a:bodyPr>
          <a:lstStyle/>
          <a:p>
            <a:r>
              <a:rPr lang="en-US" altLang="zh-CN"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1 s </a:t>
            </a:r>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短语音</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6591300" y="2286000"/>
            <a:ext cx="4978400" cy="315471"/>
          </a:xfrm>
          <a:prstGeom prst="rect">
            <a:avLst/>
          </a:prstGeom>
          <a:noFill/>
        </p:spPr>
        <p:txBody>
          <a:bodyPr vert="horz" rtlCol="0">
            <a:spAutoFit/>
          </a:bodyPr>
          <a:lstStyle/>
          <a:p>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验收档距离</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达标线仍差约</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个百分点</a:t>
            </a:r>
          </a:p>
        </p:txBody>
      </p:sp>
      <p:sp>
        <p:nvSpPr>
          <p:cNvPr id="16" name="矩形 15"/>
          <p:cNvSpPr/>
          <p:nvPr/>
        </p:nvSpPr>
        <p:spPr>
          <a:xfrm>
            <a:off x="508000" y="33782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矩形 16"/>
          <p:cNvSpPr/>
          <p:nvPr/>
        </p:nvSpPr>
        <p:spPr>
          <a:xfrm>
            <a:off x="508000" y="3378200"/>
            <a:ext cx="5524500" cy="762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矩形 17"/>
          <p:cNvSpPr/>
          <p:nvPr/>
        </p:nvSpPr>
        <p:spPr>
          <a:xfrm>
            <a:off x="812800" y="3708400"/>
            <a:ext cx="558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1574800" y="37592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轻量后端迁移</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p:cNvSpPr txBox="1"/>
          <p:nvPr/>
        </p:nvSpPr>
        <p:spPr>
          <a:xfrm>
            <a:off x="812800" y="4495800"/>
            <a:ext cx="4978400" cy="315471"/>
          </a:xfrm>
          <a:prstGeom prst="rect">
            <a:avLst/>
          </a:prstGeom>
          <a:noFill/>
        </p:spPr>
        <p:txBody>
          <a:bodyPr vert="horz" rtlCol="0">
            <a:spAutoFit/>
          </a:bodyPr>
          <a:lstStyle/>
          <a:p>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ReDimNet2-B6</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轻量后端嵌入空间兼容性不足</a:t>
            </a:r>
          </a:p>
        </p:txBody>
      </p:sp>
      <p:sp>
        <p:nvSpPr>
          <p:cNvPr id="21" name="矩形 20"/>
          <p:cNvSpPr/>
          <p:nvPr/>
        </p:nvSpPr>
        <p:spPr>
          <a:xfrm>
            <a:off x="6286500" y="33782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 name="矩形 21"/>
          <p:cNvSpPr/>
          <p:nvPr/>
        </p:nvSpPr>
        <p:spPr>
          <a:xfrm>
            <a:off x="6286500" y="3378200"/>
            <a:ext cx="5524500" cy="762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 name="矩形 22"/>
          <p:cNvSpPr/>
          <p:nvPr/>
        </p:nvSpPr>
        <p:spPr>
          <a:xfrm>
            <a:off x="6591300" y="3708400"/>
            <a:ext cx="558800" cy="5588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a:t>
            </a:r>
          </a:p>
        </p:txBody>
      </p:sp>
      <p:sp>
        <p:nvSpPr>
          <p:cNvPr id="24" name="文本框 23"/>
          <p:cNvSpPr txBox="1"/>
          <p:nvPr/>
        </p:nvSpPr>
        <p:spPr>
          <a:xfrm>
            <a:off x="7353300" y="37592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挑战目标差距</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文本框 24"/>
          <p:cNvSpPr txBox="1"/>
          <p:nvPr/>
        </p:nvSpPr>
        <p:spPr>
          <a:xfrm>
            <a:off x="6591300" y="4495800"/>
            <a:ext cx="49784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距离挑战目标</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(EER≤0.5%)</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仍有数量级差距</a:t>
            </a:r>
          </a:p>
        </p:txBody>
      </p:sp>
      <p:sp>
        <p:nvSpPr>
          <p:cNvPr id="26" name="矩形 25"/>
          <p:cNvSpPr/>
          <p:nvPr/>
        </p:nvSpPr>
        <p:spPr>
          <a:xfrm>
            <a:off x="508000" y="5664200"/>
            <a:ext cx="11303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文本框 26"/>
          <p:cNvSpPr txBox="1"/>
          <p:nvPr/>
        </p:nvSpPr>
        <p:spPr>
          <a:xfrm>
            <a:off x="508000" y="58166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前三项对应下一页路线前三步。</a:t>
            </a:r>
          </a:p>
        </p:txBody>
      </p:sp>
      <p:sp>
        <p:nvSpPr>
          <p:cNvPr id="38" name="矩形 3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9" name="灯片编号占位符 38"/>
          <p:cNvSpPr>
            <a:spLocks noGrp="1"/>
          </p:cNvSpPr>
          <p:nvPr>
            <p:ph type="sldNum" sz="quarter" idx="12"/>
          </p:nvPr>
        </p:nvSpPr>
        <p:spPr/>
        <p:txBody>
          <a:bodyPr/>
          <a:lstStyle/>
          <a:p>
            <a:fld id="{7BF2EA3F-D088-4729-88F9-9D4FADF26323}" type="slidenum">
              <a:rPr lang="zh-CN" altLang="en-US" smtClean="0"/>
              <a:t>23</a:t>
            </a:fld>
            <a:endParaRPr lang="zh-CN" altLang="en-US"/>
          </a:p>
        </p:txBody>
      </p:sp>
    </p:spTree>
    <p:extLst>
      <p:ext uri="{BB962C8B-B14F-4D97-AF65-F5344CB8AC3E}">
        <p14:creationId xmlns:p14="http://schemas.microsoft.com/office/powerpoint/2010/main" val="5550092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课题总结与后续研发路线</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060450"/>
            <a:ext cx="50800" cy="2540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685800" y="1016000"/>
            <a:ext cx="2794000" cy="338554"/>
          </a:xfrm>
          <a:prstGeom prst="rect">
            <a:avLst/>
          </a:prstGeom>
          <a:noFill/>
        </p:spPr>
        <p:txBody>
          <a:bodyPr vert="horz" rtlCol="0">
            <a:spAutoFit/>
          </a:bodyPr>
          <a:lstStyle/>
          <a:p>
            <a:r>
              <a:rPr lang="zh-CN" altLang="en-US" sz="16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课题成果</a:t>
            </a:r>
            <a:endParaRPr lang="zh-CN" altLang="en-US" sz="16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5080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矩形 8"/>
          <p:cNvSpPr/>
          <p:nvPr/>
        </p:nvSpPr>
        <p:spPr>
          <a:xfrm>
            <a:off x="5080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5080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609600" y="1930400"/>
            <a:ext cx="1905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统一评测体系</a:t>
            </a:r>
            <a:endPar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p:cNvSpPr txBox="1"/>
          <p:nvPr/>
        </p:nvSpPr>
        <p:spPr>
          <a:xfrm>
            <a:off x="558800" y="2356991"/>
            <a:ext cx="19558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官方校准偏差</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&lt; 0.6 pp</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12"/>
          <p:cNvSpPr/>
          <p:nvPr/>
        </p:nvSpPr>
        <p:spPr>
          <a:xfrm>
            <a:off x="28067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矩形 13"/>
          <p:cNvSpPr/>
          <p:nvPr/>
        </p:nvSpPr>
        <p:spPr>
          <a:xfrm>
            <a:off x="28067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文本框 14"/>
          <p:cNvSpPr txBox="1"/>
          <p:nvPr/>
        </p:nvSpPr>
        <p:spPr>
          <a:xfrm>
            <a:off x="28067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2908300" y="1930400"/>
            <a:ext cx="1905000" cy="315471"/>
          </a:xfrm>
          <a:prstGeom prst="rect">
            <a:avLst/>
          </a:prstGeom>
          <a:noFill/>
        </p:spPr>
        <p:txBody>
          <a:bodyPr vert="horz" rtlCol="0">
            <a:spAutoFit/>
          </a:bodyPr>
          <a:lstStyle/>
          <a:p>
            <a:pPr algn="ct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9.2M </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可训练前端</a:t>
            </a:r>
          </a:p>
        </p:txBody>
      </p:sp>
      <p:sp>
        <p:nvSpPr>
          <p:cNvPr id="17" name="文本框 16"/>
          <p:cNvSpPr txBox="1"/>
          <p:nvPr/>
        </p:nvSpPr>
        <p:spPr>
          <a:xfrm>
            <a:off x="2857500" y="2356991"/>
            <a:ext cx="1955800" cy="538609"/>
          </a:xfrm>
          <a:prstGeom prst="rect">
            <a:avLst/>
          </a:prstGeom>
          <a:noFill/>
        </p:spPr>
        <p:txBody>
          <a:bodyPr vert="horz"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注册条件</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化</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目标</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说话人提取</a:t>
            </a:r>
          </a:p>
        </p:txBody>
      </p:sp>
      <p:sp>
        <p:nvSpPr>
          <p:cNvPr id="18" name="矩形 17"/>
          <p:cNvSpPr/>
          <p:nvPr/>
        </p:nvSpPr>
        <p:spPr>
          <a:xfrm>
            <a:off x="51054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51054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51054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5207000" y="1930400"/>
            <a:ext cx="1905000" cy="315471"/>
          </a:xfrm>
          <a:prstGeom prst="rect">
            <a:avLst/>
          </a:prstGeom>
          <a:noFill/>
        </p:spPr>
        <p:txBody>
          <a:bodyPr vert="horz" rtlCol="0">
            <a:spAutoFit/>
          </a:bodyPr>
          <a:lstStyle/>
          <a:p>
            <a:pPr algn="ctr"/>
            <a:r>
              <a:rPr lang="zh-CN" altLang="en-US" sz="145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主力后端大幅提升</a:t>
            </a:r>
            <a:endParaRPr lang="zh-CN" altLang="en-US" sz="145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p:cNvSpPr txBox="1"/>
          <p:nvPr/>
        </p:nvSpPr>
        <p:spPr>
          <a:xfrm>
            <a:off x="5156200" y="2356991"/>
            <a:ext cx="19558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相对 </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-5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dB -49.7%</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22"/>
          <p:cNvSpPr/>
          <p:nvPr/>
        </p:nvSpPr>
        <p:spPr>
          <a:xfrm>
            <a:off x="74041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矩形 23"/>
          <p:cNvSpPr/>
          <p:nvPr/>
        </p:nvSpPr>
        <p:spPr>
          <a:xfrm>
            <a:off x="74041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文本框 24"/>
          <p:cNvSpPr txBox="1"/>
          <p:nvPr/>
        </p:nvSpPr>
        <p:spPr>
          <a:xfrm>
            <a:off x="74041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p:cNvSpPr txBox="1"/>
          <p:nvPr/>
        </p:nvSpPr>
        <p:spPr>
          <a:xfrm>
            <a:off x="7505700" y="1930400"/>
            <a:ext cx="1905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增强不伤干净语音</a:t>
            </a:r>
          </a:p>
        </p:txBody>
      </p:sp>
      <p:sp>
        <p:nvSpPr>
          <p:cNvPr id="27" name="文本框 26"/>
          <p:cNvSpPr txBox="1"/>
          <p:nvPr/>
        </p:nvSpPr>
        <p:spPr>
          <a:xfrm>
            <a:off x="7454900" y="2356991"/>
            <a:ext cx="1955800" cy="538609"/>
          </a:xfrm>
          <a:prstGeom prst="rect">
            <a:avLst/>
          </a:prstGeom>
          <a:noFill/>
        </p:spPr>
        <p:txBody>
          <a:bodyPr vert="horz" rtlCol="0">
            <a:spAutoFit/>
          </a:bodyPr>
          <a:lstStyle/>
          <a:p>
            <a:pPr algn="ct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改善</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21%</a:t>
            </a:r>
          </a:p>
          <a:p>
            <a:pPr algn="ct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5.29→4.17</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矩形 27"/>
          <p:cNvSpPr/>
          <p:nvPr/>
        </p:nvSpPr>
        <p:spPr>
          <a:xfrm>
            <a:off x="97028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 name="矩形 28"/>
          <p:cNvSpPr/>
          <p:nvPr/>
        </p:nvSpPr>
        <p:spPr>
          <a:xfrm>
            <a:off x="97028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 name="文本框 29"/>
          <p:cNvSpPr txBox="1"/>
          <p:nvPr/>
        </p:nvSpPr>
        <p:spPr>
          <a:xfrm>
            <a:off x="97028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p:cNvSpPr txBox="1"/>
          <p:nvPr/>
        </p:nvSpPr>
        <p:spPr>
          <a:xfrm>
            <a:off x="9804400" y="1930400"/>
            <a:ext cx="1905000" cy="315471"/>
          </a:xfrm>
          <a:prstGeom prst="rect">
            <a:avLst/>
          </a:prstGeom>
          <a:noFill/>
        </p:spPr>
        <p:txBody>
          <a:bodyPr vert="horz" rtlCol="0">
            <a:spAutoFit/>
          </a:bodyPr>
          <a:lstStyle/>
          <a:p>
            <a:pPr algn="ctr"/>
            <a:r>
              <a:rPr lang="zh-CN" altLang="en-US" sz="145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多场景验证有效</a:t>
            </a:r>
            <a:endParaRPr lang="zh-CN" altLang="en-US" sz="145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文本框 31"/>
          <p:cNvSpPr txBox="1"/>
          <p:nvPr/>
        </p:nvSpPr>
        <p:spPr>
          <a:xfrm>
            <a:off x="9753600" y="2471135"/>
            <a:ext cx="1955800" cy="315471"/>
          </a:xfrm>
          <a:prstGeom prst="rect">
            <a:avLst/>
          </a:prstGeom>
          <a:noFill/>
        </p:spPr>
        <p:txBody>
          <a:bodyPr vert="horz"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短</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语音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混响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重叠</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矩形 32"/>
          <p:cNvSpPr/>
          <p:nvPr/>
        </p:nvSpPr>
        <p:spPr>
          <a:xfrm>
            <a:off x="508000" y="3213100"/>
            <a:ext cx="50800" cy="254000"/>
          </a:xfrm>
          <a:prstGeom prst="rect">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4" name="文本框 33"/>
          <p:cNvSpPr txBox="1"/>
          <p:nvPr/>
        </p:nvSpPr>
        <p:spPr>
          <a:xfrm>
            <a:off x="685800" y="3175000"/>
            <a:ext cx="2794000" cy="338554"/>
          </a:xfrm>
          <a:prstGeom prst="rect">
            <a:avLst/>
          </a:prstGeom>
          <a:noFill/>
        </p:spPr>
        <p:txBody>
          <a:bodyPr vert="horz" rtlCol="0">
            <a:spAutoFit/>
          </a:bodyPr>
          <a:lstStyle/>
          <a:p>
            <a:r>
              <a:rPr lang="zh-CN" altLang="en-US" sz="16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下一步研发路线</a:t>
            </a:r>
            <a:endParaRPr lang="zh-CN" altLang="en-US" sz="16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矩形 34"/>
          <p:cNvSpPr/>
          <p:nvPr/>
        </p:nvSpPr>
        <p:spPr>
          <a:xfrm>
            <a:off x="508000" y="3708400"/>
            <a:ext cx="1905000" cy="7366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复杂人声干扰</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文本框 35"/>
          <p:cNvSpPr txBox="1"/>
          <p:nvPr/>
        </p:nvSpPr>
        <p:spPr>
          <a:xfrm>
            <a:off x="4064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重叠训练</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 </a:t>
            </a: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分离前端级联</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右箭头 36"/>
          <p:cNvSpPr/>
          <p:nvPr/>
        </p:nvSpPr>
        <p:spPr>
          <a:xfrm>
            <a:off x="2463800" y="3949700"/>
            <a:ext cx="342900" cy="254000"/>
          </a:xfrm>
          <a:prstGeom prst="rightArrow">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8" name="矩形 37"/>
          <p:cNvSpPr/>
          <p:nvPr/>
        </p:nvSpPr>
        <p:spPr>
          <a:xfrm>
            <a:off x="2857500" y="3708400"/>
            <a:ext cx="1905000" cy="7366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短语音增强</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文本框 38"/>
          <p:cNvSpPr txBox="1"/>
          <p:nvPr/>
        </p:nvSpPr>
        <p:spPr>
          <a:xfrm>
            <a:off x="27559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注册多句模板</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置信度加权</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 name="右箭头 39"/>
          <p:cNvSpPr/>
          <p:nvPr/>
        </p:nvSpPr>
        <p:spPr>
          <a:xfrm>
            <a:off x="4813300" y="3949700"/>
            <a:ext cx="342900" cy="254000"/>
          </a:xfrm>
          <a:prstGeom prst="rightArrow">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5207000" y="3708400"/>
            <a:ext cx="1905000" cy="736600"/>
          </a:xfrm>
          <a:prstGeom prst="rect">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轻量化</a:t>
            </a:r>
            <a:r>
              <a:rPr lang="zh-CN" altLang="en-US" sz="13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en-US" sz="13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部署</a:t>
            </a:r>
            <a:endParaRPr lang="zh-CN" altLang="en-US" sz="13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文本框 41"/>
          <p:cNvSpPr txBox="1"/>
          <p:nvPr/>
        </p:nvSpPr>
        <p:spPr>
          <a:xfrm>
            <a:off x="51054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以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B6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重训前端 </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量化蒸馏</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右箭头 42"/>
          <p:cNvSpPr/>
          <p:nvPr/>
        </p:nvSpPr>
        <p:spPr>
          <a:xfrm>
            <a:off x="7162800" y="3949700"/>
            <a:ext cx="342900" cy="254000"/>
          </a:xfrm>
          <a:prstGeom prst="rightArrow">
            <a:avLst/>
          </a:prstGeom>
          <a:solidFill>
            <a:schemeClr val="accent1"/>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4" name="矩形 43"/>
          <p:cNvSpPr/>
          <p:nvPr/>
        </p:nvSpPr>
        <p:spPr>
          <a:xfrm>
            <a:off x="7556500" y="3708400"/>
            <a:ext cx="1905000" cy="736600"/>
          </a:xfrm>
          <a:prstGeom prst="rect">
            <a:avLst/>
          </a:prstGeom>
          <a:solidFill>
            <a:schemeClr val="accent1"/>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语音大模型融合</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文本框 44"/>
          <p:cNvSpPr txBox="1"/>
          <p:nvPr/>
        </p:nvSpPr>
        <p:spPr>
          <a:xfrm>
            <a:off x="7454900" y="4546600"/>
            <a:ext cx="21082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SSL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多模态</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流式先验</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右箭头 45"/>
          <p:cNvSpPr/>
          <p:nvPr/>
        </p:nvSpPr>
        <p:spPr>
          <a:xfrm>
            <a:off x="9512300" y="3949700"/>
            <a:ext cx="342900" cy="254000"/>
          </a:xfrm>
          <a:prstGeom prst="rightArrow">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7" name="矩形 46"/>
          <p:cNvSpPr/>
          <p:nvPr/>
        </p:nvSpPr>
        <p:spPr>
          <a:xfrm>
            <a:off x="9906000" y="3708400"/>
            <a:ext cx="1905000" cy="7366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真实终端应用</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文本框 47"/>
          <p:cNvSpPr txBox="1"/>
          <p:nvPr/>
        </p:nvSpPr>
        <p:spPr>
          <a:xfrm>
            <a:off x="9804400" y="4546600"/>
            <a:ext cx="2108200" cy="538609"/>
          </a:xfrm>
          <a:prstGeom prst="rect">
            <a:avLst/>
          </a:prstGeom>
          <a:noFill/>
        </p:spPr>
        <p:txBody>
          <a:bodyPr vert="horz" rtlCol="0">
            <a:spAutoFit/>
          </a:bodyPr>
          <a:lstStyle/>
          <a:p>
            <a:pPr algn="ctr"/>
            <a:r>
              <a:rPr lang="zh-CN" altLang="en-US" sz="1450" dirty="0" smtClean="0">
                <a:latin typeface="微软雅黑" panose="020B0503020204020204" pitchFamily="34" charset="-122"/>
                <a:ea typeface="微软雅黑" panose="020B0503020204020204" pitchFamily="34" charset="-122"/>
              </a:rPr>
              <a:t>手机 </a:t>
            </a:r>
            <a:r>
              <a:rPr lang="en-US" altLang="zh-CN" sz="1450" dirty="0" smtClean="0">
                <a:latin typeface="微软雅黑" panose="020B0503020204020204" pitchFamily="34" charset="-122"/>
                <a:ea typeface="微软雅黑" panose="020B0503020204020204" pitchFamily="34" charset="-122"/>
              </a:rPr>
              <a:t>· </a:t>
            </a:r>
            <a:r>
              <a:rPr lang="zh-CN" altLang="en-US" sz="1450" dirty="0" smtClean="0">
                <a:latin typeface="微软雅黑" panose="020B0503020204020204" pitchFamily="34" charset="-122"/>
                <a:ea typeface="微软雅黑" panose="020B0503020204020204" pitchFamily="34" charset="-122"/>
              </a:rPr>
              <a:t>车载 </a:t>
            </a:r>
            <a:r>
              <a:rPr lang="en-US" altLang="zh-CN" sz="1450" dirty="0" smtClean="0">
                <a:latin typeface="微软雅黑" panose="020B0503020204020204" pitchFamily="34" charset="-122"/>
                <a:ea typeface="微软雅黑" panose="020B0503020204020204" pitchFamily="34" charset="-122"/>
              </a:rPr>
              <a:t>· </a:t>
            </a:r>
          </a:p>
          <a:p>
            <a:pPr algn="ctr"/>
            <a:r>
              <a:rPr lang="zh-CN" altLang="en-US" sz="1450" dirty="0" smtClean="0">
                <a:latin typeface="微软雅黑" panose="020B0503020204020204" pitchFamily="34" charset="-122"/>
                <a:ea typeface="微软雅黑" panose="020B0503020204020204" pitchFamily="34" charset="-122"/>
              </a:rPr>
              <a:t>会议场景落地</a:t>
            </a:r>
            <a:endParaRPr lang="zh-CN" altLang="en-US" sz="1450" dirty="0">
              <a:latin typeface="微软雅黑" panose="020B0503020204020204" pitchFamily="34" charset="-122"/>
              <a:ea typeface="微软雅黑" panose="020B0503020204020204" pitchFamily="34" charset="-122"/>
            </a:endParaRPr>
          </a:p>
        </p:txBody>
      </p:sp>
      <p:sp>
        <p:nvSpPr>
          <p:cNvPr id="49" name="矩形 48"/>
          <p:cNvSpPr/>
          <p:nvPr/>
        </p:nvSpPr>
        <p:spPr>
          <a:xfrm>
            <a:off x="508000" y="5384800"/>
            <a:ext cx="11303000" cy="63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0" name="文本框 49"/>
          <p:cNvSpPr txBox="1"/>
          <p:nvPr/>
        </p:nvSpPr>
        <p:spPr>
          <a:xfrm>
            <a:off x="508000" y="55499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前三步对应上一页局限，后两步面向真实部署。</a:t>
            </a:r>
          </a:p>
        </p:txBody>
      </p:sp>
      <p:sp>
        <p:nvSpPr>
          <p:cNvPr id="51" name="矩形 50"/>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2" name="灯片编号占位符 51"/>
          <p:cNvSpPr>
            <a:spLocks noGrp="1"/>
          </p:cNvSpPr>
          <p:nvPr>
            <p:ph type="sldNum" sz="quarter" idx="12"/>
          </p:nvPr>
        </p:nvSpPr>
        <p:spPr/>
        <p:txBody>
          <a:bodyPr/>
          <a:lstStyle/>
          <a:p>
            <a:fld id="{7BF2EA3F-D088-4729-88F9-9D4FADF26323}" type="slidenum">
              <a:rPr lang="zh-CN" altLang="en-US" smtClean="0"/>
              <a:t>24</a:t>
            </a:fld>
            <a:endParaRPr lang="zh-CN" altLang="en-US"/>
          </a:p>
        </p:txBody>
      </p:sp>
    </p:spTree>
    <p:extLst>
      <p:ext uri="{BB962C8B-B14F-4D97-AF65-F5344CB8AC3E}">
        <p14:creationId xmlns:p14="http://schemas.microsoft.com/office/powerpoint/2010/main" val="11187145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未来职业规划</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围绕本课题方向的能力成长路线</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文本框 5"/>
          <p:cNvSpPr txBox="1"/>
          <p:nvPr/>
        </p:nvSpPr>
        <p:spPr>
          <a:xfrm>
            <a:off x="508000" y="1041400"/>
            <a:ext cx="11303000" cy="338554"/>
          </a:xfrm>
          <a:prstGeom prst="rect">
            <a:avLst/>
          </a:prstGeom>
          <a:noFill/>
        </p:spPr>
        <p:txBody>
          <a:bodyPr vert="horz" rtlCol="0">
            <a:spAutoFit/>
          </a:bodyPr>
          <a:lstStyle/>
          <a:p>
            <a:r>
              <a:rPr lang="zh-CN" altLang="en-US" sz="1600" b="1"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职业规划围绕本课题方向持续深入：研究 → 工业研发 → 工程落地</a:t>
            </a:r>
          </a:p>
        </p:txBody>
      </p:sp>
      <p:sp>
        <p:nvSpPr>
          <p:cNvPr id="8" name="椭圆 7"/>
          <p:cNvSpPr/>
          <p:nvPr/>
        </p:nvSpPr>
        <p:spPr>
          <a:xfrm>
            <a:off x="2019300" y="1905000"/>
            <a:ext cx="584200" cy="584200"/>
          </a:xfrm>
          <a:prstGeom prst="ellipse">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椭圆 10"/>
          <p:cNvSpPr/>
          <p:nvPr/>
        </p:nvSpPr>
        <p:spPr>
          <a:xfrm>
            <a:off x="5867400" y="1905000"/>
            <a:ext cx="584200" cy="584200"/>
          </a:xfrm>
          <a:prstGeom prst="ellipse">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右箭头 12"/>
          <p:cNvSpPr/>
          <p:nvPr/>
        </p:nvSpPr>
        <p:spPr>
          <a:xfrm>
            <a:off x="7003550" y="2078911"/>
            <a:ext cx="2160000" cy="228600"/>
          </a:xfrm>
          <a:prstGeom prst="rightArrow">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椭圆 13"/>
          <p:cNvSpPr/>
          <p:nvPr/>
        </p:nvSpPr>
        <p:spPr>
          <a:xfrm>
            <a:off x="9715500" y="1905000"/>
            <a:ext cx="584200" cy="584200"/>
          </a:xfrm>
          <a:prstGeom prst="ellipse">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15"/>
          <p:cNvSpPr/>
          <p:nvPr/>
        </p:nvSpPr>
        <p:spPr>
          <a:xfrm>
            <a:off x="508000" y="2768600"/>
            <a:ext cx="3606800" cy="5588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研究生阶段</a:t>
            </a:r>
            <a:endParaRPr lang="zh-CN" altLang="en-US" sz="15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矩形 16"/>
          <p:cNvSpPr/>
          <p:nvPr/>
        </p:nvSpPr>
        <p:spPr>
          <a:xfrm>
            <a:off x="5080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文本框 17"/>
          <p:cNvSpPr txBox="1"/>
          <p:nvPr/>
        </p:nvSpPr>
        <p:spPr>
          <a:xfrm>
            <a:off x="482600" y="3556000"/>
            <a:ext cx="3632200" cy="1057021"/>
          </a:xfrm>
          <a:prstGeom prst="rect">
            <a:avLst/>
          </a:prstGeom>
          <a:noFill/>
        </p:spPr>
        <p:txBody>
          <a:bodyPr vert="horz" wrap="square"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深入</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学习声纹识别与语音增强</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技术</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学习</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语音大模型（</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相关方法</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提升</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算法研发与工程部署能力</a:t>
            </a:r>
          </a:p>
        </p:txBody>
      </p:sp>
      <p:sp>
        <p:nvSpPr>
          <p:cNvPr id="19" name="矩形 18"/>
          <p:cNvSpPr/>
          <p:nvPr/>
        </p:nvSpPr>
        <p:spPr>
          <a:xfrm>
            <a:off x="4356100" y="2768600"/>
            <a:ext cx="3606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工业界成长</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43561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文本框 20"/>
          <p:cNvSpPr txBox="1"/>
          <p:nvPr/>
        </p:nvSpPr>
        <p:spPr>
          <a:xfrm>
            <a:off x="4508500" y="3556000"/>
            <a:ext cx="3302000" cy="1096454"/>
          </a:xfrm>
          <a:prstGeom prst="rect">
            <a:avLst/>
          </a:prstGeom>
          <a:noFill/>
        </p:spPr>
        <p:txBody>
          <a:bodyPr vert="horz"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从事智能</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语音算法研发</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深耕声纹</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识别与目标说话人提取</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推动语音</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大</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模型产品应用</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21"/>
          <p:cNvSpPr/>
          <p:nvPr/>
        </p:nvSpPr>
        <p:spPr>
          <a:xfrm>
            <a:off x="8204200" y="2768600"/>
            <a:ext cx="3606800" cy="558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长期目标</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22"/>
          <p:cNvSpPr/>
          <p:nvPr/>
        </p:nvSpPr>
        <p:spPr>
          <a:xfrm>
            <a:off x="82042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文本框 23"/>
          <p:cNvSpPr txBox="1"/>
          <p:nvPr/>
        </p:nvSpPr>
        <p:spPr>
          <a:xfrm>
            <a:off x="8356600" y="3556000"/>
            <a:ext cx="3302000" cy="761747"/>
          </a:xfrm>
          <a:prstGeom prst="rect">
            <a:avLst/>
          </a:prstGeom>
          <a:noFill/>
        </p:spPr>
        <p:txBody>
          <a:bodyPr vert="horz"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参与</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智能终端语音能力建设</a:t>
            </a:r>
          </a:p>
          <a:p>
            <a:pPr marL="285750" indent="-285750">
              <a:lnSpc>
                <a:spcPct val="150000"/>
              </a:lnSpc>
              <a:buFont typeface="Wingdings" panose="05000000000000000000" pitchFamily="2" charset="2"/>
              <a:buChar char="Ø"/>
            </a:pP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推动语音算法工程化落地</a:t>
            </a:r>
          </a:p>
        </p:txBody>
      </p:sp>
      <p:sp>
        <p:nvSpPr>
          <p:cNvPr id="25" name="矩形 24"/>
          <p:cNvSpPr/>
          <p:nvPr/>
        </p:nvSpPr>
        <p:spPr>
          <a:xfrm>
            <a:off x="508000" y="5664200"/>
            <a:ext cx="11303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文本框 25"/>
          <p:cNvSpPr txBox="1"/>
          <p:nvPr/>
        </p:nvSpPr>
        <p:spPr>
          <a:xfrm>
            <a:off x="508000" y="58166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持续围绕声纹识别、目标说话人提取与语音大模型方向开展研究和工程实践。</a:t>
            </a:r>
          </a:p>
        </p:txBody>
      </p:sp>
      <p:sp>
        <p:nvSpPr>
          <p:cNvPr id="27" name="右箭头 26"/>
          <p:cNvSpPr/>
          <p:nvPr/>
        </p:nvSpPr>
        <p:spPr>
          <a:xfrm>
            <a:off x="3155450" y="2078911"/>
            <a:ext cx="2160000" cy="228600"/>
          </a:xfrm>
          <a:prstGeom prst="rightArrow">
            <a:avLst/>
          </a:prstGeom>
          <a:solidFill>
            <a:srgbClr val="00206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矩形 2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 name="灯片编号占位符 28"/>
          <p:cNvSpPr>
            <a:spLocks noGrp="1"/>
          </p:cNvSpPr>
          <p:nvPr>
            <p:ph type="sldNum" sz="quarter" idx="12"/>
          </p:nvPr>
        </p:nvSpPr>
        <p:spPr/>
        <p:txBody>
          <a:bodyPr/>
          <a:lstStyle/>
          <a:p>
            <a:fld id="{7BF2EA3F-D088-4729-88F9-9D4FADF26323}" type="slidenum">
              <a:rPr lang="zh-CN" altLang="en-US" smtClean="0"/>
              <a:t>25</a:t>
            </a:fld>
            <a:endParaRPr lang="zh-CN" altLang="en-US"/>
          </a:p>
        </p:txBody>
      </p:sp>
    </p:spTree>
    <p:extLst>
      <p:ext uri="{BB962C8B-B14F-4D97-AF65-F5344CB8AC3E}">
        <p14:creationId xmlns:p14="http://schemas.microsoft.com/office/powerpoint/2010/main" val="26106160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0" y="2413000"/>
            <a:ext cx="12192000" cy="769441"/>
          </a:xfrm>
          <a:prstGeom prst="rect">
            <a:avLst/>
          </a:prstGeom>
          <a:noFill/>
        </p:spPr>
        <p:txBody>
          <a:bodyPr vert="horz" rtlCol="0">
            <a:spAutoFit/>
          </a:bodyPr>
          <a:lstStyle/>
          <a:p>
            <a:pPr algn="ctr"/>
            <a:r>
              <a:rPr lang="zh-CN" altLang="en-US" sz="4400" b="1" smtClean="0">
                <a:solidFill>
                  <a:srgbClr val="1F3864"/>
                </a:solidFill>
                <a:latin typeface="微软雅黑" panose="020B0503020204020204" pitchFamily="34" charset="-122"/>
                <a:ea typeface="微软雅黑" panose="020B0503020204020204" pitchFamily="34" charset="-122"/>
              </a:rPr>
              <a:t>谢  谢</a:t>
            </a:r>
            <a:r>
              <a:rPr lang="en-US" altLang="zh-CN" sz="4400" b="1" smtClean="0">
                <a:solidFill>
                  <a:srgbClr val="1F3864"/>
                </a:solidFill>
                <a:latin typeface="微软雅黑" panose="020B0503020204020204" pitchFamily="34" charset="-122"/>
                <a:ea typeface="微软雅黑" panose="020B0503020204020204" pitchFamily="34" charset="-122"/>
              </a:rPr>
              <a:t>!</a:t>
            </a:r>
            <a:endParaRPr lang="zh-CN" altLang="en-US" sz="4400" b="1">
              <a:solidFill>
                <a:srgbClr val="1F3864"/>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0" y="3556000"/>
            <a:ext cx="12192000" cy="369332"/>
          </a:xfrm>
          <a:prstGeom prst="rect">
            <a:avLst/>
          </a:prstGeom>
          <a:noFill/>
        </p:spPr>
        <p:txBody>
          <a:bodyPr vert="horz" rtlCol="0">
            <a:spAutoFit/>
          </a:bodyPr>
          <a:lstStyle/>
          <a:p>
            <a:pPr algn="ctr"/>
            <a:r>
              <a:rPr lang="zh-CN" altLang="en-US" smtClean="0">
                <a:solidFill>
                  <a:srgbClr val="7F7F7F"/>
                </a:solidFill>
                <a:latin typeface="微软雅黑" panose="020B0503020204020204" pitchFamily="34" charset="-122"/>
                <a:ea typeface="微软雅黑" panose="020B0503020204020204" pitchFamily="34" charset="-122"/>
              </a:rPr>
              <a:t>恳请各位老师批评指正</a:t>
            </a:r>
            <a:endParaRPr lang="zh-CN" altLang="en-US">
              <a:solidFill>
                <a:srgbClr val="7F7F7F"/>
              </a:solidFill>
              <a:latin typeface="微软雅黑" panose="020B0503020204020204" pitchFamily="34" charset="-122"/>
              <a:ea typeface="微软雅黑" panose="020B0503020204020204" pitchFamily="34" charset="-122"/>
            </a:endParaRPr>
          </a:p>
        </p:txBody>
      </p:sp>
      <p:sp>
        <p:nvSpPr>
          <p:cNvPr id="5" name="矩形 4"/>
          <p:cNvSpPr/>
          <p:nvPr/>
        </p:nvSpPr>
        <p:spPr>
          <a:xfrm>
            <a:off x="5334000" y="4318000"/>
            <a:ext cx="15240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文本框 5"/>
          <p:cNvSpPr txBox="1"/>
          <p:nvPr/>
        </p:nvSpPr>
        <p:spPr>
          <a:xfrm>
            <a:off x="0" y="4572000"/>
            <a:ext cx="12192000" cy="307777"/>
          </a:xfrm>
          <a:prstGeom prst="rect">
            <a:avLst/>
          </a:prstGeom>
          <a:noFill/>
        </p:spPr>
        <p:txBody>
          <a:bodyPr vert="horz" rtlCol="0">
            <a:spAutoFit/>
          </a:bodyPr>
          <a:lstStyle/>
          <a:p>
            <a:pPr algn="ctr"/>
            <a:r>
              <a:rPr lang="zh-CN" altLang="en-US"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张启元 </a:t>
            </a:r>
            <a:r>
              <a:rPr lang="en-US" altLang="zh-CN"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中国科学院大学 </a:t>
            </a:r>
            <a:r>
              <a:rPr lang="en-US" altLang="zh-CN"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2026.9.8</a:t>
            </a:r>
            <a:endParaRPr lang="zh-CN" altLang="en-US" sz="14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642996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9383584" cy="461665"/>
          </a:xfrm>
          <a:prstGeom prst="rect">
            <a:avLst/>
          </a:prstGeom>
          <a:noFill/>
        </p:spPr>
        <p:txBody>
          <a:bodyPr vert="horz" wrap="square"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备用页：指标口径速查</a:t>
            </a:r>
            <a:r>
              <a:rPr lang="en-US" altLang="zh-CN" sz="2400" b="1" dirty="0" smtClean="0">
                <a:solidFill>
                  <a:srgbClr val="1F3864"/>
                </a:solidFill>
                <a:latin typeface="微软雅黑" panose="020B0503020204020204" pitchFamily="34" charset="-122"/>
                <a:ea typeface="微软雅黑" panose="020B0503020204020204" pitchFamily="34" charset="-122"/>
              </a:rPr>
              <a:t>(EER · </a:t>
            </a:r>
            <a:r>
              <a:rPr lang="en-US" altLang="zh-CN" sz="2400" b="1" dirty="0" err="1" smtClean="0">
                <a:solidFill>
                  <a:srgbClr val="1F3864"/>
                </a:solidFill>
                <a:latin typeface="微软雅黑" panose="020B0503020204020204" pitchFamily="34" charset="-122"/>
                <a:ea typeface="微软雅黑" panose="020B0503020204020204" pitchFamily="34" charset="-122"/>
              </a:rPr>
              <a:t>minDCF</a:t>
            </a:r>
            <a:r>
              <a:rPr lang="en-US" altLang="zh-CN" sz="2400" b="1" dirty="0" smtClean="0">
                <a:solidFill>
                  <a:srgbClr val="1F3864"/>
                </a:solidFill>
                <a:latin typeface="微软雅黑" panose="020B0503020204020204" pitchFamily="34" charset="-122"/>
                <a:ea typeface="微软雅黑" panose="020B0503020204020204" pitchFamily="34" charset="-122"/>
              </a:rPr>
              <a:t> · ROC/DET · </a:t>
            </a:r>
            <a:r>
              <a:rPr lang="zh-CN" altLang="en-US" sz="2400" b="1" dirty="0" smtClean="0">
                <a:solidFill>
                  <a:srgbClr val="1F3864"/>
                </a:solidFill>
                <a:latin typeface="微软雅黑" panose="020B0503020204020204" pitchFamily="34" charset="-122"/>
                <a:ea typeface="微软雅黑" panose="020B0503020204020204" pitchFamily="34" charset="-122"/>
              </a:rPr>
              <a:t>固定工作点</a:t>
            </a:r>
            <a:r>
              <a:rPr lang="en-US" altLang="zh-CN" sz="2400" b="1" dirty="0" smtClean="0">
                <a:solidFill>
                  <a:srgbClr val="1F3864"/>
                </a:solidFill>
                <a:latin typeface="微软雅黑" panose="020B0503020204020204" pitchFamily="34" charset="-122"/>
                <a:ea typeface="微软雅黑" panose="020B0503020204020204" pitchFamily="34" charset="-122"/>
              </a:rPr>
              <a:t>)</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1902915276"/>
              </p:ext>
            </p:extLst>
          </p:nvPr>
        </p:nvGraphicFramePr>
        <p:xfrm>
          <a:off x="508000" y="1117600"/>
          <a:ext cx="11175999" cy="2820852"/>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46599064"/>
                    </a:ext>
                  </a:extLst>
                </a:gridCol>
                <a:gridCol w="3725333">
                  <a:extLst>
                    <a:ext uri="{9D8B030D-6E8A-4147-A177-3AD203B41FA5}">
                      <a16:colId xmlns:a16="http://schemas.microsoft.com/office/drawing/2014/main" val="443219494"/>
                    </a:ext>
                  </a:extLst>
                </a:gridCol>
                <a:gridCol w="3725333">
                  <a:extLst>
                    <a:ext uri="{9D8B030D-6E8A-4147-A177-3AD203B41FA5}">
                      <a16:colId xmlns:a16="http://schemas.microsoft.com/office/drawing/2014/main" val="893930845"/>
                    </a:ext>
                  </a:extLst>
                </a:gridCol>
              </a:tblGrid>
              <a:tr h="373743">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指标</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一句话定义</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怎么读我们的数字</a:t>
                      </a:r>
                      <a:r>
                        <a:rPr lang="en-US" altLang="zh-CN" sz="1150" b="1" smtClean="0">
                          <a:solidFill>
                            <a:srgbClr val="FFFFFF"/>
                          </a:solidFill>
                          <a:latin typeface="微软雅黑" panose="020B0503020204020204" pitchFamily="34" charset="-122"/>
                          <a:ea typeface="微软雅黑" panose="020B0503020204020204" pitchFamily="34" charset="-122"/>
                        </a:rPr>
                        <a:t>(</a:t>
                      </a:r>
                      <a:r>
                        <a:rPr lang="zh-CN" altLang="en-US" sz="1150" b="1" smtClean="0">
                          <a:solidFill>
                            <a:srgbClr val="FFFFFF"/>
                          </a:solidFill>
                          <a:latin typeface="微软雅黑" panose="020B0503020204020204" pitchFamily="34" charset="-122"/>
                          <a:ea typeface="微软雅黑" panose="020B0503020204020204" pitchFamily="34" charset="-122"/>
                        </a:rPr>
                        <a:t>主力 </a:t>
                      </a:r>
                      <a:r>
                        <a:rPr lang="en-US" altLang="zh-CN" sz="1150" b="1" smtClean="0">
                          <a:solidFill>
                            <a:srgbClr val="FFFFFF"/>
                          </a:solidFill>
                          <a:latin typeface="微软雅黑" panose="020B0503020204020204" pitchFamily="34" charset="-122"/>
                          <a:ea typeface="微软雅黑" panose="020B0503020204020204" pitchFamily="34" charset="-122"/>
                        </a:rPr>
                        <a:t>0dB,raw → </a:t>
                      </a:r>
                      <a:r>
                        <a:rPr lang="zh-CN" altLang="en-US" sz="1150" b="1" smtClean="0">
                          <a:solidFill>
                            <a:srgbClr val="FFFFFF"/>
                          </a:solidFill>
                          <a:latin typeface="微软雅黑" panose="020B0503020204020204" pitchFamily="34" charset="-122"/>
                          <a:ea typeface="微软雅黑" panose="020B0503020204020204" pitchFamily="34" charset="-122"/>
                        </a:rPr>
                        <a:t>前端</a:t>
                      </a:r>
                      <a:r>
                        <a:rPr lang="en-US" altLang="zh-CN" sz="1150" b="1" smtClean="0">
                          <a:solidFill>
                            <a:srgbClr val="FFFFFF"/>
                          </a:solidFill>
                          <a:latin typeface="微软雅黑" panose="020B0503020204020204" pitchFamily="34" charset="-122"/>
                          <a:ea typeface="微软雅黑" panose="020B0503020204020204" pitchFamily="34" charset="-122"/>
                        </a:rPr>
                        <a:t>)</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1314150115"/>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 / FRR</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冒认被放进来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本人被拒之门外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一切指标都是这对错误的权衡</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137.8 </a:t>
                      </a:r>
                      <a:r>
                        <a:rPr lang="zh-CN" altLang="en-US" sz="1150" dirty="0" smtClean="0">
                          <a:solidFill>
                            <a:srgbClr val="333333"/>
                          </a:solidFill>
                          <a:latin typeface="微软雅黑" panose="020B0503020204020204" pitchFamily="34" charset="-122"/>
                          <a:ea typeface="微软雅黑" panose="020B0503020204020204" pitchFamily="34" charset="-122"/>
                        </a:rPr>
                        <a:t>万条 </a:t>
                      </a:r>
                      <a:r>
                        <a:rPr lang="en-US" altLang="zh-CN" sz="1150" dirty="0" smtClean="0">
                          <a:solidFill>
                            <a:srgbClr val="333333"/>
                          </a:solidFill>
                          <a:latin typeface="微软雅黑" panose="020B0503020204020204" pitchFamily="34" charset="-122"/>
                          <a:ea typeface="微软雅黑" panose="020B0503020204020204" pitchFamily="34" charset="-122"/>
                        </a:rPr>
                        <a:t>trial</a:t>
                      </a:r>
                      <a:r>
                        <a:rPr lang="zh-CN" altLang="en-US" sz="1150" dirty="0" smtClean="0">
                          <a:solidFill>
                            <a:srgbClr val="333333"/>
                          </a:solidFill>
                          <a:latin typeface="微软雅黑" panose="020B0503020204020204" pitchFamily="34" charset="-122"/>
                          <a:ea typeface="微软雅黑" panose="020B0503020204020204" pitchFamily="34" charset="-122"/>
                        </a:rPr>
                        <a:t>：非目标 </a:t>
                      </a:r>
                      <a:r>
                        <a:rPr lang="en-US" altLang="zh-CN" sz="1150" dirty="0" smtClean="0">
                          <a:solidFill>
                            <a:srgbClr val="333333"/>
                          </a:solidFill>
                          <a:latin typeface="微软雅黑" panose="020B0503020204020204" pitchFamily="34" charset="-122"/>
                          <a:ea typeface="微软雅黑" panose="020B0503020204020204" pitchFamily="34" charset="-122"/>
                        </a:rPr>
                        <a:t>116.7 </a:t>
                      </a:r>
                      <a:r>
                        <a:rPr lang="zh-CN" altLang="en-US" sz="1150" dirty="0" smtClean="0">
                          <a:solidFill>
                            <a:srgbClr val="333333"/>
                          </a:solidFill>
                          <a:latin typeface="微软雅黑" panose="020B0503020204020204" pitchFamily="34" charset="-122"/>
                          <a:ea typeface="微软雅黑" panose="020B0503020204020204" pitchFamily="34" charset="-122"/>
                        </a:rPr>
                        <a:t>万 </a:t>
                      </a:r>
                      <a:r>
                        <a:rPr lang="en-US" altLang="zh-CN" sz="1150" dirty="0" smtClean="0">
                          <a:solidFill>
                            <a:srgbClr val="333333"/>
                          </a:solidFill>
                          <a:latin typeface="微软雅黑" panose="020B0503020204020204" pitchFamily="34" charset="-122"/>
                          <a:ea typeface="微软雅黑" panose="020B0503020204020204" pitchFamily="34" charset="-122"/>
                        </a:rPr>
                        <a:t>/ </a:t>
                      </a:r>
                      <a:r>
                        <a:rPr lang="zh-CN" altLang="en-US" sz="1150" dirty="0" smtClean="0">
                          <a:solidFill>
                            <a:srgbClr val="333333"/>
                          </a:solidFill>
                          <a:latin typeface="微软雅黑" panose="020B0503020204020204" pitchFamily="34" charset="-122"/>
                          <a:ea typeface="微软雅黑" panose="020B0503020204020204" pitchFamily="34" charset="-122"/>
                        </a:rPr>
                        <a:t>目标 </a:t>
                      </a:r>
                      <a:r>
                        <a:rPr lang="en-US" altLang="zh-CN" sz="1150" dirty="0" smtClean="0">
                          <a:solidFill>
                            <a:srgbClr val="333333"/>
                          </a:solidFill>
                          <a:latin typeface="微软雅黑" panose="020B0503020204020204" pitchFamily="34" charset="-122"/>
                          <a:ea typeface="微软雅黑" panose="020B0503020204020204" pitchFamily="34" charset="-122"/>
                        </a:rPr>
                        <a:t>21.1 </a:t>
                      </a:r>
                      <a:r>
                        <a:rPr lang="zh-CN" altLang="en-US" sz="1150" dirty="0" smtClean="0">
                          <a:solidFill>
                            <a:srgbClr val="333333"/>
                          </a:solidFill>
                          <a:latin typeface="微软雅黑" panose="020B0503020204020204" pitchFamily="34" charset="-122"/>
                          <a:ea typeface="微软雅黑" panose="020B0503020204020204" pitchFamily="34" charset="-122"/>
                        </a:rPr>
                        <a:t>万</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971384128"/>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EER</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 = FRR </a:t>
                      </a:r>
                      <a:r>
                        <a:rPr lang="zh-CN" altLang="en-US" sz="1150" smtClean="0">
                          <a:solidFill>
                            <a:srgbClr val="333333"/>
                          </a:solidFill>
                          <a:latin typeface="微软雅黑" panose="020B0503020204020204" pitchFamily="34" charset="-122"/>
                          <a:ea typeface="微软雅黑" panose="020B0503020204020204" pitchFamily="34" charset="-122"/>
                        </a:rPr>
                        <a:t>的那一点</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阈值无关的「可分性」单点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8.39 → 4.89(-41.7%,</a:t>
                      </a:r>
                      <a:r>
                        <a:rPr lang="zh-CN" altLang="en-US" sz="1150" smtClean="0">
                          <a:solidFill>
                            <a:srgbClr val="333333"/>
                          </a:solidFill>
                          <a:latin typeface="微软雅黑" panose="020B0503020204020204" pitchFamily="34" charset="-122"/>
                          <a:ea typeface="微软雅黑" panose="020B0503020204020204" pitchFamily="34" charset="-122"/>
                        </a:rPr>
                        <a:t>大幅过 ≥</a:t>
                      </a:r>
                      <a:r>
                        <a:rPr lang="en-US" altLang="zh-CN" sz="1150" smtClean="0">
                          <a:solidFill>
                            <a:srgbClr val="333333"/>
                          </a:solidFill>
                          <a:latin typeface="微软雅黑" panose="020B0503020204020204" pitchFamily="34" charset="-122"/>
                          <a:ea typeface="微软雅黑" panose="020B0503020204020204" pitchFamily="34" charset="-122"/>
                        </a:rPr>
                        <a:t>30% </a:t>
                      </a:r>
                      <a:r>
                        <a:rPr lang="zh-CN" altLang="en-US" sz="1150" smtClean="0">
                          <a:solidFill>
                            <a:srgbClr val="333333"/>
                          </a:solidFill>
                          <a:latin typeface="微软雅黑" panose="020B0503020204020204" pitchFamily="34" charset="-122"/>
                          <a:ea typeface="微软雅黑" panose="020B0503020204020204" pitchFamily="34" charset="-122"/>
                        </a:rPr>
                        <a:t>线</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2824510844"/>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ROC / DET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全阈值段权衡曲线；</a:t>
                      </a:r>
                      <a:r>
                        <a:rPr lang="en-US" altLang="zh-CN" sz="1150" dirty="0" smtClean="0">
                          <a:solidFill>
                            <a:srgbClr val="333333"/>
                          </a:solidFill>
                          <a:latin typeface="微软雅黑" panose="020B0503020204020204" pitchFamily="34" charset="-122"/>
                          <a:ea typeface="微软雅黑" panose="020B0503020204020204" pitchFamily="34" charset="-122"/>
                        </a:rPr>
                        <a:t>DET </a:t>
                      </a:r>
                      <a:r>
                        <a:rPr lang="zh-CN" altLang="en-US" sz="1150" dirty="0" smtClean="0">
                          <a:solidFill>
                            <a:srgbClr val="333333"/>
                          </a:solidFill>
                          <a:latin typeface="微软雅黑" panose="020B0503020204020204" pitchFamily="34" charset="-122"/>
                          <a:ea typeface="微软雅黑" panose="020B0503020204020204" pitchFamily="34" charset="-122"/>
                        </a:rPr>
                        <a:t>用正态概率刻度</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把尾部细节拉开看</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前端曲线全程在 </a:t>
                      </a:r>
                      <a:r>
                        <a:rPr lang="en-US" altLang="zh-CN" sz="1150" smtClean="0">
                          <a:solidFill>
                            <a:srgbClr val="333333"/>
                          </a:solidFill>
                          <a:latin typeface="微软雅黑" panose="020B0503020204020204" pitchFamily="34" charset="-122"/>
                          <a:ea typeface="微软雅黑" panose="020B0503020204020204" pitchFamily="34" charset="-122"/>
                        </a:rPr>
                        <a:t>raw </a:t>
                      </a:r>
                      <a:r>
                        <a:rPr lang="zh-CN" altLang="en-US" sz="1150" smtClean="0">
                          <a:solidFill>
                            <a:srgbClr val="333333"/>
                          </a:solidFill>
                          <a:latin typeface="微软雅黑" panose="020B0503020204020204" pitchFamily="34" charset="-122"/>
                          <a:ea typeface="微软雅黑" panose="020B0503020204020204" pitchFamily="34" charset="-122"/>
                        </a:rPr>
                        <a:t>曲线的优侧</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报告图 </a:t>
                      </a:r>
                      <a:r>
                        <a:rPr lang="en-US" altLang="zh-CN" sz="1150" smtClean="0">
                          <a:solidFill>
                            <a:srgbClr val="333333"/>
                          </a:solidFill>
                          <a:latin typeface="微软雅黑" panose="020B0503020204020204" pitchFamily="34" charset="-122"/>
                          <a:ea typeface="微软雅黑" panose="020B0503020204020204" pitchFamily="34" charset="-122"/>
                        </a:rPr>
                        <a:t>5/6)</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23803563"/>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minDCF</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p_tar=1% </a:t>
                      </a:r>
                      <a:r>
                        <a:rPr lang="zh-CN" altLang="en-US" sz="1150" smtClean="0">
                          <a:solidFill>
                            <a:srgbClr val="333333"/>
                          </a:solidFill>
                          <a:latin typeface="微软雅黑" panose="020B0503020204020204" pitchFamily="34" charset="-122"/>
                          <a:ea typeface="微软雅黑" panose="020B0503020204020204" pitchFamily="34" charset="-122"/>
                        </a:rPr>
                        <a:t>先验下挑最优阈值的加权错误代价</a:t>
                      </a:r>
                      <a:r>
                        <a:rPr lang="en-US" altLang="zh-CN" sz="1150" smtClean="0">
                          <a:solidFill>
                            <a:srgbClr val="333333"/>
                          </a:solidFill>
                          <a:latin typeface="微软雅黑" panose="020B0503020204020204" pitchFamily="34" charset="-122"/>
                          <a:ea typeface="微软雅黑" panose="020B0503020204020204" pitchFamily="34" charset="-122"/>
                        </a:rPr>
                        <a:t>(1.0 = </a:t>
                      </a:r>
                      <a:r>
                        <a:rPr lang="zh-CN" altLang="en-US" sz="1150" smtClean="0">
                          <a:solidFill>
                            <a:srgbClr val="333333"/>
                          </a:solidFill>
                          <a:latin typeface="微软雅黑" panose="020B0503020204020204" pitchFamily="34" charset="-122"/>
                          <a:ea typeface="微软雅黑" panose="020B0503020204020204" pitchFamily="34" charset="-122"/>
                        </a:rPr>
                        <a:t>全拒绝摆烂线</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0.628 → 0.515(</a:t>
                      </a:r>
                      <a:r>
                        <a:rPr lang="zh-CN" altLang="en-US" sz="1150" smtClean="0">
                          <a:solidFill>
                            <a:srgbClr val="333333"/>
                          </a:solidFill>
                          <a:latin typeface="微软雅黑" panose="020B0503020204020204" pitchFamily="34" charset="-122"/>
                          <a:ea typeface="微软雅黑" panose="020B0503020204020204" pitchFamily="34" charset="-122"/>
                        </a:rPr>
                        <a:t>低误报区</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改善温和但同向</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7628076"/>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FRR@FAR=5%</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安全档：容忍 </a:t>
                      </a:r>
                      <a:r>
                        <a:rPr lang="en-US" altLang="zh-CN" sz="1150" dirty="0" smtClean="0">
                          <a:solidFill>
                            <a:srgbClr val="333333"/>
                          </a:solidFill>
                          <a:latin typeface="微软雅黑" panose="020B0503020204020204" pitchFamily="34" charset="-122"/>
                          <a:ea typeface="微软雅黑" panose="020B0503020204020204" pitchFamily="34" charset="-122"/>
                        </a:rPr>
                        <a:t>5% </a:t>
                      </a:r>
                      <a:r>
                        <a:rPr lang="zh-CN" altLang="en-US" sz="1150" dirty="0" smtClean="0">
                          <a:solidFill>
                            <a:srgbClr val="333333"/>
                          </a:solidFill>
                          <a:latin typeface="微软雅黑" panose="020B0503020204020204" pitchFamily="34" charset="-122"/>
                          <a:ea typeface="微软雅黑" panose="020B0503020204020204" pitchFamily="34" charset="-122"/>
                        </a:rPr>
                        <a:t>冒认漏进时</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本人被拒多少</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12.46 → 4.77(</a:t>
                      </a:r>
                      <a:r>
                        <a:rPr lang="zh-CN" altLang="en-US" sz="1150" smtClean="0">
                          <a:solidFill>
                            <a:srgbClr val="333333"/>
                          </a:solidFill>
                          <a:latin typeface="微软雅黑" panose="020B0503020204020204" pitchFamily="34" charset="-122"/>
                          <a:ea typeface="微软雅黑" panose="020B0503020204020204" pitchFamily="34" charset="-122"/>
                        </a:rPr>
                        <a:t>约每 </a:t>
                      </a:r>
                      <a:r>
                        <a:rPr lang="en-US" altLang="zh-CN" sz="1150" smtClean="0">
                          <a:solidFill>
                            <a:srgbClr val="333333"/>
                          </a:solidFill>
                          <a:latin typeface="微软雅黑" panose="020B0503020204020204" pitchFamily="34" charset="-122"/>
                          <a:ea typeface="微软雅黑" panose="020B0503020204020204" pitchFamily="34" charset="-122"/>
                        </a:rPr>
                        <a:t>100 </a:t>
                      </a:r>
                      <a:r>
                        <a:rPr lang="zh-CN" altLang="en-US" sz="1150" smtClean="0">
                          <a:solidFill>
                            <a:srgbClr val="333333"/>
                          </a:solidFill>
                          <a:latin typeface="微软雅黑" panose="020B0503020204020204" pitchFamily="34" charset="-122"/>
                          <a:ea typeface="微软雅黑" panose="020B0503020204020204" pitchFamily="34" charset="-122"/>
                        </a:rPr>
                        <a:t>次解锁失败 </a:t>
                      </a:r>
                      <a:r>
                        <a:rPr lang="en-US" altLang="zh-CN" sz="1150" smtClean="0">
                          <a:solidFill>
                            <a:srgbClr val="333333"/>
                          </a:solidFill>
                          <a:latin typeface="微软雅黑" panose="020B0503020204020204" pitchFamily="34" charset="-122"/>
                          <a:ea typeface="微软雅黑" panose="020B0503020204020204" pitchFamily="34" charset="-122"/>
                        </a:rPr>
                        <a:t>5 </a:t>
                      </a:r>
                      <a:r>
                        <a:rPr lang="zh-CN" altLang="en-US" sz="1150" smtClean="0">
                          <a:solidFill>
                            <a:srgbClr val="333333"/>
                          </a:solidFill>
                          <a:latin typeface="微软雅黑" panose="020B0503020204020204" pitchFamily="34" charset="-122"/>
                          <a:ea typeface="微软雅黑" panose="020B0503020204020204" pitchFamily="34" charset="-122"/>
                        </a:rPr>
                        <a:t>次</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966866143"/>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FAR@FRR=5%</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体验档：保证 </a:t>
                      </a:r>
                      <a:r>
                        <a:rPr lang="en-US" altLang="zh-CN" sz="1150" dirty="0" smtClean="0">
                          <a:solidFill>
                            <a:srgbClr val="333333"/>
                          </a:solidFill>
                          <a:latin typeface="微软雅黑" panose="020B0503020204020204" pitchFamily="34" charset="-122"/>
                          <a:ea typeface="微软雅黑" panose="020B0503020204020204" pitchFamily="34" charset="-122"/>
                        </a:rPr>
                        <a:t>95% </a:t>
                      </a:r>
                      <a:r>
                        <a:rPr lang="zh-CN" altLang="en-US" sz="1150" dirty="0" smtClean="0">
                          <a:solidFill>
                            <a:srgbClr val="333333"/>
                          </a:solidFill>
                          <a:latin typeface="微软雅黑" panose="020B0503020204020204" pitchFamily="34" charset="-122"/>
                          <a:ea typeface="微软雅黑" panose="020B0503020204020204" pitchFamily="34" charset="-122"/>
                        </a:rPr>
                        <a:t>本人通过时</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冒认漏进多少</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14.98 → 4.77</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3804838366"/>
                  </a:ext>
                </a:extLst>
              </a:tr>
            </a:tbl>
          </a:graphicData>
        </a:graphic>
      </p:graphicFrame>
      <p:sp>
        <p:nvSpPr>
          <p:cNvPr id="7" name="文本框 6"/>
          <p:cNvSpPr txBox="1"/>
          <p:nvPr/>
        </p:nvSpPr>
        <p:spPr>
          <a:xfrm>
            <a:off x="508000" y="3886200"/>
            <a:ext cx="11176000" cy="669414"/>
          </a:xfrm>
          <a:prstGeom prst="rect">
            <a:avLst/>
          </a:prstGeom>
          <a:noFill/>
        </p:spPr>
        <p:txBody>
          <a:bodyPr vert="horz" rtlCol="0">
            <a:spAutoFit/>
          </a:bodyPr>
          <a:lstStyle/>
          <a:p>
            <a:r>
              <a:rPr lang="zh-CN" altLang="en-US" sz="1250" b="1" dirty="0" smtClean="0">
                <a:solidFill>
                  <a:srgbClr val="7F6000"/>
                </a:solidFill>
                <a:latin typeface="微软雅黑" panose="020B0503020204020204" pitchFamily="34" charset="-122"/>
                <a:ea typeface="微软雅黑" panose="020B0503020204020204" pitchFamily="34" charset="-122"/>
              </a:rPr>
              <a:t>常见追问：为什么两个 </a:t>
            </a:r>
            <a:r>
              <a:rPr lang="en-US" altLang="zh-CN" sz="1250" b="1" dirty="0" smtClean="0">
                <a:solidFill>
                  <a:srgbClr val="7F6000"/>
                </a:solidFill>
                <a:latin typeface="微软雅黑" panose="020B0503020204020204" pitchFamily="34" charset="-122"/>
                <a:ea typeface="微软雅黑" panose="020B0503020204020204" pitchFamily="34" charset="-122"/>
              </a:rPr>
              <a:t>5% </a:t>
            </a:r>
            <a:r>
              <a:rPr lang="zh-CN" altLang="en-US" sz="1250" b="1" dirty="0" smtClean="0">
                <a:solidFill>
                  <a:srgbClr val="7F6000"/>
                </a:solidFill>
                <a:latin typeface="微软雅黑" panose="020B0503020204020204" pitchFamily="34" charset="-122"/>
                <a:ea typeface="微软雅黑" panose="020B0503020204020204" pitchFamily="34" charset="-122"/>
              </a:rPr>
              <a:t>工作点都是 </a:t>
            </a:r>
            <a:r>
              <a:rPr lang="en-US" altLang="zh-CN" sz="1250" b="1" dirty="0" smtClean="0">
                <a:solidFill>
                  <a:srgbClr val="7F6000"/>
                </a:solidFill>
                <a:latin typeface="微软雅黑" panose="020B0503020204020204" pitchFamily="34" charset="-122"/>
                <a:ea typeface="微软雅黑" panose="020B0503020204020204" pitchFamily="34" charset="-122"/>
              </a:rPr>
              <a:t>4.77?—— </a:t>
            </a:r>
            <a:r>
              <a:rPr lang="zh-CN" altLang="en-US" sz="1250" b="1" dirty="0" smtClean="0">
                <a:solidFill>
                  <a:srgbClr val="7F6000"/>
                </a:solidFill>
                <a:latin typeface="微软雅黑" panose="020B0503020204020204" pitchFamily="34" charset="-122"/>
                <a:ea typeface="微软雅黑" panose="020B0503020204020204" pitchFamily="34" charset="-122"/>
              </a:rPr>
              <a:t>该格 </a:t>
            </a:r>
            <a:r>
              <a:rPr lang="en-US" altLang="zh-CN" sz="1250" b="1" dirty="0" smtClean="0">
                <a:solidFill>
                  <a:srgbClr val="7F6000"/>
                </a:solidFill>
                <a:latin typeface="微软雅黑" panose="020B0503020204020204" pitchFamily="34" charset="-122"/>
                <a:ea typeface="微软雅黑" panose="020B0503020204020204" pitchFamily="34" charset="-122"/>
              </a:rPr>
              <a:t>EER≈4.89 </a:t>
            </a:r>
            <a:r>
              <a:rPr lang="zh-CN" altLang="en-US" sz="1250" b="1" dirty="0" smtClean="0">
                <a:solidFill>
                  <a:srgbClr val="7F6000"/>
                </a:solidFill>
                <a:latin typeface="微软雅黑" panose="020B0503020204020204" pitchFamily="34" charset="-122"/>
                <a:ea typeface="微软雅黑" panose="020B0503020204020204" pitchFamily="34" charset="-122"/>
              </a:rPr>
              <a:t>恰贴着 </a:t>
            </a:r>
            <a:r>
              <a:rPr lang="en-US" altLang="zh-CN" sz="1250" b="1" dirty="0" smtClean="0">
                <a:solidFill>
                  <a:srgbClr val="7F6000"/>
                </a:solidFill>
                <a:latin typeface="微软雅黑" panose="020B0503020204020204" pitchFamily="34" charset="-122"/>
                <a:ea typeface="微软雅黑" panose="020B0503020204020204" pitchFamily="34" charset="-122"/>
              </a:rPr>
              <a:t>5%,</a:t>
            </a:r>
            <a:r>
              <a:rPr lang="zh-CN" altLang="en-US" sz="1250" b="1" dirty="0" smtClean="0">
                <a:solidFill>
                  <a:srgbClr val="7F6000"/>
                </a:solidFill>
                <a:latin typeface="微软雅黑" panose="020B0503020204020204" pitchFamily="34" charset="-122"/>
                <a:ea typeface="微软雅黑" panose="020B0503020204020204" pitchFamily="34" charset="-122"/>
              </a:rPr>
              <a:t>两个交点 </a:t>
            </a:r>
            <a:r>
              <a:rPr lang="en-US" altLang="zh-CN" sz="1250" b="1" dirty="0" smtClean="0">
                <a:solidFill>
                  <a:srgbClr val="7F6000"/>
                </a:solidFill>
                <a:latin typeface="微软雅黑" panose="020B0503020204020204" pitchFamily="34" charset="-122"/>
                <a:ea typeface="微软雅黑" panose="020B0503020204020204" pitchFamily="34" charset="-122"/>
              </a:rPr>
              <a:t>(5%,4.77) </a:t>
            </a:r>
            <a:r>
              <a:rPr lang="zh-CN" altLang="en-US" sz="1250" b="1" dirty="0" smtClean="0">
                <a:solidFill>
                  <a:srgbClr val="7F6000"/>
                </a:solidFill>
                <a:latin typeface="微软雅黑" panose="020B0503020204020204" pitchFamily="34" charset="-122"/>
                <a:ea typeface="微软雅黑" panose="020B0503020204020204" pitchFamily="34" charset="-122"/>
              </a:rPr>
              <a:t>与 </a:t>
            </a:r>
            <a:r>
              <a:rPr lang="en-US" altLang="zh-CN" sz="1250" b="1" dirty="0" smtClean="0">
                <a:solidFill>
                  <a:srgbClr val="7F6000"/>
                </a:solidFill>
                <a:latin typeface="微软雅黑" panose="020B0503020204020204" pitchFamily="34" charset="-122"/>
                <a:ea typeface="微软雅黑" panose="020B0503020204020204" pitchFamily="34" charset="-122"/>
              </a:rPr>
              <a:t>(4.77,5%) </a:t>
            </a:r>
            <a:r>
              <a:rPr lang="zh-CN" altLang="en-US" sz="1250" b="1" dirty="0" smtClean="0">
                <a:solidFill>
                  <a:srgbClr val="7F6000"/>
                </a:solidFill>
                <a:latin typeface="微软雅黑" panose="020B0503020204020204" pitchFamily="34" charset="-122"/>
                <a:ea typeface="微软雅黑" panose="020B0503020204020204" pitchFamily="34" charset="-122"/>
              </a:rPr>
              <a:t>关于对角线近似镜像</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读数几乎重合；但并非逐位相等</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精确值 </a:t>
            </a:r>
            <a:r>
              <a:rPr lang="en-US" altLang="zh-CN" sz="1250" b="1" dirty="0" smtClean="0">
                <a:solidFill>
                  <a:srgbClr val="7F6000"/>
                </a:solidFill>
                <a:latin typeface="微软雅黑" panose="020B0503020204020204" pitchFamily="34" charset="-122"/>
                <a:ea typeface="微软雅黑" panose="020B0503020204020204" pitchFamily="34" charset="-122"/>
              </a:rPr>
              <a:t>4.771 / 4.769,</a:t>
            </a:r>
            <a:r>
              <a:rPr lang="zh-CN" altLang="en-US" sz="1250" b="1" dirty="0" smtClean="0">
                <a:solidFill>
                  <a:srgbClr val="7F6000"/>
                </a:solidFill>
                <a:latin typeface="微软雅黑" panose="020B0503020204020204" pitchFamily="34" charset="-122"/>
                <a:ea typeface="微软雅黑" panose="020B0503020204020204" pitchFamily="34" charset="-122"/>
              </a:rPr>
              <a:t>千分位分开</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若真逐位相等</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曲线就恰好过 </a:t>
            </a:r>
            <a:r>
              <a:rPr lang="en-US" altLang="zh-CN" sz="1250" b="1" dirty="0" smtClean="0">
                <a:solidFill>
                  <a:srgbClr val="7F6000"/>
                </a:solidFill>
                <a:latin typeface="微软雅黑" panose="020B0503020204020204" pitchFamily="34" charset="-122"/>
                <a:ea typeface="微软雅黑" panose="020B0503020204020204" pitchFamily="34" charset="-122"/>
              </a:rPr>
              <a:t>(5%,5%),EER </a:t>
            </a:r>
            <a:r>
              <a:rPr lang="zh-CN" altLang="en-US" sz="1250" b="1" dirty="0" smtClean="0">
                <a:solidFill>
                  <a:srgbClr val="7F6000"/>
                </a:solidFill>
                <a:latin typeface="微软雅黑" panose="020B0503020204020204" pitchFamily="34" charset="-122"/>
                <a:ea typeface="微软雅黑" panose="020B0503020204020204" pitchFamily="34" charset="-122"/>
              </a:rPr>
              <a:t>应为整 </a:t>
            </a:r>
            <a:r>
              <a:rPr lang="en-US" altLang="zh-CN" sz="1250" b="1" dirty="0" smtClean="0">
                <a:solidFill>
                  <a:srgbClr val="7F6000"/>
                </a:solidFill>
                <a:latin typeface="微软雅黑" panose="020B0503020204020204" pitchFamily="34" charset="-122"/>
                <a:ea typeface="微软雅黑" panose="020B0503020204020204" pitchFamily="34" charset="-122"/>
              </a:rPr>
              <a:t>5.00%,</a:t>
            </a:r>
            <a:r>
              <a:rPr lang="zh-CN" altLang="en-US" sz="1250" b="1" dirty="0" smtClean="0">
                <a:solidFill>
                  <a:srgbClr val="7F6000"/>
                </a:solidFill>
                <a:latin typeface="微软雅黑" panose="020B0503020204020204" pitchFamily="34" charset="-122"/>
                <a:ea typeface="微软雅黑" panose="020B0503020204020204" pitchFamily="34" charset="-122"/>
              </a:rPr>
              <a:t>而实际 </a:t>
            </a:r>
            <a:r>
              <a:rPr lang="en-US" altLang="zh-CN" sz="1250" b="1" dirty="0" smtClean="0">
                <a:solidFill>
                  <a:srgbClr val="7F6000"/>
                </a:solidFill>
                <a:latin typeface="微软雅黑" panose="020B0503020204020204" pitchFamily="34" charset="-122"/>
                <a:ea typeface="微软雅黑" panose="020B0503020204020204" pitchFamily="34" charset="-122"/>
              </a:rPr>
              <a:t>4.89</a:t>
            </a:r>
            <a:r>
              <a:rPr lang="zh-CN" altLang="en-US" sz="1250" b="1" dirty="0" smtClean="0">
                <a:solidFill>
                  <a:srgbClr val="7F6000"/>
                </a:solidFill>
                <a:latin typeface="微软雅黑" panose="020B0503020204020204" pitchFamily="34" charset="-122"/>
                <a:ea typeface="微软雅黑" panose="020B0503020204020204" pitchFamily="34" charset="-122"/>
              </a:rPr>
              <a:t>。</a:t>
            </a:r>
            <a:r>
              <a:rPr lang="en-US" altLang="zh-CN" sz="1250" b="1" dirty="0" smtClean="0">
                <a:solidFill>
                  <a:srgbClr val="7F6000"/>
                </a:solidFill>
                <a:latin typeface="微软雅黑" panose="020B0503020204020204" pitchFamily="34" charset="-122"/>
                <a:ea typeface="微软雅黑" panose="020B0503020204020204" pitchFamily="34" charset="-122"/>
              </a:rPr>
              <a:t>raw </a:t>
            </a:r>
            <a:r>
              <a:rPr lang="zh-CN" altLang="en-US" sz="1250" b="1" dirty="0" smtClean="0">
                <a:solidFill>
                  <a:srgbClr val="7F6000"/>
                </a:solidFill>
                <a:latin typeface="微软雅黑" panose="020B0503020204020204" pitchFamily="34" charset="-122"/>
                <a:ea typeface="微软雅黑" panose="020B0503020204020204" pitchFamily="34" charset="-122"/>
              </a:rPr>
              <a:t>曲线 </a:t>
            </a:r>
            <a:r>
              <a:rPr lang="en-US" altLang="zh-CN" sz="1250" b="1" dirty="0" smtClean="0">
                <a:solidFill>
                  <a:srgbClr val="7F6000"/>
                </a:solidFill>
                <a:latin typeface="微软雅黑" panose="020B0503020204020204" pitchFamily="34" charset="-122"/>
                <a:ea typeface="微软雅黑" panose="020B0503020204020204" pitchFamily="34" charset="-122"/>
              </a:rPr>
              <a:t>EER 8.39 </a:t>
            </a:r>
            <a:r>
              <a:rPr lang="zh-CN" altLang="en-US" sz="1250" b="1" dirty="0" smtClean="0">
                <a:solidFill>
                  <a:srgbClr val="7F6000"/>
                </a:solidFill>
                <a:latin typeface="微软雅黑" panose="020B0503020204020204" pitchFamily="34" charset="-122"/>
                <a:ea typeface="微软雅黑" panose="020B0503020204020204" pitchFamily="34" charset="-122"/>
              </a:rPr>
              <a:t>远离 </a:t>
            </a:r>
            <a:r>
              <a:rPr lang="en-US" altLang="zh-CN" sz="1250" b="1" dirty="0" smtClean="0">
                <a:solidFill>
                  <a:srgbClr val="7F6000"/>
                </a:solidFill>
                <a:latin typeface="微软雅黑" panose="020B0503020204020204" pitchFamily="34" charset="-122"/>
                <a:ea typeface="微软雅黑" panose="020B0503020204020204" pitchFamily="34" charset="-122"/>
              </a:rPr>
              <a:t>5%,</a:t>
            </a:r>
            <a:r>
              <a:rPr lang="zh-CN" altLang="en-US" sz="1250" b="1" dirty="0" smtClean="0">
                <a:solidFill>
                  <a:srgbClr val="7F6000"/>
                </a:solidFill>
                <a:latin typeface="微软雅黑" panose="020B0503020204020204" pitchFamily="34" charset="-122"/>
                <a:ea typeface="微软雅黑" panose="020B0503020204020204" pitchFamily="34" charset="-122"/>
              </a:rPr>
              <a:t>两个读数即分开</a:t>
            </a:r>
            <a:r>
              <a:rPr lang="en-US" altLang="zh-CN" sz="1250" b="1" dirty="0" smtClean="0">
                <a:solidFill>
                  <a:srgbClr val="7F6000"/>
                </a:solidFill>
                <a:latin typeface="微软雅黑" panose="020B0503020204020204" pitchFamily="34" charset="-122"/>
                <a:ea typeface="微软雅黑" panose="020B0503020204020204" pitchFamily="34" charset="-122"/>
              </a:rPr>
              <a:t>(12.46 vs 14.98)</a:t>
            </a:r>
            <a:r>
              <a:rPr lang="zh-CN" altLang="en-US" sz="1250" b="1" dirty="0" smtClean="0">
                <a:solidFill>
                  <a:srgbClr val="7F6000"/>
                </a:solidFill>
                <a:latin typeface="微软雅黑" panose="020B0503020204020204" pitchFamily="34" charset="-122"/>
                <a:ea typeface="微软雅黑" panose="020B0503020204020204" pitchFamily="34" charset="-122"/>
              </a:rPr>
              <a:t>。全量 </a:t>
            </a:r>
            <a:r>
              <a:rPr lang="en-US" altLang="zh-CN" sz="1250" b="1" dirty="0" smtClean="0">
                <a:solidFill>
                  <a:srgbClr val="7F6000"/>
                </a:solidFill>
                <a:latin typeface="微软雅黑" panose="020B0503020204020204" pitchFamily="34" charset="-122"/>
                <a:ea typeface="微软雅黑" panose="020B0503020204020204" pitchFamily="34" charset="-122"/>
              </a:rPr>
              <a:t>1,378,206 </a:t>
            </a:r>
            <a:r>
              <a:rPr lang="zh-CN" altLang="en-US" sz="1250" b="1" dirty="0" smtClean="0">
                <a:solidFill>
                  <a:srgbClr val="7F6000"/>
                </a:solidFill>
                <a:latin typeface="微软雅黑" panose="020B0503020204020204" pitchFamily="34" charset="-122"/>
                <a:ea typeface="微软雅黑" panose="020B0503020204020204" pitchFamily="34" charset="-122"/>
              </a:rPr>
              <a:t>条 </a:t>
            </a:r>
            <a:r>
              <a:rPr lang="en-US" altLang="zh-CN" sz="1250" b="1" dirty="0" smtClean="0">
                <a:solidFill>
                  <a:srgbClr val="7F6000"/>
                </a:solidFill>
                <a:latin typeface="微软雅黑" panose="020B0503020204020204" pitchFamily="34" charset="-122"/>
                <a:ea typeface="微软雅黑" panose="020B0503020204020204" pitchFamily="34" charset="-122"/>
              </a:rPr>
              <a:t>trial </a:t>
            </a:r>
            <a:r>
              <a:rPr lang="zh-CN" altLang="en-US" sz="1250" b="1" dirty="0" smtClean="0">
                <a:solidFill>
                  <a:srgbClr val="7F6000"/>
                </a:solidFill>
                <a:latin typeface="微软雅黑" panose="020B0503020204020204" pitchFamily="34" charset="-122"/>
                <a:ea typeface="微软雅黑" panose="020B0503020204020204" pitchFamily="34" charset="-122"/>
              </a:rPr>
              <a:t>独立复算核实。</a:t>
            </a:r>
            <a:endParaRPr lang="zh-CN" altLang="en-US" sz="1250" b="1" dirty="0">
              <a:solidFill>
                <a:srgbClr val="7F6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08000" y="5130800"/>
            <a:ext cx="11176000" cy="292388"/>
          </a:xfrm>
          <a:prstGeom prst="rect">
            <a:avLst/>
          </a:prstGeom>
          <a:noFill/>
        </p:spPr>
        <p:txBody>
          <a:bodyPr vert="horz" rtlCol="0">
            <a:spAutoFit/>
          </a:bodyPr>
          <a:lstStyle/>
          <a:p>
            <a:r>
              <a:rPr lang="zh-CN" altLang="en-US" sz="1300" b="1" dirty="0" smtClean="0">
                <a:solidFill>
                  <a:srgbClr val="1F3864"/>
                </a:solidFill>
                <a:latin typeface="微软雅黑" panose="020B0503020204020204" pitchFamily="34" charset="-122"/>
                <a:ea typeface="微软雅黑" panose="020B0503020204020204" pitchFamily="34" charset="-122"/>
              </a:rPr>
              <a:t>阈值纪律</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任务书</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：判定阈值只能在验证集确定、测试集冻结 </a:t>
            </a:r>
            <a:r>
              <a:rPr lang="en-US" altLang="zh-CN" sz="1300" b="1" dirty="0" smtClean="0">
                <a:solidFill>
                  <a:srgbClr val="1F3864"/>
                </a:solidFill>
                <a:latin typeface="微软雅黑" panose="020B0503020204020204" pitchFamily="34" charset="-122"/>
                <a:ea typeface="微软雅黑" panose="020B0503020204020204" pitchFamily="34" charset="-122"/>
              </a:rPr>
              <a:t>—— </a:t>
            </a:r>
            <a:r>
              <a:rPr lang="zh-CN" altLang="en-US" sz="1300" b="1" dirty="0" smtClean="0">
                <a:solidFill>
                  <a:srgbClr val="1F3864"/>
                </a:solidFill>
                <a:latin typeface="微软雅黑" panose="020B0503020204020204" pitchFamily="34" charset="-122"/>
                <a:ea typeface="微软雅黑" panose="020B0503020204020204" pitchFamily="34" charset="-122"/>
              </a:rPr>
              <a:t>全部工作点数字按冻结阈值口径报告</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测后不调阈</a:t>
            </a:r>
            <a:endParaRPr lang="zh-CN" altLang="en-US" sz="1300" b="1" dirty="0">
              <a:solidFill>
                <a:srgbClr val="1F3864"/>
              </a:solidFill>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27</a:t>
            </a:fld>
            <a:endParaRPr lang="zh-CN" altLang="en-US"/>
          </a:p>
        </p:txBody>
      </p:sp>
    </p:spTree>
    <p:extLst>
      <p:ext uri="{BB962C8B-B14F-4D97-AF65-F5344CB8AC3E}">
        <p14:creationId xmlns:p14="http://schemas.microsoft.com/office/powerpoint/2010/main" val="14044617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备用页：部署真实口径</a:t>
            </a:r>
            <a:r>
              <a:rPr lang="en-US" altLang="zh-CN" sz="2400" b="1" dirty="0" smtClean="0">
                <a:solidFill>
                  <a:srgbClr val="1F3864"/>
                </a:solidFill>
                <a:latin typeface="微软雅黑" panose="020B0503020204020204" pitchFamily="34" charset="-122"/>
                <a:ea typeface="微软雅黑" panose="020B0503020204020204" pitchFamily="34" charset="-122"/>
              </a:rPr>
              <a:t>(claim)</a:t>
            </a:r>
            <a:r>
              <a:rPr lang="zh-CN" altLang="en-US" sz="2400" b="1" dirty="0" smtClean="0">
                <a:solidFill>
                  <a:srgbClr val="1F3864"/>
                </a:solidFill>
                <a:latin typeface="微软雅黑" panose="020B0503020204020204" pitchFamily="34" charset="-122"/>
                <a:ea typeface="微软雅黑" panose="020B0503020204020204" pitchFamily="34" charset="-122"/>
              </a:rPr>
              <a:t>的检验</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059591466"/>
              </p:ext>
            </p:extLst>
          </p:nvPr>
        </p:nvGraphicFramePr>
        <p:xfrm>
          <a:off x="508000" y="1143000"/>
          <a:ext cx="5842000" cy="1770380"/>
        </p:xfrm>
        <a:graphic>
          <a:graphicData uri="http://schemas.openxmlformats.org/drawingml/2006/table">
            <a:tbl>
              <a:tblPr firstRow="1" bandRow="1">
                <a:tableStyleId>{5C22544A-7EE6-4342-B048-85BDC9FD1C3A}</a:tableStyleId>
              </a:tblPr>
              <a:tblGrid>
                <a:gridCol w="1460500">
                  <a:extLst>
                    <a:ext uri="{9D8B030D-6E8A-4147-A177-3AD203B41FA5}">
                      <a16:colId xmlns:a16="http://schemas.microsoft.com/office/drawing/2014/main" val="3974944994"/>
                    </a:ext>
                  </a:extLst>
                </a:gridCol>
                <a:gridCol w="1460500">
                  <a:extLst>
                    <a:ext uri="{9D8B030D-6E8A-4147-A177-3AD203B41FA5}">
                      <a16:colId xmlns:a16="http://schemas.microsoft.com/office/drawing/2014/main" val="436448786"/>
                    </a:ext>
                  </a:extLst>
                </a:gridCol>
                <a:gridCol w="1460500">
                  <a:extLst>
                    <a:ext uri="{9D8B030D-6E8A-4147-A177-3AD203B41FA5}">
                      <a16:colId xmlns:a16="http://schemas.microsoft.com/office/drawing/2014/main" val="4143187746"/>
                    </a:ext>
                  </a:extLst>
                </a:gridCol>
                <a:gridCol w="1460500">
                  <a:extLst>
                    <a:ext uri="{9D8B030D-6E8A-4147-A177-3AD203B41FA5}">
                      <a16:colId xmlns:a16="http://schemas.microsoft.com/office/drawing/2014/main" val="3305518912"/>
                    </a:ext>
                  </a:extLst>
                </a:gridCol>
              </a:tblGrid>
              <a:tr h="412750">
                <a:tc>
                  <a:txBody>
                    <a:bodyPr/>
                    <a:lstStyle/>
                    <a:p>
                      <a:r>
                        <a:rPr lang="zh-CN" altLang="en-US" sz="1250" b="1" smtClean="0">
                          <a:solidFill>
                            <a:srgbClr val="FFFFFF"/>
                          </a:solidFill>
                          <a:latin typeface="微软雅黑" panose="020B0503020204020204" pitchFamily="34" charset="-122"/>
                          <a:ea typeface="微软雅黑" panose="020B0503020204020204" pitchFamily="34" charset="-122"/>
                        </a:rPr>
                        <a:t>口径</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en-US" altLang="zh-CN" sz="1250" b="1" smtClean="0">
                          <a:solidFill>
                            <a:srgbClr val="FFFFFF"/>
                          </a:solidFill>
                          <a:latin typeface="微软雅黑" panose="020B0503020204020204" pitchFamily="34" charset="-122"/>
                          <a:ea typeface="微软雅黑" panose="020B0503020204020204" pitchFamily="34" charset="-122"/>
                        </a:rPr>
                        <a:t>0 dB</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en-US" altLang="zh-CN" sz="1250" b="1" smtClean="0">
                          <a:solidFill>
                            <a:srgbClr val="FFFFFF"/>
                          </a:solidFill>
                          <a:latin typeface="微软雅黑" panose="020B0503020204020204" pitchFamily="34" charset="-122"/>
                          <a:ea typeface="微软雅黑" panose="020B0503020204020204" pitchFamily="34" charset="-122"/>
                        </a:rPr>
                        <a:t>-5 dB</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250" b="1" smtClean="0">
                          <a:solidFill>
                            <a:srgbClr val="FFFFFF"/>
                          </a:solidFill>
                          <a:latin typeface="微软雅黑" panose="020B0503020204020204" pitchFamily="34" charset="-122"/>
                          <a:ea typeface="微软雅黑" panose="020B0503020204020204" pitchFamily="34" charset="-122"/>
                        </a:rPr>
                        <a:t>说明</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1920340840"/>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raw(</a:t>
                      </a:r>
                      <a:r>
                        <a:rPr lang="zh-CN" altLang="en-US" sz="1250" smtClean="0">
                          <a:solidFill>
                            <a:srgbClr val="333333"/>
                          </a:solidFill>
                          <a:latin typeface="微软雅黑" panose="020B0503020204020204" pitchFamily="34" charset="-122"/>
                          <a:ea typeface="微软雅黑" panose="020B0503020204020204" pitchFamily="34" charset="-122"/>
                        </a:rPr>
                        <a:t>基线</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8.37</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11.09</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不增强</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696085170"/>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oracle(</a:t>
                      </a:r>
                      <a:r>
                        <a:rPr lang="zh-CN" altLang="en-US" sz="1250" smtClean="0">
                          <a:solidFill>
                            <a:srgbClr val="333333"/>
                          </a:solidFill>
                          <a:latin typeface="微软雅黑" panose="020B0503020204020204" pitchFamily="34" charset="-122"/>
                          <a:ea typeface="微软雅黑" panose="020B0503020204020204" pitchFamily="34" charset="-122"/>
                        </a:rPr>
                        <a:t>交付口径</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4.88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5.53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按真实说话人条件化</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1807241727"/>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claim(</a:t>
                      </a:r>
                      <a:r>
                        <a:rPr lang="zh-CN" altLang="en-US" sz="1250" smtClean="0">
                          <a:solidFill>
                            <a:srgbClr val="333333"/>
                          </a:solidFill>
                          <a:latin typeface="微软雅黑" panose="020B0503020204020204" pitchFamily="34" charset="-122"/>
                          <a:ea typeface="微软雅黑" panose="020B0503020204020204" pitchFamily="34" charset="-122"/>
                        </a:rPr>
                        <a:t>部署口径</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10.72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12.85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冒认侧按「声称者」条件化</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3987751285"/>
                  </a:ext>
                </a:extLst>
              </a:tr>
            </a:tbl>
          </a:graphicData>
        </a:graphic>
      </p:graphicFrame>
      <p:sp>
        <p:nvSpPr>
          <p:cNvPr id="7" name="文本框 6"/>
          <p:cNvSpPr txBox="1"/>
          <p:nvPr/>
        </p:nvSpPr>
        <p:spPr>
          <a:xfrm>
            <a:off x="508000" y="2997200"/>
            <a:ext cx="5842000" cy="923330"/>
          </a:xfrm>
          <a:prstGeom prst="rect">
            <a:avLst/>
          </a:prstGeom>
          <a:noFill/>
        </p:spPr>
        <p:txBody>
          <a:bodyPr vert="horz" rtlCol="0">
            <a:spAutoFit/>
          </a:bodyPr>
          <a:lstStyle/>
          <a:p>
            <a:r>
              <a:rPr lang="zh-CN" altLang="en-US" sz="1350" b="1" dirty="0" smtClean="0">
                <a:solidFill>
                  <a:srgbClr val="7F6000"/>
                </a:solidFill>
                <a:latin typeface="微软雅黑" panose="020B0503020204020204" pitchFamily="34" charset="-122"/>
                <a:ea typeface="微软雅黑" panose="020B0503020204020204" pitchFamily="34" charset="-122"/>
              </a:rPr>
              <a:t>机理：冒认者语音被「往声称者拉」</a:t>
            </a:r>
            <a:r>
              <a:rPr lang="en-US" altLang="zh-CN" sz="1350" b="1" dirty="0" smtClean="0">
                <a:solidFill>
                  <a:srgbClr val="7F6000"/>
                </a:solidFill>
                <a:latin typeface="微软雅黑" panose="020B0503020204020204" pitchFamily="34" charset="-122"/>
                <a:ea typeface="微软雅黑" panose="020B0503020204020204" pitchFamily="34" charset="-122"/>
              </a:rPr>
              <a:t>——</a:t>
            </a:r>
          </a:p>
          <a:p>
            <a:r>
              <a:rPr lang="zh-CN" altLang="en-US" sz="1350" b="1" dirty="0" smtClean="0">
                <a:solidFill>
                  <a:srgbClr val="7F6000"/>
                </a:solidFill>
                <a:latin typeface="微软雅黑" panose="020B0503020204020204" pitchFamily="34" charset="-122"/>
                <a:ea typeface="微软雅黑" panose="020B0503020204020204" pitchFamily="34" charset="-122"/>
              </a:rPr>
              <a:t>冒认分数中位数 </a:t>
            </a:r>
            <a:r>
              <a:rPr lang="en-US" altLang="zh-CN" sz="1350" b="1" dirty="0" smtClean="0">
                <a:solidFill>
                  <a:srgbClr val="7F6000"/>
                </a:solidFill>
                <a:latin typeface="微软雅黑" panose="020B0503020204020204" pitchFamily="34" charset="-122"/>
                <a:ea typeface="微软雅黑" panose="020B0503020204020204" pitchFamily="34" charset="-122"/>
              </a:rPr>
              <a:t>0.044 → 0.129(</a:t>
            </a:r>
            <a:r>
              <a:rPr lang="zh-CN" altLang="en-US" sz="1350" b="1" dirty="0" smtClean="0">
                <a:solidFill>
                  <a:srgbClr val="7F6000"/>
                </a:solidFill>
                <a:latin typeface="微软雅黑" panose="020B0503020204020204" pitchFamily="34" charset="-122"/>
                <a:ea typeface="微软雅黑" panose="020B0503020204020204" pitchFamily="34" charset="-122"/>
              </a:rPr>
              <a:t>约 </a:t>
            </a:r>
            <a:r>
              <a:rPr lang="en-US" altLang="zh-CN" sz="1350" b="1" dirty="0" smtClean="0">
                <a:solidFill>
                  <a:srgbClr val="7F6000"/>
                </a:solidFill>
                <a:latin typeface="微软雅黑" panose="020B0503020204020204" pitchFamily="34" charset="-122"/>
                <a:ea typeface="微软雅黑" panose="020B0503020204020204" pitchFamily="34" charset="-122"/>
              </a:rPr>
              <a:t>3 </a:t>
            </a:r>
            <a:r>
              <a:rPr lang="zh-CN" altLang="en-US" sz="1350" b="1" dirty="0" smtClean="0">
                <a:solidFill>
                  <a:srgbClr val="7F6000"/>
                </a:solidFill>
                <a:latin typeface="微软雅黑" panose="020B0503020204020204" pitchFamily="34" charset="-122"/>
                <a:ea typeface="微软雅黑" panose="020B0503020204020204" pitchFamily="34" charset="-122"/>
              </a:rPr>
              <a:t>倍</a:t>
            </a:r>
            <a:r>
              <a:rPr lang="en-US" altLang="zh-CN" sz="1350" b="1" dirty="0" smtClean="0">
                <a:solidFill>
                  <a:srgbClr val="7F6000"/>
                </a:solidFill>
                <a:latin typeface="微软雅黑" panose="020B0503020204020204" pitchFamily="34" charset="-122"/>
                <a:ea typeface="微软雅黑" panose="020B0503020204020204" pitchFamily="34" charset="-122"/>
              </a:rPr>
              <a:t>)</a:t>
            </a:r>
          </a:p>
          <a:p>
            <a:r>
              <a:rPr lang="zh-CN" altLang="en-US" sz="1350" b="1" dirty="0" smtClean="0">
                <a:solidFill>
                  <a:srgbClr val="7F6000"/>
                </a:solidFill>
                <a:latin typeface="微软雅黑" panose="020B0503020204020204" pitchFamily="34" charset="-122"/>
                <a:ea typeface="微软雅黑" panose="020B0503020204020204" pitchFamily="34" charset="-122"/>
              </a:rPr>
              <a:t>注册身份经条件化增强「泄漏」进输出语音：</a:t>
            </a:r>
            <a:endParaRPr lang="en-US" altLang="zh-CN" sz="1350" b="1" dirty="0" smtClean="0">
              <a:solidFill>
                <a:srgbClr val="7F6000"/>
              </a:solidFill>
              <a:latin typeface="微软雅黑" panose="020B0503020204020204" pitchFamily="34" charset="-122"/>
              <a:ea typeface="微软雅黑" panose="020B0503020204020204" pitchFamily="34" charset="-122"/>
            </a:endParaRPr>
          </a:p>
          <a:p>
            <a:r>
              <a:rPr lang="zh-CN" altLang="en-US" sz="1350" b="1" dirty="0" smtClean="0">
                <a:solidFill>
                  <a:srgbClr val="7F6000"/>
                </a:solidFill>
                <a:latin typeface="微软雅黑" panose="020B0503020204020204" pitchFamily="34" charset="-122"/>
                <a:ea typeface="微软雅黑" panose="020B0503020204020204" pitchFamily="34" charset="-122"/>
              </a:rPr>
              <a:t>去噪越成功</a:t>
            </a:r>
            <a:r>
              <a:rPr lang="en-US" altLang="zh-CN" sz="1350" b="1" dirty="0" smtClean="0">
                <a:solidFill>
                  <a:srgbClr val="7F6000"/>
                </a:solidFill>
                <a:latin typeface="微软雅黑" panose="020B0503020204020204" pitchFamily="34" charset="-122"/>
                <a:ea typeface="微软雅黑" panose="020B0503020204020204" pitchFamily="34" charset="-122"/>
              </a:rPr>
              <a:t>,</a:t>
            </a:r>
            <a:r>
              <a:rPr lang="zh-CN" altLang="en-US" sz="1350" b="1" dirty="0" smtClean="0">
                <a:solidFill>
                  <a:srgbClr val="7F6000"/>
                </a:solidFill>
                <a:latin typeface="微软雅黑" panose="020B0503020204020204" pitchFamily="34" charset="-122"/>
                <a:ea typeface="微软雅黑" panose="020B0503020204020204" pitchFamily="34" charset="-122"/>
              </a:rPr>
              <a:t>冒认语音越像声称者</a:t>
            </a:r>
            <a:r>
              <a:rPr lang="en-US" altLang="zh-CN" sz="1350" b="1" dirty="0" smtClean="0">
                <a:solidFill>
                  <a:srgbClr val="7F6000"/>
                </a:solidFill>
                <a:latin typeface="微软雅黑" panose="020B0503020204020204" pitchFamily="34" charset="-122"/>
                <a:ea typeface="微软雅黑" panose="020B0503020204020204" pitchFamily="34" charset="-122"/>
              </a:rPr>
              <a:t>(</a:t>
            </a:r>
            <a:r>
              <a:rPr lang="zh-CN" altLang="en-US" sz="1350" b="1" dirty="0" smtClean="0">
                <a:solidFill>
                  <a:srgbClr val="7F6000"/>
                </a:solidFill>
                <a:latin typeface="微软雅黑" panose="020B0503020204020204" pitchFamily="34" charset="-122"/>
                <a:ea typeface="微软雅黑" panose="020B0503020204020204" pitchFamily="34" charset="-122"/>
              </a:rPr>
              <a:t>结构性</a:t>
            </a:r>
            <a:r>
              <a:rPr lang="en-US" altLang="zh-CN" sz="1350" b="1" dirty="0" smtClean="0">
                <a:solidFill>
                  <a:srgbClr val="7F6000"/>
                </a:solidFill>
                <a:latin typeface="微软雅黑" panose="020B0503020204020204" pitchFamily="34" charset="-122"/>
                <a:ea typeface="微软雅黑" panose="020B0503020204020204" pitchFamily="34" charset="-122"/>
              </a:rPr>
              <a:t>)</a:t>
            </a:r>
            <a:endParaRPr lang="zh-CN" altLang="en-US" sz="1350" b="1" dirty="0">
              <a:solidFill>
                <a:srgbClr val="7F6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08000" y="4648200"/>
            <a:ext cx="5842000" cy="923330"/>
          </a:xfrm>
          <a:prstGeom prst="rect">
            <a:avLst/>
          </a:prstGeom>
          <a:noFill/>
        </p:spPr>
        <p:txBody>
          <a:bodyPr vert="horz" rtlCol="0">
            <a:spAutoFit/>
          </a:bodyPr>
          <a:lstStyle/>
          <a:p>
            <a:r>
              <a:rPr lang="en-US" altLang="zh-CN" sz="1350" b="1" dirty="0" smtClean="0">
                <a:solidFill>
                  <a:srgbClr val="C00000"/>
                </a:solidFill>
                <a:latin typeface="微软雅黑" panose="020B0503020204020204" pitchFamily="34" charset="-122"/>
                <a:ea typeface="微软雅黑" panose="020B0503020204020204" pitchFamily="34" charset="-122"/>
              </a:rPr>
              <a:t>claim </a:t>
            </a:r>
            <a:r>
              <a:rPr lang="zh-CN" altLang="en-US" sz="1350" b="1" dirty="0" smtClean="0">
                <a:solidFill>
                  <a:srgbClr val="C00000"/>
                </a:solidFill>
                <a:latin typeface="微软雅黑" panose="020B0503020204020204" pitchFamily="34" charset="-122"/>
                <a:ea typeface="微软雅黑" panose="020B0503020204020204" pitchFamily="34" charset="-122"/>
              </a:rPr>
              <a:t>最好臂 </a:t>
            </a:r>
            <a:r>
              <a:rPr lang="en-US" altLang="zh-CN" sz="1350" b="1" dirty="0" smtClean="0">
                <a:solidFill>
                  <a:srgbClr val="C00000"/>
                </a:solidFill>
                <a:latin typeface="微软雅黑" panose="020B0503020204020204" pitchFamily="34" charset="-122"/>
                <a:ea typeface="微软雅黑" panose="020B0503020204020204" pitchFamily="34" charset="-122"/>
              </a:rPr>
              <a:t>= </a:t>
            </a:r>
            <a:r>
              <a:rPr lang="zh-CN" altLang="en-US" sz="1350" b="1" dirty="0" smtClean="0">
                <a:solidFill>
                  <a:srgbClr val="C00000"/>
                </a:solidFill>
                <a:latin typeface="微软雅黑" panose="020B0503020204020204" pitchFamily="34" charset="-122"/>
                <a:ea typeface="微软雅黑" panose="020B0503020204020204" pitchFamily="34" charset="-122"/>
              </a:rPr>
              <a:t>非目标抑制 </a:t>
            </a:r>
            <a:r>
              <a:rPr lang="en-US" altLang="zh-CN" sz="1350" b="1" dirty="0" smtClean="0">
                <a:solidFill>
                  <a:srgbClr val="C00000"/>
                </a:solidFill>
                <a:latin typeface="微软雅黑" panose="020B0503020204020204" pitchFamily="34" charset="-122"/>
                <a:ea typeface="微软雅黑" panose="020B0503020204020204" pitchFamily="34" charset="-122"/>
              </a:rPr>
              <a:t>+70%</a:t>
            </a:r>
            <a:r>
              <a:rPr lang="zh-CN" altLang="en-US" sz="1350" b="1" dirty="0" smtClean="0">
                <a:solidFill>
                  <a:srgbClr val="C00000"/>
                </a:solidFill>
                <a:latin typeface="微软雅黑" panose="020B0503020204020204" pitchFamily="34" charset="-122"/>
                <a:ea typeface="微软雅黑" panose="020B0503020204020204" pitchFamily="34" charset="-122"/>
              </a:rPr>
              <a:t>：</a:t>
            </a:r>
            <a:endParaRPr lang="en-US" altLang="zh-CN" sz="1350" b="1" dirty="0" smtClean="0">
              <a:solidFill>
                <a:srgbClr val="C00000"/>
              </a:solidFill>
              <a:latin typeface="微软雅黑" panose="020B0503020204020204" pitchFamily="34" charset="-122"/>
              <a:ea typeface="微软雅黑" panose="020B0503020204020204" pitchFamily="34" charset="-122"/>
            </a:endParaRPr>
          </a:p>
          <a:p>
            <a:r>
              <a:rPr lang="en-US" altLang="zh-CN" sz="1350" b="1" dirty="0" smtClean="0">
                <a:solidFill>
                  <a:srgbClr val="C00000"/>
                </a:solidFill>
                <a:latin typeface="微软雅黑" panose="020B0503020204020204" pitchFamily="34" charset="-122"/>
                <a:ea typeface="微软雅黑" panose="020B0503020204020204" pitchFamily="34" charset="-122"/>
              </a:rPr>
              <a:t>claim 8.11 </a:t>
            </a:r>
            <a:r>
              <a:rPr lang="zh-CN" altLang="en-US" sz="1350" b="1" dirty="0" smtClean="0">
                <a:solidFill>
                  <a:srgbClr val="C00000"/>
                </a:solidFill>
                <a:latin typeface="微软雅黑" panose="020B0503020204020204" pitchFamily="34" charset="-122"/>
                <a:ea typeface="微软雅黑" panose="020B0503020204020204" pitchFamily="34" charset="-122"/>
              </a:rPr>
              <a:t>已低于 </a:t>
            </a:r>
            <a:r>
              <a:rPr lang="en-US" altLang="zh-CN" sz="1350" b="1" dirty="0" smtClean="0">
                <a:solidFill>
                  <a:srgbClr val="C00000"/>
                </a:solidFill>
                <a:latin typeface="微软雅黑" panose="020B0503020204020204" pitchFamily="34" charset="-122"/>
                <a:ea typeface="微软雅黑" panose="020B0503020204020204" pitchFamily="34" charset="-122"/>
              </a:rPr>
              <a:t>raw 8.37,</a:t>
            </a:r>
          </a:p>
          <a:p>
            <a:r>
              <a:rPr lang="zh-CN" altLang="en-US" sz="1350" b="1" dirty="0" smtClean="0">
                <a:solidFill>
                  <a:srgbClr val="C00000"/>
                </a:solidFill>
                <a:latin typeface="微软雅黑" panose="020B0503020204020204" pitchFamily="34" charset="-122"/>
                <a:ea typeface="微软雅黑" panose="020B0503020204020204" pitchFamily="34" charset="-122"/>
              </a:rPr>
              <a:t>但 </a:t>
            </a:r>
            <a:r>
              <a:rPr lang="en-US" altLang="zh-CN" sz="1350" b="1" dirty="0" smtClean="0">
                <a:solidFill>
                  <a:srgbClr val="C00000"/>
                </a:solidFill>
                <a:latin typeface="微软雅黑" panose="020B0503020204020204" pitchFamily="34" charset="-122"/>
                <a:ea typeface="微软雅黑" panose="020B0503020204020204" pitchFamily="34" charset="-122"/>
              </a:rPr>
              <a:t>oracle </a:t>
            </a:r>
            <a:r>
              <a:rPr lang="zh-CN" altLang="en-US" sz="1350" b="1" dirty="0" smtClean="0">
                <a:solidFill>
                  <a:srgbClr val="C00000"/>
                </a:solidFill>
                <a:latin typeface="微软雅黑" panose="020B0503020204020204" pitchFamily="34" charset="-122"/>
                <a:ea typeface="微软雅黑" panose="020B0503020204020204" pitchFamily="34" charset="-122"/>
              </a:rPr>
              <a:t>退到 </a:t>
            </a:r>
            <a:r>
              <a:rPr lang="en-US" altLang="zh-CN" sz="1350" b="1" dirty="0" smtClean="0">
                <a:solidFill>
                  <a:srgbClr val="C00000"/>
                </a:solidFill>
                <a:latin typeface="微软雅黑" panose="020B0503020204020204" pitchFamily="34" charset="-122"/>
                <a:ea typeface="微软雅黑" panose="020B0503020204020204" pitchFamily="34" charset="-122"/>
              </a:rPr>
              <a:t>6.69,</a:t>
            </a:r>
            <a:r>
              <a:rPr lang="zh-CN" altLang="en-US" sz="1350" b="1" dirty="0" smtClean="0">
                <a:solidFill>
                  <a:srgbClr val="C00000"/>
                </a:solidFill>
                <a:latin typeface="微软雅黑" panose="020B0503020204020204" pitchFamily="34" charset="-122"/>
                <a:ea typeface="微软雅黑" panose="020B0503020204020204" pitchFamily="34" charset="-122"/>
              </a:rPr>
              <a:t>距达标线 </a:t>
            </a:r>
            <a:r>
              <a:rPr lang="en-US" altLang="zh-CN" sz="1350" b="1" dirty="0" smtClean="0">
                <a:solidFill>
                  <a:srgbClr val="C00000"/>
                </a:solidFill>
                <a:latin typeface="微软雅黑" panose="020B0503020204020204" pitchFamily="34" charset="-122"/>
                <a:ea typeface="微软雅黑" panose="020B0503020204020204" pitchFamily="34" charset="-122"/>
              </a:rPr>
              <a:t>5.87 </a:t>
            </a:r>
            <a:r>
              <a:rPr lang="zh-CN" altLang="en-US" sz="1350" b="1" dirty="0" smtClean="0">
                <a:solidFill>
                  <a:srgbClr val="C00000"/>
                </a:solidFill>
                <a:latin typeface="微软雅黑" panose="020B0503020204020204" pitchFamily="34" charset="-122"/>
                <a:ea typeface="微软雅黑" panose="020B0503020204020204" pitchFamily="34" charset="-122"/>
              </a:rPr>
              <a:t>差 </a:t>
            </a:r>
            <a:r>
              <a:rPr lang="en-US" altLang="zh-CN" sz="1350" b="1" dirty="0" smtClean="0">
                <a:solidFill>
                  <a:srgbClr val="C00000"/>
                </a:solidFill>
                <a:latin typeface="微软雅黑" panose="020B0503020204020204" pitchFamily="34" charset="-122"/>
                <a:ea typeface="微软雅黑" panose="020B0503020204020204" pitchFamily="34" charset="-122"/>
              </a:rPr>
              <a:t>0.8pp</a:t>
            </a:r>
          </a:p>
          <a:p>
            <a:r>
              <a:rPr lang="en-US" altLang="zh-CN" sz="1350" b="1" dirty="0" smtClean="0">
                <a:solidFill>
                  <a:srgbClr val="C00000"/>
                </a:solidFill>
                <a:latin typeface="微软雅黑" panose="020B0503020204020204" pitchFamily="34" charset="-122"/>
                <a:ea typeface="微软雅黑" panose="020B0503020204020204" pitchFamily="34" charset="-122"/>
              </a:rPr>
              <a:t>→ 15 </a:t>
            </a:r>
            <a:r>
              <a:rPr lang="zh-CN" altLang="en-US" sz="1350" b="1" dirty="0" smtClean="0">
                <a:solidFill>
                  <a:srgbClr val="C00000"/>
                </a:solidFill>
                <a:latin typeface="微软雅黑" panose="020B0503020204020204" pitchFamily="34" charset="-122"/>
                <a:ea typeface="微软雅黑" panose="020B0503020204020204" pitchFamily="34" charset="-122"/>
              </a:rPr>
              <a:t>臂无一进入「双达标区」</a:t>
            </a:r>
            <a:r>
              <a:rPr lang="en-US" altLang="zh-CN" sz="1350" b="1" dirty="0" smtClean="0">
                <a:solidFill>
                  <a:srgbClr val="C00000"/>
                </a:solidFill>
                <a:latin typeface="微软雅黑" panose="020B0503020204020204" pitchFamily="34" charset="-122"/>
                <a:ea typeface="微软雅黑" panose="020B0503020204020204" pitchFamily="34" charset="-122"/>
              </a:rPr>
              <a:t>(</a:t>
            </a:r>
            <a:r>
              <a:rPr lang="zh-CN" altLang="en-US" sz="1350" b="1" dirty="0" smtClean="0">
                <a:solidFill>
                  <a:srgbClr val="C00000"/>
                </a:solidFill>
                <a:latin typeface="微软雅黑" panose="020B0503020204020204" pitchFamily="34" charset="-122"/>
                <a:ea typeface="微软雅黑" panose="020B0503020204020204" pitchFamily="34" charset="-122"/>
              </a:rPr>
              <a:t>右图绿区</a:t>
            </a:r>
            <a:r>
              <a:rPr lang="en-US" altLang="zh-CN" sz="1350" b="1" dirty="0" smtClean="0">
                <a:solidFill>
                  <a:srgbClr val="C00000"/>
                </a:solidFill>
                <a:latin typeface="微软雅黑" panose="020B0503020204020204" pitchFamily="34" charset="-122"/>
                <a:ea typeface="微软雅黑" panose="020B0503020204020204" pitchFamily="34" charset="-122"/>
              </a:rPr>
              <a:t>)</a:t>
            </a:r>
            <a:endParaRPr lang="zh-CN" altLang="en-US" sz="1350" b="1" dirty="0">
              <a:solidFill>
                <a:srgbClr val="C00000"/>
              </a:solidFill>
              <a:latin typeface="微软雅黑" panose="020B0503020204020204" pitchFamily="34" charset="-122"/>
              <a:ea typeface="微软雅黑" panose="020B0503020204020204" pitchFamily="34" charset="-122"/>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626109" y="1168400"/>
            <a:ext cx="5188183" cy="2819400"/>
          </a:xfrm>
          <a:prstGeom prst="rect">
            <a:avLst/>
          </a:prstGeom>
        </p:spPr>
      </p:pic>
      <p:sp>
        <p:nvSpPr>
          <p:cNvPr id="12" name="灯片编号占位符 11"/>
          <p:cNvSpPr>
            <a:spLocks noGrp="1"/>
          </p:cNvSpPr>
          <p:nvPr>
            <p:ph type="sldNum" sz="quarter" idx="12"/>
          </p:nvPr>
        </p:nvSpPr>
        <p:spPr/>
        <p:txBody>
          <a:bodyPr/>
          <a:lstStyle/>
          <a:p>
            <a:fld id="{7BF2EA3F-D088-4729-88F9-9D4FADF26323}" type="slidenum">
              <a:rPr lang="zh-CN" altLang="en-US" smtClean="0"/>
              <a:t>28</a:t>
            </a:fld>
            <a:endParaRPr lang="zh-CN" altLang="en-US"/>
          </a:p>
        </p:txBody>
      </p:sp>
    </p:spTree>
    <p:extLst>
      <p:ext uri="{BB962C8B-B14F-4D97-AF65-F5344CB8AC3E}">
        <p14:creationId xmlns:p14="http://schemas.microsoft.com/office/powerpoint/2010/main" val="19073405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a:t>
            </a:r>
            <a:r>
              <a:rPr lang="en-US" altLang="zh-CN" sz="2400" b="1" dirty="0" smtClean="0">
                <a:solidFill>
                  <a:srgbClr val="1F3864"/>
                </a:solidFill>
                <a:latin typeface="微软雅黑" panose="020B0503020204020204" pitchFamily="34" charset="-122"/>
                <a:ea typeface="微软雅黑" panose="020B0503020204020204" pitchFamily="34" charset="-122"/>
              </a:rPr>
              <a:t>claim </a:t>
            </a:r>
            <a:r>
              <a:rPr lang="zh-CN" altLang="en-US" sz="2400" b="1" dirty="0" smtClean="0">
                <a:solidFill>
                  <a:srgbClr val="1F3864"/>
                </a:solidFill>
                <a:latin typeface="微软雅黑" panose="020B0503020204020204" pitchFamily="34" charset="-122"/>
                <a:ea typeface="微软雅黑" panose="020B0503020204020204" pitchFamily="34" charset="-122"/>
              </a:rPr>
              <a:t>修复努力全景</a:t>
            </a:r>
            <a:r>
              <a:rPr lang="en-US" altLang="zh-CN" sz="2400" b="1" dirty="0" smtClean="0">
                <a:solidFill>
                  <a:srgbClr val="1F3864"/>
                </a:solidFill>
                <a:latin typeface="微软雅黑" panose="020B0503020204020204" pitchFamily="34" charset="-122"/>
                <a:ea typeface="微软雅黑" panose="020B0503020204020204" pitchFamily="34" charset="-122"/>
              </a:rPr>
              <a:t>(13 </a:t>
            </a:r>
            <a:r>
              <a:rPr lang="zh-CN" altLang="en-US" sz="2400" b="1" dirty="0" smtClean="0">
                <a:solidFill>
                  <a:srgbClr val="1F3864"/>
                </a:solidFill>
                <a:latin typeface="微软雅黑" panose="020B0503020204020204" pitchFamily="34" charset="-122"/>
                <a:ea typeface="微软雅黑" panose="020B0503020204020204" pitchFamily="34" charset="-122"/>
              </a:rPr>
              <a:t>训练侧 </a:t>
            </a:r>
            <a:r>
              <a:rPr lang="en-US" altLang="zh-CN" sz="2400" b="1" dirty="0" smtClean="0">
                <a:solidFill>
                  <a:srgbClr val="1F3864"/>
                </a:solidFill>
                <a:latin typeface="微软雅黑" panose="020B0503020204020204" pitchFamily="34" charset="-122"/>
                <a:ea typeface="微软雅黑" panose="020B0503020204020204" pitchFamily="34" charset="-122"/>
              </a:rPr>
              <a:t>+ 2 </a:t>
            </a:r>
            <a:r>
              <a:rPr lang="zh-CN" altLang="en-US" sz="2400" b="1" dirty="0" smtClean="0">
                <a:solidFill>
                  <a:srgbClr val="1F3864"/>
                </a:solidFill>
                <a:latin typeface="微软雅黑" panose="020B0503020204020204" pitchFamily="34" charset="-122"/>
                <a:ea typeface="微软雅黑" panose="020B0503020204020204" pitchFamily="34" charset="-122"/>
              </a:rPr>
              <a:t>推理侧</a:t>
            </a:r>
            <a:r>
              <a:rPr lang="en-US" altLang="zh-CN" sz="2400" b="1" dirty="0" smtClean="0">
                <a:solidFill>
                  <a:srgbClr val="1F3864"/>
                </a:solidFill>
                <a:latin typeface="微软雅黑" panose="020B0503020204020204" pitchFamily="34" charset="-122"/>
                <a:ea typeface="微软雅黑" panose="020B0503020204020204" pitchFamily="34" charset="-122"/>
              </a:rPr>
              <a:t>)</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8000" y="1066800"/>
            <a:ext cx="11176000" cy="323165"/>
          </a:xfrm>
          <a:prstGeom prst="rect">
            <a:avLst/>
          </a:prstGeom>
          <a:noFill/>
        </p:spPr>
        <p:txBody>
          <a:bodyPr vert="horz" rtlCol="0">
            <a:spAutoFit/>
          </a:bodyPr>
          <a:lstStyle/>
          <a:p>
            <a:r>
              <a:rPr lang="zh-CN" altLang="en-US" sz="1500" b="1" smtClean="0">
                <a:solidFill>
                  <a:srgbClr val="1F3864"/>
                </a:solidFill>
                <a:latin typeface="微软雅黑" panose="020B0503020204020204" pitchFamily="34" charset="-122"/>
                <a:ea typeface="微软雅黑" panose="020B0503020204020204" pitchFamily="34" charset="-122"/>
              </a:rPr>
              <a:t>训练侧四族</a:t>
            </a:r>
            <a:r>
              <a:rPr lang="en-US" altLang="zh-CN" sz="1500" b="1" smtClean="0">
                <a:solidFill>
                  <a:srgbClr val="1F3864"/>
                </a:solidFill>
                <a:latin typeface="微软雅黑" panose="020B0503020204020204" pitchFamily="34" charset="-122"/>
                <a:ea typeface="微软雅黑" panose="020B0503020204020204" pitchFamily="34" charset="-122"/>
              </a:rPr>
              <a:t>(</a:t>
            </a:r>
            <a:r>
              <a:rPr lang="zh-CN" altLang="en-US" sz="1500" b="1" smtClean="0">
                <a:solidFill>
                  <a:srgbClr val="1F3864"/>
                </a:solidFill>
                <a:latin typeface="微软雅黑" panose="020B0503020204020204" pitchFamily="34" charset="-122"/>
                <a:ea typeface="微软雅黑" panose="020B0503020204020204" pitchFamily="34" charset="-122"/>
              </a:rPr>
              <a:t>在交付前端基础上改训练</a:t>
            </a:r>
            <a:r>
              <a:rPr lang="en-US" altLang="zh-CN" sz="1500" b="1" smtClean="0">
                <a:solidFill>
                  <a:srgbClr val="1F3864"/>
                </a:solidFill>
                <a:latin typeface="微软雅黑" panose="020B0503020204020204" pitchFamily="34" charset="-122"/>
                <a:ea typeface="微软雅黑" panose="020B0503020204020204" pitchFamily="34" charset="-122"/>
              </a:rPr>
              <a:t>)</a:t>
            </a:r>
            <a:endParaRPr lang="zh-CN" altLang="en-US" sz="1500" b="1">
              <a:solidFill>
                <a:srgbClr val="1F3864"/>
              </a:solidFill>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071452220"/>
              </p:ext>
            </p:extLst>
          </p:nvPr>
        </p:nvGraphicFramePr>
        <p:xfrm>
          <a:off x="508000" y="1473200"/>
          <a:ext cx="11176000" cy="217932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50738807"/>
                    </a:ext>
                  </a:extLst>
                </a:gridCol>
                <a:gridCol w="2794000">
                  <a:extLst>
                    <a:ext uri="{9D8B030D-6E8A-4147-A177-3AD203B41FA5}">
                      <a16:colId xmlns:a16="http://schemas.microsoft.com/office/drawing/2014/main" val="2194984380"/>
                    </a:ext>
                  </a:extLst>
                </a:gridCol>
                <a:gridCol w="2794000">
                  <a:extLst>
                    <a:ext uri="{9D8B030D-6E8A-4147-A177-3AD203B41FA5}">
                      <a16:colId xmlns:a16="http://schemas.microsoft.com/office/drawing/2014/main" val="796534337"/>
                    </a:ext>
                  </a:extLst>
                </a:gridCol>
                <a:gridCol w="2794000">
                  <a:extLst>
                    <a:ext uri="{9D8B030D-6E8A-4147-A177-3AD203B41FA5}">
                      <a16:colId xmlns:a16="http://schemas.microsoft.com/office/drawing/2014/main" val="1616004314"/>
                    </a:ext>
                  </a:extLst>
                </a:gridCol>
              </a:tblGrid>
              <a:tr h="426720">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族</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做法</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最好结果</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判决</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2552281197"/>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A </a:t>
                      </a:r>
                      <a:r>
                        <a:rPr lang="zh-CN" altLang="en-US" sz="1150" smtClean="0">
                          <a:solidFill>
                            <a:srgbClr val="333333"/>
                          </a:solidFill>
                          <a:latin typeface="微软雅黑" panose="020B0503020204020204" pitchFamily="34" charset="-122"/>
                          <a:ea typeface="微软雅黑" panose="020B0503020204020204" pitchFamily="34" charset="-122"/>
                        </a:rPr>
                        <a:t>非目标抑制加码</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占比 </a:t>
                      </a:r>
                      <a:r>
                        <a:rPr lang="en-US" altLang="zh-CN" sz="1150" smtClean="0">
                          <a:solidFill>
                            <a:srgbClr val="333333"/>
                          </a:solidFill>
                          <a:latin typeface="微软雅黑" panose="020B0503020204020204" pitchFamily="34" charset="-122"/>
                          <a:ea typeface="微软雅黑" panose="020B0503020204020204" pitchFamily="34" charset="-122"/>
                        </a:rPr>
                        <a:t>+30/50/70%,</a:t>
                      </a:r>
                      <a:r>
                        <a:rPr lang="zh-CN" altLang="en-US" sz="1150" smtClean="0">
                          <a:solidFill>
                            <a:srgbClr val="333333"/>
                          </a:solidFill>
                          <a:latin typeface="微软雅黑" panose="020B0503020204020204" pitchFamily="34" charset="-122"/>
                          <a:ea typeface="微软雅黑" panose="020B0503020204020204" pitchFamily="34" charset="-122"/>
                        </a:rPr>
                        <a:t>再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反拉项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claim 8.11(+70%,</a:t>
                      </a:r>
                      <a:r>
                        <a:rPr lang="zh-CN" altLang="en-US" sz="1150" dirty="0" smtClean="0">
                          <a:solidFill>
                            <a:srgbClr val="333333"/>
                          </a:solidFill>
                          <a:latin typeface="微软雅黑" panose="020B0503020204020204" pitchFamily="34" charset="-122"/>
                          <a:ea typeface="微软雅黑" panose="020B0503020204020204" pitchFamily="34" charset="-122"/>
                        </a:rPr>
                        <a:t>首次</a:t>
                      </a:r>
                      <a:r>
                        <a:rPr lang="en-US" altLang="zh-CN" sz="1150" dirty="0" smtClean="0">
                          <a:solidFill>
                            <a:srgbClr val="333333"/>
                          </a:solidFill>
                          <a:latin typeface="微软雅黑" panose="020B0503020204020204" pitchFamily="34" charset="-122"/>
                          <a:ea typeface="微软雅黑" panose="020B0503020204020204" pitchFamily="34" charset="-122"/>
                        </a:rPr>
                        <a:t>&lt; raw)</a:t>
                      </a:r>
                      <a:r>
                        <a:rPr lang="zh-CN" altLang="en-US" sz="1150" dirty="0" smtClean="0">
                          <a:solidFill>
                            <a:srgbClr val="333333"/>
                          </a:solidFill>
                          <a:latin typeface="微软雅黑" panose="020B0503020204020204" pitchFamily="34" charset="-122"/>
                          <a:ea typeface="微软雅黑" panose="020B0503020204020204" pitchFamily="34" charset="-122"/>
                        </a:rPr>
                        <a:t>；</a:t>
                      </a:r>
                      <a:r>
                        <a:rPr lang="en-US" altLang="zh-CN" sz="1150" dirty="0" smtClean="0">
                          <a:solidFill>
                            <a:srgbClr val="333333"/>
                          </a:solidFill>
                          <a:latin typeface="微软雅黑" panose="020B0503020204020204" pitchFamily="34" charset="-122"/>
                          <a:ea typeface="微软雅黑" panose="020B0503020204020204" pitchFamily="34" charset="-122"/>
                        </a:rPr>
                        <a:t>oracle </a:t>
                      </a:r>
                      <a:r>
                        <a:rPr lang="zh-CN" altLang="en-US" sz="1150" dirty="0" smtClean="0">
                          <a:solidFill>
                            <a:srgbClr val="333333"/>
                          </a:solidFill>
                          <a:latin typeface="微软雅黑" panose="020B0503020204020204" pitchFamily="34" charset="-122"/>
                          <a:ea typeface="微软雅黑" panose="020B0503020204020204" pitchFamily="34" charset="-122"/>
                        </a:rPr>
                        <a:t>退到 </a:t>
                      </a:r>
                      <a:r>
                        <a:rPr lang="en-US" altLang="zh-CN" sz="1150" dirty="0" smtClean="0">
                          <a:solidFill>
                            <a:srgbClr val="333333"/>
                          </a:solidFill>
                          <a:latin typeface="微软雅黑" panose="020B0503020204020204" pitchFamily="34" charset="-122"/>
                          <a:ea typeface="微软雅黑" panose="020B0503020204020204" pitchFamily="34" charset="-122"/>
                        </a:rPr>
                        <a:t>6.69</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沿前沿滑动</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差 </a:t>
                      </a:r>
                      <a:r>
                        <a:rPr lang="en-US" altLang="zh-CN" sz="1150" smtClean="0">
                          <a:solidFill>
                            <a:srgbClr val="333333"/>
                          </a:solidFill>
                          <a:latin typeface="微软雅黑" panose="020B0503020204020204" pitchFamily="34" charset="-122"/>
                          <a:ea typeface="微软雅黑" panose="020B0503020204020204" pitchFamily="34" charset="-122"/>
                        </a:rPr>
                        <a:t>0.8pp</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1867452013"/>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B </a:t>
                      </a:r>
                      <a:r>
                        <a:rPr lang="zh-CN" altLang="en-US" sz="1150" smtClean="0">
                          <a:solidFill>
                            <a:srgbClr val="333333"/>
                          </a:solidFill>
                          <a:latin typeface="微软雅黑" panose="020B0503020204020204" pitchFamily="34" charset="-122"/>
                          <a:ea typeface="微软雅黑" panose="020B0503020204020204" pitchFamily="34" charset="-122"/>
                        </a:rPr>
                        <a:t>判别损失中性化</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CE </a:t>
                      </a:r>
                      <a:r>
                        <a:rPr lang="zh-CN" altLang="en-US" sz="1150" smtClean="0">
                          <a:solidFill>
                            <a:srgbClr val="333333"/>
                          </a:solidFill>
                          <a:latin typeface="微软雅黑" panose="020B0503020204020204" pitchFamily="34" charset="-122"/>
                          <a:ea typeface="微软雅黑" panose="020B0503020204020204" pitchFamily="34" charset="-122"/>
                        </a:rPr>
                        <a:t>清零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减半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配方强化</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claim 7.79</a:t>
                      </a:r>
                      <a:r>
                        <a:rPr lang="zh-CN" altLang="en-US" sz="1150" dirty="0" smtClean="0">
                          <a:solidFill>
                            <a:srgbClr val="333333"/>
                          </a:solidFill>
                          <a:latin typeface="微软雅黑" panose="020B0503020204020204" pitchFamily="34" charset="-122"/>
                          <a:ea typeface="微软雅黑" panose="020B0503020204020204" pitchFamily="34" charset="-122"/>
                        </a:rPr>
                        <a:t>；</a:t>
                      </a:r>
                      <a:r>
                        <a:rPr lang="en-US" altLang="zh-CN" sz="1150" dirty="0" smtClean="0">
                          <a:solidFill>
                            <a:srgbClr val="333333"/>
                          </a:solidFill>
                          <a:latin typeface="微软雅黑" panose="020B0503020204020204" pitchFamily="34" charset="-122"/>
                          <a:ea typeface="微软雅黑" panose="020B0503020204020204" pitchFamily="34" charset="-122"/>
                        </a:rPr>
                        <a:t>oracle 7.78 —— </a:t>
                      </a:r>
                      <a:r>
                        <a:rPr lang="zh-CN" altLang="en-US" sz="1150" dirty="0" smtClean="0">
                          <a:solidFill>
                            <a:srgbClr val="333333"/>
                          </a:solidFill>
                          <a:latin typeface="微软雅黑" panose="020B0503020204020204" pitchFamily="34" charset="-122"/>
                          <a:ea typeface="微软雅黑" panose="020B0503020204020204" pitchFamily="34" charset="-122"/>
                        </a:rPr>
                        <a:t>前端增益归零</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前沿另一端点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2885956980"/>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 </a:t>
                      </a:r>
                      <a:r>
                        <a:rPr lang="zh-CN" altLang="en-US" sz="1150" smtClean="0">
                          <a:solidFill>
                            <a:srgbClr val="333333"/>
                          </a:solidFill>
                          <a:latin typeface="微软雅黑" panose="020B0503020204020204" pitchFamily="34" charset="-122"/>
                          <a:ea typeface="微软雅黑" panose="020B0503020204020204" pitchFamily="34" charset="-122"/>
                        </a:rPr>
                        <a:t>冒认条件混合训练</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混样强度 </a:t>
                      </a:r>
                      <a:r>
                        <a:rPr lang="en-US" altLang="zh-CN" sz="1150" smtClean="0">
                          <a:solidFill>
                            <a:srgbClr val="333333"/>
                          </a:solidFill>
                          <a:latin typeface="微软雅黑" panose="020B0503020204020204" pitchFamily="34" charset="-122"/>
                          <a:ea typeface="微软雅黑" panose="020B0503020204020204" pitchFamily="34" charset="-122"/>
                        </a:rPr>
                        <a:t>0.3/0.5</a:t>
                      </a:r>
                      <a:r>
                        <a:rPr lang="zh-CN" altLang="en-US" sz="1150" smtClean="0">
                          <a:solidFill>
                            <a:srgbClr val="333333"/>
                          </a:solidFill>
                          <a:latin typeface="微软雅黑" panose="020B0503020204020204" pitchFamily="34" charset="-122"/>
                          <a:ea typeface="微软雅黑" panose="020B0503020204020204" pitchFamily="34" charset="-122"/>
                        </a:rPr>
                        <a:t>、</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排序损失、强化版</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claim 9.33 ~ 11.42</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泄漏未堵住</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无效</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699254315"/>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D </a:t>
                      </a:r>
                      <a:r>
                        <a:rPr lang="zh-CN" altLang="en-US" sz="1150" smtClean="0">
                          <a:solidFill>
                            <a:srgbClr val="333333"/>
                          </a:solidFill>
                          <a:latin typeface="微软雅黑" panose="020B0503020204020204" pitchFamily="34" charset="-122"/>
                          <a:ea typeface="微软雅黑" panose="020B0503020204020204" pitchFamily="34" charset="-122"/>
                        </a:rPr>
                        <a:t>冒认静音掩蔽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排序</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掩掉冒认段再排序</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oracle 4.73 </a:t>
                      </a:r>
                      <a:r>
                        <a:rPr lang="zh-CN" altLang="en-US" sz="1150" dirty="0" smtClean="0">
                          <a:solidFill>
                            <a:srgbClr val="333333"/>
                          </a:solidFill>
                          <a:latin typeface="微软雅黑" panose="020B0503020204020204" pitchFamily="34" charset="-122"/>
                          <a:ea typeface="微软雅黑" panose="020B0503020204020204" pitchFamily="34" charset="-122"/>
                        </a:rPr>
                        <a:t>全场最优；</a:t>
                      </a:r>
                      <a:r>
                        <a:rPr lang="en-US" altLang="zh-CN" sz="1150" dirty="0" smtClean="0">
                          <a:solidFill>
                            <a:srgbClr val="333333"/>
                          </a:solidFill>
                          <a:latin typeface="微软雅黑" panose="020B0503020204020204" pitchFamily="34" charset="-122"/>
                          <a:ea typeface="微软雅黑" panose="020B0503020204020204" pitchFamily="34" charset="-122"/>
                        </a:rPr>
                        <a:t>claim 12.60 </a:t>
                      </a:r>
                      <a:r>
                        <a:rPr lang="zh-CN" altLang="en-US" sz="1150" dirty="0" smtClean="0">
                          <a:solidFill>
                            <a:srgbClr val="333333"/>
                          </a:solidFill>
                          <a:latin typeface="微软雅黑" panose="020B0503020204020204" pitchFamily="34" charset="-122"/>
                          <a:ea typeface="微软雅黑" panose="020B0503020204020204" pitchFamily="34" charset="-122"/>
                        </a:rPr>
                        <a:t>全场最差</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反噬最重：越保 </a:t>
                      </a:r>
                      <a:r>
                        <a:rPr lang="en-US" altLang="zh-CN" sz="1150" dirty="0" smtClean="0">
                          <a:solidFill>
                            <a:srgbClr val="333333"/>
                          </a:solidFill>
                          <a:latin typeface="微软雅黑" panose="020B0503020204020204" pitchFamily="34" charset="-122"/>
                          <a:ea typeface="微软雅黑" panose="020B0503020204020204" pitchFamily="34" charset="-122"/>
                        </a:rPr>
                        <a:t>oracle </a:t>
                      </a:r>
                      <a:r>
                        <a:rPr lang="zh-CN" altLang="en-US" sz="1150" dirty="0" smtClean="0">
                          <a:solidFill>
                            <a:srgbClr val="333333"/>
                          </a:solidFill>
                          <a:latin typeface="微软雅黑" panose="020B0503020204020204" pitchFamily="34" charset="-122"/>
                          <a:ea typeface="微软雅黑" panose="020B0503020204020204" pitchFamily="34" charset="-122"/>
                        </a:rPr>
                        <a:t>越泄漏</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1154745906"/>
                  </a:ext>
                </a:extLst>
              </a:tr>
            </a:tbl>
          </a:graphicData>
        </a:graphic>
      </p:graphicFrame>
      <p:sp>
        <p:nvSpPr>
          <p:cNvPr id="8" name="文本框 7"/>
          <p:cNvSpPr txBox="1"/>
          <p:nvPr/>
        </p:nvSpPr>
        <p:spPr>
          <a:xfrm>
            <a:off x="508000" y="3810000"/>
            <a:ext cx="11176000" cy="323165"/>
          </a:xfrm>
          <a:prstGeom prst="rect">
            <a:avLst/>
          </a:prstGeom>
          <a:noFill/>
        </p:spPr>
        <p:txBody>
          <a:bodyPr vert="horz" rtlCol="0">
            <a:spAutoFit/>
          </a:bodyPr>
          <a:lstStyle/>
          <a:p>
            <a:r>
              <a:rPr lang="zh-CN" altLang="en-US" sz="1500" b="1" smtClean="0">
                <a:solidFill>
                  <a:srgbClr val="1F3864"/>
                </a:solidFill>
                <a:latin typeface="微软雅黑" panose="020B0503020204020204" pitchFamily="34" charset="-122"/>
                <a:ea typeface="微软雅黑" panose="020B0503020204020204" pitchFamily="34" charset="-122"/>
              </a:rPr>
              <a:t>推理侧两臂</a:t>
            </a:r>
            <a:endParaRPr lang="zh-CN" altLang="en-US" sz="1500" b="1">
              <a:solidFill>
                <a:srgbClr val="1F3864"/>
              </a:solidFill>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307703543"/>
              </p:ext>
            </p:extLst>
          </p:nvPr>
        </p:nvGraphicFramePr>
        <p:xfrm>
          <a:off x="508000" y="4216400"/>
          <a:ext cx="11175999" cy="125476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4027783345"/>
                    </a:ext>
                  </a:extLst>
                </a:gridCol>
                <a:gridCol w="3725333">
                  <a:extLst>
                    <a:ext uri="{9D8B030D-6E8A-4147-A177-3AD203B41FA5}">
                      <a16:colId xmlns:a16="http://schemas.microsoft.com/office/drawing/2014/main" val="514431546"/>
                    </a:ext>
                  </a:extLst>
                </a:gridCol>
                <a:gridCol w="3725333">
                  <a:extLst>
                    <a:ext uri="{9D8B030D-6E8A-4147-A177-3AD203B41FA5}">
                      <a16:colId xmlns:a16="http://schemas.microsoft.com/office/drawing/2014/main" val="3326876524"/>
                    </a:ext>
                  </a:extLst>
                </a:gridCol>
              </a:tblGrid>
              <a:tr h="406400">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做法</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最好结果</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判决</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2932989688"/>
                  </a:ext>
                </a:extLst>
              </a:tr>
              <a:tr h="406400">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能量门控：按增强语音能量静音可疑段</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门限 </a:t>
                      </a:r>
                      <a:r>
                        <a:rPr lang="en-US" altLang="zh-CN" sz="1150" dirty="0" smtClean="0">
                          <a:solidFill>
                            <a:srgbClr val="333333"/>
                          </a:solidFill>
                          <a:latin typeface="微软雅黑" panose="020B0503020204020204" pitchFamily="34" charset="-122"/>
                          <a:ea typeface="微软雅黑" panose="020B0503020204020204" pitchFamily="34" charset="-122"/>
                        </a:rPr>
                        <a:t>-60…-10 dB </a:t>
                      </a:r>
                      <a:r>
                        <a:rPr lang="zh-CN" altLang="en-US" sz="1150" dirty="0" smtClean="0">
                          <a:solidFill>
                            <a:srgbClr val="333333"/>
                          </a:solidFill>
                          <a:latin typeface="微软雅黑" panose="020B0503020204020204" pitchFamily="34" charset="-122"/>
                          <a:ea typeface="微软雅黑" panose="020B0503020204020204" pitchFamily="34" charset="-122"/>
                        </a:rPr>
                        <a:t>全扫描</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fr-FR" altLang="zh-CN" sz="1150" smtClean="0">
                          <a:solidFill>
                            <a:srgbClr val="333333"/>
                          </a:solidFill>
                          <a:latin typeface="微软雅黑" panose="020B0503020204020204" pitchFamily="34" charset="-122"/>
                          <a:ea typeface="微软雅黑" panose="020B0503020204020204" pitchFamily="34" charset="-122"/>
                        </a:rPr>
                        <a:t>claim 14.69 vs oracle 8.28</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任何门限 </a:t>
                      </a:r>
                      <a:r>
                        <a:rPr lang="en-US" altLang="zh-CN" sz="1150" smtClean="0">
                          <a:solidFill>
                            <a:srgbClr val="333333"/>
                          </a:solidFill>
                          <a:latin typeface="微软雅黑" panose="020B0503020204020204" pitchFamily="34" charset="-122"/>
                          <a:ea typeface="微软雅黑" panose="020B0503020204020204" pitchFamily="34" charset="-122"/>
                        </a:rPr>
                        <a:t>claim </a:t>
                      </a:r>
                      <a:r>
                        <a:rPr lang="zh-CN" altLang="en-US" sz="1150" smtClean="0">
                          <a:solidFill>
                            <a:srgbClr val="333333"/>
                          </a:solidFill>
                          <a:latin typeface="微软雅黑" panose="020B0503020204020204" pitchFamily="34" charset="-122"/>
                          <a:ea typeface="微软雅黑" panose="020B0503020204020204" pitchFamily="34" charset="-122"/>
                        </a:rPr>
                        <a:t>恒劣于 </a:t>
                      </a:r>
                      <a:r>
                        <a:rPr lang="en-US" altLang="zh-CN" sz="1150" smtClean="0">
                          <a:solidFill>
                            <a:srgbClr val="333333"/>
                          </a:solidFill>
                          <a:latin typeface="微软雅黑" panose="020B0503020204020204" pitchFamily="34" charset="-122"/>
                          <a:ea typeface="微软雅黑" panose="020B0503020204020204" pitchFamily="34" charset="-122"/>
                        </a:rPr>
                        <a:t>oracle,</a:t>
                      </a:r>
                      <a:r>
                        <a:rPr lang="zh-CN" altLang="en-US" sz="1150" smtClean="0">
                          <a:solidFill>
                            <a:srgbClr val="333333"/>
                          </a:solidFill>
                          <a:latin typeface="微软雅黑" panose="020B0503020204020204" pitchFamily="34" charset="-122"/>
                          <a:ea typeface="微软雅黑" panose="020B0503020204020204" pitchFamily="34" charset="-122"/>
                        </a:rPr>
                        <a:t>救不回</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694681273"/>
                  </a:ext>
                </a:extLst>
              </a:tr>
              <a:tr h="406400">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raw + claim </a:t>
                      </a:r>
                      <a:r>
                        <a:rPr lang="zh-CN" altLang="en-US" sz="1150" dirty="0" smtClean="0">
                          <a:solidFill>
                            <a:srgbClr val="333333"/>
                          </a:solidFill>
                          <a:latin typeface="微软雅黑" panose="020B0503020204020204" pitchFamily="34" charset="-122"/>
                          <a:ea typeface="微软雅黑" panose="020B0503020204020204" pitchFamily="34" charset="-122"/>
                        </a:rPr>
                        <a:t>分数融合：验证集网格搜融合权重</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claim 8.23</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仅回到 </a:t>
                      </a:r>
                      <a:r>
                        <a:rPr lang="en-US" altLang="zh-CN" sz="1150" smtClean="0">
                          <a:solidFill>
                            <a:srgbClr val="333333"/>
                          </a:solidFill>
                          <a:latin typeface="微软雅黑" panose="020B0503020204020204" pitchFamily="34" charset="-122"/>
                          <a:ea typeface="微软雅黑" panose="020B0503020204020204" pitchFamily="34" charset="-122"/>
                        </a:rPr>
                        <a:t>raw(8.37)</a:t>
                      </a:r>
                      <a:r>
                        <a:rPr lang="zh-CN" altLang="en-US" sz="1150" smtClean="0">
                          <a:solidFill>
                            <a:srgbClr val="333333"/>
                          </a:solidFill>
                          <a:latin typeface="微软雅黑" panose="020B0503020204020204" pitchFamily="34" charset="-122"/>
                          <a:ea typeface="微软雅黑" panose="020B0503020204020204" pitchFamily="34" charset="-122"/>
                        </a:rPr>
                        <a:t>附近</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无净增益</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894487836"/>
                  </a:ext>
                </a:extLst>
              </a:tr>
            </a:tbl>
          </a:graphicData>
        </a:graphic>
      </p:graphicFrame>
      <p:sp>
        <p:nvSpPr>
          <p:cNvPr id="10" name="文本框 9"/>
          <p:cNvSpPr txBox="1"/>
          <p:nvPr/>
        </p:nvSpPr>
        <p:spPr>
          <a:xfrm>
            <a:off x="508000" y="5613400"/>
            <a:ext cx="11176000" cy="477054"/>
          </a:xfrm>
          <a:prstGeom prst="rect">
            <a:avLst/>
          </a:prstGeom>
          <a:noFill/>
        </p:spPr>
        <p:txBody>
          <a:bodyPr vert="horz" rtlCol="0">
            <a:spAutoFit/>
          </a:bodyPr>
          <a:lstStyle/>
          <a:p>
            <a:r>
              <a:rPr lang="zh-CN" altLang="en-US" sz="1250" b="1" dirty="0" smtClean="0">
                <a:solidFill>
                  <a:srgbClr val="7F6000"/>
                </a:solidFill>
                <a:latin typeface="微软雅黑" panose="020B0503020204020204" pitchFamily="34" charset="-122"/>
                <a:ea typeface="微软雅黑" panose="020B0503020204020204" pitchFamily="34" charset="-122"/>
              </a:rPr>
              <a:t>结论：</a:t>
            </a:r>
            <a:r>
              <a:rPr lang="en-US" altLang="zh-CN" sz="1250" b="1" dirty="0" smtClean="0">
                <a:solidFill>
                  <a:srgbClr val="7F6000"/>
                </a:solidFill>
                <a:latin typeface="微软雅黑" panose="020B0503020204020204" pitchFamily="34" charset="-122"/>
                <a:ea typeface="微软雅黑" panose="020B0503020204020204" pitchFamily="34" charset="-122"/>
              </a:rPr>
              <a:t>15 </a:t>
            </a:r>
            <a:r>
              <a:rPr lang="zh-CN" altLang="en-US" sz="1250" b="1" dirty="0" smtClean="0">
                <a:solidFill>
                  <a:srgbClr val="7F6000"/>
                </a:solidFill>
                <a:latin typeface="微软雅黑" panose="020B0503020204020204" pitchFamily="34" charset="-122"/>
                <a:ea typeface="微软雅黑" panose="020B0503020204020204" pitchFamily="34" charset="-122"/>
              </a:rPr>
              <a:t>臂全部只在前沿上滑动 </a:t>
            </a:r>
            <a:r>
              <a:rPr lang="en-US" altLang="zh-CN" sz="1250" b="1" dirty="0" smtClean="0">
                <a:solidFill>
                  <a:srgbClr val="7F6000"/>
                </a:solidFill>
                <a:latin typeface="微软雅黑" panose="020B0503020204020204" pitchFamily="34" charset="-122"/>
                <a:ea typeface="微软雅黑" panose="020B0503020204020204" pitchFamily="34" charset="-122"/>
              </a:rPr>
              <a:t>—— </a:t>
            </a:r>
            <a:r>
              <a:rPr lang="zh-CN" altLang="en-US" sz="1250" b="1" dirty="0" smtClean="0">
                <a:solidFill>
                  <a:srgbClr val="7F6000"/>
                </a:solidFill>
                <a:latin typeface="微软雅黑" panose="020B0503020204020204" pitchFamily="34" charset="-122"/>
                <a:ea typeface="微软雅黑" panose="020B0503020204020204" pitchFamily="34" charset="-122"/>
              </a:rPr>
              <a:t>「条件化增强把身份写进语音」是结构性机理</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非调参可解；下一步</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见展望</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a:t>
            </a:r>
            <a:r>
              <a:rPr lang="en-US" altLang="zh-CN" sz="1250" b="1" dirty="0" smtClean="0">
                <a:solidFill>
                  <a:srgbClr val="7F6000"/>
                </a:solidFill>
                <a:latin typeface="微软雅黑" panose="020B0503020204020204" pitchFamily="34" charset="-122"/>
                <a:ea typeface="微软雅黑" panose="020B0503020204020204" pitchFamily="34" charset="-122"/>
              </a:rPr>
              <a:t>① </a:t>
            </a:r>
            <a:r>
              <a:rPr lang="zh-CN" altLang="en-US" sz="1250" b="1" dirty="0" smtClean="0">
                <a:solidFill>
                  <a:srgbClr val="7F6000"/>
                </a:solidFill>
                <a:latin typeface="微软雅黑" panose="020B0503020204020204" pitchFamily="34" charset="-122"/>
                <a:ea typeface="微软雅黑" panose="020B0503020204020204" pitchFamily="34" charset="-122"/>
              </a:rPr>
              <a:t>条件扰动 </a:t>
            </a:r>
            <a:r>
              <a:rPr lang="en-US" altLang="zh-CN" sz="1250" b="1" dirty="0" smtClean="0">
                <a:solidFill>
                  <a:srgbClr val="7F6000"/>
                </a:solidFill>
                <a:latin typeface="微软雅黑" panose="020B0503020204020204" pitchFamily="34" charset="-122"/>
                <a:ea typeface="微软雅黑" panose="020B0503020204020204" pitchFamily="34" charset="-122"/>
              </a:rPr>
              <a:t>/ dropout </a:t>
            </a:r>
            <a:r>
              <a:rPr lang="zh-CN" altLang="en-US" sz="1250" b="1" dirty="0" smtClean="0">
                <a:solidFill>
                  <a:srgbClr val="7F6000"/>
                </a:solidFill>
                <a:latin typeface="微软雅黑" panose="020B0503020204020204" pitchFamily="34" charset="-122"/>
                <a:ea typeface="微软雅黑" panose="020B0503020204020204" pitchFamily="34" charset="-122"/>
              </a:rPr>
              <a:t>训练</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显式建模冒认条件 ② 冒认感知的分数域校准</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替代分数融合 ③ 改条件注入位置：只在掩码估计端注入、输出端身份中和</a:t>
            </a:r>
            <a:endParaRPr lang="zh-CN" altLang="en-US" sz="1250" b="1" dirty="0">
              <a:solidFill>
                <a:srgbClr val="7F6000"/>
              </a:solidFill>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fld id="{7BF2EA3F-D088-4729-88F9-9D4FADF26323}" type="slidenum">
              <a:rPr lang="zh-CN" altLang="en-US" smtClean="0"/>
              <a:t>29</a:t>
            </a:fld>
            <a:endParaRPr lang="zh-CN" altLang="en-US"/>
          </a:p>
        </p:txBody>
      </p:sp>
    </p:spTree>
    <p:extLst>
      <p:ext uri="{BB962C8B-B14F-4D97-AF65-F5344CB8AC3E}">
        <p14:creationId xmlns:p14="http://schemas.microsoft.com/office/powerpoint/2010/main" val="29007993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1725</TotalTime>
  <Words>7826</Words>
  <Application>Microsoft Office PowerPoint</Application>
  <PresentationFormat>宽屏</PresentationFormat>
  <Paragraphs>874</Paragraphs>
  <Slides>29</Slides>
  <Notes>29</Notes>
  <HiddenSlides>0</HiddenSlides>
  <MMClips>3</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等线</vt:lpstr>
      <vt:lpstr>等线 Light</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user</cp:lastModifiedBy>
  <cp:revision>134</cp:revision>
  <dcterms:created xsi:type="dcterms:W3CDTF">2026-09-04T07:33:25Z</dcterms:created>
  <dcterms:modified xsi:type="dcterms:W3CDTF">2026-09-07T09:34:56Z</dcterms:modified>
</cp:coreProperties>
</file>