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799763" cy="59340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49971" y="971156"/>
            <a:ext cx="8099822" cy="2065937"/>
          </a:xfrm>
        </p:spPr>
        <p:txBody>
          <a:bodyPr anchor="b"/>
          <a:lstStyle>
            <a:lvl1pPr algn="ctr">
              <a:defRPr sz="4599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49971" y="3116763"/>
            <a:ext cx="8099822" cy="1432694"/>
          </a:xfrm>
        </p:spPr>
        <p:txBody>
          <a:bodyPr/>
          <a:lstStyle>
            <a:lvl1pPr marL="0" indent="0" algn="ctr">
              <a:buNone/>
              <a:defRPr sz="1840"/>
            </a:lvl1pPr>
            <a:lvl2pPr marL="350436" indent="0" algn="ctr">
              <a:buNone/>
              <a:defRPr sz="1533"/>
            </a:lvl2pPr>
            <a:lvl3pPr marL="700872" indent="0" algn="ctr">
              <a:buNone/>
              <a:defRPr sz="1379"/>
            </a:lvl3pPr>
            <a:lvl4pPr marL="1051307" indent="0" algn="ctr">
              <a:buNone/>
              <a:defRPr sz="1226"/>
            </a:lvl4pPr>
            <a:lvl5pPr marL="1401744" indent="0" algn="ctr">
              <a:buNone/>
              <a:defRPr sz="1226"/>
            </a:lvl5pPr>
            <a:lvl6pPr marL="1752180" indent="0" algn="ctr">
              <a:buNone/>
              <a:defRPr sz="1226"/>
            </a:lvl6pPr>
            <a:lvl7pPr marL="2102616" indent="0" algn="ctr">
              <a:buNone/>
              <a:defRPr sz="1226"/>
            </a:lvl7pPr>
            <a:lvl8pPr marL="2453051" indent="0" algn="ctr">
              <a:buNone/>
              <a:defRPr sz="1226"/>
            </a:lvl8pPr>
            <a:lvl9pPr marL="2803487" indent="0" algn="ctr">
              <a:buNone/>
              <a:defRPr sz="1226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17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593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859" y="1479400"/>
            <a:ext cx="9314796" cy="2468410"/>
          </a:xfrm>
        </p:spPr>
        <p:txBody>
          <a:bodyPr anchor="b"/>
          <a:lstStyle>
            <a:lvl1pPr>
              <a:defRPr sz="4599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859" y="3971162"/>
            <a:ext cx="9314796" cy="1298078"/>
          </a:xfrm>
        </p:spPr>
        <p:txBody>
          <a:bodyPr/>
          <a:lstStyle>
            <a:lvl1pPr marL="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1pPr>
            <a:lvl2pPr marL="350436" indent="0">
              <a:buNone/>
              <a:defRPr sz="1533">
                <a:solidFill>
                  <a:schemeClr val="tx1">
                    <a:tint val="75000"/>
                  </a:schemeClr>
                </a:solidFill>
              </a:defRPr>
            </a:lvl2pPr>
            <a:lvl3pPr marL="700872" indent="0">
              <a:buNone/>
              <a:defRPr sz="1379">
                <a:solidFill>
                  <a:schemeClr val="tx1">
                    <a:tint val="75000"/>
                  </a:schemeClr>
                </a:solidFill>
              </a:defRPr>
            </a:lvl3pPr>
            <a:lvl4pPr marL="1051307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4pPr>
            <a:lvl5pPr marL="1401744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5pPr>
            <a:lvl6pPr marL="1752180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6pPr>
            <a:lvl7pPr marL="2102616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7pPr>
            <a:lvl8pPr marL="2453051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8pPr>
            <a:lvl9pPr marL="2803487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69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2485" y="1579673"/>
            <a:ext cx="4589899" cy="376511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67381" y="1579673"/>
            <a:ext cx="4589899" cy="376511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9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890" y="315936"/>
            <a:ext cx="9314796" cy="114698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3891" y="1454673"/>
            <a:ext cx="4568806" cy="712913"/>
          </a:xfrm>
        </p:spPr>
        <p:txBody>
          <a:bodyPr anchor="b"/>
          <a:lstStyle>
            <a:lvl1pPr marL="0" indent="0">
              <a:buNone/>
              <a:defRPr sz="1840" b="1"/>
            </a:lvl1pPr>
            <a:lvl2pPr marL="350436" indent="0">
              <a:buNone/>
              <a:defRPr sz="1533" b="1"/>
            </a:lvl2pPr>
            <a:lvl3pPr marL="700872" indent="0">
              <a:buNone/>
              <a:defRPr sz="1379" b="1"/>
            </a:lvl3pPr>
            <a:lvl4pPr marL="1051307" indent="0">
              <a:buNone/>
              <a:defRPr sz="1226" b="1"/>
            </a:lvl4pPr>
            <a:lvl5pPr marL="1401744" indent="0">
              <a:buNone/>
              <a:defRPr sz="1226" b="1"/>
            </a:lvl5pPr>
            <a:lvl6pPr marL="1752180" indent="0">
              <a:buNone/>
              <a:defRPr sz="1226" b="1"/>
            </a:lvl6pPr>
            <a:lvl7pPr marL="2102616" indent="0">
              <a:buNone/>
              <a:defRPr sz="1226" b="1"/>
            </a:lvl7pPr>
            <a:lvl8pPr marL="2453051" indent="0">
              <a:buNone/>
              <a:defRPr sz="1226" b="1"/>
            </a:lvl8pPr>
            <a:lvl9pPr marL="2803487" indent="0">
              <a:buNone/>
              <a:defRPr sz="1226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3891" y="2167586"/>
            <a:ext cx="4568806" cy="318819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67380" y="1454673"/>
            <a:ext cx="4591306" cy="712913"/>
          </a:xfrm>
        </p:spPr>
        <p:txBody>
          <a:bodyPr anchor="b"/>
          <a:lstStyle>
            <a:lvl1pPr marL="0" indent="0">
              <a:buNone/>
              <a:defRPr sz="1840" b="1"/>
            </a:lvl1pPr>
            <a:lvl2pPr marL="350436" indent="0">
              <a:buNone/>
              <a:defRPr sz="1533" b="1"/>
            </a:lvl2pPr>
            <a:lvl3pPr marL="700872" indent="0">
              <a:buNone/>
              <a:defRPr sz="1379" b="1"/>
            </a:lvl3pPr>
            <a:lvl4pPr marL="1051307" indent="0">
              <a:buNone/>
              <a:defRPr sz="1226" b="1"/>
            </a:lvl4pPr>
            <a:lvl5pPr marL="1401744" indent="0">
              <a:buNone/>
              <a:defRPr sz="1226" b="1"/>
            </a:lvl5pPr>
            <a:lvl6pPr marL="1752180" indent="0">
              <a:buNone/>
              <a:defRPr sz="1226" b="1"/>
            </a:lvl6pPr>
            <a:lvl7pPr marL="2102616" indent="0">
              <a:buNone/>
              <a:defRPr sz="1226" b="1"/>
            </a:lvl7pPr>
            <a:lvl8pPr marL="2453051" indent="0">
              <a:buNone/>
              <a:defRPr sz="1226" b="1"/>
            </a:lvl8pPr>
            <a:lvl9pPr marL="2803487" indent="0">
              <a:buNone/>
              <a:defRPr sz="1226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67380" y="2167586"/>
            <a:ext cx="4591306" cy="318819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72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55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7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891" y="395605"/>
            <a:ext cx="3483204" cy="1384618"/>
          </a:xfrm>
        </p:spPr>
        <p:txBody>
          <a:bodyPr anchor="b"/>
          <a:lstStyle>
            <a:lvl1pPr>
              <a:defRPr sz="2453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306" y="854398"/>
            <a:ext cx="5467380" cy="4217039"/>
          </a:xfrm>
        </p:spPr>
        <p:txBody>
          <a:bodyPr/>
          <a:lstStyle>
            <a:lvl1pPr>
              <a:defRPr sz="2453"/>
            </a:lvl1pPr>
            <a:lvl2pPr>
              <a:defRPr sz="2146"/>
            </a:lvl2pPr>
            <a:lvl3pPr>
              <a:defRPr sz="1840"/>
            </a:lvl3pPr>
            <a:lvl4pPr>
              <a:defRPr sz="1533"/>
            </a:lvl4pPr>
            <a:lvl5pPr>
              <a:defRPr sz="1533"/>
            </a:lvl5pPr>
            <a:lvl6pPr>
              <a:defRPr sz="1533"/>
            </a:lvl6pPr>
            <a:lvl7pPr>
              <a:defRPr sz="1533"/>
            </a:lvl7pPr>
            <a:lvl8pPr>
              <a:defRPr sz="1533"/>
            </a:lvl8pPr>
            <a:lvl9pPr>
              <a:defRPr sz="1533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891" y="1780223"/>
            <a:ext cx="3483204" cy="3298082"/>
          </a:xfrm>
        </p:spPr>
        <p:txBody>
          <a:bodyPr/>
          <a:lstStyle>
            <a:lvl1pPr marL="0" indent="0">
              <a:buNone/>
              <a:defRPr sz="1226"/>
            </a:lvl1pPr>
            <a:lvl2pPr marL="350436" indent="0">
              <a:buNone/>
              <a:defRPr sz="1073"/>
            </a:lvl2pPr>
            <a:lvl3pPr marL="700872" indent="0">
              <a:buNone/>
              <a:defRPr sz="920"/>
            </a:lvl3pPr>
            <a:lvl4pPr marL="1051307" indent="0">
              <a:buNone/>
              <a:defRPr sz="767"/>
            </a:lvl4pPr>
            <a:lvl5pPr marL="1401744" indent="0">
              <a:buNone/>
              <a:defRPr sz="767"/>
            </a:lvl5pPr>
            <a:lvl6pPr marL="1752180" indent="0">
              <a:buNone/>
              <a:defRPr sz="767"/>
            </a:lvl6pPr>
            <a:lvl7pPr marL="2102616" indent="0">
              <a:buNone/>
              <a:defRPr sz="767"/>
            </a:lvl7pPr>
            <a:lvl8pPr marL="2453051" indent="0">
              <a:buNone/>
              <a:defRPr sz="767"/>
            </a:lvl8pPr>
            <a:lvl9pPr marL="2803487" indent="0">
              <a:buNone/>
              <a:defRPr sz="767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03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891" y="395605"/>
            <a:ext cx="3483204" cy="1384618"/>
          </a:xfrm>
        </p:spPr>
        <p:txBody>
          <a:bodyPr anchor="b"/>
          <a:lstStyle>
            <a:lvl1pPr>
              <a:defRPr sz="2453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91306" y="854398"/>
            <a:ext cx="5467380" cy="4217039"/>
          </a:xfrm>
        </p:spPr>
        <p:txBody>
          <a:bodyPr/>
          <a:lstStyle>
            <a:lvl1pPr marL="0" indent="0">
              <a:buNone/>
              <a:defRPr sz="2453"/>
            </a:lvl1pPr>
            <a:lvl2pPr marL="350436" indent="0">
              <a:buNone/>
              <a:defRPr sz="2146"/>
            </a:lvl2pPr>
            <a:lvl3pPr marL="700872" indent="0">
              <a:buNone/>
              <a:defRPr sz="1840"/>
            </a:lvl3pPr>
            <a:lvl4pPr marL="1051307" indent="0">
              <a:buNone/>
              <a:defRPr sz="1533"/>
            </a:lvl4pPr>
            <a:lvl5pPr marL="1401744" indent="0">
              <a:buNone/>
              <a:defRPr sz="1533"/>
            </a:lvl5pPr>
            <a:lvl6pPr marL="1752180" indent="0">
              <a:buNone/>
              <a:defRPr sz="1533"/>
            </a:lvl6pPr>
            <a:lvl7pPr marL="2102616" indent="0">
              <a:buNone/>
              <a:defRPr sz="1533"/>
            </a:lvl7pPr>
            <a:lvl8pPr marL="2453051" indent="0">
              <a:buNone/>
              <a:defRPr sz="1533"/>
            </a:lvl8pPr>
            <a:lvl9pPr marL="2803487" indent="0">
              <a:buNone/>
              <a:defRPr sz="1533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891" y="1780223"/>
            <a:ext cx="3483204" cy="3298082"/>
          </a:xfrm>
        </p:spPr>
        <p:txBody>
          <a:bodyPr/>
          <a:lstStyle>
            <a:lvl1pPr marL="0" indent="0">
              <a:buNone/>
              <a:defRPr sz="1226"/>
            </a:lvl1pPr>
            <a:lvl2pPr marL="350436" indent="0">
              <a:buNone/>
              <a:defRPr sz="1073"/>
            </a:lvl2pPr>
            <a:lvl3pPr marL="700872" indent="0">
              <a:buNone/>
              <a:defRPr sz="920"/>
            </a:lvl3pPr>
            <a:lvl4pPr marL="1051307" indent="0">
              <a:buNone/>
              <a:defRPr sz="767"/>
            </a:lvl4pPr>
            <a:lvl5pPr marL="1401744" indent="0">
              <a:buNone/>
              <a:defRPr sz="767"/>
            </a:lvl5pPr>
            <a:lvl6pPr marL="1752180" indent="0">
              <a:buNone/>
              <a:defRPr sz="767"/>
            </a:lvl6pPr>
            <a:lvl7pPr marL="2102616" indent="0">
              <a:buNone/>
              <a:defRPr sz="767"/>
            </a:lvl7pPr>
            <a:lvl8pPr marL="2453051" indent="0">
              <a:buNone/>
              <a:defRPr sz="767"/>
            </a:lvl8pPr>
            <a:lvl9pPr marL="2803487" indent="0">
              <a:buNone/>
              <a:defRPr sz="767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63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47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28581" y="315935"/>
            <a:ext cx="2328699" cy="502885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2484" y="315935"/>
            <a:ext cx="6851100" cy="5028854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93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2484" y="315936"/>
            <a:ext cx="9314796" cy="1146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2484" y="1579673"/>
            <a:ext cx="9314796" cy="376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42485" y="5500009"/>
            <a:ext cx="2429947" cy="3159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2A9F1-C572-40DB-8990-973D3EF06D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77422" y="5500009"/>
            <a:ext cx="3644920" cy="3159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27333" y="5500009"/>
            <a:ext cx="2429947" cy="3159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64EC3-19F1-4CC7-BB08-C59FBF56C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45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00872" rtl="0" eaLnBrk="1" latinLnBrk="0" hangingPunct="1">
        <a:lnSpc>
          <a:spcPct val="90000"/>
        </a:lnSpc>
        <a:spcBef>
          <a:spcPct val="0"/>
        </a:spcBef>
        <a:buNone/>
        <a:defRPr sz="33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5218" indent="-175218" algn="l" defTabSz="700872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146" kern="1200">
          <a:solidFill>
            <a:schemeClr val="tx1"/>
          </a:solidFill>
          <a:latin typeface="+mn-lt"/>
          <a:ea typeface="+mn-ea"/>
          <a:cs typeface="+mn-cs"/>
        </a:defRPr>
      </a:lvl1pPr>
      <a:lvl2pPr marL="525654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840" kern="1200">
          <a:solidFill>
            <a:schemeClr val="tx1"/>
          </a:solidFill>
          <a:latin typeface="+mn-lt"/>
          <a:ea typeface="+mn-ea"/>
          <a:cs typeface="+mn-cs"/>
        </a:defRPr>
      </a:lvl2pPr>
      <a:lvl3pPr marL="876089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3pPr>
      <a:lvl4pPr marL="1226526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4pPr>
      <a:lvl5pPr marL="1576962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5pPr>
      <a:lvl6pPr marL="1927398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6pPr>
      <a:lvl7pPr marL="2277833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7pPr>
      <a:lvl8pPr marL="2628269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8pPr>
      <a:lvl9pPr marL="2978705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1pPr>
      <a:lvl2pPr marL="350436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2pPr>
      <a:lvl3pPr marL="700872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3pPr>
      <a:lvl4pPr marL="1051307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4pPr>
      <a:lvl5pPr marL="1401744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5pPr>
      <a:lvl6pPr marL="1752180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6pPr>
      <a:lvl7pPr marL="2102616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7pPr>
      <a:lvl8pPr marL="2453051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8pPr>
      <a:lvl9pPr marL="2803487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50800"/>
            <a:ext cx="10800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700" b="1" smtClean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700" b="1" smtClean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700" b="1" smtClean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交付前端：注册条件化目标说话人提取（</a:t>
            </a:r>
            <a:r>
              <a:rPr lang="en-US" altLang="zh-CN" sz="1700" b="1" smtClean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VoiceFilter </a:t>
            </a:r>
            <a:r>
              <a:rPr lang="zh-CN" altLang="en-US" sz="1700" b="1" smtClean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风格）</a:t>
            </a:r>
            <a:endParaRPr lang="zh-CN" altLang="en-US" sz="1700" b="1">
              <a:solidFill>
                <a:srgbClr val="1F38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0" y="533400"/>
            <a:ext cx="7772400" cy="215900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 w="25400">
            <a:solidFill>
              <a:srgbClr val="D269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3200" y="635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 b="1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注册条件路径</a:t>
            </a:r>
            <a:endParaRPr lang="zh-CN" altLang="en-US" sz="1250" b="1">
              <a:solidFill>
                <a:srgbClr val="D269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3200" y="8890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提供「提取谁」的条件</a:t>
            </a:r>
            <a:endParaRPr lang="zh-CN" altLang="en-US" sz="900">
              <a:solidFill>
                <a:srgbClr val="D269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03200" y="1168400"/>
            <a:ext cx="1778000" cy="13716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D2691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30200" y="1270000"/>
            <a:ext cx="203200" cy="203200"/>
          </a:xfrm>
          <a:prstGeom prst="ellipse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2954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注册语音</a:t>
            </a:r>
            <a:endParaRPr lang="zh-CN" altLang="en-US" sz="10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0200" y="15494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干净，</a:t>
            </a:r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句</a:t>
            </a:r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54013" y="1892300"/>
            <a:ext cx="1476375" cy="508000"/>
            <a:chOff x="354013" y="1892300"/>
            <a:chExt cx="1476375" cy="508000"/>
          </a:xfrm>
        </p:grpSpPr>
        <p:sp>
          <p:nvSpPr>
            <p:cNvPr id="10" name="w10"/>
            <p:cNvSpPr/>
            <p:nvPr/>
          </p:nvSpPr>
          <p:spPr>
            <a:xfrm>
              <a:off x="354013" y="2051050"/>
              <a:ext cx="47625" cy="1905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w11"/>
            <p:cNvSpPr/>
            <p:nvPr/>
          </p:nvSpPr>
          <p:spPr>
            <a:xfrm>
              <a:off x="449263" y="1981200"/>
              <a:ext cx="47625" cy="3302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w12"/>
            <p:cNvSpPr/>
            <p:nvPr/>
          </p:nvSpPr>
          <p:spPr>
            <a:xfrm>
              <a:off x="544513" y="1924050"/>
              <a:ext cx="47625" cy="4445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w13"/>
            <p:cNvSpPr/>
            <p:nvPr/>
          </p:nvSpPr>
          <p:spPr>
            <a:xfrm>
              <a:off x="639763" y="2003425"/>
              <a:ext cx="47625" cy="28575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w14"/>
            <p:cNvSpPr/>
            <p:nvPr/>
          </p:nvSpPr>
          <p:spPr>
            <a:xfrm>
              <a:off x="735013" y="1892300"/>
              <a:ext cx="47625" cy="5080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w15"/>
            <p:cNvSpPr/>
            <p:nvPr/>
          </p:nvSpPr>
          <p:spPr>
            <a:xfrm>
              <a:off x="830263" y="1955800"/>
              <a:ext cx="47625" cy="3810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w16"/>
            <p:cNvSpPr/>
            <p:nvPr/>
          </p:nvSpPr>
          <p:spPr>
            <a:xfrm>
              <a:off x="925513" y="2035175"/>
              <a:ext cx="47625" cy="22225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w17"/>
            <p:cNvSpPr/>
            <p:nvPr/>
          </p:nvSpPr>
          <p:spPr>
            <a:xfrm>
              <a:off x="1020763" y="1971675"/>
              <a:ext cx="47625" cy="34925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w18"/>
            <p:cNvSpPr/>
            <p:nvPr/>
          </p:nvSpPr>
          <p:spPr>
            <a:xfrm>
              <a:off x="1116013" y="1908175"/>
              <a:ext cx="47625" cy="47625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w19"/>
            <p:cNvSpPr/>
            <p:nvPr/>
          </p:nvSpPr>
          <p:spPr>
            <a:xfrm>
              <a:off x="1211263" y="1987550"/>
              <a:ext cx="47625" cy="3175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w110"/>
            <p:cNvSpPr/>
            <p:nvPr/>
          </p:nvSpPr>
          <p:spPr>
            <a:xfrm>
              <a:off x="1306513" y="1939925"/>
              <a:ext cx="47625" cy="41275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w111"/>
            <p:cNvSpPr/>
            <p:nvPr/>
          </p:nvSpPr>
          <p:spPr>
            <a:xfrm>
              <a:off x="1401763" y="2019300"/>
              <a:ext cx="47625" cy="2540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w112"/>
            <p:cNvSpPr/>
            <p:nvPr/>
          </p:nvSpPr>
          <p:spPr>
            <a:xfrm>
              <a:off x="1497013" y="1924050"/>
              <a:ext cx="47625" cy="4445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w113"/>
            <p:cNvSpPr/>
            <p:nvPr/>
          </p:nvSpPr>
          <p:spPr>
            <a:xfrm>
              <a:off x="1592263" y="1971675"/>
              <a:ext cx="47625" cy="34925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w114"/>
            <p:cNvSpPr/>
            <p:nvPr/>
          </p:nvSpPr>
          <p:spPr>
            <a:xfrm>
              <a:off x="1687513" y="2044700"/>
              <a:ext cx="47625" cy="2032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w115"/>
            <p:cNvSpPr/>
            <p:nvPr/>
          </p:nvSpPr>
          <p:spPr>
            <a:xfrm>
              <a:off x="1782763" y="1955800"/>
              <a:ext cx="47625" cy="3810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右箭头 26"/>
          <p:cNvSpPr/>
          <p:nvPr/>
        </p:nvSpPr>
        <p:spPr>
          <a:xfrm>
            <a:off x="2057400" y="1727200"/>
            <a:ext cx="203200" cy="254000"/>
          </a:xfrm>
          <a:prstGeom prst="rightArrow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2336800" y="1168400"/>
            <a:ext cx="1905000" cy="13716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D2691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2463800" y="1270000"/>
            <a:ext cx="203200" cy="203200"/>
          </a:xfrm>
          <a:prstGeom prst="ellipse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743200" y="1295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冻结的 </a:t>
            </a:r>
            <a:r>
              <a:rPr lang="en-US" altLang="zh-CN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 </a:t>
            </a:r>
            <a:r>
              <a:rPr lang="zh-CN" altLang="en-US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endParaRPr lang="zh-CN" altLang="en-US" sz="10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463800" y="15748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提取说话人嵌入 </a:t>
            </a:r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(512</a:t>
            </a:r>
            <a:r>
              <a:rPr lang="zh-CN" altLang="en-US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</a:t>
            </a:r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489200" y="2006600"/>
            <a:ext cx="152400" cy="152400"/>
          </a:xfrm>
          <a:prstGeom prst="rect">
            <a:avLst/>
          </a:prstGeom>
          <a:solidFill>
            <a:srgbClr val="8FAA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2679700" y="2006600"/>
            <a:ext cx="152400" cy="152400"/>
          </a:xfrm>
          <a:prstGeom prst="rect">
            <a:avLst/>
          </a:prstGeom>
          <a:solidFill>
            <a:srgbClr val="8FAA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870200" y="2006600"/>
            <a:ext cx="152400" cy="152400"/>
          </a:xfrm>
          <a:prstGeom prst="rect">
            <a:avLst/>
          </a:prstGeom>
          <a:solidFill>
            <a:srgbClr val="8FAA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3060700" y="2006600"/>
            <a:ext cx="152400" cy="152400"/>
          </a:xfrm>
          <a:prstGeom prst="rect">
            <a:avLst/>
          </a:prstGeom>
          <a:solidFill>
            <a:srgbClr val="8FAA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3251200" y="2006600"/>
            <a:ext cx="152400" cy="152400"/>
          </a:xfrm>
          <a:prstGeom prst="rect">
            <a:avLst/>
          </a:prstGeom>
          <a:solidFill>
            <a:srgbClr val="8FAA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3441700" y="2006600"/>
            <a:ext cx="152400" cy="152400"/>
          </a:xfrm>
          <a:prstGeom prst="rect">
            <a:avLst/>
          </a:prstGeom>
          <a:solidFill>
            <a:srgbClr val="8FAA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3632200" y="2006600"/>
            <a:ext cx="152400" cy="152400"/>
          </a:xfrm>
          <a:prstGeom prst="rect">
            <a:avLst/>
          </a:prstGeom>
          <a:solidFill>
            <a:srgbClr val="8FAA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822700" y="19685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463800" y="22860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8 </a:t>
            </a:r>
            <a:r>
              <a:rPr lang="zh-CN" altLang="en-US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共享同一冻结后端</a:t>
            </a:r>
            <a:r>
              <a:rPr lang="en-US" altLang="zh-CN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右箭头 40"/>
          <p:cNvSpPr/>
          <p:nvPr/>
        </p:nvSpPr>
        <p:spPr>
          <a:xfrm>
            <a:off x="4318000" y="1727200"/>
            <a:ext cx="203200" cy="254000"/>
          </a:xfrm>
          <a:prstGeom prst="rightArrow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4597400" y="1117600"/>
            <a:ext cx="1828800" cy="14732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D2691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4724400" y="1219200"/>
            <a:ext cx="203200" cy="203200"/>
          </a:xfrm>
          <a:prstGeom prst="ellipse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003800" y="1244600"/>
            <a:ext cx="1346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SpeakerFiLM</a:t>
            </a:r>
            <a:endParaRPr lang="zh-CN" altLang="en-US" sz="10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724400" y="15240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根据注册说话人 </a:t>
            </a:r>
            <a:r>
              <a:rPr lang="en-US" altLang="zh-CN" sz="8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Embedding</a:t>
            </a:r>
          </a:p>
          <a:p>
            <a:r>
              <a:rPr lang="zh-CN" altLang="en-US" sz="8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 </a:t>
            </a:r>
            <a:r>
              <a:rPr lang="en-US" altLang="zh-CN" sz="8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γ</a:t>
            </a:r>
            <a:r>
              <a:rPr lang="zh-CN" altLang="en-US" sz="8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8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</a:t>
            </a:r>
            <a:endParaRPr lang="zh-CN" altLang="en-US" sz="85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775200" y="1905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l-GR" altLang="zh-CN" sz="9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γ:</a:t>
            </a:r>
            <a:endParaRPr lang="zh-CN" altLang="en-US" sz="9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978400" y="1879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5143500" y="1879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5308600" y="1879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5473700" y="1879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5638800" y="1879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5803900" y="1879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5969000" y="18415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775200" y="21590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l-GR" altLang="zh-CN" sz="9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β:</a:t>
            </a:r>
            <a:endParaRPr lang="zh-CN" altLang="en-US" sz="9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978400" y="2133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5143500" y="2133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5308600" y="2133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5473700" y="2133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5638800" y="2133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5803900" y="2133600"/>
            <a:ext cx="127000" cy="127000"/>
          </a:xfrm>
          <a:prstGeom prst="rect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5969000" y="20955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6502400" y="1219200"/>
            <a:ext cx="1168400" cy="1320800"/>
          </a:xfrm>
          <a:prstGeom prst="roundRect">
            <a:avLst>
              <a:gd name="adj" fmla="val 6000"/>
            </a:avLst>
          </a:prstGeom>
          <a:noFill/>
          <a:ln w="15875" cap="flat" cmpd="sng" algn="ctr">
            <a:solidFill>
              <a:srgbClr val="D2691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6604000" y="1320800"/>
            <a:ext cx="96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 b="1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条件注入说明</a:t>
            </a:r>
            <a:endParaRPr lang="zh-CN" altLang="en-US" sz="950" b="1">
              <a:solidFill>
                <a:srgbClr val="D269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604000" y="15494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9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FiLM </a:t>
            </a:r>
            <a:r>
              <a:rPr lang="zh-CN" altLang="en-US" sz="9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特征级调制</a:t>
            </a:r>
          </a:p>
          <a:p>
            <a:pPr>
              <a:spcAft>
                <a:spcPts val="300"/>
              </a:spcAft>
            </a:pPr>
            <a:r>
              <a:rPr lang="en-US" altLang="zh-CN" sz="9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9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</a:t>
            </a:r>
            <a:r>
              <a:rPr lang="en-US" altLang="zh-CN" sz="9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0.52M </a:t>
            </a:r>
            <a:r>
              <a:rPr lang="zh-CN" altLang="en-US" sz="9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</a:p>
          <a:p>
            <a:pPr>
              <a:spcAft>
                <a:spcPts val="300"/>
              </a:spcAft>
            </a:pPr>
            <a:r>
              <a:rPr lang="en-US" altLang="zh-CN" sz="9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9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末层零初始化，起点不劣化</a:t>
            </a:r>
            <a:endParaRPr lang="zh-CN" altLang="en-US" sz="9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0" y="2794000"/>
            <a:ext cx="7772400" cy="226060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 w="25400">
            <a:solidFill>
              <a:srgbClr val="2E5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203200" y="2895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带噪测试路径</a:t>
            </a:r>
            <a:endParaRPr lang="zh-CN" altLang="en-US" sz="1250" b="1">
              <a:solidFill>
                <a:srgbClr val="2E5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03200" y="3149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输入待增强的带噪语音</a:t>
            </a:r>
            <a:endParaRPr lang="zh-CN" altLang="en-US" sz="900">
              <a:solidFill>
                <a:srgbClr val="2E5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203200" y="3429000"/>
            <a:ext cx="1422400" cy="14732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2E5FA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330200" y="3530600"/>
            <a:ext cx="203200" cy="2032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09600" y="3556000"/>
            <a:ext cx="93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带噪测试语音</a:t>
            </a:r>
            <a:endParaRPr lang="zh-CN" altLang="en-US" sz="10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30200" y="38354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 dB / -5 dB)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346428" y="4156710"/>
            <a:ext cx="1135944" cy="627380"/>
            <a:chOff x="346428" y="4156710"/>
            <a:chExt cx="1135944" cy="627380"/>
          </a:xfrm>
        </p:grpSpPr>
        <p:sp>
          <p:nvSpPr>
            <p:cNvPr id="72" name="w20"/>
            <p:cNvSpPr/>
            <p:nvPr/>
          </p:nvSpPr>
          <p:spPr>
            <a:xfrm>
              <a:off x="346428" y="4265676"/>
              <a:ext cx="32455" cy="409448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w21"/>
            <p:cNvSpPr/>
            <p:nvPr/>
          </p:nvSpPr>
          <p:spPr>
            <a:xfrm>
              <a:off x="411339" y="4173220"/>
              <a:ext cx="32455" cy="59436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w22"/>
            <p:cNvSpPr/>
            <p:nvPr/>
          </p:nvSpPr>
          <p:spPr>
            <a:xfrm>
              <a:off x="476250" y="4219448"/>
              <a:ext cx="32456" cy="501904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w23"/>
            <p:cNvSpPr/>
            <p:nvPr/>
          </p:nvSpPr>
          <p:spPr>
            <a:xfrm>
              <a:off x="541161" y="4160012"/>
              <a:ext cx="32456" cy="620776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w24"/>
            <p:cNvSpPr/>
            <p:nvPr/>
          </p:nvSpPr>
          <p:spPr>
            <a:xfrm>
              <a:off x="606072" y="4239260"/>
              <a:ext cx="32456" cy="46228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w25"/>
            <p:cNvSpPr/>
            <p:nvPr/>
          </p:nvSpPr>
          <p:spPr>
            <a:xfrm>
              <a:off x="670983" y="4186428"/>
              <a:ext cx="32456" cy="567944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w26"/>
            <p:cNvSpPr/>
            <p:nvPr/>
          </p:nvSpPr>
          <p:spPr>
            <a:xfrm>
              <a:off x="735894" y="4156710"/>
              <a:ext cx="32456" cy="62738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w27"/>
            <p:cNvSpPr/>
            <p:nvPr/>
          </p:nvSpPr>
          <p:spPr>
            <a:xfrm>
              <a:off x="800806" y="4252468"/>
              <a:ext cx="32455" cy="435864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w28"/>
            <p:cNvSpPr/>
            <p:nvPr/>
          </p:nvSpPr>
          <p:spPr>
            <a:xfrm>
              <a:off x="865717" y="4173220"/>
              <a:ext cx="32455" cy="59436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w29"/>
            <p:cNvSpPr/>
            <p:nvPr/>
          </p:nvSpPr>
          <p:spPr>
            <a:xfrm>
              <a:off x="930628" y="4206240"/>
              <a:ext cx="32455" cy="52832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w210"/>
            <p:cNvSpPr/>
            <p:nvPr/>
          </p:nvSpPr>
          <p:spPr>
            <a:xfrm>
              <a:off x="995539" y="4160012"/>
              <a:ext cx="32455" cy="620776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w211"/>
            <p:cNvSpPr/>
            <p:nvPr/>
          </p:nvSpPr>
          <p:spPr>
            <a:xfrm>
              <a:off x="1060450" y="4235958"/>
              <a:ext cx="32456" cy="468884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w212"/>
            <p:cNvSpPr/>
            <p:nvPr/>
          </p:nvSpPr>
          <p:spPr>
            <a:xfrm>
              <a:off x="1125361" y="4179824"/>
              <a:ext cx="32456" cy="581152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w213"/>
            <p:cNvSpPr/>
            <p:nvPr/>
          </p:nvSpPr>
          <p:spPr>
            <a:xfrm>
              <a:off x="1190272" y="4222750"/>
              <a:ext cx="32456" cy="4953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w214"/>
            <p:cNvSpPr/>
            <p:nvPr/>
          </p:nvSpPr>
          <p:spPr>
            <a:xfrm>
              <a:off x="1255183" y="4166616"/>
              <a:ext cx="32456" cy="607568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w215"/>
            <p:cNvSpPr/>
            <p:nvPr/>
          </p:nvSpPr>
          <p:spPr>
            <a:xfrm>
              <a:off x="1320094" y="4245864"/>
              <a:ext cx="32456" cy="449072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w216"/>
            <p:cNvSpPr/>
            <p:nvPr/>
          </p:nvSpPr>
          <p:spPr>
            <a:xfrm>
              <a:off x="1385006" y="4189730"/>
              <a:ext cx="32455" cy="56134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w217"/>
            <p:cNvSpPr/>
            <p:nvPr/>
          </p:nvSpPr>
          <p:spPr>
            <a:xfrm>
              <a:off x="1449917" y="4212844"/>
              <a:ext cx="32455" cy="515112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1" name="右箭头 90"/>
          <p:cNvSpPr/>
          <p:nvPr/>
        </p:nvSpPr>
        <p:spPr>
          <a:xfrm>
            <a:off x="1651000" y="4038600"/>
            <a:ext cx="177800" cy="254000"/>
          </a:xfrm>
          <a:prstGeom prst="rightArrow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圆角矩形 91"/>
          <p:cNvSpPr/>
          <p:nvPr/>
        </p:nvSpPr>
        <p:spPr>
          <a:xfrm>
            <a:off x="1854200" y="3403600"/>
            <a:ext cx="2819400" cy="15494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2E5FA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1981200" y="3505200"/>
            <a:ext cx="203200" cy="2032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2260600" y="3530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FullSubNet+</a:t>
            </a:r>
            <a:r>
              <a:rPr lang="zh-CN" altLang="en-US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（前端主干网络）</a:t>
            </a:r>
            <a:endParaRPr lang="zh-CN" altLang="en-US" sz="10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1981200" y="37846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全带 </a:t>
            </a:r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LSTM 512 + </a:t>
            </a:r>
            <a:r>
              <a:rPr lang="zh-CN" altLang="en-US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子带 </a:t>
            </a:r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384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1930400" y="4013200"/>
            <a:ext cx="2667000" cy="20320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 w="12700">
            <a:solidFill>
              <a:srgbClr val="D2691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1930400" y="40513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750" b="1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FiLM </a:t>
            </a:r>
            <a:r>
              <a:rPr lang="zh-CN" altLang="en-US" sz="750" b="1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特征调制（</a:t>
            </a:r>
            <a:r>
              <a:rPr lang="el-GR" altLang="zh-CN" sz="750" b="1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γ, β </a:t>
            </a:r>
            <a:r>
              <a:rPr lang="zh-CN" altLang="en-US" sz="750" b="1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注入点）</a:t>
            </a:r>
            <a:endParaRPr lang="zh-CN" altLang="en-US" sz="750" b="1">
              <a:solidFill>
                <a:srgbClr val="D269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2006600" y="4292600"/>
            <a:ext cx="2552700" cy="533400"/>
            <a:chOff x="2006600" y="4292600"/>
            <a:chExt cx="2552700" cy="533400"/>
          </a:xfrm>
        </p:grpSpPr>
        <p:sp>
          <p:nvSpPr>
            <p:cNvPr id="98" name="enc0"/>
            <p:cNvSpPr/>
            <p:nvPr/>
          </p:nvSpPr>
          <p:spPr>
            <a:xfrm>
              <a:off x="2006600" y="4292600"/>
              <a:ext cx="139700" cy="533400"/>
            </a:xfrm>
            <a:prstGeom prst="rect">
              <a:avLst/>
            </a:prstGeom>
            <a:solidFill>
              <a:srgbClr val="8FAAD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enc1"/>
            <p:cNvSpPr/>
            <p:nvPr/>
          </p:nvSpPr>
          <p:spPr>
            <a:xfrm>
              <a:off x="2247900" y="4387596"/>
              <a:ext cx="139700" cy="438404"/>
            </a:xfrm>
            <a:prstGeom prst="rect">
              <a:avLst/>
            </a:prstGeom>
            <a:solidFill>
              <a:srgbClr val="8FAAD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enc2"/>
            <p:cNvSpPr/>
            <p:nvPr/>
          </p:nvSpPr>
          <p:spPr>
            <a:xfrm>
              <a:off x="2489200" y="4473956"/>
              <a:ext cx="139700" cy="352044"/>
            </a:xfrm>
            <a:prstGeom prst="rect">
              <a:avLst/>
            </a:prstGeom>
            <a:solidFill>
              <a:srgbClr val="8FAAD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enc3"/>
            <p:cNvSpPr/>
            <p:nvPr/>
          </p:nvSpPr>
          <p:spPr>
            <a:xfrm>
              <a:off x="2730500" y="4543044"/>
              <a:ext cx="139700" cy="282956"/>
            </a:xfrm>
            <a:prstGeom prst="rect">
              <a:avLst/>
            </a:prstGeom>
            <a:solidFill>
              <a:srgbClr val="8FAAD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enc4"/>
            <p:cNvSpPr/>
            <p:nvPr/>
          </p:nvSpPr>
          <p:spPr>
            <a:xfrm>
              <a:off x="2971800" y="4594860"/>
              <a:ext cx="139700" cy="231140"/>
            </a:xfrm>
            <a:prstGeom prst="rect">
              <a:avLst/>
            </a:prstGeom>
            <a:solidFill>
              <a:srgbClr val="8FAAD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enc5"/>
            <p:cNvSpPr/>
            <p:nvPr/>
          </p:nvSpPr>
          <p:spPr>
            <a:xfrm>
              <a:off x="3213100" y="4629404"/>
              <a:ext cx="139700" cy="196596"/>
            </a:xfrm>
            <a:prstGeom prst="rect">
              <a:avLst/>
            </a:prstGeom>
            <a:solidFill>
              <a:srgbClr val="8FAAD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enc6"/>
            <p:cNvSpPr/>
            <p:nvPr/>
          </p:nvSpPr>
          <p:spPr>
            <a:xfrm>
              <a:off x="3454400" y="4594860"/>
              <a:ext cx="139700" cy="231140"/>
            </a:xfrm>
            <a:prstGeom prst="rect">
              <a:avLst/>
            </a:prstGeom>
            <a:solidFill>
              <a:srgbClr val="8FAAD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enc7"/>
            <p:cNvSpPr/>
            <p:nvPr/>
          </p:nvSpPr>
          <p:spPr>
            <a:xfrm>
              <a:off x="3695700" y="4534408"/>
              <a:ext cx="139700" cy="291592"/>
            </a:xfrm>
            <a:prstGeom prst="rect">
              <a:avLst/>
            </a:prstGeom>
            <a:solidFill>
              <a:srgbClr val="8FAAD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enc8"/>
            <p:cNvSpPr/>
            <p:nvPr/>
          </p:nvSpPr>
          <p:spPr>
            <a:xfrm>
              <a:off x="3937000" y="4465320"/>
              <a:ext cx="139700" cy="360680"/>
            </a:xfrm>
            <a:prstGeom prst="rect">
              <a:avLst/>
            </a:prstGeom>
            <a:solidFill>
              <a:srgbClr val="8FAAD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enc9"/>
            <p:cNvSpPr/>
            <p:nvPr/>
          </p:nvSpPr>
          <p:spPr>
            <a:xfrm>
              <a:off x="4178300" y="4387596"/>
              <a:ext cx="139700" cy="438404"/>
            </a:xfrm>
            <a:prstGeom prst="rect">
              <a:avLst/>
            </a:prstGeom>
            <a:solidFill>
              <a:srgbClr val="8FAAD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enc10"/>
            <p:cNvSpPr/>
            <p:nvPr/>
          </p:nvSpPr>
          <p:spPr>
            <a:xfrm>
              <a:off x="4419600" y="4309872"/>
              <a:ext cx="139700" cy="516128"/>
            </a:xfrm>
            <a:prstGeom prst="rect">
              <a:avLst/>
            </a:prstGeom>
            <a:solidFill>
              <a:srgbClr val="8FAAD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0" name="文本框 109"/>
          <p:cNvSpPr txBox="1"/>
          <p:nvPr/>
        </p:nvSpPr>
        <p:spPr>
          <a:xfrm>
            <a:off x="2006600" y="4826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3937000" y="48260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解码器</a:t>
            </a:r>
            <a:endParaRPr lang="zh-CN" altLang="en-US" sz="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右箭头 111"/>
          <p:cNvSpPr/>
          <p:nvPr/>
        </p:nvSpPr>
        <p:spPr>
          <a:xfrm>
            <a:off x="4724400" y="4038600"/>
            <a:ext cx="177800" cy="254000"/>
          </a:xfrm>
          <a:prstGeom prst="rightArrow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圆角矩形 112"/>
          <p:cNvSpPr/>
          <p:nvPr/>
        </p:nvSpPr>
        <p:spPr>
          <a:xfrm>
            <a:off x="4953000" y="3479800"/>
            <a:ext cx="1270000" cy="14224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2E5FA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/>
          <p:cNvSpPr/>
          <p:nvPr/>
        </p:nvSpPr>
        <p:spPr>
          <a:xfrm>
            <a:off x="5054600" y="3581400"/>
            <a:ext cx="203200" cy="2032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5334000" y="3606800"/>
            <a:ext cx="838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复值掩码估计</a:t>
            </a:r>
            <a:endParaRPr lang="zh-CN" altLang="en-US" sz="10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5080000" y="38862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(cIRM)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1" name="组合 140"/>
          <p:cNvGrpSpPr/>
          <p:nvPr/>
        </p:nvGrpSpPr>
        <p:grpSpPr>
          <a:xfrm>
            <a:off x="5054600" y="4165600"/>
            <a:ext cx="685800" cy="609600"/>
            <a:chOff x="5054600" y="4165600"/>
            <a:chExt cx="685800" cy="609600"/>
          </a:xfrm>
        </p:grpSpPr>
        <p:sp>
          <p:nvSpPr>
            <p:cNvPr id="117" name="hm00"/>
            <p:cNvSpPr/>
            <p:nvPr/>
          </p:nvSpPr>
          <p:spPr>
            <a:xfrm>
              <a:off x="5054600" y="4165600"/>
              <a:ext cx="114300" cy="152400"/>
            </a:xfrm>
            <a:prstGeom prst="rect">
              <a:avLst/>
            </a:prstGeom>
            <a:solidFill>
              <a:srgbClr val="1B5E2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hm01"/>
            <p:cNvSpPr/>
            <p:nvPr/>
          </p:nvSpPr>
          <p:spPr>
            <a:xfrm>
              <a:off x="5168900" y="4165600"/>
              <a:ext cx="114300" cy="152400"/>
            </a:xfrm>
            <a:prstGeom prst="rect">
              <a:avLst/>
            </a:prstGeom>
            <a:solidFill>
              <a:srgbClr val="558B2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hm02"/>
            <p:cNvSpPr/>
            <p:nvPr/>
          </p:nvSpPr>
          <p:spPr>
            <a:xfrm>
              <a:off x="5283200" y="4165600"/>
              <a:ext cx="114300" cy="152400"/>
            </a:xfrm>
            <a:prstGeom prst="rect">
              <a:avLst/>
            </a:prstGeom>
            <a:solidFill>
              <a:srgbClr val="9E9D2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hm03"/>
            <p:cNvSpPr/>
            <p:nvPr/>
          </p:nvSpPr>
          <p:spPr>
            <a:xfrm>
              <a:off x="5397500" y="4165600"/>
              <a:ext cx="114300" cy="152400"/>
            </a:xfrm>
            <a:prstGeom prst="rect">
              <a:avLst/>
            </a:prstGeom>
            <a:solidFill>
              <a:srgbClr val="CDDC3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hm04"/>
            <p:cNvSpPr/>
            <p:nvPr/>
          </p:nvSpPr>
          <p:spPr>
            <a:xfrm>
              <a:off x="5511800" y="4165600"/>
              <a:ext cx="114300" cy="152400"/>
            </a:xfrm>
            <a:prstGeom prst="rect">
              <a:avLst/>
            </a:prstGeom>
            <a:solidFill>
              <a:srgbClr val="1B5E2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hm05"/>
            <p:cNvSpPr/>
            <p:nvPr/>
          </p:nvSpPr>
          <p:spPr>
            <a:xfrm>
              <a:off x="5626100" y="4165600"/>
              <a:ext cx="114300" cy="152400"/>
            </a:xfrm>
            <a:prstGeom prst="rect">
              <a:avLst/>
            </a:prstGeom>
            <a:solidFill>
              <a:srgbClr val="558B2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hm10"/>
            <p:cNvSpPr/>
            <p:nvPr/>
          </p:nvSpPr>
          <p:spPr>
            <a:xfrm>
              <a:off x="5054600" y="4318000"/>
              <a:ext cx="114300" cy="152400"/>
            </a:xfrm>
            <a:prstGeom prst="rect">
              <a:avLst/>
            </a:prstGeom>
            <a:solidFill>
              <a:srgbClr val="7CB342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hm11"/>
            <p:cNvSpPr/>
            <p:nvPr/>
          </p:nvSpPr>
          <p:spPr>
            <a:xfrm>
              <a:off x="5168900" y="4318000"/>
              <a:ext cx="114300" cy="152400"/>
            </a:xfrm>
            <a:prstGeom prst="rect">
              <a:avLst/>
            </a:prstGeom>
            <a:solidFill>
              <a:srgbClr val="C0CA3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hm12"/>
            <p:cNvSpPr/>
            <p:nvPr/>
          </p:nvSpPr>
          <p:spPr>
            <a:xfrm>
              <a:off x="5283200" y="4318000"/>
              <a:ext cx="114300" cy="152400"/>
            </a:xfrm>
            <a:prstGeom prst="rect">
              <a:avLst/>
            </a:prstGeom>
            <a:solidFill>
              <a:srgbClr val="FDD83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hm13"/>
            <p:cNvSpPr/>
            <p:nvPr/>
          </p:nvSpPr>
          <p:spPr>
            <a:xfrm>
              <a:off x="5397500" y="4318000"/>
              <a:ext cx="114300" cy="152400"/>
            </a:xfrm>
            <a:prstGeom prst="rect">
              <a:avLst/>
            </a:prstGeom>
            <a:solidFill>
              <a:srgbClr val="33691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hm14"/>
            <p:cNvSpPr/>
            <p:nvPr/>
          </p:nvSpPr>
          <p:spPr>
            <a:xfrm>
              <a:off x="5511800" y="4318000"/>
              <a:ext cx="114300" cy="152400"/>
            </a:xfrm>
            <a:prstGeom prst="rect">
              <a:avLst/>
            </a:prstGeom>
            <a:solidFill>
              <a:srgbClr val="7CB342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hm15"/>
            <p:cNvSpPr/>
            <p:nvPr/>
          </p:nvSpPr>
          <p:spPr>
            <a:xfrm>
              <a:off x="5626100" y="4318000"/>
              <a:ext cx="114300" cy="152400"/>
            </a:xfrm>
            <a:prstGeom prst="rect">
              <a:avLst/>
            </a:prstGeom>
            <a:solidFill>
              <a:srgbClr val="C0CA3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hm20"/>
            <p:cNvSpPr/>
            <p:nvPr/>
          </p:nvSpPr>
          <p:spPr>
            <a:xfrm>
              <a:off x="5054600" y="4470400"/>
              <a:ext cx="114300" cy="152400"/>
            </a:xfrm>
            <a:prstGeom prst="rect">
              <a:avLst/>
            </a:prstGeom>
            <a:solidFill>
              <a:srgbClr val="CDDC3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hm21"/>
            <p:cNvSpPr/>
            <p:nvPr/>
          </p:nvSpPr>
          <p:spPr>
            <a:xfrm>
              <a:off x="5168900" y="4470400"/>
              <a:ext cx="114300" cy="152400"/>
            </a:xfrm>
            <a:prstGeom prst="rect">
              <a:avLst/>
            </a:prstGeom>
            <a:solidFill>
              <a:srgbClr val="1B5E2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hm22"/>
            <p:cNvSpPr/>
            <p:nvPr/>
          </p:nvSpPr>
          <p:spPr>
            <a:xfrm>
              <a:off x="5283200" y="4470400"/>
              <a:ext cx="114300" cy="152400"/>
            </a:xfrm>
            <a:prstGeom prst="rect">
              <a:avLst/>
            </a:prstGeom>
            <a:solidFill>
              <a:srgbClr val="558B2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hm23"/>
            <p:cNvSpPr/>
            <p:nvPr/>
          </p:nvSpPr>
          <p:spPr>
            <a:xfrm>
              <a:off x="5397500" y="4470400"/>
              <a:ext cx="114300" cy="152400"/>
            </a:xfrm>
            <a:prstGeom prst="rect">
              <a:avLst/>
            </a:prstGeom>
            <a:solidFill>
              <a:srgbClr val="9E9D2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hm24"/>
            <p:cNvSpPr/>
            <p:nvPr/>
          </p:nvSpPr>
          <p:spPr>
            <a:xfrm>
              <a:off x="5511800" y="4470400"/>
              <a:ext cx="114300" cy="152400"/>
            </a:xfrm>
            <a:prstGeom prst="rect">
              <a:avLst/>
            </a:prstGeom>
            <a:solidFill>
              <a:srgbClr val="CDDC3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hm25"/>
            <p:cNvSpPr/>
            <p:nvPr/>
          </p:nvSpPr>
          <p:spPr>
            <a:xfrm>
              <a:off x="5626100" y="4470400"/>
              <a:ext cx="114300" cy="152400"/>
            </a:xfrm>
            <a:prstGeom prst="rect">
              <a:avLst/>
            </a:prstGeom>
            <a:solidFill>
              <a:srgbClr val="1B5E2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hm30"/>
            <p:cNvSpPr/>
            <p:nvPr/>
          </p:nvSpPr>
          <p:spPr>
            <a:xfrm>
              <a:off x="5054600" y="4622800"/>
              <a:ext cx="114300" cy="152400"/>
            </a:xfrm>
            <a:prstGeom prst="rect">
              <a:avLst/>
            </a:prstGeom>
            <a:solidFill>
              <a:srgbClr val="33691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hm31"/>
            <p:cNvSpPr/>
            <p:nvPr/>
          </p:nvSpPr>
          <p:spPr>
            <a:xfrm>
              <a:off x="5168900" y="4622800"/>
              <a:ext cx="114300" cy="152400"/>
            </a:xfrm>
            <a:prstGeom prst="rect">
              <a:avLst/>
            </a:prstGeom>
            <a:solidFill>
              <a:srgbClr val="7CB342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hm32"/>
            <p:cNvSpPr/>
            <p:nvPr/>
          </p:nvSpPr>
          <p:spPr>
            <a:xfrm>
              <a:off x="5283200" y="4622800"/>
              <a:ext cx="114300" cy="152400"/>
            </a:xfrm>
            <a:prstGeom prst="rect">
              <a:avLst/>
            </a:prstGeom>
            <a:solidFill>
              <a:srgbClr val="C0CA3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hm33"/>
            <p:cNvSpPr/>
            <p:nvPr/>
          </p:nvSpPr>
          <p:spPr>
            <a:xfrm>
              <a:off x="5397500" y="4622800"/>
              <a:ext cx="114300" cy="152400"/>
            </a:xfrm>
            <a:prstGeom prst="rect">
              <a:avLst/>
            </a:prstGeom>
            <a:solidFill>
              <a:srgbClr val="FDD83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hm34"/>
            <p:cNvSpPr/>
            <p:nvPr/>
          </p:nvSpPr>
          <p:spPr>
            <a:xfrm>
              <a:off x="5511800" y="4622800"/>
              <a:ext cx="114300" cy="152400"/>
            </a:xfrm>
            <a:prstGeom prst="rect">
              <a:avLst/>
            </a:prstGeom>
            <a:solidFill>
              <a:srgbClr val="33691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hm35"/>
            <p:cNvSpPr/>
            <p:nvPr/>
          </p:nvSpPr>
          <p:spPr>
            <a:xfrm>
              <a:off x="5626100" y="4622800"/>
              <a:ext cx="114300" cy="152400"/>
            </a:xfrm>
            <a:prstGeom prst="rect">
              <a:avLst/>
            </a:prstGeom>
            <a:solidFill>
              <a:srgbClr val="7CB342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2" name="矩形 141"/>
          <p:cNvSpPr/>
          <p:nvPr/>
        </p:nvSpPr>
        <p:spPr>
          <a:xfrm>
            <a:off x="5842000" y="4165600"/>
            <a:ext cx="88900" cy="203200"/>
          </a:xfrm>
          <a:prstGeom prst="rect">
            <a:avLst/>
          </a:prstGeom>
          <a:solidFill>
            <a:srgbClr val="FDD8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5842000" y="4368800"/>
            <a:ext cx="88900" cy="203200"/>
          </a:xfrm>
          <a:prstGeom prst="rect">
            <a:avLst/>
          </a:prstGeom>
          <a:solidFill>
            <a:srgbClr val="9E9D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/>
          <p:cNvSpPr/>
          <p:nvPr/>
        </p:nvSpPr>
        <p:spPr>
          <a:xfrm>
            <a:off x="5842000" y="4572000"/>
            <a:ext cx="88900" cy="203200"/>
          </a:xfrm>
          <a:prstGeom prst="rect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文本框 144"/>
          <p:cNvSpPr txBox="1"/>
          <p:nvPr/>
        </p:nvSpPr>
        <p:spPr>
          <a:xfrm>
            <a:off x="5956300" y="41656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5956300" y="44069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930900" y="4660900"/>
            <a:ext cx="15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 sz="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右箭头 147"/>
          <p:cNvSpPr/>
          <p:nvPr/>
        </p:nvSpPr>
        <p:spPr>
          <a:xfrm>
            <a:off x="6273800" y="4038600"/>
            <a:ext cx="203200" cy="254000"/>
          </a:xfrm>
          <a:prstGeom prst="rightArrow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圆角矩形 148"/>
          <p:cNvSpPr/>
          <p:nvPr/>
        </p:nvSpPr>
        <p:spPr>
          <a:xfrm>
            <a:off x="6527800" y="3479800"/>
            <a:ext cx="1193800" cy="14224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2E5FA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椭圆 149"/>
          <p:cNvSpPr/>
          <p:nvPr/>
        </p:nvSpPr>
        <p:spPr>
          <a:xfrm>
            <a:off x="6629400" y="3581400"/>
            <a:ext cx="203200" cy="2032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6858000" y="3606800"/>
            <a:ext cx="838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增强后测试语音</a:t>
            </a:r>
            <a:endParaRPr lang="zh-CN" altLang="en-US" sz="9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6578600" y="38862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保持注册说话人</a:t>
            </a:r>
          </a:p>
          <a:p>
            <a:pPr algn="ctr"/>
            <a:r>
              <a:rPr lang="zh-CN" altLang="en-US" sz="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身份特征</a:t>
            </a:r>
            <a:endParaRPr lang="zh-CN" altLang="en-US" sz="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5" name="组合 164"/>
          <p:cNvGrpSpPr/>
          <p:nvPr/>
        </p:nvGrpSpPr>
        <p:grpSpPr>
          <a:xfrm>
            <a:off x="6625167" y="4292600"/>
            <a:ext cx="973666" cy="482600"/>
            <a:chOff x="6625167" y="4292600"/>
            <a:chExt cx="973666" cy="482600"/>
          </a:xfrm>
        </p:grpSpPr>
        <p:sp>
          <p:nvSpPr>
            <p:cNvPr id="153" name="w30"/>
            <p:cNvSpPr/>
            <p:nvPr/>
          </p:nvSpPr>
          <p:spPr>
            <a:xfrm>
              <a:off x="6625167" y="4375150"/>
              <a:ext cx="42333" cy="3175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w31"/>
            <p:cNvSpPr/>
            <p:nvPr/>
          </p:nvSpPr>
          <p:spPr>
            <a:xfrm>
              <a:off x="6709833" y="4305300"/>
              <a:ext cx="42333" cy="4572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w32"/>
            <p:cNvSpPr/>
            <p:nvPr/>
          </p:nvSpPr>
          <p:spPr>
            <a:xfrm>
              <a:off x="6794500" y="4343400"/>
              <a:ext cx="42333" cy="3810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w33"/>
            <p:cNvSpPr/>
            <p:nvPr/>
          </p:nvSpPr>
          <p:spPr>
            <a:xfrm>
              <a:off x="6879167" y="4292600"/>
              <a:ext cx="42333" cy="4826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w34"/>
            <p:cNvSpPr/>
            <p:nvPr/>
          </p:nvSpPr>
          <p:spPr>
            <a:xfrm>
              <a:off x="6963833" y="4359275"/>
              <a:ext cx="42333" cy="34925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w35"/>
            <p:cNvSpPr/>
            <p:nvPr/>
          </p:nvSpPr>
          <p:spPr>
            <a:xfrm>
              <a:off x="7048500" y="4324350"/>
              <a:ext cx="42333" cy="4191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w36"/>
            <p:cNvSpPr/>
            <p:nvPr/>
          </p:nvSpPr>
          <p:spPr>
            <a:xfrm>
              <a:off x="7133167" y="4311650"/>
              <a:ext cx="42333" cy="4445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w37"/>
            <p:cNvSpPr/>
            <p:nvPr/>
          </p:nvSpPr>
          <p:spPr>
            <a:xfrm>
              <a:off x="7217833" y="4375150"/>
              <a:ext cx="42333" cy="3175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w38"/>
            <p:cNvSpPr/>
            <p:nvPr/>
          </p:nvSpPr>
          <p:spPr>
            <a:xfrm>
              <a:off x="7302500" y="4337050"/>
              <a:ext cx="42333" cy="3937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w39"/>
            <p:cNvSpPr/>
            <p:nvPr/>
          </p:nvSpPr>
          <p:spPr>
            <a:xfrm>
              <a:off x="7387167" y="4298950"/>
              <a:ext cx="42333" cy="4699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w310"/>
            <p:cNvSpPr/>
            <p:nvPr/>
          </p:nvSpPr>
          <p:spPr>
            <a:xfrm>
              <a:off x="7471833" y="4349750"/>
              <a:ext cx="42333" cy="3683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w311"/>
            <p:cNvSpPr/>
            <p:nvPr/>
          </p:nvSpPr>
          <p:spPr>
            <a:xfrm>
              <a:off x="7556500" y="4318000"/>
              <a:ext cx="42333" cy="431800"/>
            </a:xfrm>
            <a:prstGeom prst="rect">
              <a:avLst/>
            </a:prstGeom>
            <a:solidFill>
              <a:srgbClr val="2E5FA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6" name="文本框 165"/>
          <p:cNvSpPr txBox="1"/>
          <p:nvPr/>
        </p:nvSpPr>
        <p:spPr>
          <a:xfrm>
            <a:off x="6070600" y="49403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7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掩码 </a:t>
            </a:r>
            <a:r>
              <a:rPr lang="en-US" altLang="zh-CN" sz="7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7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带噪谱 → </a:t>
            </a:r>
            <a:r>
              <a:rPr lang="en-US" altLang="zh-CN" sz="7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iSTFT </a:t>
            </a:r>
            <a:r>
              <a:rPr lang="zh-CN" altLang="en-US" sz="7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重建</a:t>
            </a:r>
            <a:endParaRPr lang="zh-CN" altLang="en-US" sz="75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7" name="直接连接符 166"/>
          <p:cNvCxnSpPr/>
          <p:nvPr/>
        </p:nvCxnSpPr>
        <p:spPr>
          <a:xfrm flipH="1">
            <a:off x="3937000" y="2616200"/>
            <a:ext cx="1193800" cy="1371600"/>
          </a:xfrm>
          <a:prstGeom prst="line">
            <a:avLst/>
          </a:prstGeom>
          <a:ln w="19050">
            <a:solidFill>
              <a:srgbClr val="D2691E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 flipH="1">
            <a:off x="4267200" y="2616200"/>
            <a:ext cx="1270000" cy="1371600"/>
          </a:xfrm>
          <a:prstGeom prst="line">
            <a:avLst/>
          </a:prstGeom>
          <a:ln w="19050">
            <a:solidFill>
              <a:srgbClr val="D2691E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5638800" y="30734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l-GR" altLang="zh-CN" sz="800" b="1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γ, β </a:t>
            </a:r>
            <a:r>
              <a:rPr lang="zh-CN" altLang="en-US" sz="800" b="1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条件注入</a:t>
            </a:r>
            <a:endParaRPr lang="zh-CN" altLang="en-US" sz="800" b="1">
              <a:solidFill>
                <a:srgbClr val="D269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圆角矩形 169"/>
          <p:cNvSpPr/>
          <p:nvPr/>
        </p:nvSpPr>
        <p:spPr>
          <a:xfrm>
            <a:off x="7874000" y="1168400"/>
            <a:ext cx="2926080" cy="3886200"/>
          </a:xfrm>
          <a:prstGeom prst="roundRect">
            <a:avLst>
              <a:gd name="adj" fmla="val 6000"/>
            </a:avLst>
          </a:prstGeom>
          <a:solidFill>
            <a:srgbClr val="F0F5EB"/>
          </a:solidFill>
          <a:ln w="25400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文本框 170"/>
          <p:cNvSpPr txBox="1"/>
          <p:nvPr/>
        </p:nvSpPr>
        <p:spPr>
          <a:xfrm>
            <a:off x="8051800" y="1270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 b="1" smtClean="0">
                <a:solidFill>
                  <a:srgbClr val="4E7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验证打分路径</a:t>
            </a:r>
            <a:endParaRPr lang="zh-CN" altLang="en-US" sz="1250" b="1">
              <a:solidFill>
                <a:srgbClr val="4E7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8051800" y="1524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smtClean="0">
                <a:solidFill>
                  <a:srgbClr val="4E7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增强后打分验证</a:t>
            </a:r>
            <a:endParaRPr lang="zh-CN" altLang="en-US" sz="900">
              <a:solidFill>
                <a:srgbClr val="4E7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3" name="直接连接符 172"/>
          <p:cNvCxnSpPr/>
          <p:nvPr/>
        </p:nvCxnSpPr>
        <p:spPr>
          <a:xfrm flipV="1">
            <a:off x="7772400" y="2870200"/>
            <a:ext cx="482600" cy="1397000"/>
          </a:xfrm>
          <a:prstGeom prst="line">
            <a:avLst/>
          </a:prstGeom>
          <a:ln w="31750">
            <a:solidFill>
              <a:srgbClr val="4E7B3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圆角矩形 173"/>
          <p:cNvSpPr/>
          <p:nvPr/>
        </p:nvSpPr>
        <p:spPr>
          <a:xfrm>
            <a:off x="8026400" y="1778000"/>
            <a:ext cx="2616200" cy="10668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4E7B3A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/>
          <p:cNvSpPr/>
          <p:nvPr/>
        </p:nvSpPr>
        <p:spPr>
          <a:xfrm>
            <a:off x="8153400" y="1879600"/>
            <a:ext cx="203200" cy="203200"/>
          </a:xfrm>
          <a:prstGeom prst="ellipse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8432800" y="19050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冻结的 </a:t>
            </a:r>
            <a:r>
              <a:rPr lang="en-US" altLang="zh-CN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 </a:t>
            </a:r>
            <a:r>
              <a:rPr lang="zh-CN" altLang="en-US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endParaRPr lang="zh-CN" altLang="en-US" sz="10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8153400" y="2184400"/>
            <a:ext cx="236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提取增强后嵌入 </a:t>
            </a:r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(512</a:t>
            </a:r>
            <a:r>
              <a:rPr lang="zh-CN" altLang="en-US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</a:t>
            </a:r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8153400" y="23876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2 </a:t>
            </a:r>
            <a:r>
              <a:rPr lang="zh-CN" altLang="en-US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共享同一冻结后端</a:t>
            </a:r>
            <a:r>
              <a:rPr lang="en-US" altLang="zh-CN" sz="7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8178800" y="2565400"/>
            <a:ext cx="152400" cy="152400"/>
          </a:xfrm>
          <a:prstGeom prst="rect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/>
          <p:cNvSpPr/>
          <p:nvPr/>
        </p:nvSpPr>
        <p:spPr>
          <a:xfrm>
            <a:off x="8369300" y="2565400"/>
            <a:ext cx="152400" cy="152400"/>
          </a:xfrm>
          <a:prstGeom prst="rect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/>
          <p:cNvSpPr/>
          <p:nvPr/>
        </p:nvSpPr>
        <p:spPr>
          <a:xfrm>
            <a:off x="8559800" y="2565400"/>
            <a:ext cx="152400" cy="152400"/>
          </a:xfrm>
          <a:prstGeom prst="rect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/>
          <p:cNvSpPr/>
          <p:nvPr/>
        </p:nvSpPr>
        <p:spPr>
          <a:xfrm>
            <a:off x="8750300" y="2565400"/>
            <a:ext cx="152400" cy="152400"/>
          </a:xfrm>
          <a:prstGeom prst="rect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/>
          <p:cNvSpPr/>
          <p:nvPr/>
        </p:nvSpPr>
        <p:spPr>
          <a:xfrm>
            <a:off x="8940800" y="2565400"/>
            <a:ext cx="152400" cy="152400"/>
          </a:xfrm>
          <a:prstGeom prst="rect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文本框 183"/>
          <p:cNvSpPr txBox="1"/>
          <p:nvPr/>
        </p:nvSpPr>
        <p:spPr>
          <a:xfrm>
            <a:off x="9131300" y="25273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下箭头 184"/>
          <p:cNvSpPr/>
          <p:nvPr/>
        </p:nvSpPr>
        <p:spPr>
          <a:xfrm>
            <a:off x="9220200" y="2895600"/>
            <a:ext cx="203200" cy="228600"/>
          </a:xfrm>
          <a:prstGeom prst="downArrow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圆角矩形 185"/>
          <p:cNvSpPr/>
          <p:nvPr/>
        </p:nvSpPr>
        <p:spPr>
          <a:xfrm>
            <a:off x="8026400" y="3200400"/>
            <a:ext cx="2616200" cy="17526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4E7B3A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椭圆 186"/>
          <p:cNvSpPr/>
          <p:nvPr/>
        </p:nvSpPr>
        <p:spPr>
          <a:xfrm>
            <a:off x="8153400" y="3302000"/>
            <a:ext cx="203200" cy="203200"/>
          </a:xfrm>
          <a:prstGeom prst="ellipse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8432800" y="33274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与注册嵌入计算余弦相似度</a:t>
            </a:r>
            <a:endParaRPr lang="zh-CN" altLang="en-US" sz="10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8153400" y="36449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注册嵌入</a:t>
            </a:r>
            <a:endParaRPr lang="zh-CN" altLang="en-US" sz="9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8737600" y="3619500"/>
            <a:ext cx="127000" cy="127000"/>
          </a:xfrm>
          <a:prstGeom prst="rect">
            <a:avLst/>
          </a:prstGeom>
          <a:solidFill>
            <a:srgbClr val="8FAA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/>
          <p:cNvSpPr/>
          <p:nvPr/>
        </p:nvSpPr>
        <p:spPr>
          <a:xfrm>
            <a:off x="8902700" y="3619500"/>
            <a:ext cx="127000" cy="127000"/>
          </a:xfrm>
          <a:prstGeom prst="rect">
            <a:avLst/>
          </a:prstGeom>
          <a:solidFill>
            <a:srgbClr val="8FAA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/>
          <p:cNvSpPr/>
          <p:nvPr/>
        </p:nvSpPr>
        <p:spPr>
          <a:xfrm>
            <a:off x="9067800" y="3619500"/>
            <a:ext cx="127000" cy="127000"/>
          </a:xfrm>
          <a:prstGeom prst="rect">
            <a:avLst/>
          </a:prstGeom>
          <a:solidFill>
            <a:srgbClr val="8FAA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/>
          <p:cNvSpPr/>
          <p:nvPr/>
        </p:nvSpPr>
        <p:spPr>
          <a:xfrm>
            <a:off x="9232900" y="3619500"/>
            <a:ext cx="127000" cy="127000"/>
          </a:xfrm>
          <a:prstGeom prst="rect">
            <a:avLst/>
          </a:prstGeom>
          <a:solidFill>
            <a:srgbClr val="8FAA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文本框 193"/>
          <p:cNvSpPr txBox="1"/>
          <p:nvPr/>
        </p:nvSpPr>
        <p:spPr>
          <a:xfrm>
            <a:off x="9398000" y="3581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8077200" y="38989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增强后嵌入</a:t>
            </a:r>
            <a:endParaRPr lang="zh-CN" altLang="en-US" sz="9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" name="矩形 195"/>
          <p:cNvSpPr/>
          <p:nvPr/>
        </p:nvSpPr>
        <p:spPr>
          <a:xfrm>
            <a:off x="8737600" y="3873500"/>
            <a:ext cx="127000" cy="127000"/>
          </a:xfrm>
          <a:prstGeom prst="rect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/>
          <p:cNvSpPr/>
          <p:nvPr/>
        </p:nvSpPr>
        <p:spPr>
          <a:xfrm>
            <a:off x="8902700" y="3873500"/>
            <a:ext cx="127000" cy="127000"/>
          </a:xfrm>
          <a:prstGeom prst="rect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/>
          <p:cNvSpPr/>
          <p:nvPr/>
        </p:nvSpPr>
        <p:spPr>
          <a:xfrm>
            <a:off x="9067800" y="3873500"/>
            <a:ext cx="127000" cy="127000"/>
          </a:xfrm>
          <a:prstGeom prst="rect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/>
          <p:cNvSpPr/>
          <p:nvPr/>
        </p:nvSpPr>
        <p:spPr>
          <a:xfrm>
            <a:off x="9232900" y="3873500"/>
            <a:ext cx="127000" cy="127000"/>
          </a:xfrm>
          <a:prstGeom prst="rect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文本框 199"/>
          <p:cNvSpPr txBox="1"/>
          <p:nvPr/>
        </p:nvSpPr>
        <p:spPr>
          <a:xfrm>
            <a:off x="9398000" y="3835400"/>
            <a:ext cx="177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1" name="椭圆 200"/>
          <p:cNvSpPr/>
          <p:nvPr/>
        </p:nvSpPr>
        <p:spPr>
          <a:xfrm>
            <a:off x="9652000" y="3683000"/>
            <a:ext cx="711200" cy="50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5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 </a:t>
            </a:r>
            <a:r>
              <a:rPr lang="el-GR" altLang="zh-CN" sz="105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θ</a:t>
            </a:r>
            <a:endParaRPr lang="zh-CN" altLang="en-US" sz="10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8153400" y="4292600"/>
            <a:ext cx="236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Cosine similarity → </a:t>
            </a:r>
            <a:r>
              <a:rPr lang="zh-CN" altLang="en-US" sz="8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阈值比较 → 判定</a:t>
            </a:r>
            <a:endParaRPr lang="zh-CN" altLang="en-US" sz="85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3" name="圆角矩形 202"/>
          <p:cNvSpPr/>
          <p:nvPr/>
        </p:nvSpPr>
        <p:spPr>
          <a:xfrm>
            <a:off x="8153400" y="4521200"/>
            <a:ext cx="1117600" cy="254000"/>
          </a:xfrm>
          <a:prstGeom prst="roundRect">
            <a:avLst>
              <a:gd name="adj" fmla="val 50000"/>
            </a:avLst>
          </a:prstGeom>
          <a:solidFill>
            <a:srgbClr val="E8F1E4"/>
          </a:solidFill>
          <a:ln w="12700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50" b="1" smtClean="0">
                <a:solidFill>
                  <a:srgbClr val="4E7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 Accept</a:t>
            </a:r>
            <a:endParaRPr lang="zh-CN" altLang="en-US" sz="850" b="1">
              <a:solidFill>
                <a:srgbClr val="4E7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圆角矩形 203"/>
          <p:cNvSpPr/>
          <p:nvPr/>
        </p:nvSpPr>
        <p:spPr>
          <a:xfrm>
            <a:off x="9448800" y="4521200"/>
            <a:ext cx="1117600" cy="25400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5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Reject</a:t>
            </a:r>
            <a:endParaRPr lang="zh-CN" altLang="en-US" sz="85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0" y="5156200"/>
            <a:ext cx="10800080" cy="355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可训练部分：</a:t>
            </a:r>
            <a:r>
              <a:rPr lang="en-US" altLang="zh-CN" sz="100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FullSubNet+ + SpeakerFiLM = 9.20M </a:t>
            </a:r>
            <a:r>
              <a:rPr lang="zh-CN" altLang="en-US" sz="100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参数；</a:t>
            </a:r>
            <a:r>
              <a:rPr lang="en-US" altLang="zh-CN" sz="100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 </a:t>
            </a:r>
            <a:r>
              <a:rPr lang="zh-CN" altLang="en-US" sz="100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后端全程冻结，推理时条件提取与打分复用同一后端。</a:t>
            </a:r>
            <a:endParaRPr lang="zh-CN" altLang="en-US" sz="100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圆角矩形 205"/>
          <p:cNvSpPr/>
          <p:nvPr/>
        </p:nvSpPr>
        <p:spPr>
          <a:xfrm>
            <a:off x="0" y="5588000"/>
            <a:ext cx="10800080" cy="345440"/>
          </a:xfrm>
          <a:prstGeom prst="roundRect">
            <a:avLst>
              <a:gd name="adj" fmla="val 6000"/>
            </a:avLst>
          </a:prstGeom>
          <a:solidFill>
            <a:srgbClr val="FFF7DE"/>
          </a:solidFill>
          <a:ln w="12700">
            <a:solidFill>
              <a:srgbClr val="E8C8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smtClean="0">
                <a:solidFill>
                  <a:srgbClr val="7F6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工程亮点：</a:t>
            </a:r>
            <a:r>
              <a:rPr lang="zh-CN" altLang="en-US" sz="1000" smtClean="0">
                <a:solidFill>
                  <a:srgbClr val="7F6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注册语音提供「提取谁」的条件，前端只增强目标说话人语音，而不是保留所有语音。</a:t>
            </a:r>
            <a:endParaRPr lang="zh-CN" altLang="en-US" sz="1000">
              <a:solidFill>
                <a:srgbClr val="7F6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9304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自定义</PresentationFormat>
  <Paragraphs>65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user</cp:lastModifiedBy>
  <cp:revision>1</cp:revision>
  <dcterms:created xsi:type="dcterms:W3CDTF">2026-09-05T10:20:48Z</dcterms:created>
  <dcterms:modified xsi:type="dcterms:W3CDTF">2026-09-05T10:20:48Z</dcterms:modified>
</cp:coreProperties>
</file>