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85" r:id="rId14"/>
    <p:sldId id="286" r:id="rId15"/>
    <p:sldId id="287" r:id="rId16"/>
    <p:sldId id="271" r:id="rId17"/>
    <p:sldId id="288" r:id="rId18"/>
    <p:sldId id="289" r:id="rId19"/>
    <p:sldId id="292" r:id="rId20"/>
    <p:sldId id="298" r:id="rId21"/>
    <p:sldId id="293" r:id="rId22"/>
    <p:sldId id="276" r:id="rId23"/>
    <p:sldId id="295" r:id="rId24"/>
    <p:sldId id="296" r:id="rId25"/>
    <p:sldId id="297" r:id="rId26"/>
    <p:sldId id="280" r:id="rId27"/>
    <p:sldId id="283" r:id="rId28"/>
    <p:sldId id="281" r:id="rId29"/>
    <p:sldId id="282" r:id="rId30"/>
    <p:sldId id="299" r:id="rId31"/>
    <p:sldId id="300" r:id="rId32"/>
    <p:sldId id="301" r:id="rId33"/>
    <p:sldId id="302" r:id="rId34"/>
    <p:sldId id="303" r:id="rId35"/>
    <p:sldId id="304" r:id="rId36"/>
    <p:sldId id="305" r:id="rId37"/>
    <p:sldId id="306" r:id="rId38"/>
    <p:sldId id="307" r:id="rId39"/>
    <p:sldId id="308" r:id="rId40"/>
    <p:sldId id="309" r:id="rId41"/>
    <p:sldId id="310" r:id="rId42"/>
    <p:sldId id="311" r:id="rId43"/>
    <p:sldId id="312" r:id="rId44"/>
    <p:sldId id="313" r:id="rId45"/>
    <p:sldId id="314" r:id="rId46"/>
    <p:sldId id="315" r:id="rId47"/>
    <p:sldId id="316" r:id="rId48"/>
    <p:sldId id="317" r:id="rId49"/>
    <p:sldId id="318" r:id="rId50"/>
    <p:sldId id="319" r:id="rId51"/>
    <p:sldId id="320" r:id="rId52"/>
    <p:sldId id="321" r:id="rId53"/>
    <p:sldId id="322" r:id="rId54"/>
    <p:sldId id="323" r:id="rId55"/>
    <p:sldId id="324" r:id="rId56"/>
    <p:sldId id="325" r:id="rId57"/>
    <p:sldId id="326" r:id="rId58"/>
    <p:sldId id="327" r:id="rId5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63" autoAdjust="0"/>
    <p:restoredTop sz="70118" autoAdjust="0"/>
  </p:normalViewPr>
  <p:slideViewPr>
    <p:cSldViewPr snapToGrid="0">
      <p:cViewPr varScale="1">
        <p:scale>
          <a:sx n="53" d="100"/>
          <a:sy n="53" d="100"/>
        </p:scale>
        <p:origin x="17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9090F1-60E4-42EC-BAE8-5D503FFC924C}" type="datetimeFigureOut">
              <a:rPr lang="zh-CN" altLang="en-US" smtClean="0"/>
              <a:t>2026/9/9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FA4863-82EA-4055-A6CB-D03302C3F2F9}" type="slidenum">
              <a:rPr lang="zh-CN" altLang="en-US" smtClean="0"/>
              <a:t>‹#›</a:t>
            </a:fld>
            <a:endParaRPr lang="zh-CN" altLang="en-US"/>
          </a:p>
        </p:txBody>
      </p:sp>
    </p:spTree>
    <p:extLst>
      <p:ext uri="{BB962C8B-B14F-4D97-AF65-F5344CB8AC3E}">
        <p14:creationId xmlns:p14="http://schemas.microsoft.com/office/powerpoint/2010/main" val="3962569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各位老师好，我是张启元，来自中国科学院大学。今天汇报的是子课题一</a:t>
            </a:r>
            <a:r>
              <a:rPr lang="en-US" altLang="zh-CN" dirty="0" smtClean="0"/>
              <a:t>——</a:t>
            </a:r>
            <a:r>
              <a:rPr lang="zh-CN" altLang="en-US" dirty="0" smtClean="0"/>
              <a:t>多条件中文声纹识别与噪声鲁棒性增强。这项工作主要解决一个实际问题：在噪声、短语音和设备变化这些真实条件下，怎么让声纹验证还能稳定工作。最后我们形成了一套注册条件化的目标说话人提取前端。下面我从任务、方法和交付结果三个层面展开。</a:t>
            </a:r>
          </a:p>
        </p:txBody>
      </p:sp>
      <p:sp>
        <p:nvSpPr>
          <p:cNvPr id="4" name="灯片编号占位符 3"/>
          <p:cNvSpPr>
            <a:spLocks noGrp="1"/>
          </p:cNvSpPr>
          <p:nvPr>
            <p:ph type="sldNum" sz="quarter" idx="10"/>
          </p:nvPr>
        </p:nvSpPr>
        <p:spPr/>
        <p:txBody>
          <a:bodyPr/>
          <a:lstStyle/>
          <a:p>
            <a:fld id="{83FA4863-82EA-4055-A6CB-D03302C3F2F9}" type="slidenum">
              <a:rPr lang="zh-CN" altLang="en-US" smtClean="0"/>
              <a:t>1</a:t>
            </a:fld>
            <a:endParaRPr lang="zh-CN" altLang="en-US"/>
          </a:p>
        </p:txBody>
      </p:sp>
    </p:spTree>
    <p:extLst>
      <p:ext uri="{BB962C8B-B14F-4D97-AF65-F5344CB8AC3E}">
        <p14:creationId xmlns:p14="http://schemas.microsoft.com/office/powerpoint/2010/main" val="50212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这一页主要说明分工。我们组一共两个人。我主要负责算法和实验主线，包括需求拆解、训练评测环境、方案设计和迭代、三种后端的最终评测，以及后面的失败样本、ROC和DET分析。邓姣姣同学主要负责数据与评测支撑，包括多条件数据构建、泄漏检查和统一评测脚本。</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哪些代码和实验是你亲自完成的</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我直接负责模型方案、训练与评测环境、前端迭代、三后端终评、失败样本与ROC</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DET分析，以及最终技术报告和汇报材料；数据协议和数据构建由队友主责</a:t>
            </a:r>
            <a:r>
              <a:rPr lang="en-US" altLang="zh-CN" sz="1200" kern="1200" dirty="0" smtClean="0">
                <a:solidFill>
                  <a:schemeClr val="tx1"/>
                </a:solidFill>
                <a:effectLst/>
                <a:latin typeface="+mn-lt"/>
                <a:ea typeface="+mn-ea"/>
                <a:cs typeface="+mn-cs"/>
              </a:rPr>
              <a:t>。</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团队协作中你遇到的最大问题是什么</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最大的问题是保证实验口径完全一致。我们把注册列表、trial列表、噪声池、随机种子和评测脚本固定下来，每周对齐，避免算法侧和数据侧各自改口径。</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2</a:t>
            </a:fld>
            <a:endParaRPr lang="zh-CN" altLang="en-US"/>
          </a:p>
        </p:txBody>
      </p:sp>
    </p:spTree>
    <p:extLst>
      <p:ext uri="{BB962C8B-B14F-4D97-AF65-F5344CB8AC3E}">
        <p14:creationId xmlns:p14="http://schemas.microsoft.com/office/powerpoint/2010/main" val="2341712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汇报分六部分</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3</a:t>
            </a:fld>
            <a:endParaRPr lang="zh-CN" altLang="en-US"/>
          </a:p>
        </p:txBody>
      </p:sp>
    </p:spTree>
    <p:extLst>
      <p:ext uri="{BB962C8B-B14F-4D97-AF65-F5344CB8AC3E}">
        <p14:creationId xmlns:p14="http://schemas.microsoft.com/office/powerpoint/2010/main" val="1433462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第一部分</a:t>
            </a:r>
            <a:r>
              <a:rPr lang="en-US" altLang="zh-CN" dirty="0" smtClean="0"/>
              <a:t>,</a:t>
            </a:r>
            <a:r>
              <a:rPr lang="zh-CN" altLang="en-US" dirty="0" smtClean="0"/>
              <a:t>任务背景与要求。</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4</a:t>
            </a:fld>
            <a:endParaRPr lang="zh-CN" altLang="en-US"/>
          </a:p>
        </p:txBody>
      </p:sp>
    </p:spTree>
    <p:extLst>
      <p:ext uri="{BB962C8B-B14F-4D97-AF65-F5344CB8AC3E}">
        <p14:creationId xmlns:p14="http://schemas.microsoft.com/office/powerpoint/2010/main" val="1947844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这个任务可以用AI眼镜来理解。用户先注册几句话，系统建立一个声纹模板；以后用户随便说一句，系统判断当前是不是本人。这里不是固定人员名单里的闭集分类，而是开集验证——</a:t>
            </a:r>
            <a:r>
              <a:rPr lang="en-US" altLang="zh-CN" sz="1200" kern="1200" dirty="0" err="1" smtClean="0">
                <a:solidFill>
                  <a:schemeClr val="tx1"/>
                </a:solidFill>
                <a:effectLst/>
                <a:latin typeface="+mn-lt"/>
                <a:ea typeface="+mn-ea"/>
                <a:cs typeface="+mn-cs"/>
              </a:rPr>
              <a:t>测试阶段可能出现训练时完全没见过的人，系统只能利用注册语音做比对</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真实使用里主要有几类干扰：环境噪声、回声混响、多人重叠、短语音和跨设备差异。我们的数据基础是3D-Speaker中文集，训练、验证、测试严格按说话人隔离，核心目标就是提高这些复杂条件下的身份判别稳定性。</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开集验证和闭集分类有什么本质区别</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闭集分类默认测试身份来自训练时已有类别；开集验证不要求测试身份在训练集中出现，只比较“注册模板”和“测试语音”是否属于同一个人，更符合真实注册—</a:t>
            </a:r>
            <a:r>
              <a:rPr lang="en-US" altLang="zh-CN" sz="1200" kern="1200" dirty="0" err="1" smtClean="0">
                <a:solidFill>
                  <a:schemeClr val="tx1"/>
                </a:solidFill>
                <a:effectLst/>
                <a:latin typeface="+mn-lt"/>
                <a:ea typeface="+mn-ea"/>
                <a:cs typeface="+mn-cs"/>
              </a:rPr>
              <a:t>验证流程</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你这里的“环境噪声”和“多人重叠”是不是一回事</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不是。环境噪声是非目标声学干扰；多人重叠是语音型干扰。正文会分开报告，后者也是我们最终发现的主要瓶颈</a:t>
            </a:r>
            <a:r>
              <a:rPr lang="en-US" altLang="zh-CN" sz="1200" kern="1200" dirty="0" smtClean="0">
                <a:solidFill>
                  <a:schemeClr val="tx1"/>
                </a:solidFill>
                <a:effectLst/>
                <a:latin typeface="+mn-lt"/>
                <a:ea typeface="+mn-ea"/>
                <a:cs typeface="+mn-cs"/>
              </a:rPr>
              <a:t>。</a:t>
            </a: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5</a:t>
            </a:fld>
            <a:endParaRPr lang="zh-CN" altLang="en-US"/>
          </a:p>
        </p:txBody>
      </p:sp>
    </p:spTree>
    <p:extLst>
      <p:ext uri="{BB962C8B-B14F-4D97-AF65-F5344CB8AC3E}">
        <p14:creationId xmlns:p14="http://schemas.microsoft.com/office/powerpoint/2010/main" val="282595418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任务有两层指标。挑战目标是两档EER都做到0.5%以内，这和当前基线还有明显差距，所以这次没有把它作为主攻目标。真正的验收线是：相对各自未增强骨干，0 dB和-5 dB两档EER都至少下降30%。</a:t>
            </a:r>
            <a:r>
              <a:rPr lang="en-US" altLang="zh-CN" sz="1200" kern="1200" dirty="0" err="1" smtClean="0">
                <a:solidFill>
                  <a:schemeClr val="tx1"/>
                </a:solidFill>
                <a:effectLst/>
                <a:latin typeface="+mn-lt"/>
                <a:ea typeface="+mn-ea"/>
                <a:cs typeface="+mn-cs"/>
              </a:rPr>
              <a:t>另外基线定义</a:t>
            </a:r>
            <a:r>
              <a:rPr lang="zh-CN" altLang="en-US" sz="1200" kern="1200" dirty="0" smtClean="0">
                <a:solidFill>
                  <a:schemeClr val="tx1"/>
                </a:solidFill>
                <a:effectLst/>
                <a:latin typeface="+mn-lt"/>
                <a:ea typeface="+mn-ea"/>
                <a:cs typeface="+mn-cs"/>
              </a:rPr>
              <a:t>为</a:t>
            </a:r>
            <a:r>
              <a:rPr lang="en-US" altLang="zh-CN" sz="1200" kern="1200" dirty="0" smtClean="0">
                <a:solidFill>
                  <a:schemeClr val="tx1"/>
                </a:solidFill>
                <a:effectLst/>
                <a:latin typeface="+mn-lt"/>
                <a:ea typeface="+mn-ea"/>
                <a:cs typeface="+mn-cs"/>
              </a:rPr>
              <a:t>原始未增强骨干，不允许偷偷加前端增强、鲁棒训练或者后端校准。阈值只在验证集上确定，官方测试集全程冻结。后面所有结果都按这个规则比较</a:t>
            </a:r>
          </a:p>
          <a:p>
            <a:endParaRPr lang="en-US" altLang="zh-CN" sz="120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6</a:t>
            </a:fld>
            <a:endParaRPr lang="zh-CN" altLang="en-US"/>
          </a:p>
        </p:txBody>
      </p:sp>
    </p:spTree>
    <p:extLst>
      <p:ext uri="{BB962C8B-B14F-4D97-AF65-F5344CB8AC3E}">
        <p14:creationId xmlns:p14="http://schemas.microsoft.com/office/powerpoint/2010/main" val="41615898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第二部分讲研究思路，也就是我们为什么最后会走到现在这套方法</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7</a:t>
            </a:fld>
            <a:endParaRPr lang="zh-CN" altLang="en-US"/>
          </a:p>
        </p:txBody>
      </p:sp>
    </p:spTree>
    <p:extLst>
      <p:ext uri="{BB962C8B-B14F-4D97-AF65-F5344CB8AC3E}">
        <p14:creationId xmlns:p14="http://schemas.microsoft.com/office/powerpoint/2010/main" val="36948991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一开始我先试了两条很自然的路线</a:t>
            </a:r>
            <a:r>
              <a:rPr lang="en-US" altLang="zh-CN" sz="1200" kern="1200" dirty="0" smtClean="0">
                <a:solidFill>
                  <a:schemeClr val="tx1"/>
                </a:solidFill>
                <a:effectLst/>
                <a:latin typeface="+mn-lt"/>
                <a:ea typeface="+mn-ea"/>
                <a:cs typeface="+mn-cs"/>
              </a:rPr>
              <a:t>。</a:t>
            </a:r>
            <a:r>
              <a:rPr lang="zh-CN" altLang="en-US" dirty="0" smtClean="0"/>
              <a:t>第一条路线是直接进行冻结式后端鲁棒微调。实验发现该方法可以带来一定收益，</a:t>
            </a:r>
            <a:r>
              <a:rPr lang="en-US" altLang="zh-CN" dirty="0" smtClean="0"/>
              <a:t>0 dB EER</a:t>
            </a:r>
            <a:r>
              <a:rPr lang="zh-CN" altLang="en-US" dirty="0" smtClean="0"/>
              <a:t>由</a:t>
            </a:r>
            <a:r>
              <a:rPr lang="en-US" altLang="zh-CN" dirty="0" smtClean="0"/>
              <a:t>8.39</a:t>
            </a:r>
            <a:r>
              <a:rPr lang="zh-CN" altLang="en-US" dirty="0" smtClean="0"/>
              <a:t>下降到</a:t>
            </a:r>
            <a:r>
              <a:rPr lang="en-US" altLang="zh-CN" dirty="0" smtClean="0"/>
              <a:t>7.69</a:t>
            </a:r>
            <a:r>
              <a:rPr lang="zh-CN" altLang="en-US" dirty="0" smtClean="0"/>
              <a:t>，</a:t>
            </a:r>
            <a:r>
              <a:rPr lang="en-US" altLang="zh-CN" dirty="0" smtClean="0"/>
              <a:t>-5 dB</a:t>
            </a:r>
            <a:r>
              <a:rPr lang="zh-CN" altLang="en-US" dirty="0" smtClean="0"/>
              <a:t>由</a:t>
            </a:r>
            <a:r>
              <a:rPr lang="en-US" altLang="zh-CN" dirty="0" smtClean="0"/>
              <a:t>11.06</a:t>
            </a:r>
            <a:r>
              <a:rPr lang="zh-CN" altLang="en-US" dirty="0" smtClean="0"/>
              <a:t>下降到</a:t>
            </a:r>
            <a:r>
              <a:rPr lang="en-US" altLang="zh-CN" dirty="0" smtClean="0"/>
              <a:t>9.88</a:t>
            </a:r>
            <a:r>
              <a:rPr lang="zh-CN" altLang="en-US" dirty="0" smtClean="0"/>
              <a:t>。但整体提升约</a:t>
            </a:r>
            <a:r>
              <a:rPr lang="en-US" altLang="zh-CN" dirty="0" smtClean="0"/>
              <a:t>10%</a:t>
            </a:r>
            <a:r>
              <a:rPr lang="zh-CN" altLang="en-US" dirty="0" smtClean="0"/>
              <a:t>左右，距离</a:t>
            </a:r>
            <a:r>
              <a:rPr lang="en-US" altLang="zh-CN" dirty="0" smtClean="0"/>
              <a:t>30%</a:t>
            </a:r>
            <a:r>
              <a:rPr lang="zh-CN" altLang="en-US" dirty="0" smtClean="0"/>
              <a:t>的验收目标仍有明显差距，因此我们没有继续沿该方向扩展，而转向寻找更有效的前端身份增强方法。</a:t>
            </a:r>
            <a:r>
              <a:rPr lang="en-US" altLang="zh-CN" sz="1200" kern="1200" dirty="0" smtClean="0">
                <a:solidFill>
                  <a:schemeClr val="tx1"/>
                </a:solidFill>
                <a:effectLst/>
                <a:latin typeface="+mn-lt"/>
                <a:ea typeface="+mn-ea"/>
                <a:cs typeface="+mn-cs"/>
              </a:rPr>
              <a:t>第二条是先用FullSubNet+做通用语音增强，结果0 dB反而从8.39变成10.11。这个失败反而帮我们把问题想清楚了。增强前后目标对的平均相似度从0.422掉到0.391，说明“听起来更干净”并不等于“对身份判别更友好”，通用增强并不会显式保护声纹所依赖的稳定身份特征。所以后面我们把任务重新定义了：不再只是做普通降噪，而是让增强网络先知道“我要保留谁”。注册语音本来就是验证系统已有的信息，我们把它作为条件，做注册条件化的目标说话人提取。后面的优化就围绕两件事：保住目标身份、拉开非目标身份。最终0 dB做到4.89，-5 dB做到5.56，两档都超过30%的验收线。</a:t>
            </a: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0.422→0.391到底代表什么？</a:t>
            </a:r>
            <a:r>
              <a:rPr lang="zh-CN" altLang="en-US" sz="1200" b="1" kern="1200" dirty="0" smtClean="0">
                <a:solidFill>
                  <a:schemeClr val="tx1"/>
                </a:solidFill>
                <a:effectLst/>
                <a:latin typeface="+mn-lt"/>
                <a:ea typeface="+mn-ea"/>
                <a:cs typeface="+mn-cs"/>
              </a:rPr>
              <a:t>（余弦相似度）</a:t>
            </a:r>
            <a:endParaRPr lang="en-US" altLang="zh-CN" sz="1200" b="1" kern="1200" dirty="0" smtClean="0">
              <a:solidFill>
                <a:schemeClr val="tx1"/>
              </a:solidFill>
              <a:effectLst/>
              <a:latin typeface="+mn-lt"/>
              <a:ea typeface="+mn-ea"/>
              <a:cs typeface="+mn-cs"/>
            </a:endParaRPr>
          </a:p>
          <a:p>
            <a:r>
              <a:rPr lang="en-US" altLang="zh-CN" dirty="0" err="1" smtClean="0"/>
              <a:t>FullSubNet</a:t>
            </a:r>
            <a:r>
              <a:rPr lang="en-US" altLang="zh-CN" dirty="0" smtClean="0"/>
              <a:t>+</a:t>
            </a:r>
            <a:r>
              <a:rPr lang="zh-CN" altLang="en-US" dirty="0" smtClean="0"/>
              <a:t>通用降噪前后，同一目标说话人注册</a:t>
            </a:r>
            <a:r>
              <a:rPr lang="en-US" altLang="zh-CN" dirty="0" smtClean="0"/>
              <a:t>-</a:t>
            </a:r>
            <a:r>
              <a:rPr lang="zh-CN" altLang="en-US" dirty="0" smtClean="0"/>
              <a:t>测试</a:t>
            </a:r>
            <a:r>
              <a:rPr lang="en-US" altLang="zh-CN" dirty="0" smtClean="0"/>
              <a:t>pair</a:t>
            </a:r>
            <a:r>
              <a:rPr lang="zh-CN" altLang="en-US" dirty="0" smtClean="0"/>
              <a:t>的平均</a:t>
            </a:r>
            <a:r>
              <a:rPr lang="en-US" altLang="zh-CN" dirty="0" smtClean="0"/>
              <a:t>cosine similarity</a:t>
            </a:r>
            <a:r>
              <a:rPr lang="zh-CN" altLang="en-US" dirty="0" smtClean="0"/>
              <a:t>。</a:t>
            </a:r>
            <a:r>
              <a:rPr lang="en-US" altLang="zh-CN" sz="1200" kern="1200" dirty="0" smtClean="0">
                <a:solidFill>
                  <a:schemeClr val="tx1"/>
                </a:solidFill>
                <a:effectLst/>
                <a:latin typeface="+mn-lt"/>
                <a:ea typeface="+mn-ea"/>
                <a:cs typeface="+mn-cs"/>
              </a:rPr>
              <a:t>这是目标对，也就是同一说话人的注册语音和测试语音之间的平均相似度。下降说明增强后跨句身份一致性反而变弱，是“信号质量改善但声纹可分性变差”的直接证据之一。</a:t>
            </a:r>
          </a:p>
          <a:p>
            <a:r>
              <a:rPr lang="en-US" altLang="zh-CN" sz="1200" b="1" kern="1200" dirty="0" err="1" smtClean="0">
                <a:solidFill>
                  <a:schemeClr val="tx1"/>
                </a:solidFill>
                <a:effectLst/>
                <a:latin typeface="+mn-lt"/>
                <a:ea typeface="+mn-ea"/>
                <a:cs typeface="+mn-cs"/>
              </a:rPr>
              <a:t>为什么不继续做后端鲁棒训练，而是转前端</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后端微调在当前数据和设置下出现明显负增益；而前端有一个优势：可以保持官方后端不动，把增益归因到增强模块，也更容易跨后端复用</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为什么注册语音能解决问题</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注册语音直接提供目标身份信息。普通增强只知道“什么是语音</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噪声</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条件化增强则额外知道“这一条里应该优先保护谁的身份特征</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8</a:t>
            </a:fld>
            <a:endParaRPr lang="zh-CN" altLang="en-US"/>
          </a:p>
        </p:txBody>
      </p:sp>
    </p:spTree>
    <p:extLst>
      <p:ext uri="{BB962C8B-B14F-4D97-AF65-F5344CB8AC3E}">
        <p14:creationId xmlns:p14="http://schemas.microsoft.com/office/powerpoint/2010/main" val="10358159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第三部分</a:t>
            </a:r>
            <a:r>
              <a:rPr lang="en-US" altLang="zh-CN" dirty="0" smtClean="0"/>
              <a:t>,</a:t>
            </a:r>
            <a:r>
              <a:rPr lang="zh-CN" altLang="en-US" dirty="0" smtClean="0"/>
              <a:t>实验条件与评测协议。</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9</a:t>
            </a:fld>
            <a:endParaRPr lang="zh-CN" altLang="en-US"/>
          </a:p>
        </p:txBody>
      </p:sp>
    </p:spTree>
    <p:extLst>
      <p:ext uri="{BB962C8B-B14F-4D97-AF65-F5344CB8AC3E}">
        <p14:creationId xmlns:p14="http://schemas.microsoft.com/office/powerpoint/2010/main" val="25042999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第一，训练主体是3D-Speaker中文数据，训练、验证、测试严格按说话人隔离。第二，训练噪声和测试噪声文件也做了隔离，避免模型只是记住某批噪声。第三，所有模型选择都在100个未见说话人的代理验证集上完成，官方测试集不参与调参。</a:t>
            </a: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每轮为什么只抽3万条，不用全部58万？</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这是训练预算和迭代效率的折中。我们固定采样规则和种子，保证各阶段预算可比；最终结论依赖冻结的官方大规模评测，而不是某一轮训练集上的表现。</a:t>
            </a:r>
            <a:endParaRPr lang="zh-CN"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batch size为什么只有2？</a:t>
            </a:r>
          </a:p>
          <a:p>
            <a:r>
              <a:rPr lang="en-US" altLang="zh-CN" sz="1200" kern="1200" dirty="0" smtClean="0">
                <a:solidFill>
                  <a:schemeClr val="tx1"/>
                </a:solidFill>
                <a:effectLst/>
                <a:latin typeface="+mn-lt"/>
                <a:ea typeface="+mn-ea"/>
                <a:cs typeface="+mn-cs"/>
              </a:rPr>
              <a:t>受P100 12GB显存和FullSubNet+频谱序列计算开销限制。我们通过固定配置和多轮训练保证比较公平。</a:t>
            </a:r>
          </a:p>
          <a:p>
            <a:r>
              <a:rPr lang="en-US" altLang="zh-CN" sz="1200" b="1" kern="1200" dirty="0" err="1" smtClean="0">
                <a:solidFill>
                  <a:schemeClr val="tx1"/>
                </a:solidFill>
                <a:effectLst/>
                <a:latin typeface="+mn-lt"/>
                <a:ea typeface="+mn-ea"/>
                <a:cs typeface="+mn-cs"/>
              </a:rPr>
              <a:t>噪声训练池和测试池为什么要隔离</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为了验证泛化而不是记忆具体噪声文件。后面music、SoundBible的未见噪声域实验进一步验证这一点</a:t>
            </a:r>
            <a:r>
              <a:rPr lang="en-US" altLang="zh-CN" sz="1200" kern="1200" dirty="0" smtClean="0">
                <a:solidFill>
                  <a:schemeClr val="tx1"/>
                </a:solidFill>
                <a:effectLst/>
                <a:latin typeface="+mn-lt"/>
                <a:ea typeface="+mn-ea"/>
                <a:cs typeface="+mn-cs"/>
              </a:rPr>
              <a:t>。</a:t>
            </a:r>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10</a:t>
            </a:fld>
            <a:endParaRPr lang="zh-CN" altLang="en-US"/>
          </a:p>
        </p:txBody>
      </p:sp>
    </p:spTree>
    <p:extLst>
      <p:ext uri="{BB962C8B-B14F-4D97-AF65-F5344CB8AC3E}">
        <p14:creationId xmlns:p14="http://schemas.microsoft.com/office/powerpoint/2010/main" val="42733790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正式跑自己的方法之前，我们先确认评测管线本身没有问题。用官方预训练权重复现cross-device协议，ECAPA和ERes2Net与论文值的偏差都在0.6个百分点以内，所以这套打分和评测链路是可信的。然后固定同一套240个测试说话人、注册语音和137.8万条trial。后面所有方法都用同一套列表比较。对主力ERes2Net来说，3秒的0 dB和-5 dB基线分别是8.39和11.06；按30%验收线换算，必须压到5.874和7.739以下。后面大家可以直接拿这两条线看结果。</a:t>
            </a: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为什么论文值和你复现值还有0.4—0.5pp差异？</a:t>
            </a:r>
          </a:p>
          <a:p>
            <a:r>
              <a:rPr lang="en-US" altLang="zh-CN" sz="1200" kern="1200" dirty="0" smtClean="0">
                <a:solidFill>
                  <a:schemeClr val="tx1"/>
                </a:solidFill>
                <a:effectLst/>
                <a:latin typeface="+mn-lt"/>
                <a:ea typeface="+mn-ea"/>
                <a:cs typeface="+mn-cs"/>
              </a:rPr>
              <a:t>现实中解码、切分、特征实现和软件版本都可能带来小偏差。我们不是要求逐位相同，而是通过同协议复现并把偏差控制在0.6pp以内，随后所有实验固定用同一实现做相对比较。</a:t>
            </a:r>
          </a:p>
          <a:p>
            <a:r>
              <a:rPr lang="en-US" altLang="zh-CN" sz="1200" b="1" kern="1200" dirty="0" err="1" smtClean="0">
                <a:solidFill>
                  <a:schemeClr val="tx1"/>
                </a:solidFill>
                <a:effectLst/>
                <a:latin typeface="+mn-lt"/>
                <a:ea typeface="+mn-ea"/>
                <a:cs typeface="+mn-cs"/>
              </a:rPr>
              <a:t>为什么主讲cross</a:t>
            </a:r>
            <a:r>
              <a:rPr lang="en-US" altLang="zh-CN" sz="1200" b="1" kern="1200" dirty="0" smtClean="0">
                <a:solidFill>
                  <a:schemeClr val="tx1"/>
                </a:solidFill>
                <a:effectLst/>
                <a:latin typeface="+mn-lt"/>
                <a:ea typeface="+mn-ea"/>
                <a:cs typeface="+mn-cs"/>
              </a:rPr>
              <a:t>-device？</a:t>
            </a:r>
          </a:p>
          <a:p>
            <a:r>
              <a:rPr lang="en-US" altLang="zh-CN" sz="1200" kern="1200" dirty="0" err="1" smtClean="0">
                <a:solidFill>
                  <a:schemeClr val="tx1"/>
                </a:solidFill>
                <a:effectLst/>
                <a:latin typeface="+mn-lt"/>
                <a:ea typeface="+mn-ea"/>
                <a:cs typeface="+mn-cs"/>
              </a:rPr>
              <a:t>因为这是任务主验收协议，同时真实智能终端也存在注册设备和测试设备不一致的问题。其他协议用于校准和补充</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137.8万条trial为什么这么多？</a:t>
            </a:r>
          </a:p>
          <a:p>
            <a:r>
              <a:rPr lang="en-US" altLang="zh-CN" sz="1200" kern="1200" dirty="0" err="1" smtClean="0">
                <a:solidFill>
                  <a:schemeClr val="tx1"/>
                </a:solidFill>
                <a:effectLst/>
                <a:latin typeface="+mn-lt"/>
                <a:ea typeface="+mn-ea"/>
                <a:cs typeface="+mn-cs"/>
              </a:rPr>
              <a:t>验证任务需要同时覆盖目标对和大量非目标对。固定的大规模trial能降低偶然性，也更接近真实冒认分布</a:t>
            </a:r>
            <a:r>
              <a:rPr lang="en-US" altLang="zh-CN" sz="1200" kern="1200" dirty="0" smtClean="0">
                <a:solidFill>
                  <a:schemeClr val="tx1"/>
                </a:solidFill>
                <a:effectLst/>
                <a:latin typeface="+mn-lt"/>
                <a:ea typeface="+mn-ea"/>
                <a:cs typeface="+mn-cs"/>
              </a:rPr>
              <a:t>。</a:t>
            </a:r>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83FA4863-82EA-4055-A6CB-D03302C3F2F9}" type="slidenum">
              <a:rPr lang="zh-CN" altLang="en-US" smtClean="0"/>
              <a:t>11</a:t>
            </a:fld>
            <a:endParaRPr lang="zh-CN" altLang="en-US"/>
          </a:p>
        </p:txBody>
      </p:sp>
    </p:spTree>
    <p:extLst>
      <p:ext uri="{BB962C8B-B14F-4D97-AF65-F5344CB8AC3E}">
        <p14:creationId xmlns:p14="http://schemas.microsoft.com/office/powerpoint/2010/main" val="2544320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a:p>
            <a:r>
              <a:rPr lang="zh-CN" altLang="en-US" dirty="0" smtClean="0"/>
              <a:t>第四部分</a:t>
            </a:r>
            <a:r>
              <a:rPr lang="en-US" altLang="zh-CN" dirty="0" smtClean="0"/>
              <a:t>,</a:t>
            </a:r>
            <a:r>
              <a:rPr lang="zh-CN" altLang="en-US" dirty="0" smtClean="0"/>
              <a:t>交付方法</a:t>
            </a:r>
            <a:r>
              <a:rPr lang="en-US" altLang="zh-CN" dirty="0" smtClean="0"/>
              <a:t>,</a:t>
            </a:r>
            <a:r>
              <a:rPr lang="zh-CN" altLang="en-US" dirty="0" smtClean="0"/>
              <a:t>分三页</a:t>
            </a:r>
            <a:r>
              <a:rPr lang="en-US" altLang="zh-CN" dirty="0" smtClean="0"/>
              <a:t>:</a:t>
            </a:r>
            <a:r>
              <a:rPr lang="zh-CN" altLang="en-US" dirty="0" smtClean="0"/>
              <a:t>模型结构、损失函数、训练策略。</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12</a:t>
            </a:fld>
            <a:endParaRPr lang="zh-CN" altLang="en-US"/>
          </a:p>
        </p:txBody>
      </p:sp>
    </p:spTree>
    <p:extLst>
      <p:ext uri="{BB962C8B-B14F-4D97-AF65-F5344CB8AC3E}">
        <p14:creationId xmlns:p14="http://schemas.microsoft.com/office/powerpoint/2010/main" val="1584453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上面是注册条件路径：注册语音先经过冻结的声纹后端，拿到512维说话人embedding；SpeakerFiLM根据这个embedding生成γ和β，</a:t>
            </a:r>
            <a:r>
              <a:rPr lang="en-US" altLang="zh-CN" sz="1200" kern="1200" dirty="0" err="1" smtClean="0">
                <a:solidFill>
                  <a:schemeClr val="tx1"/>
                </a:solidFill>
                <a:effectLst/>
                <a:latin typeface="+mn-lt"/>
                <a:ea typeface="+mn-ea"/>
                <a:cs typeface="+mn-cs"/>
              </a:rPr>
              <a:t>把目标身份信息注入FullSubNet</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下面是待增强语音路径：0 dB或者-5 </a:t>
            </a:r>
            <a:r>
              <a:rPr lang="en-US" altLang="zh-CN" sz="1200" kern="1200" dirty="0" err="1" smtClean="0">
                <a:solidFill>
                  <a:schemeClr val="tx1"/>
                </a:solidFill>
                <a:effectLst/>
                <a:latin typeface="+mn-lt"/>
                <a:ea typeface="+mn-ea"/>
                <a:cs typeface="+mn-cs"/>
              </a:rPr>
              <a:t>dB的测试语音进入条件化FullSubNet</a:t>
            </a:r>
            <a:r>
              <a:rPr lang="en-US" altLang="zh-CN" sz="1200" kern="1200" dirty="0" smtClean="0">
                <a:solidFill>
                  <a:schemeClr val="tx1"/>
                </a:solidFill>
                <a:effectLst/>
                <a:latin typeface="+mn-lt"/>
                <a:ea typeface="+mn-ea"/>
                <a:cs typeface="+mn-cs"/>
              </a:rPr>
              <a:t>+，估计复值掩码并重建增强语音。增强以后，再和注册语音经过同一个冻结后端提embedding，最后做余弦相似度判断。所以它和普通降噪最大的区别就是：增强之前已经知道“我要保护谁”。训练时只更新前端，大约9.2M参数，声纹后端一直冻结。</a:t>
            </a:r>
          </a:p>
          <a:p>
            <a:endParaRPr lang="en-US" altLang="zh-CN" sz="1200" kern="1200" dirty="0" smtClean="0">
              <a:solidFill>
                <a:schemeClr val="tx1"/>
              </a:solidFill>
              <a:effectLst/>
              <a:latin typeface="+mn-lt"/>
              <a:ea typeface="+mn-ea"/>
              <a:cs typeface="+mn-cs"/>
            </a:endParaRPr>
          </a:p>
          <a:p>
            <a:r>
              <a:rPr lang="en-US" altLang="zh-CN" sz="1200" b="1" i="0" kern="1200" dirty="0" err="1" smtClean="0">
                <a:solidFill>
                  <a:schemeClr val="tx1"/>
                </a:solidFill>
                <a:effectLst/>
                <a:latin typeface="+mn-lt"/>
                <a:ea typeface="+mn-ea"/>
                <a:cs typeface="+mn-cs"/>
              </a:rPr>
              <a:t>SpeakerFiLM</a:t>
            </a:r>
            <a:r>
              <a:rPr lang="en-US" altLang="zh-CN" sz="1200" b="0" i="0" kern="1200" dirty="0" smtClean="0">
                <a:solidFill>
                  <a:schemeClr val="tx1"/>
                </a:solidFill>
                <a:effectLst/>
                <a:latin typeface="+mn-lt"/>
                <a:ea typeface="+mn-ea"/>
                <a:cs typeface="+mn-cs"/>
              </a:rPr>
              <a:t> </a:t>
            </a:r>
            <a:r>
              <a:rPr lang="zh-CN" altLang="en-US" sz="1200" b="0" i="0" kern="1200" dirty="0" smtClean="0">
                <a:solidFill>
                  <a:schemeClr val="tx1"/>
                </a:solidFill>
                <a:effectLst/>
                <a:latin typeface="+mn-lt"/>
                <a:ea typeface="+mn-ea"/>
                <a:cs typeface="+mn-cs"/>
              </a:rPr>
              <a:t>的全称是：</a:t>
            </a:r>
            <a:r>
              <a:rPr lang="en-US" altLang="zh-CN" b="1" dirty="0" smtClean="0">
                <a:effectLst/>
              </a:rPr>
              <a:t>Speaker Feature-wise Linear Modulation</a:t>
            </a:r>
            <a:endParaRPr lang="en-US" altLang="zh-CN" dirty="0" smtClean="0">
              <a:effectLst/>
            </a:endParaRPr>
          </a:p>
          <a:p>
            <a:endParaRPr lang="en-US" altLang="zh-CN" sz="1200" kern="1200" dirty="0" smtClean="0">
              <a:solidFill>
                <a:schemeClr val="tx1"/>
              </a:solidFill>
              <a:effectLst/>
              <a:latin typeface="+mn-lt"/>
              <a:ea typeface="+mn-ea"/>
              <a:cs typeface="+mn-cs"/>
            </a:endParaRPr>
          </a:p>
          <a:p>
            <a:r>
              <a:rPr lang="en-US" altLang="zh-CN" sz="1200" b="1" i="0" kern="1200" dirty="0" smtClean="0">
                <a:solidFill>
                  <a:schemeClr val="tx1"/>
                </a:solidFill>
                <a:effectLst/>
                <a:latin typeface="+mn-lt"/>
                <a:ea typeface="+mn-ea"/>
                <a:cs typeface="+mn-cs"/>
              </a:rPr>
              <a:t>MLP</a:t>
            </a:r>
            <a:r>
              <a:rPr lang="zh-CN" altLang="en-US" sz="1200" b="0" i="0" kern="1200" dirty="0" smtClean="0">
                <a:solidFill>
                  <a:schemeClr val="tx1"/>
                </a:solidFill>
                <a:effectLst/>
                <a:latin typeface="+mn-lt"/>
                <a:ea typeface="+mn-ea"/>
                <a:cs typeface="+mn-cs"/>
              </a:rPr>
              <a:t>的全称是</a:t>
            </a:r>
            <a:r>
              <a:rPr lang="zh-CN" altLang="en-US" sz="1200" b="1" i="0" kern="1200" dirty="0" smtClean="0">
                <a:solidFill>
                  <a:schemeClr val="tx1"/>
                </a:solidFill>
                <a:effectLst/>
                <a:latin typeface="+mn-lt"/>
                <a:ea typeface="+mn-ea"/>
                <a:cs typeface="+mn-cs"/>
              </a:rPr>
              <a:t>多层感知机（</a:t>
            </a:r>
            <a:r>
              <a:rPr lang="en-US" altLang="zh-CN" sz="1200" b="1" i="0" kern="1200" dirty="0" smtClean="0">
                <a:solidFill>
                  <a:schemeClr val="tx1"/>
                </a:solidFill>
                <a:effectLst/>
                <a:latin typeface="+mn-lt"/>
                <a:ea typeface="+mn-ea"/>
                <a:cs typeface="+mn-cs"/>
              </a:rPr>
              <a:t>Multilayer Perceptron</a:t>
            </a:r>
            <a:r>
              <a:rPr lang="zh-CN" altLang="en-US" sz="1200" b="1"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，在深度学习里，你可以直接把它理解为</a:t>
            </a:r>
            <a:r>
              <a:rPr lang="zh-CN" altLang="en-US" sz="1200" b="1" i="0" kern="1200" dirty="0" smtClean="0">
                <a:solidFill>
                  <a:schemeClr val="tx1"/>
                </a:solidFill>
                <a:effectLst/>
                <a:latin typeface="+mn-lt"/>
                <a:ea typeface="+mn-ea"/>
                <a:cs typeface="+mn-cs"/>
              </a:rPr>
              <a:t>最基础、最通用的“全连接神经网络”</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输入层</a:t>
            </a:r>
            <a:r>
              <a:rPr lang="zh-CN" altLang="en-US" sz="1200" b="0" i="0" kern="1200" dirty="0" smtClean="0">
                <a:solidFill>
                  <a:schemeClr val="tx1"/>
                </a:solidFill>
                <a:effectLst/>
                <a:latin typeface="+mn-lt"/>
                <a:ea typeface="+mn-ea"/>
                <a:cs typeface="+mn-cs"/>
              </a:rPr>
              <a:t>：接收原始数据（比如你</a:t>
            </a:r>
            <a:r>
              <a:rPr lang="en-US" altLang="zh-CN" sz="1200" b="0" i="0" kern="1200" dirty="0" smtClean="0">
                <a:solidFill>
                  <a:schemeClr val="tx1"/>
                </a:solidFill>
                <a:effectLst/>
                <a:latin typeface="+mn-lt"/>
                <a:ea typeface="+mn-ea"/>
                <a:cs typeface="+mn-cs"/>
              </a:rPr>
              <a:t>PPT</a:t>
            </a:r>
            <a:r>
              <a:rPr lang="zh-CN" altLang="en-US" sz="1200" b="0" i="0" kern="1200" dirty="0" smtClean="0">
                <a:solidFill>
                  <a:schemeClr val="tx1"/>
                </a:solidFill>
                <a:effectLst/>
                <a:latin typeface="+mn-lt"/>
                <a:ea typeface="+mn-ea"/>
                <a:cs typeface="+mn-cs"/>
              </a:rPr>
              <a:t>里注册语音的</a:t>
            </a:r>
            <a:r>
              <a:rPr lang="en-US" altLang="zh-CN" sz="1200" b="0" i="0" kern="1200" dirty="0" smtClean="0">
                <a:solidFill>
                  <a:schemeClr val="tx1"/>
                </a:solidFill>
                <a:effectLst/>
                <a:latin typeface="+mn-lt"/>
                <a:ea typeface="+mn-ea"/>
                <a:cs typeface="+mn-cs"/>
              </a:rPr>
              <a:t>512</a:t>
            </a:r>
            <a:r>
              <a:rPr lang="zh-CN" altLang="en-US" sz="1200" b="0" i="0" kern="1200" dirty="0" smtClean="0">
                <a:solidFill>
                  <a:schemeClr val="tx1"/>
                </a:solidFill>
                <a:effectLst/>
                <a:latin typeface="+mn-lt"/>
                <a:ea typeface="+mn-ea"/>
                <a:cs typeface="+mn-cs"/>
              </a:rPr>
              <a:t>维声纹嵌入 </a:t>
            </a:r>
            <a:r>
              <a:rPr lang="en-US" altLang="zh-CN" sz="1200" b="0" i="0" kern="1200" dirty="0" err="1" smtClean="0">
                <a:solidFill>
                  <a:schemeClr val="tx1"/>
                </a:solidFill>
                <a:effectLst/>
                <a:latin typeface="+mn-lt"/>
                <a:ea typeface="+mn-ea"/>
                <a:cs typeface="+mn-cs"/>
              </a:rPr>
              <a:t>eenr</a:t>
            </a:r>
            <a:r>
              <a:rPr lang="en-US" altLang="zh-CN" sz="1200" b="0" i="1" kern="1200" dirty="0" err="1" smtClean="0">
                <a:solidFill>
                  <a:schemeClr val="tx1"/>
                </a:solidFill>
                <a:effectLst/>
                <a:latin typeface="+mn-lt"/>
                <a:ea typeface="+mn-ea"/>
                <a:cs typeface="+mn-cs"/>
              </a:rPr>
              <a:t>eenr</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隐藏层</a:t>
            </a:r>
            <a:r>
              <a:rPr lang="zh-CN" altLang="en-US" sz="1200" b="0" i="0" kern="1200" dirty="0" smtClean="0">
                <a:solidFill>
                  <a:schemeClr val="tx1"/>
                </a:solidFill>
                <a:effectLst/>
                <a:latin typeface="+mn-lt"/>
                <a:ea typeface="+mn-ea"/>
                <a:cs typeface="+mn-cs"/>
              </a:rPr>
              <a:t>：中间的计算层（你的项目里有</a:t>
            </a:r>
            <a:r>
              <a:rPr lang="en-US" altLang="zh-CN" sz="1200" b="0" i="0" kern="1200" dirty="0" smtClean="0">
                <a:solidFill>
                  <a:schemeClr val="tx1"/>
                </a:solidFill>
                <a:effectLst/>
                <a:latin typeface="+mn-lt"/>
                <a:ea typeface="+mn-ea"/>
                <a:cs typeface="+mn-cs"/>
              </a:rPr>
              <a:t>2</a:t>
            </a:r>
            <a:r>
              <a:rPr lang="zh-CN" altLang="en-US" sz="1200" b="0" i="0" kern="1200" dirty="0" smtClean="0">
                <a:solidFill>
                  <a:schemeClr val="tx1"/>
                </a:solidFill>
                <a:effectLst/>
                <a:latin typeface="+mn-lt"/>
                <a:ea typeface="+mn-ea"/>
                <a:cs typeface="+mn-cs"/>
              </a:rPr>
              <a:t>层）。这一层每个神经元都跟上一层全部连接（所以叫“全连接”），负责做</a:t>
            </a:r>
            <a:r>
              <a:rPr lang="zh-CN" altLang="en-US" sz="1200" b="1" i="0" kern="1200" dirty="0" smtClean="0">
                <a:solidFill>
                  <a:schemeClr val="tx1"/>
                </a:solidFill>
                <a:effectLst/>
                <a:latin typeface="+mn-lt"/>
                <a:ea typeface="+mn-ea"/>
                <a:cs typeface="+mn-cs"/>
              </a:rPr>
              <a:t>加权求和 </a:t>
            </a:r>
            <a:r>
              <a:rPr lang="en-US" altLang="zh-CN" sz="1200" b="1" i="0" kern="1200" dirty="0" smtClean="0">
                <a:solidFill>
                  <a:schemeClr val="tx1"/>
                </a:solidFill>
                <a:effectLst/>
                <a:latin typeface="+mn-lt"/>
                <a:ea typeface="+mn-ea"/>
                <a:cs typeface="+mn-cs"/>
              </a:rPr>
              <a:t>+ </a:t>
            </a:r>
            <a:r>
              <a:rPr lang="zh-CN" altLang="en-US" sz="1200" b="1" i="0" kern="1200" dirty="0" smtClean="0">
                <a:solidFill>
                  <a:schemeClr val="tx1"/>
                </a:solidFill>
                <a:effectLst/>
                <a:latin typeface="+mn-lt"/>
                <a:ea typeface="+mn-ea"/>
                <a:cs typeface="+mn-cs"/>
              </a:rPr>
              <a:t>激活函数</a:t>
            </a:r>
            <a:r>
              <a:rPr lang="zh-CN" altLang="en-US" sz="1200" b="0" i="0" kern="1200" dirty="0" smtClean="0">
                <a:solidFill>
                  <a:schemeClr val="tx1"/>
                </a:solidFill>
                <a:effectLst/>
                <a:latin typeface="+mn-lt"/>
                <a:ea typeface="+mn-ea"/>
                <a:cs typeface="+mn-cs"/>
              </a:rPr>
              <a:t>（比如</a:t>
            </a:r>
            <a:r>
              <a:rPr lang="en-US" altLang="zh-CN" sz="1200" b="0" i="0" kern="1200" dirty="0" err="1" smtClean="0">
                <a:solidFill>
                  <a:schemeClr val="tx1"/>
                </a:solidFill>
                <a:effectLst/>
                <a:latin typeface="+mn-lt"/>
                <a:ea typeface="+mn-ea"/>
                <a:cs typeface="+mn-cs"/>
              </a:rPr>
              <a:t>ReLU</a:t>
            </a:r>
            <a:r>
              <a:rPr lang="zh-CN" altLang="en-US" sz="1200" b="0" i="0" kern="1200" dirty="0" smtClean="0">
                <a:solidFill>
                  <a:schemeClr val="tx1"/>
                </a:solidFill>
                <a:effectLst/>
                <a:latin typeface="+mn-lt"/>
                <a:ea typeface="+mn-ea"/>
                <a:cs typeface="+mn-cs"/>
              </a:rPr>
              <a:t>）。</a:t>
            </a:r>
            <a:r>
              <a:rPr lang="zh-CN" altLang="en-US" sz="1200" b="1" i="0" kern="1200" dirty="0" smtClean="0">
                <a:solidFill>
                  <a:schemeClr val="tx1"/>
                </a:solidFill>
                <a:effectLst/>
                <a:latin typeface="+mn-lt"/>
                <a:ea typeface="+mn-ea"/>
                <a:cs typeface="+mn-cs"/>
              </a:rPr>
              <a:t>输出层</a:t>
            </a:r>
            <a:r>
              <a:rPr lang="zh-CN" altLang="en-US" sz="1200" b="0" i="0" kern="1200" dirty="0" smtClean="0">
                <a:solidFill>
                  <a:schemeClr val="tx1"/>
                </a:solidFill>
                <a:effectLst/>
                <a:latin typeface="+mn-lt"/>
                <a:ea typeface="+mn-ea"/>
                <a:cs typeface="+mn-cs"/>
              </a:rPr>
              <a:t>：输出最终结果（在你项目里，就是输出两个系数 </a:t>
            </a:r>
            <a:r>
              <a:rPr lang="en-US" altLang="zh-CN" sz="1200" b="0" i="1" kern="1200" dirty="0" smtClean="0">
                <a:solidFill>
                  <a:schemeClr val="tx1"/>
                </a:solidFill>
                <a:effectLst/>
                <a:latin typeface="+mn-lt"/>
                <a:ea typeface="+mn-ea"/>
                <a:cs typeface="+mn-cs"/>
              </a:rPr>
              <a:t>γ</a:t>
            </a:r>
            <a:r>
              <a:rPr lang="zh-CN" altLang="en-US" sz="1200" b="0" i="0" kern="1200" dirty="0" smtClean="0">
                <a:solidFill>
                  <a:schemeClr val="tx1"/>
                </a:solidFill>
                <a:effectLst/>
                <a:latin typeface="+mn-lt"/>
                <a:ea typeface="+mn-ea"/>
                <a:cs typeface="+mn-cs"/>
              </a:rPr>
              <a:t> 和 </a:t>
            </a:r>
            <a:r>
              <a:rPr lang="en-US" altLang="zh-CN" sz="1200" b="0" i="1" kern="1200" dirty="0" smtClean="0">
                <a:solidFill>
                  <a:schemeClr val="tx1"/>
                </a:solidFill>
                <a:effectLst/>
                <a:latin typeface="+mn-lt"/>
                <a:ea typeface="+mn-ea"/>
                <a:cs typeface="+mn-cs"/>
              </a:rPr>
              <a:t>β</a:t>
            </a:r>
            <a:r>
              <a:rPr lang="zh-CN" altLang="en-US" sz="1200" b="0" i="0" kern="1200" dirty="0" smtClean="0">
                <a:solidFill>
                  <a:schemeClr val="tx1"/>
                </a:solidFill>
                <a:effectLst/>
                <a:latin typeface="+mn-lt"/>
                <a:ea typeface="+mn-ea"/>
                <a:cs typeface="+mn-cs"/>
              </a:rPr>
              <a:t>）。</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dirty="0" smtClean="0"/>
              <a:t>“注册语音先经过冻结声纹后端得到</a:t>
            </a:r>
            <a:r>
              <a:rPr lang="en-US" altLang="zh-CN" dirty="0" smtClean="0"/>
              <a:t>512</a:t>
            </a:r>
            <a:r>
              <a:rPr lang="zh-CN" altLang="en-US" dirty="0" smtClean="0"/>
              <a:t>维</a:t>
            </a:r>
            <a:r>
              <a:rPr lang="en-US" altLang="zh-CN" dirty="0" smtClean="0"/>
              <a:t>embedding</a:t>
            </a:r>
            <a:r>
              <a:rPr lang="zh-CN" altLang="en-US" dirty="0" smtClean="0"/>
              <a:t>，再通过一个两层</a:t>
            </a:r>
            <a:r>
              <a:rPr lang="en-US" altLang="zh-CN" dirty="0" smtClean="0"/>
              <a:t>MLP</a:t>
            </a:r>
            <a:r>
              <a:rPr lang="zh-CN" altLang="en-US" dirty="0" smtClean="0"/>
              <a:t>生成</a:t>
            </a:r>
            <a:r>
              <a:rPr lang="en-US" altLang="zh-CN" dirty="0" err="1" smtClean="0"/>
              <a:t>FiLM</a:t>
            </a:r>
            <a:r>
              <a:rPr lang="zh-CN" altLang="en-US" dirty="0" smtClean="0"/>
              <a:t>调制参数。这里的</a:t>
            </a:r>
            <a:r>
              <a:rPr lang="en-US" altLang="zh-CN" dirty="0" smtClean="0"/>
              <a:t>γ</a:t>
            </a:r>
            <a:r>
              <a:rPr lang="zh-CN" altLang="en-US" dirty="0" smtClean="0"/>
              <a:t>和</a:t>
            </a:r>
            <a:r>
              <a:rPr lang="en-US" altLang="zh-CN" dirty="0" smtClean="0"/>
              <a:t>β</a:t>
            </a:r>
            <a:r>
              <a:rPr lang="zh-CN" altLang="en-US" dirty="0" smtClean="0"/>
              <a:t>不是两个标量，而是</a:t>
            </a:r>
            <a:r>
              <a:rPr lang="en-US" altLang="zh-CN" dirty="0" smtClean="0"/>
              <a:t>257</a:t>
            </a:r>
            <a:r>
              <a:rPr lang="zh-CN" altLang="en-US" dirty="0" smtClean="0"/>
              <a:t>个频带对应的逐频带缩放和偏置。训练时</a:t>
            </a:r>
            <a:r>
              <a:rPr lang="en-US" altLang="zh-CN" dirty="0" err="1" smtClean="0"/>
              <a:t>FullSubNet</a:t>
            </a:r>
            <a:r>
              <a:rPr lang="en-US" altLang="zh-CN" dirty="0" smtClean="0"/>
              <a:t>+</a:t>
            </a:r>
            <a:r>
              <a:rPr lang="zh-CN" altLang="en-US" dirty="0" smtClean="0"/>
              <a:t>和</a:t>
            </a:r>
            <a:r>
              <a:rPr lang="en-US" altLang="zh-CN" dirty="0" err="1" smtClean="0"/>
              <a:t>SpeakerFiLM</a:t>
            </a:r>
            <a:r>
              <a:rPr lang="zh-CN" altLang="en-US" dirty="0" smtClean="0"/>
              <a:t>联合更新，声纹后端冻结。测试阶段即使是没见过的新说话人，也可以根据注册</a:t>
            </a:r>
            <a:r>
              <a:rPr lang="en-US" altLang="zh-CN" dirty="0" smtClean="0"/>
              <a:t>embedding</a:t>
            </a:r>
            <a:r>
              <a:rPr lang="zh-CN" altLang="en-US" dirty="0" smtClean="0"/>
              <a:t>动态生成新的调制参数。” “注册语音先经过冻结声纹后端得到</a:t>
            </a:r>
            <a:r>
              <a:rPr lang="en-US" altLang="zh-CN" dirty="0" smtClean="0"/>
              <a:t>512</a:t>
            </a:r>
            <a:r>
              <a:rPr lang="zh-CN" altLang="en-US" dirty="0" smtClean="0"/>
              <a:t>维</a:t>
            </a:r>
            <a:r>
              <a:rPr lang="en-US" altLang="zh-CN" dirty="0" smtClean="0"/>
              <a:t>embedding</a:t>
            </a:r>
            <a:r>
              <a:rPr lang="zh-CN" altLang="en-US" dirty="0" smtClean="0"/>
              <a:t>，再通过一个两层</a:t>
            </a:r>
            <a:r>
              <a:rPr lang="en-US" altLang="zh-CN" dirty="0" smtClean="0"/>
              <a:t>MLP</a:t>
            </a:r>
            <a:r>
              <a:rPr lang="zh-CN" altLang="en-US" dirty="0" smtClean="0"/>
              <a:t>生成</a:t>
            </a:r>
            <a:r>
              <a:rPr lang="en-US" altLang="zh-CN" dirty="0" err="1" smtClean="0"/>
              <a:t>FiLM</a:t>
            </a:r>
            <a:r>
              <a:rPr lang="zh-CN" altLang="en-US" dirty="0" smtClean="0"/>
              <a:t>调制参数。训练时</a:t>
            </a:r>
            <a:r>
              <a:rPr lang="en-US" altLang="zh-CN" dirty="0" err="1" smtClean="0"/>
              <a:t>FullSubNet</a:t>
            </a:r>
            <a:r>
              <a:rPr lang="en-US" altLang="zh-CN" dirty="0" smtClean="0"/>
              <a:t>+</a:t>
            </a:r>
            <a:r>
              <a:rPr lang="zh-CN" altLang="en-US" dirty="0" smtClean="0"/>
              <a:t>和</a:t>
            </a:r>
            <a:r>
              <a:rPr lang="en-US" altLang="zh-CN" dirty="0" err="1" smtClean="0"/>
              <a:t>SpeakerFiLM</a:t>
            </a:r>
            <a:r>
              <a:rPr lang="zh-CN" altLang="en-US" dirty="0" smtClean="0"/>
              <a:t>联合更新，声纹后端冻结。</a:t>
            </a:r>
            <a:endParaRPr lang="en-US" altLang="zh-CN" dirty="0" smtClean="0"/>
          </a:p>
          <a:p>
            <a:r>
              <a:rPr lang="zh-CN" altLang="en-US" dirty="0" smtClean="0"/>
              <a:t>测试阶段即使是没见过的新说话人，也可以根据注册</a:t>
            </a:r>
            <a:r>
              <a:rPr lang="en-US" altLang="zh-CN" dirty="0" smtClean="0"/>
              <a:t>embedding</a:t>
            </a:r>
            <a:r>
              <a:rPr lang="zh-CN" altLang="en-US" dirty="0" smtClean="0"/>
              <a:t>动态生成新的调制参数。”</a:t>
            </a:r>
            <a:endParaRPr lang="en-US" altLang="zh-CN" dirty="0" smtClean="0"/>
          </a:p>
          <a:p>
            <a:endParaRPr lang="en-US" altLang="zh-CN" sz="1200" b="0" i="0" kern="1200" dirty="0" smtClean="0">
              <a:solidFill>
                <a:schemeClr val="tx1"/>
              </a:solidFill>
              <a:effectLst/>
              <a:latin typeface="+mn-lt"/>
              <a:ea typeface="+mn-ea"/>
              <a:cs typeface="+mn-cs"/>
            </a:endParaRPr>
          </a:p>
          <a:p>
            <a:r>
              <a:rPr lang="zh-CN" altLang="en-US" dirty="0" smtClean="0"/>
              <a:t>最终子带输入的三路展开实际上都使用了幅度路的</a:t>
            </a:r>
            <a:r>
              <a:rPr lang="en-US" altLang="zh-CN" dirty="0" smtClean="0"/>
              <a:t>full-band</a:t>
            </a:r>
            <a:r>
              <a:rPr lang="zh-CN" altLang="en-US" dirty="0" smtClean="0"/>
              <a:t>输出，所以真正产生有效梯度的条件路径主要集中在幅度路，实部和虚部两路保持在恒等初始化状态。当前所有交付结果都是基于这个真实实现得到的，因此不影响结果有效性，但说明后续还有空间把三路条件化真正打通。”</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dirty="0" smtClean="0"/>
              <a:t>我们不是为每个训练说话人保存一套</a:t>
            </a:r>
            <a:r>
              <a:rPr lang="en-US" altLang="zh-CN" dirty="0" err="1" smtClean="0"/>
              <a:t>FiLM</a:t>
            </a:r>
            <a:r>
              <a:rPr lang="zh-CN" altLang="en-US" dirty="0" smtClean="0"/>
              <a:t>参数，而是训练一个从</a:t>
            </a:r>
            <a:r>
              <a:rPr lang="en-US" altLang="zh-CN" dirty="0" smtClean="0"/>
              <a:t>speaker embedding</a:t>
            </a:r>
            <a:r>
              <a:rPr lang="zh-CN" altLang="en-US" dirty="0" smtClean="0"/>
              <a:t>到调制系数的共享</a:t>
            </a:r>
            <a:r>
              <a:rPr lang="en-US" altLang="zh-CN" dirty="0" smtClean="0"/>
              <a:t>MLP</a:t>
            </a:r>
            <a:r>
              <a:rPr lang="zh-CN" altLang="en-US" dirty="0" smtClean="0"/>
              <a:t>。测试阶段即便是训练从未见过的新说话人，只要冻结声纹模型能提取其注册</a:t>
            </a:r>
            <a:r>
              <a:rPr lang="en-US" altLang="zh-CN" dirty="0" smtClean="0"/>
              <a:t>embedding</a:t>
            </a:r>
            <a:r>
              <a:rPr lang="zh-CN" altLang="en-US" dirty="0" smtClean="0"/>
              <a:t>，</a:t>
            </a:r>
            <a:r>
              <a:rPr lang="en-US" altLang="zh-CN" dirty="0" smtClean="0"/>
              <a:t>MLP</a:t>
            </a:r>
            <a:r>
              <a:rPr lang="zh-CN" altLang="en-US" dirty="0" smtClean="0"/>
              <a:t>就可以动态生成对应的</a:t>
            </a:r>
            <a:r>
              <a:rPr lang="en-US" altLang="zh-CN" dirty="0" smtClean="0"/>
              <a:t>γ</a:t>
            </a:r>
            <a:r>
              <a:rPr lang="zh-CN" altLang="en-US" dirty="0" smtClean="0"/>
              <a:t>和</a:t>
            </a:r>
            <a:r>
              <a:rPr lang="en-US" altLang="zh-CN" dirty="0" smtClean="0"/>
              <a:t>β</a:t>
            </a:r>
            <a:r>
              <a:rPr lang="zh-CN" altLang="en-US" dirty="0" smtClean="0"/>
              <a:t>，因此和开集声纹验证的设定是一致的。</a:t>
            </a:r>
            <a:endParaRPr lang="en-US" altLang="zh-CN" dirty="0" smtClean="0"/>
          </a:p>
          <a:p>
            <a:endParaRPr lang="en-US" altLang="zh-CN" sz="1200" kern="1200" dirty="0" smtClean="0">
              <a:solidFill>
                <a:schemeClr val="tx1"/>
              </a:solidFill>
              <a:effectLst/>
              <a:latin typeface="+mn-lt"/>
              <a:ea typeface="+mn-ea"/>
              <a:cs typeface="+mn-cs"/>
            </a:endParaRPr>
          </a:p>
          <a:p>
            <a:r>
              <a:rPr lang="en-US" altLang="zh-CN" b="1" dirty="0" smtClean="0"/>
              <a:t>“</a:t>
            </a:r>
            <a:r>
              <a:rPr lang="en-US" altLang="zh-CN" b="1" dirty="0" err="1" smtClean="0"/>
              <a:t>FullSubNet</a:t>
            </a:r>
            <a:r>
              <a:rPr lang="en-US" altLang="zh-CN" b="1" dirty="0" smtClean="0"/>
              <a:t>+</a:t>
            </a:r>
            <a:r>
              <a:rPr lang="zh-CN" altLang="en-US" b="1" dirty="0" smtClean="0"/>
              <a:t>的</a:t>
            </a:r>
            <a:r>
              <a:rPr lang="en-US" altLang="zh-CN" b="1" dirty="0" smtClean="0"/>
              <a:t>257</a:t>
            </a:r>
            <a:r>
              <a:rPr lang="zh-CN" altLang="en-US" b="1" dirty="0" smtClean="0"/>
              <a:t>个频带是什么？”</a:t>
            </a:r>
            <a:endParaRPr lang="en-US" altLang="zh-CN" b="1" dirty="0" smtClean="0"/>
          </a:p>
          <a:p>
            <a:r>
              <a:rPr lang="zh-CN" altLang="en-US" dirty="0" smtClean="0"/>
              <a:t>准确来说是</a:t>
            </a:r>
            <a:r>
              <a:rPr lang="en-US" altLang="zh-CN" dirty="0" smtClean="0"/>
              <a:t>257</a:t>
            </a:r>
            <a:r>
              <a:rPr lang="zh-CN" altLang="en-US" dirty="0" smtClean="0"/>
              <a:t>个</a:t>
            </a:r>
            <a:r>
              <a:rPr lang="en-US" altLang="zh-CN" dirty="0" smtClean="0"/>
              <a:t>STFT</a:t>
            </a:r>
            <a:r>
              <a:rPr lang="zh-CN" altLang="en-US" dirty="0" smtClean="0"/>
              <a:t>非冗余频率</a:t>
            </a:r>
            <a:r>
              <a:rPr lang="en-US" altLang="zh-CN" dirty="0" smtClean="0"/>
              <a:t>bin</a:t>
            </a:r>
            <a:r>
              <a:rPr lang="zh-CN" altLang="en-US" dirty="0" smtClean="0"/>
              <a:t>。因为采样率</a:t>
            </a:r>
            <a:r>
              <a:rPr lang="en-US" altLang="zh-CN" dirty="0" smtClean="0"/>
              <a:t>16 kHz</a:t>
            </a:r>
            <a:r>
              <a:rPr lang="zh-CN" altLang="en-US" dirty="0" smtClean="0"/>
              <a:t>、</a:t>
            </a:r>
            <a:r>
              <a:rPr lang="en-US" altLang="zh-CN" dirty="0" smtClean="0"/>
              <a:t>FFT</a:t>
            </a:r>
            <a:r>
              <a:rPr lang="zh-CN" altLang="en-US" dirty="0" smtClean="0"/>
              <a:t>长度</a:t>
            </a:r>
            <a:r>
              <a:rPr lang="en-US" altLang="zh-CN" dirty="0" smtClean="0"/>
              <a:t>512</a:t>
            </a:r>
            <a:r>
              <a:rPr lang="zh-CN" altLang="en-US" dirty="0" smtClean="0"/>
              <a:t>，所以</a:t>
            </a:r>
            <a:r>
              <a:rPr lang="en-US" altLang="zh-CN" dirty="0" smtClean="0"/>
              <a:t>0</a:t>
            </a:r>
            <a:r>
              <a:rPr lang="zh-CN" altLang="en-US" dirty="0" smtClean="0"/>
              <a:t>到</a:t>
            </a:r>
            <a:r>
              <a:rPr lang="en-US" altLang="zh-CN" dirty="0" smtClean="0"/>
              <a:t>8 kHz</a:t>
            </a:r>
            <a:r>
              <a:rPr lang="zh-CN" altLang="en-US" dirty="0" smtClean="0"/>
              <a:t>一共有</a:t>
            </a:r>
            <a:r>
              <a:rPr lang="en-US" altLang="zh-CN" dirty="0" smtClean="0"/>
              <a:t>512/2+1=257</a:t>
            </a:r>
            <a:r>
              <a:rPr lang="zh-CN" altLang="en-US" dirty="0" smtClean="0"/>
              <a:t>个频率点，每个间隔</a:t>
            </a:r>
            <a:r>
              <a:rPr lang="en-US" altLang="zh-CN" dirty="0" smtClean="0"/>
              <a:t>31.25 Hz</a:t>
            </a:r>
            <a:r>
              <a:rPr lang="zh-CN" altLang="en-US" dirty="0" smtClean="0"/>
              <a:t>。</a:t>
            </a:r>
            <a:r>
              <a:rPr lang="en-US" altLang="zh-CN" dirty="0" err="1" smtClean="0"/>
              <a:t>FullSubNet</a:t>
            </a:r>
            <a:r>
              <a:rPr lang="zh-CN" altLang="en-US" dirty="0" smtClean="0"/>
              <a:t>的全带模型同时看整个</a:t>
            </a:r>
            <a:r>
              <a:rPr lang="en-US" altLang="zh-CN" dirty="0" smtClean="0"/>
              <a:t>257</a:t>
            </a:r>
            <a:r>
              <a:rPr lang="zh-CN" altLang="en-US" dirty="0" smtClean="0"/>
              <a:t>维频谱，子带模型则以每个频点为中心看左右</a:t>
            </a:r>
            <a:r>
              <a:rPr lang="en-US" altLang="zh-CN" dirty="0" smtClean="0"/>
              <a:t>15</a:t>
            </a:r>
            <a:r>
              <a:rPr lang="zh-CN" altLang="en-US" dirty="0" smtClean="0"/>
              <a:t>个邻域频点。</a:t>
            </a:r>
            <a:endParaRPr lang="en-US" altLang="zh-CN" dirty="0" smtClean="0"/>
          </a:p>
          <a:p>
            <a:r>
              <a:rPr lang="zh-CN" altLang="en-US" b="1" dirty="0" smtClean="0"/>
              <a:t>“和</a:t>
            </a:r>
            <a:r>
              <a:rPr lang="en-US" altLang="zh-CN" b="1" dirty="0" smtClean="0"/>
              <a:t>BSRNN</a:t>
            </a:r>
            <a:r>
              <a:rPr lang="zh-CN" altLang="en-US" b="1" dirty="0" smtClean="0"/>
              <a:t>有什么区别？</a:t>
            </a:r>
            <a:endParaRPr lang="zh-CN" altLang="en-US" dirty="0" smtClean="0"/>
          </a:p>
          <a:p>
            <a:r>
              <a:rPr lang="zh-CN" altLang="en-US" sz="1200" kern="1200" dirty="0" smtClean="0">
                <a:solidFill>
                  <a:schemeClr val="tx1"/>
                </a:solidFill>
                <a:latin typeface="+mn-lt"/>
                <a:ea typeface="+mn-ea"/>
                <a:cs typeface="+mn-cs"/>
              </a:rPr>
              <a:t>两者都有频带建模思想，但粒度不同。</a:t>
            </a:r>
            <a:r>
              <a:rPr lang="en-US" altLang="zh-CN" sz="1200" kern="1200" dirty="0" err="1" smtClean="0">
                <a:solidFill>
                  <a:schemeClr val="tx1"/>
                </a:solidFill>
                <a:latin typeface="+mn-lt"/>
                <a:ea typeface="+mn-ea"/>
                <a:cs typeface="+mn-cs"/>
              </a:rPr>
              <a:t>FullSubNet</a:t>
            </a:r>
            <a:r>
              <a:rPr lang="zh-CN" altLang="en-US" sz="1200" kern="1200" dirty="0" smtClean="0">
                <a:solidFill>
                  <a:schemeClr val="tx1"/>
                </a:solidFill>
                <a:latin typeface="+mn-lt"/>
                <a:ea typeface="+mn-ea"/>
                <a:cs typeface="+mn-cs"/>
              </a:rPr>
              <a:t>基本保留</a:t>
            </a:r>
            <a:r>
              <a:rPr lang="en-US" altLang="zh-CN" sz="1200" kern="1200" dirty="0" smtClean="0">
                <a:solidFill>
                  <a:schemeClr val="tx1"/>
                </a:solidFill>
                <a:latin typeface="+mn-lt"/>
                <a:ea typeface="+mn-ea"/>
                <a:cs typeface="+mn-cs"/>
              </a:rPr>
              <a:t>STFT bin</a:t>
            </a:r>
            <a:r>
              <a:rPr lang="zh-CN" altLang="en-US" sz="1200" kern="1200" dirty="0" smtClean="0">
                <a:solidFill>
                  <a:schemeClr val="tx1"/>
                </a:solidFill>
                <a:latin typeface="+mn-lt"/>
                <a:ea typeface="+mn-ea"/>
                <a:cs typeface="+mn-cs"/>
              </a:rPr>
              <a:t>，以每个</a:t>
            </a:r>
            <a:r>
              <a:rPr lang="en-US" altLang="zh-CN" sz="1200" kern="1200" dirty="0" smtClean="0">
                <a:solidFill>
                  <a:schemeClr val="tx1"/>
                </a:solidFill>
                <a:latin typeface="+mn-lt"/>
                <a:ea typeface="+mn-ea"/>
                <a:cs typeface="+mn-cs"/>
              </a:rPr>
              <a:t>bin</a:t>
            </a:r>
            <a:r>
              <a:rPr lang="zh-CN" altLang="en-US" sz="1200" kern="1200" dirty="0" smtClean="0">
                <a:solidFill>
                  <a:schemeClr val="tx1"/>
                </a:solidFill>
                <a:latin typeface="+mn-lt"/>
                <a:ea typeface="+mn-ea"/>
                <a:cs typeface="+mn-cs"/>
              </a:rPr>
              <a:t>和局部邻域做</a:t>
            </a:r>
            <a:r>
              <a:rPr lang="en-US" altLang="zh-CN" sz="1200" kern="1200" dirty="0" smtClean="0">
                <a:solidFill>
                  <a:schemeClr val="tx1"/>
                </a:solidFill>
                <a:latin typeface="+mn-lt"/>
                <a:ea typeface="+mn-ea"/>
                <a:cs typeface="+mn-cs"/>
              </a:rPr>
              <a:t>sub-band</a:t>
            </a:r>
            <a:r>
              <a:rPr lang="zh-CN" altLang="en-US" sz="1200" kern="1200" dirty="0" smtClean="0">
                <a:solidFill>
                  <a:schemeClr val="tx1"/>
                </a:solidFill>
                <a:latin typeface="+mn-lt"/>
                <a:ea typeface="+mn-ea"/>
                <a:cs typeface="+mn-cs"/>
              </a:rPr>
              <a:t>建模，同时用</a:t>
            </a:r>
            <a:r>
              <a:rPr lang="en-US" altLang="zh-CN" sz="1200" kern="1200" dirty="0" smtClean="0">
                <a:solidFill>
                  <a:schemeClr val="tx1"/>
                </a:solidFill>
                <a:latin typeface="+mn-lt"/>
                <a:ea typeface="+mn-ea"/>
                <a:cs typeface="+mn-cs"/>
              </a:rPr>
              <a:t>full-band</a:t>
            </a:r>
            <a:r>
              <a:rPr lang="zh-CN" altLang="en-US" sz="1200" kern="1200" dirty="0" smtClean="0">
                <a:solidFill>
                  <a:schemeClr val="tx1"/>
                </a:solidFill>
                <a:latin typeface="+mn-lt"/>
                <a:ea typeface="+mn-ea"/>
                <a:cs typeface="+mn-cs"/>
              </a:rPr>
              <a:t>网络补全局信息；</a:t>
            </a:r>
            <a:r>
              <a:rPr lang="en-US" altLang="zh-CN" sz="1200" kern="1200" dirty="0" smtClean="0">
                <a:solidFill>
                  <a:schemeClr val="tx1"/>
                </a:solidFill>
                <a:latin typeface="+mn-lt"/>
                <a:ea typeface="+mn-ea"/>
                <a:cs typeface="+mn-cs"/>
              </a:rPr>
              <a:t>BSRNN</a:t>
            </a:r>
            <a:r>
              <a:rPr lang="zh-CN" altLang="en-US" sz="1200" kern="1200" dirty="0" smtClean="0">
                <a:solidFill>
                  <a:schemeClr val="tx1"/>
                </a:solidFill>
                <a:latin typeface="+mn-lt"/>
                <a:ea typeface="+mn-ea"/>
                <a:cs typeface="+mn-cs"/>
              </a:rPr>
              <a:t>则先显式把频谱切成若干</a:t>
            </a:r>
            <a:r>
              <a:rPr lang="en-US" altLang="zh-CN" sz="1200" kern="1200" dirty="0" smtClean="0">
                <a:solidFill>
                  <a:schemeClr val="tx1"/>
                </a:solidFill>
                <a:latin typeface="+mn-lt"/>
                <a:ea typeface="+mn-ea"/>
                <a:cs typeface="+mn-cs"/>
              </a:rPr>
              <a:t>band</a:t>
            </a:r>
            <a:r>
              <a:rPr lang="zh-CN" altLang="en-US" sz="1200" kern="1200" dirty="0" smtClean="0">
                <a:solidFill>
                  <a:schemeClr val="tx1"/>
                </a:solidFill>
                <a:latin typeface="+mn-lt"/>
                <a:ea typeface="+mn-ea"/>
                <a:cs typeface="+mn-cs"/>
              </a:rPr>
              <a:t>，把每个</a:t>
            </a:r>
            <a:r>
              <a:rPr lang="en-US" altLang="zh-CN" sz="1200" kern="1200" dirty="0" smtClean="0">
                <a:solidFill>
                  <a:schemeClr val="tx1"/>
                </a:solidFill>
                <a:latin typeface="+mn-lt"/>
                <a:ea typeface="+mn-ea"/>
                <a:cs typeface="+mn-cs"/>
              </a:rPr>
              <a:t>band</a:t>
            </a:r>
            <a:r>
              <a:rPr lang="zh-CN" altLang="en-US" sz="1200" kern="1200" dirty="0" smtClean="0">
                <a:solidFill>
                  <a:schemeClr val="tx1"/>
                </a:solidFill>
                <a:latin typeface="+mn-lt"/>
                <a:ea typeface="+mn-ea"/>
                <a:cs typeface="+mn-cs"/>
              </a:rPr>
              <a:t>编码成</a:t>
            </a:r>
            <a:r>
              <a:rPr lang="en-US" altLang="zh-CN" sz="1200" kern="1200" dirty="0" smtClean="0">
                <a:solidFill>
                  <a:schemeClr val="tx1"/>
                </a:solidFill>
                <a:latin typeface="+mn-lt"/>
                <a:ea typeface="+mn-ea"/>
                <a:cs typeface="+mn-cs"/>
              </a:rPr>
              <a:t>embedding</a:t>
            </a:r>
            <a:r>
              <a:rPr lang="zh-CN" altLang="en-US" sz="1200" kern="1200" dirty="0" smtClean="0">
                <a:solidFill>
                  <a:schemeClr val="tx1"/>
                </a:solidFill>
                <a:latin typeface="+mn-lt"/>
                <a:ea typeface="+mn-ea"/>
                <a:cs typeface="+mn-cs"/>
              </a:rPr>
              <a:t>，再分别做时间维和</a:t>
            </a:r>
            <a:r>
              <a:rPr lang="en-US" altLang="zh-CN" sz="1200" kern="1200" dirty="0" smtClean="0">
                <a:solidFill>
                  <a:schemeClr val="tx1"/>
                </a:solidFill>
                <a:latin typeface="+mn-lt"/>
                <a:ea typeface="+mn-ea"/>
                <a:cs typeface="+mn-cs"/>
              </a:rPr>
              <a:t>band</a:t>
            </a:r>
            <a:r>
              <a:rPr lang="zh-CN" altLang="en-US" sz="1200" kern="1200" dirty="0" smtClean="0">
                <a:solidFill>
                  <a:schemeClr val="tx1"/>
                </a:solidFill>
                <a:latin typeface="+mn-lt"/>
                <a:ea typeface="+mn-ea"/>
                <a:cs typeface="+mn-cs"/>
              </a:rPr>
              <a:t>维序列建模，所以</a:t>
            </a:r>
            <a:r>
              <a:rPr lang="en-US" altLang="zh-CN" sz="1200" kern="1200" dirty="0" smtClean="0">
                <a:solidFill>
                  <a:schemeClr val="tx1"/>
                </a:solidFill>
                <a:latin typeface="+mn-lt"/>
                <a:ea typeface="+mn-ea"/>
                <a:cs typeface="+mn-cs"/>
              </a:rPr>
              <a:t>BSRNN</a:t>
            </a:r>
            <a:r>
              <a:rPr lang="zh-CN" altLang="en-US" sz="1200" kern="1200" dirty="0" smtClean="0">
                <a:solidFill>
                  <a:schemeClr val="tx1"/>
                </a:solidFill>
                <a:latin typeface="+mn-lt"/>
                <a:ea typeface="+mn-ea"/>
                <a:cs typeface="+mn-cs"/>
              </a:rPr>
              <a:t>更接近显式频带分离架构，而</a:t>
            </a:r>
            <a:r>
              <a:rPr lang="en-US" altLang="zh-CN" sz="1200" kern="1200" dirty="0" err="1" smtClean="0">
                <a:solidFill>
                  <a:schemeClr val="tx1"/>
                </a:solidFill>
                <a:latin typeface="+mn-lt"/>
                <a:ea typeface="+mn-ea"/>
                <a:cs typeface="+mn-cs"/>
              </a:rPr>
              <a:t>FullSubNet</a:t>
            </a:r>
            <a:r>
              <a:rPr lang="zh-CN" altLang="en-US" sz="1200" kern="1200" dirty="0" smtClean="0">
                <a:solidFill>
                  <a:schemeClr val="tx1"/>
                </a:solidFill>
                <a:latin typeface="+mn-lt"/>
                <a:ea typeface="+mn-ea"/>
                <a:cs typeface="+mn-cs"/>
              </a:rPr>
              <a:t>更接近全频谱增强加局部频率建模</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为什么选FiLM，而不是直接把embedding拼到输入</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FiLM用注册embedding直接生成特征级缩放和偏置，参数增量小，能在已有FullSubNet+内部做条件调制，不需要大幅改主干结构；本项目优先考虑可控改造和部署成本。</a:t>
            </a:r>
          </a:p>
          <a:p>
            <a:r>
              <a:rPr lang="en-US" altLang="zh-CN" sz="1200" b="1" kern="1200" dirty="0" err="1" smtClean="0">
                <a:solidFill>
                  <a:schemeClr val="tx1"/>
                </a:solidFill>
                <a:effectLst/>
                <a:latin typeface="+mn-lt"/>
                <a:ea typeface="+mn-ea"/>
                <a:cs typeface="+mn-cs"/>
              </a:rPr>
              <a:t>为什么后端冻结</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第一是保证收益归因到前端；第二是训练和推理用同一个验证器，减少分布变化；第三是便于后面跨后端测试前端的迁移能力</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FiLM为什么末层零初始化</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使初始γ</a:t>
            </a:r>
            <a:r>
              <a:rPr lang="en-US" altLang="zh-CN" sz="1200" kern="1200" dirty="0" smtClean="0">
                <a:solidFill>
                  <a:schemeClr val="tx1"/>
                </a:solidFill>
                <a:effectLst/>
                <a:latin typeface="+mn-lt"/>
                <a:ea typeface="+mn-ea"/>
                <a:cs typeface="+mn-cs"/>
              </a:rPr>
              <a:t>、β</a:t>
            </a:r>
            <a:r>
              <a:rPr lang="en-US" altLang="zh-CN" sz="1200" kern="1200" dirty="0" err="1" smtClean="0">
                <a:solidFill>
                  <a:schemeClr val="tx1"/>
                </a:solidFill>
                <a:effectLst/>
                <a:latin typeface="+mn-lt"/>
                <a:ea typeface="+mn-ea"/>
                <a:cs typeface="+mn-cs"/>
              </a:rPr>
              <a:t>接近恒等调制，训练起点尽量接近原版通用前端，避免条件模块一接入就破坏已有增强能力</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31.7M是怎么来的？</a:t>
            </a:r>
          </a:p>
          <a:p>
            <a:r>
              <a:rPr lang="en-US" altLang="zh-CN" sz="1200" kern="1200" dirty="0" smtClean="0">
                <a:solidFill>
                  <a:schemeClr val="tx1"/>
                </a:solidFill>
                <a:effectLst/>
                <a:latin typeface="+mn-lt"/>
                <a:ea typeface="+mn-ea"/>
                <a:cs typeface="+mn-cs"/>
              </a:rPr>
              <a:t>部署栈包含前端约9.2M和冻结声纹后端，条件提取与最终打分复用同一后端，不需要两套独立声纹网络。</a:t>
            </a:r>
            <a:endParaRPr lang="en-US" altLang="zh-CN" sz="1200" b="1"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D1F139-B027-4105-9E5E-37A3F001D4C4}" type="slidenum">
              <a:rPr lang="zh-CN" altLang="en-US" smtClean="0"/>
              <a:t>13</a:t>
            </a:fld>
            <a:endParaRPr lang="zh-CN" altLang="en-US"/>
          </a:p>
        </p:txBody>
      </p:sp>
    </p:spTree>
    <p:extLst>
      <p:ext uri="{BB962C8B-B14F-4D97-AF65-F5344CB8AC3E}">
        <p14:creationId xmlns:p14="http://schemas.microsoft.com/office/powerpoint/2010/main" val="36322152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第一，Lse是信号重建，保证增强结果至少是可恢复的，不要为了声纹分数把语音改坏。第二，Lspk是说话人保持，把增强后的embedding往注册身份拉近。第三，Lns是难负原型抑制，从冻结原型库里找最容易混淆的非目标身份，把增强embedding和它们拉开。最后Lce再补一个判别分类约束。</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所以这四项可以概括成一句话：既要把声音恢复出来，也要“拉近自己、推远别人”，最后再强化判别边界。所有梯度只更新前端，声纹后端和原型库都不动。</a:t>
            </a:r>
          </a:p>
          <a:p>
            <a:endParaRPr lang="en-US" altLang="zh-CN" sz="1200" kern="1200" dirty="0" smtClean="0">
              <a:solidFill>
                <a:schemeClr val="tx1"/>
              </a:solidFill>
              <a:effectLst/>
              <a:latin typeface="+mn-lt"/>
              <a:ea typeface="+mn-ea"/>
              <a:cs typeface="+mn-cs"/>
            </a:endParaRPr>
          </a:p>
          <a:p>
            <a:r>
              <a:rPr lang="zh-CN" altLang="en-US" sz="1200" kern="1200" dirty="0" smtClean="0">
                <a:solidFill>
                  <a:schemeClr val="tx1"/>
                </a:solidFill>
                <a:effectLst/>
                <a:latin typeface="+mn-lt"/>
                <a:ea typeface="+mn-ea"/>
                <a:cs typeface="+mn-cs"/>
              </a:rPr>
              <a:t>信号重建：标准答案是掩码：理想掩码 </a:t>
            </a:r>
            <a:r>
              <a:rPr lang="en-US" altLang="zh-CN" sz="1200" kern="1200" dirty="0" err="1" smtClean="0">
                <a:solidFill>
                  <a:schemeClr val="tx1"/>
                </a:solidFill>
                <a:effectLst/>
                <a:latin typeface="+mn-lt"/>
                <a:ea typeface="+mn-ea"/>
                <a:cs typeface="+mn-cs"/>
              </a:rPr>
              <a:t>M_cIRM</a:t>
            </a:r>
            <a:r>
              <a:rPr lang="en-US" altLang="zh-CN" sz="1200" kern="1200" dirty="0" smtClean="0">
                <a:solidFill>
                  <a:schemeClr val="tx1"/>
                </a:solidFill>
                <a:effectLst/>
                <a:latin typeface="+mn-lt"/>
                <a:ea typeface="+mn-ea"/>
                <a:cs typeface="+mn-cs"/>
              </a:rPr>
              <a:t> = </a:t>
            </a:r>
            <a:r>
              <a:rPr lang="zh-CN" altLang="en-US" sz="1200" kern="1200" dirty="0" smtClean="0">
                <a:solidFill>
                  <a:schemeClr val="tx1"/>
                </a:solidFill>
                <a:effectLst/>
                <a:latin typeface="+mn-lt"/>
                <a:ea typeface="+mn-ea"/>
                <a:cs typeface="+mn-cs"/>
              </a:rPr>
              <a:t>干净谱 </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带噪谱</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逐格复数相除</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，由合成时的那对 </a:t>
            </a:r>
            <a:r>
              <a:rPr lang="en-US" altLang="zh-CN" sz="1200" kern="1200" dirty="0" smtClean="0">
                <a:solidFill>
                  <a:schemeClr val="tx1"/>
                </a:solidFill>
                <a:effectLst/>
                <a:latin typeface="+mn-lt"/>
                <a:ea typeface="+mn-ea"/>
                <a:cs typeface="+mn-cs"/>
              </a:rPr>
              <a:t>clean/noisy </a:t>
            </a:r>
            <a:r>
              <a:rPr lang="zh-CN" altLang="en-US" sz="1200" kern="1200" dirty="0" smtClean="0">
                <a:solidFill>
                  <a:schemeClr val="tx1"/>
                </a:solidFill>
                <a:effectLst/>
                <a:latin typeface="+mn-lt"/>
                <a:ea typeface="+mn-ea"/>
                <a:cs typeface="+mn-cs"/>
              </a:rPr>
              <a:t>现场算出；</a:t>
            </a:r>
            <a:r>
              <a:rPr lang="en-US" altLang="zh-CN" sz="1200" kern="1200" dirty="0" smtClean="0">
                <a:solidFill>
                  <a:schemeClr val="tx1"/>
                </a:solidFill>
                <a:effectLst/>
                <a:latin typeface="+mn-lt"/>
                <a:ea typeface="+mn-ea"/>
                <a:cs typeface="+mn-cs"/>
              </a:rPr>
              <a:t>3. </a:t>
            </a:r>
            <a:r>
              <a:rPr lang="en-US" altLang="zh-CN" sz="1200" kern="1200" dirty="0" err="1" smtClean="0">
                <a:solidFill>
                  <a:schemeClr val="tx1"/>
                </a:solidFill>
                <a:effectLst/>
                <a:latin typeface="+mn-lt"/>
                <a:ea typeface="+mn-ea"/>
                <a:cs typeface="+mn-cs"/>
              </a:rPr>
              <a:t>L_se</a:t>
            </a:r>
            <a:r>
              <a:rPr lang="en-US" altLang="zh-CN" sz="1200" kern="1200" dirty="0" smtClean="0">
                <a:solidFill>
                  <a:schemeClr val="tx1"/>
                </a:solidFill>
                <a:effectLst/>
                <a:latin typeface="+mn-lt"/>
                <a:ea typeface="+mn-ea"/>
                <a:cs typeface="+mn-cs"/>
              </a:rPr>
              <a:t> = ‖M̂ − M_cIRM‖²:</a:t>
            </a:r>
            <a:r>
              <a:rPr lang="zh-CN" altLang="en-US" sz="1200" kern="1200" dirty="0" smtClean="0">
                <a:solidFill>
                  <a:schemeClr val="tx1"/>
                </a:solidFill>
                <a:effectLst/>
                <a:latin typeface="+mn-lt"/>
                <a:ea typeface="+mn-ea"/>
                <a:cs typeface="+mn-cs"/>
              </a:rPr>
              <a:t>惩罚“网络估的掩码”和“理想掩码”逐格均方差</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等价于要求 </a:t>
            </a:r>
            <a:r>
              <a:rPr lang="en-US" altLang="zh-CN" sz="1200" kern="1200" dirty="0" smtClean="0">
                <a:solidFill>
                  <a:schemeClr val="tx1"/>
                </a:solidFill>
                <a:effectLst/>
                <a:latin typeface="+mn-lt"/>
                <a:ea typeface="+mn-ea"/>
                <a:cs typeface="+mn-cs"/>
              </a:rPr>
              <a:t>M̂⊙Y ≈ </a:t>
            </a:r>
            <a:r>
              <a:rPr lang="zh-CN" altLang="en-US" sz="1200" kern="1200" dirty="0" smtClean="0">
                <a:solidFill>
                  <a:schemeClr val="tx1"/>
                </a:solidFill>
                <a:effectLst/>
                <a:latin typeface="+mn-lt"/>
                <a:ea typeface="+mn-ea"/>
                <a:cs typeface="+mn-cs"/>
              </a:rPr>
              <a:t>干净谱，也就是你说的“降噪结果要和同一句干净语音一致”；</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dirty="0" err="1" smtClean="0"/>
              <a:t>peaker</a:t>
            </a:r>
            <a:r>
              <a:rPr lang="en-US" altLang="zh-CN" dirty="0" smtClean="0"/>
              <a:t> prototype</a:t>
            </a:r>
            <a:r>
              <a:rPr lang="zh-CN" altLang="en-US" dirty="0" smtClean="0"/>
              <a:t>（说话人原型）原型来自冻结验证器分类头权重：原型 </a:t>
            </a:r>
            <a:r>
              <a:rPr lang="en-US" altLang="zh-CN" dirty="0" smtClean="0"/>
              <a:t>= </a:t>
            </a:r>
            <a:r>
              <a:rPr lang="zh-CN" altLang="en-US" dirty="0" smtClean="0"/>
              <a:t>分类头权重行</a:t>
            </a:r>
            <a:r>
              <a:rPr lang="en-US" altLang="zh-CN" dirty="0" smtClean="0"/>
              <a:t>(L2</a:t>
            </a:r>
            <a:r>
              <a:rPr lang="zh-CN" altLang="en-US" dirty="0" smtClean="0"/>
              <a:t>归一</a:t>
            </a:r>
            <a:r>
              <a:rPr lang="en-US" altLang="zh-CN" dirty="0" smtClean="0"/>
              <a:t>)</a:t>
            </a:r>
            <a:r>
              <a:rPr lang="en-US" altLang="zh-CN" baseline="0" dirty="0" smtClean="0"/>
              <a:t> </a:t>
            </a:r>
            <a:r>
              <a:rPr lang="en-US" altLang="zh-CN" dirty="0" smtClean="0"/>
              <a:t>B</a:t>
            </a:r>
            <a:r>
              <a:rPr lang="zh-CN" altLang="en-US" dirty="0" smtClean="0"/>
              <a:t>离</a:t>
            </a:r>
            <a:r>
              <a:rPr lang="en-US" altLang="zh-CN" dirty="0" smtClean="0"/>
              <a:t>A</a:t>
            </a:r>
            <a:r>
              <a:rPr lang="zh-CN" altLang="en-US" dirty="0" smtClean="0"/>
              <a:t>最近。这个</a:t>
            </a:r>
            <a:r>
              <a:rPr lang="en-US" altLang="zh-CN" dirty="0" smtClean="0"/>
              <a:t>B</a:t>
            </a:r>
            <a:r>
              <a:rPr lang="zh-CN" altLang="en-US" dirty="0" smtClean="0"/>
              <a:t>叫：</a:t>
            </a:r>
            <a:r>
              <a:rPr lang="en-US" altLang="zh-CN" dirty="0" smtClean="0"/>
              <a:t>hard negative</a:t>
            </a:r>
            <a:r>
              <a:rPr lang="zh-CN" altLang="en-US" dirty="0" smtClean="0"/>
              <a:t>（困难负样本）</a:t>
            </a:r>
            <a:endParaRPr lang="en-US" altLang="zh-CN" dirty="0" smtClean="0"/>
          </a:p>
          <a:p>
            <a:r>
              <a:rPr lang="en-US" altLang="zh-CN" dirty="0" smtClean="0"/>
              <a:t>prototype</a:t>
            </a:r>
            <a:r>
              <a:rPr lang="zh-CN" altLang="en-US" dirty="0" smtClean="0"/>
              <a:t>是冻结声纹分类头中每个说话人类别权重向量归一化后的方向表示；训练时，对于每一个增强后的</a:t>
            </a:r>
            <a:r>
              <a:rPr lang="en-US" altLang="zh-CN" dirty="0" smtClean="0"/>
              <a:t>embedding</a:t>
            </a:r>
            <a:r>
              <a:rPr lang="zh-CN" altLang="en-US" dirty="0" smtClean="0"/>
              <a:t>，会与全部非目标说话人的</a:t>
            </a:r>
            <a:r>
              <a:rPr lang="en-US" altLang="zh-CN" dirty="0" smtClean="0"/>
              <a:t>prototype</a:t>
            </a:r>
            <a:r>
              <a:rPr lang="zh-CN" altLang="en-US" dirty="0" smtClean="0"/>
              <a:t>计算余弦相似度，动态选择</a:t>
            </a:r>
            <a:r>
              <a:rPr lang="en-US" altLang="zh-CN" dirty="0" smtClean="0"/>
              <a:t>Top-8</a:t>
            </a:r>
            <a:r>
              <a:rPr lang="zh-CN" altLang="en-US" dirty="0" smtClean="0"/>
              <a:t>最相似类别作为</a:t>
            </a:r>
            <a:r>
              <a:rPr lang="en-US" altLang="zh-CN" dirty="0" smtClean="0"/>
              <a:t>hard negative</a:t>
            </a:r>
            <a:r>
              <a:rPr lang="zh-CN" altLang="en-US" dirty="0" smtClean="0"/>
              <a:t>，并仅对这些类别施加抑制约束。</a:t>
            </a:r>
            <a:r>
              <a:rPr lang="en-US" altLang="zh-CN" dirty="0" smtClean="0"/>
              <a:t>Top-8</a:t>
            </a:r>
            <a:r>
              <a:rPr lang="zh-CN" altLang="en-US" dirty="0" smtClean="0"/>
              <a:t>不是固定说话人，而是在训练过程中随模型输出不断变化。</a:t>
            </a:r>
          </a:p>
          <a:p>
            <a:endParaRPr lang="en-US" altLang="zh-CN" dirty="0" smtClean="0"/>
          </a:p>
          <a:p>
            <a:r>
              <a:rPr lang="zh-CN" altLang="en-US" dirty="0" smtClean="0"/>
              <a:t>使用 </a:t>
            </a:r>
            <a:r>
              <a:rPr lang="en-US" altLang="zh-CN" dirty="0" smtClean="0"/>
              <a:t>AAM-</a:t>
            </a:r>
            <a:r>
              <a:rPr lang="en-US" altLang="zh-CN" dirty="0" err="1" smtClean="0"/>
              <a:t>Softmax</a:t>
            </a:r>
            <a:r>
              <a:rPr lang="en-US" altLang="zh-CN" dirty="0" smtClean="0"/>
              <a:t> logits</a:t>
            </a:r>
            <a:r>
              <a:rPr lang="zh-CN" altLang="en-US" dirty="0" smtClean="0"/>
              <a:t>（</a:t>
            </a:r>
            <a:r>
              <a:rPr lang="en-US" altLang="zh-CN" dirty="0" smtClean="0"/>
              <a:t>Additive Angular Margin</a:t>
            </a:r>
            <a:r>
              <a:rPr lang="zh-CN" altLang="en-US" dirty="0" smtClean="0"/>
              <a:t>）</a:t>
            </a:r>
            <a:r>
              <a:rPr lang="en-US" altLang="zh-CN" dirty="0" smtClean="0"/>
              <a:t> </a:t>
            </a:r>
            <a:r>
              <a:rPr lang="zh-CN" altLang="en-US" dirty="0" smtClean="0"/>
              <a:t>的交叉熵分类损失。它对真实类别额外增加一个角度 </a:t>
            </a:r>
            <a:r>
              <a:rPr lang="en-US" altLang="zh-CN" dirty="0" smtClean="0"/>
              <a:t>margin</a:t>
            </a:r>
            <a:r>
              <a:rPr lang="zh-CN" altLang="en-US" dirty="0" smtClean="0"/>
              <a:t>：</a:t>
            </a:r>
            <a:r>
              <a:rPr lang="en-US" altLang="zh-CN" dirty="0" smtClean="0"/>
              <a:t>cos(</a:t>
            </a:r>
            <a:r>
              <a:rPr lang="en-US" altLang="zh-CN" dirty="0" err="1" smtClean="0"/>
              <a:t>θy+m</a:t>
            </a:r>
            <a:r>
              <a:rPr lang="en-US" altLang="zh-CN" dirty="0" smtClean="0"/>
              <a:t>)</a:t>
            </a:r>
            <a:r>
              <a:rPr lang="zh-CN" altLang="en-US" dirty="0" smtClean="0"/>
              <a:t>，</a:t>
            </a:r>
            <a:r>
              <a:rPr lang="en-US" altLang="zh-CN" dirty="0" smtClean="0"/>
              <a:t>m&gt;0</a:t>
            </a:r>
            <a:r>
              <a:rPr lang="zh-CN" altLang="en-US" dirty="0" smtClean="0"/>
              <a:t>，因为</a:t>
            </a:r>
            <a:r>
              <a:rPr lang="en-US" altLang="zh-CN" dirty="0" smtClean="0"/>
              <a:t>m&gt;0</a:t>
            </a:r>
            <a:r>
              <a:rPr lang="zh-CN" altLang="en-US" dirty="0" smtClean="0"/>
              <a:t>，所以这一项会偏小，所以跟要求相比，它需要大更多才行，</a:t>
            </a:r>
            <a:r>
              <a:rPr lang="en-US" altLang="zh-CN" dirty="0" smtClean="0"/>
              <a:t>m=0.2.</a:t>
            </a:r>
            <a:r>
              <a:rPr lang="zh-CN" altLang="en-US" dirty="0" smtClean="0"/>
              <a:t>强迫前端生成一种语音，使冻结的声纹验证器更容易把它放回正确说话人的 </a:t>
            </a:r>
            <a:r>
              <a:rPr lang="en-US" altLang="zh-CN" dirty="0" smtClean="0"/>
              <a:t>embedding </a:t>
            </a:r>
            <a:r>
              <a:rPr lang="zh-CN" altLang="en-US" dirty="0" smtClean="0"/>
              <a:t>区域。为什么你已经有 </a:t>
            </a:r>
            <a:r>
              <a:rPr lang="en-US" altLang="zh-CN" dirty="0" err="1" smtClean="0"/>
              <a:t>Lspk</a:t>
            </a:r>
            <a:r>
              <a:rPr lang="en-US" altLang="zh-CN" dirty="0" smtClean="0"/>
              <a:t> </a:t>
            </a:r>
            <a:r>
              <a:rPr lang="zh-CN" altLang="en-US" dirty="0" smtClean="0"/>
              <a:t>了，还需要 </a:t>
            </a:r>
            <a:r>
              <a:rPr lang="en-US" altLang="zh-CN" dirty="0" smtClean="0"/>
              <a:t>AAM-CE?</a:t>
            </a:r>
            <a:r>
              <a:rPr lang="zh-CN" altLang="en-US" dirty="0" smtClean="0"/>
              <a:t> </a:t>
            </a:r>
            <a:r>
              <a:rPr lang="en-US" altLang="zh-CN" dirty="0" smtClean="0"/>
              <a:t>AAM-CE </a:t>
            </a:r>
            <a:r>
              <a:rPr lang="zh-CN" altLang="en-US" dirty="0" smtClean="0"/>
              <a:t>则是在整个类别空间里问：你不仅要像 </a:t>
            </a:r>
            <a:r>
              <a:rPr lang="en-US" altLang="zh-CN" dirty="0" smtClean="0"/>
              <a:t>A</a:t>
            </a:r>
            <a:r>
              <a:rPr lang="zh-CN" altLang="en-US" dirty="0" smtClean="0"/>
              <a:t>，你还必须比 </a:t>
            </a:r>
            <a:r>
              <a:rPr lang="en-US" altLang="zh-CN" dirty="0" smtClean="0"/>
              <a:t>B</a:t>
            </a:r>
            <a:r>
              <a:rPr lang="zh-CN" altLang="en-US" dirty="0" smtClean="0"/>
              <a:t>、</a:t>
            </a:r>
            <a:r>
              <a:rPr lang="en-US" altLang="zh-CN" dirty="0" smtClean="0"/>
              <a:t>C</a:t>
            </a:r>
            <a:r>
              <a:rPr lang="zh-CN" altLang="en-US" dirty="0" smtClean="0"/>
              <a:t>、</a:t>
            </a:r>
            <a:r>
              <a:rPr lang="en-US" altLang="zh-CN" dirty="0" smtClean="0"/>
              <a:t>D……</a:t>
            </a:r>
            <a:r>
              <a:rPr lang="zh-CN" altLang="en-US" dirty="0" smtClean="0"/>
              <a:t>明显更像 </a:t>
            </a:r>
            <a:r>
              <a:rPr lang="en-US" altLang="zh-CN" dirty="0" smtClean="0"/>
              <a:t>A</a:t>
            </a:r>
            <a:r>
              <a:rPr lang="zh-CN" altLang="en-US" dirty="0" smtClean="0"/>
              <a:t>。</a:t>
            </a:r>
            <a:endParaRPr lang="en-US" altLang="zh-CN" dirty="0" smtClean="0"/>
          </a:p>
          <a:p>
            <a:r>
              <a:rPr lang="en-US" altLang="zh-CN" dirty="0" smtClean="0"/>
              <a:t>AAM-CE</a:t>
            </a:r>
            <a:r>
              <a:rPr lang="zh-CN" altLang="en-US" dirty="0" smtClean="0"/>
              <a:t>可以理解成带加性角度间隔的交叉熵分类损失。普通</a:t>
            </a:r>
            <a:r>
              <a:rPr lang="en-US" altLang="zh-CN" dirty="0" err="1" smtClean="0"/>
              <a:t>Softmax</a:t>
            </a:r>
            <a:r>
              <a:rPr lang="zh-CN" altLang="en-US" dirty="0" smtClean="0"/>
              <a:t>只要求正确类得分最高，</a:t>
            </a:r>
            <a:r>
              <a:rPr lang="en-US" altLang="zh-CN" dirty="0" smtClean="0"/>
              <a:t>AAM</a:t>
            </a:r>
            <a:r>
              <a:rPr lang="zh-CN" altLang="en-US" dirty="0" smtClean="0"/>
              <a:t>会额外给真实类别增加一个角度</a:t>
            </a:r>
            <a:r>
              <a:rPr lang="en-US" altLang="zh-CN" dirty="0" smtClean="0"/>
              <a:t>margin</a:t>
            </a:r>
            <a:r>
              <a:rPr lang="zh-CN" altLang="en-US" dirty="0" smtClean="0"/>
              <a:t>，要求正确说话人不仅赢，而且要和其他说话人拉开更明显的角度间隔。我们这里分类头和声纹后端都是冻结的，所以这个</a:t>
            </a:r>
            <a:r>
              <a:rPr lang="en-US" altLang="zh-CN" dirty="0" smtClean="0"/>
              <a:t>loss</a:t>
            </a:r>
            <a:r>
              <a:rPr lang="zh-CN" altLang="en-US" dirty="0" smtClean="0"/>
              <a:t>不是训练后端，而是通过冻结验证器把梯度传回前端，让增强后的语音在已有声纹空间里更容易落到正确身份区域。</a:t>
            </a:r>
            <a:endParaRPr lang="en-US" altLang="zh-CN"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s</a:t>
            </a:r>
            <a:r>
              <a:rPr lang="zh-CN" altLang="en-US" dirty="0" smtClean="0"/>
              <a:t>作用：把</a:t>
            </a:r>
            <a:r>
              <a:rPr lang="en-US" altLang="zh-CN" dirty="0" smtClean="0"/>
              <a:t>[-1,1]</a:t>
            </a:r>
            <a:r>
              <a:rPr lang="zh-CN" altLang="en-US" dirty="0" smtClean="0"/>
              <a:t>范围的余弦相似度放大成适合分类优化的</a:t>
            </a:r>
            <a:r>
              <a:rPr lang="en-US" altLang="zh-CN" dirty="0" smtClean="0"/>
              <a:t>logit</a:t>
            </a:r>
            <a:r>
              <a:rPr lang="zh-CN" altLang="en-US" dirty="0" smtClean="0"/>
              <a:t>。</a:t>
            </a:r>
            <a:r>
              <a:rPr lang="en-US" altLang="zh-CN" dirty="0" smtClean="0"/>
              <a:t>CE</a:t>
            </a:r>
            <a:r>
              <a:rPr lang="zh-CN" altLang="en-US" dirty="0" smtClean="0"/>
              <a:t>会拉开距离，但</a:t>
            </a:r>
            <a:r>
              <a:rPr lang="en-US" altLang="zh-CN" dirty="0" smtClean="0"/>
              <a:t>AAM</a:t>
            </a:r>
            <a:r>
              <a:rPr lang="zh-CN" altLang="en-US" dirty="0" smtClean="0"/>
              <a:t>让这种距离变成有明确角度</a:t>
            </a:r>
            <a:r>
              <a:rPr lang="en-US" altLang="zh-CN" dirty="0" smtClean="0"/>
              <a:t>margin</a:t>
            </a:r>
            <a:r>
              <a:rPr lang="zh-CN" altLang="en-US" dirty="0" smtClean="0"/>
              <a:t>约束的判别空间</a:t>
            </a:r>
          </a:p>
          <a:p>
            <a:r>
              <a:rPr lang="en-US" altLang="zh-CN" b="1" dirty="0" smtClean="0"/>
              <a:t>7. </a:t>
            </a:r>
            <a:r>
              <a:rPr lang="zh-CN" altLang="en-US" b="1" dirty="0" smtClean="0"/>
              <a:t>如果老师问：“既然有</a:t>
            </a:r>
            <a:r>
              <a:rPr lang="en-US" altLang="zh-CN" b="1" dirty="0" smtClean="0"/>
              <a:t>AAM-CE</a:t>
            </a:r>
            <a:r>
              <a:rPr lang="zh-CN" altLang="en-US" b="1" dirty="0" smtClean="0"/>
              <a:t>，为什么还需要难负？”</a:t>
            </a:r>
          </a:p>
          <a:p>
            <a:r>
              <a:rPr lang="en-US" altLang="zh-CN" dirty="0" smtClean="0"/>
              <a:t>AAM-CE</a:t>
            </a:r>
            <a:r>
              <a:rPr lang="zh-CN" altLang="en-US" dirty="0" smtClean="0"/>
              <a:t>从全局类别空间优化判别边界，它要求真实说话人与所有其他类别保持角度间隔；但开集验证中的误接受往往由少数高度相似的困难说话人产生，这些局部混淆样本未必能被全局分类边界充分关注。因此我们额外引入难负原型抑制，动态选择与当前目标最接近的</a:t>
            </a:r>
            <a:r>
              <a:rPr lang="en-US" altLang="zh-CN" dirty="0" smtClean="0"/>
              <a:t>Top-K</a:t>
            </a:r>
            <a:r>
              <a:rPr lang="zh-CN" altLang="en-US" dirty="0" smtClean="0"/>
              <a:t>非目标原型，对其施加针对性惩罚。二者分别解决全局类间分离和局部冒认风险问题。</a:t>
            </a:r>
          </a:p>
          <a:p>
            <a:endParaRPr lang="en-US" altLang="zh-CN" sz="1200"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Lspk和Lns是不是重复</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不重复。Lspk解决“像不像目标”，属于正向拉近；Lns解决“是否远离最难非目标”，属于负向边界约束。一个只拉近目标可能会把整体空间一起挤近，所以还需要显式推远非目标。</a:t>
            </a:r>
          </a:p>
          <a:p>
            <a:r>
              <a:rPr lang="en-US" altLang="zh-CN" sz="1200" b="1" kern="1200" dirty="0" smtClean="0">
                <a:solidFill>
                  <a:schemeClr val="tx1"/>
                </a:solidFill>
                <a:effectLst/>
                <a:latin typeface="+mn-lt"/>
                <a:ea typeface="+mn-ea"/>
                <a:cs typeface="+mn-cs"/>
              </a:rPr>
              <a:t>Top-K为什么是8？τ为什么0.30？</a:t>
            </a:r>
          </a:p>
          <a:p>
            <a:r>
              <a:rPr lang="en-US" altLang="zh-CN" sz="1200" kern="1200" dirty="0" err="1" smtClean="0">
                <a:solidFill>
                  <a:schemeClr val="tx1"/>
                </a:solidFill>
                <a:effectLst/>
                <a:latin typeface="+mn-lt"/>
                <a:ea typeface="+mn-ea"/>
                <a:cs typeface="+mn-cs"/>
              </a:rPr>
              <a:t>这是训练超参数，来自代理验证集上的选点</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消融。答辩时不把它包装成理论最优，而是说明在固定预算下该组合表现最好、训练稳定</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为什么还需要Lce？有Lspk和Lns不够吗</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Lspk和Lns主要约束相似关系，Lce用AAM-CE从整体分类边界上增强判别性，三者关注的层次不同</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为什么不用SI-SNR或PESQ直接优化</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本任务最终指标是声纹验证而不是纯听感质量。信号恢复由Lse负责兜底，身份相关损失直接针对EER所需的判别特征</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D1F139-B027-4105-9E5E-37A3F001D4C4}" type="slidenum">
              <a:rPr lang="zh-CN" altLang="en-US" smtClean="0"/>
              <a:t>14</a:t>
            </a:fld>
            <a:endParaRPr lang="zh-CN" altLang="en-US"/>
          </a:p>
        </p:txBody>
      </p:sp>
    </p:spTree>
    <p:extLst>
      <p:ext uri="{BB962C8B-B14F-4D97-AF65-F5344CB8AC3E}">
        <p14:creationId xmlns:p14="http://schemas.microsoft.com/office/powerpoint/2010/main" val="3830571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训练上我们没有一次把所有东西堆进去，而是一步一步加</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第一步把条件化前端接入打分链路：</a:t>
            </a:r>
            <a:r>
              <a:rPr lang="en-US" altLang="zh-CN" sz="1200" kern="1200" dirty="0" err="1" smtClean="0">
                <a:solidFill>
                  <a:schemeClr val="tx1"/>
                </a:solidFill>
                <a:effectLst/>
                <a:latin typeface="+mn-lt"/>
                <a:ea typeface="+mn-ea"/>
                <a:cs typeface="+mn-cs"/>
              </a:rPr>
              <a:t>FiLM</a:t>
            </a:r>
            <a:r>
              <a:rPr lang="en-US" altLang="zh-CN" sz="1200" kern="1200" dirty="0" smtClean="0">
                <a:solidFill>
                  <a:schemeClr val="tx1"/>
                </a:solidFill>
                <a:effectLst/>
                <a:latin typeface="+mn-lt"/>
                <a:ea typeface="+mn-ea"/>
                <a:cs typeface="+mn-cs"/>
              </a:rPr>
              <a:t> </a:t>
            </a:r>
            <a:r>
              <a:rPr lang="zh-CN" altLang="en-US" sz="1200" kern="1200" dirty="0" smtClean="0">
                <a:solidFill>
                  <a:schemeClr val="tx1"/>
                </a:solidFill>
                <a:effectLst/>
                <a:latin typeface="+mn-lt"/>
                <a:ea typeface="+mn-ea"/>
                <a:cs typeface="+mn-cs"/>
              </a:rPr>
              <a:t>调制模块零初始化、从通用降噪基座恒等起步，只做“掩码重建</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分类”两项损失的基座适配训练 </a:t>
            </a:r>
            <a:r>
              <a:rPr lang="en-US" altLang="zh-CN" sz="1200" kern="1200" dirty="0" smtClean="0">
                <a:solidFill>
                  <a:schemeClr val="tx1"/>
                </a:solidFill>
                <a:effectLst/>
                <a:latin typeface="+mn-lt"/>
                <a:ea typeface="+mn-ea"/>
                <a:cs typeface="+mn-cs"/>
              </a:rPr>
              <a:t>3 </a:t>
            </a:r>
            <a:r>
              <a:rPr lang="zh-CN" altLang="en-US" sz="1200" kern="1200" dirty="0" smtClean="0">
                <a:solidFill>
                  <a:schemeClr val="tx1"/>
                </a:solidFill>
                <a:effectLst/>
                <a:latin typeface="+mn-lt"/>
                <a:ea typeface="+mn-ea"/>
                <a:cs typeface="+mn-cs"/>
              </a:rPr>
              <a:t>轮</a:t>
            </a:r>
            <a:r>
              <a:rPr lang="en-US" altLang="zh-CN" sz="1200" kern="1200" dirty="0" smtClean="0">
                <a:solidFill>
                  <a:schemeClr val="tx1"/>
                </a:solidFill>
                <a:effectLst/>
                <a:latin typeface="+mn-lt"/>
                <a:ea typeface="+mn-ea"/>
                <a:cs typeface="+mn-cs"/>
              </a:rPr>
              <a:t>——</a:t>
            </a:r>
            <a:r>
              <a:rPr lang="zh-CN" altLang="en-US" sz="1200" kern="1200" dirty="0" smtClean="0">
                <a:solidFill>
                  <a:schemeClr val="tx1"/>
                </a:solidFill>
                <a:effectLst/>
                <a:latin typeface="+mn-lt"/>
                <a:ea typeface="+mn-ea"/>
                <a:cs typeface="+mn-cs"/>
              </a:rPr>
              <a:t>分类损失从这一步就在，它把前端往“验证器心目中的好嵌入”方向拉</a:t>
            </a:r>
            <a:r>
              <a:rPr lang="en-US" altLang="zh-CN" sz="1200" kern="1200" dirty="0" smtClean="0">
                <a:solidFill>
                  <a:schemeClr val="tx1"/>
                </a:solidFill>
                <a:effectLst/>
                <a:latin typeface="+mn-lt"/>
                <a:ea typeface="+mn-ea"/>
                <a:cs typeface="+mn-cs"/>
              </a:rPr>
              <a:t>；再加说话人保持，解决“像不像目标”。第三步加入难负原型抑制和分类判别，显式解决“是不是远离非目标”，这一阶段提升最明显。继续训练出现明显回归后我们就停止，没有为了追更好看的结果继续刷官方测试。</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最后再加入1、2、3秒随机裁切，主要解决短语音问题，得到最终交付的4.89和5.56。</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这套策略的核心不是“</a:t>
            </a:r>
            <a:r>
              <a:rPr lang="en-US" altLang="zh-CN" sz="1200" kern="1200" dirty="0" err="1" smtClean="0">
                <a:solidFill>
                  <a:schemeClr val="tx1"/>
                </a:solidFill>
                <a:effectLst/>
                <a:latin typeface="+mn-lt"/>
                <a:ea typeface="+mn-ea"/>
                <a:cs typeface="+mn-cs"/>
              </a:rPr>
              <a:t>训练越久越好</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而是每次只引入一个主要变化，收益来源比较容易归因</a:t>
            </a:r>
            <a:r>
              <a:rPr lang="en-US" altLang="zh-CN" sz="1200" kern="1200" dirty="0" smtClean="0">
                <a:solidFill>
                  <a:schemeClr val="tx1"/>
                </a:solidFill>
                <a:effectLst/>
                <a:latin typeface="+mn-lt"/>
                <a:ea typeface="+mn-ea"/>
                <a:cs typeface="+mn-cs"/>
              </a:rPr>
              <a:t>。</a:t>
            </a:r>
          </a:p>
          <a:p>
            <a:endParaRPr lang="en-US" altLang="zh-CN" b="1" dirty="0" smtClean="0"/>
          </a:p>
          <a:p>
            <a:r>
              <a:rPr lang="zh-CN" altLang="en-US" b="1" dirty="0" smtClean="0"/>
              <a:t>“你不是最后还是用</a:t>
            </a:r>
            <a:r>
              <a:rPr lang="en-US" altLang="zh-CN" b="1" dirty="0" smtClean="0"/>
              <a:t>3</a:t>
            </a:r>
            <a:r>
              <a:rPr lang="zh-CN" altLang="en-US" b="1" dirty="0" smtClean="0"/>
              <a:t>秒测试吗？为什么随机</a:t>
            </a:r>
            <a:r>
              <a:rPr lang="en-US" altLang="zh-CN" b="1" dirty="0" smtClean="0"/>
              <a:t>1/2/3</a:t>
            </a:r>
            <a:r>
              <a:rPr lang="zh-CN" altLang="en-US" b="1" dirty="0" smtClean="0"/>
              <a:t>秒训练还能提升</a:t>
            </a:r>
            <a:r>
              <a:rPr lang="en-US" altLang="zh-CN" b="1" dirty="0" smtClean="0"/>
              <a:t>3</a:t>
            </a:r>
            <a:r>
              <a:rPr lang="zh-CN" altLang="en-US" b="1" dirty="0" smtClean="0"/>
              <a:t>秒？”</a:t>
            </a:r>
            <a:endParaRPr lang="zh-CN" altLang="en-US" dirty="0" smtClean="0"/>
          </a:p>
          <a:p>
            <a:r>
              <a:rPr lang="zh-CN" altLang="en-US" dirty="0" smtClean="0"/>
              <a:t>是的，测试端的</a:t>
            </a:r>
            <a:r>
              <a:rPr lang="en-US" altLang="zh-CN" dirty="0" smtClean="0"/>
              <a:t>3</a:t>
            </a:r>
            <a:r>
              <a:rPr lang="zh-CN" altLang="en-US" dirty="0" smtClean="0"/>
              <a:t>秒协议没有变化，随机时长只作用在训练阶段。它的作用不只是补短语音，而是一种时长维度的数据增强和正则化。固定</a:t>
            </a:r>
            <a:r>
              <a:rPr lang="en-US" altLang="zh-CN" dirty="0" smtClean="0"/>
              <a:t>3</a:t>
            </a:r>
            <a:r>
              <a:rPr lang="zh-CN" altLang="en-US" dirty="0" smtClean="0"/>
              <a:t>秒训练会使前端依赖固定的时间上下文，甚至学习与</a:t>
            </a:r>
            <a:r>
              <a:rPr lang="en-US" altLang="zh-CN" dirty="0" smtClean="0"/>
              <a:t>3</a:t>
            </a:r>
            <a:r>
              <a:rPr lang="zh-CN" altLang="en-US" dirty="0" smtClean="0"/>
              <a:t>秒段长相关的捷径；随机</a:t>
            </a:r>
            <a:r>
              <a:rPr lang="en-US" altLang="zh-CN" dirty="0" smtClean="0"/>
              <a:t>1</a:t>
            </a:r>
            <a:r>
              <a:rPr lang="zh-CN" altLang="en-US" dirty="0" smtClean="0"/>
              <a:t>、</a:t>
            </a:r>
            <a:r>
              <a:rPr lang="en-US" altLang="zh-CN" dirty="0" smtClean="0"/>
              <a:t>2</a:t>
            </a:r>
            <a:r>
              <a:rPr lang="zh-CN" altLang="en-US" dirty="0" smtClean="0"/>
              <a:t>、</a:t>
            </a:r>
            <a:r>
              <a:rPr lang="en-US" altLang="zh-CN" dirty="0" smtClean="0"/>
              <a:t>3</a:t>
            </a:r>
            <a:r>
              <a:rPr lang="zh-CN" altLang="en-US" dirty="0" smtClean="0"/>
              <a:t>秒裁切以后，同一说话人的不同长度片段都需要在注册条件下映射到一致的身份区域，因此模型被迫学习对时长更不敏感、更加稳定的说话人特征。对我们的身份保持损失和难负抑制损失来说，相当于从多个不同长度视图共同压缩目标类内方差、扩大与非目标的间隔。所以即使最终仍用</a:t>
            </a:r>
            <a:r>
              <a:rPr lang="en-US" altLang="zh-CN" dirty="0" smtClean="0"/>
              <a:t>3</a:t>
            </a:r>
            <a:r>
              <a:rPr lang="zh-CN" altLang="en-US" dirty="0" smtClean="0"/>
              <a:t>秒测试，</a:t>
            </a:r>
            <a:r>
              <a:rPr lang="en-US" altLang="zh-CN" dirty="0" smtClean="0"/>
              <a:t>3</a:t>
            </a:r>
            <a:r>
              <a:rPr lang="zh-CN" altLang="en-US" dirty="0" smtClean="0"/>
              <a:t>秒上的泛化性能也可能进一步提高。严格来说，目前随机时长与最终交付后端之间还存在评测口径变化，因此如果要单独量化随机时长对</a:t>
            </a:r>
            <a:r>
              <a:rPr lang="en-US" altLang="zh-CN" dirty="0" smtClean="0"/>
              <a:t>3</a:t>
            </a:r>
            <a:r>
              <a:rPr lang="zh-CN" altLang="en-US" dirty="0" smtClean="0"/>
              <a:t>秒的净贡献，还需要做同</a:t>
            </a:r>
            <a:r>
              <a:rPr lang="en-US" altLang="zh-CN" dirty="0" smtClean="0"/>
              <a:t>checkpoint</a:t>
            </a:r>
            <a:r>
              <a:rPr lang="zh-CN" altLang="en-US" dirty="0" smtClean="0"/>
              <a:t>、同后端、同预算的固定</a:t>
            </a:r>
            <a:r>
              <a:rPr lang="en-US" altLang="zh-CN" dirty="0" smtClean="0"/>
              <a:t>3</a:t>
            </a:r>
            <a:r>
              <a:rPr lang="zh-CN" altLang="en-US" dirty="0" smtClean="0"/>
              <a:t>秒与随机时长对照实验。</a:t>
            </a:r>
            <a:r>
              <a:rPr lang="en-US" altLang="zh-CN" dirty="0" err="1" smtClean="0"/>
              <a:t>FullSubNet</a:t>
            </a:r>
            <a:r>
              <a:rPr lang="en-US" altLang="zh-CN" dirty="0" smtClean="0"/>
              <a:t>+ </a:t>
            </a:r>
            <a:r>
              <a:rPr lang="zh-CN" altLang="en-US" dirty="0" smtClean="0"/>
              <a:t>本身有 </a:t>
            </a:r>
            <a:r>
              <a:rPr lang="en-US" altLang="zh-CN" dirty="0" smtClean="0"/>
              <a:t>LSTM</a:t>
            </a:r>
            <a:r>
              <a:rPr lang="zh-CN" altLang="en-US" dirty="0" smtClean="0"/>
              <a:t>，全带和子带都在建模时间上下文。你的报告里也是以全带 </a:t>
            </a:r>
            <a:r>
              <a:rPr lang="en-US" altLang="zh-CN" dirty="0" smtClean="0"/>
              <a:t>LSTM 512</a:t>
            </a:r>
            <a:r>
              <a:rPr lang="zh-CN" altLang="en-US" dirty="0" smtClean="0"/>
              <a:t>、子带 </a:t>
            </a:r>
            <a:r>
              <a:rPr lang="en-US" altLang="zh-CN" dirty="0" smtClean="0"/>
              <a:t>LSTM 384 </a:t>
            </a:r>
            <a:r>
              <a:rPr lang="zh-CN" altLang="en-US" dirty="0" smtClean="0"/>
              <a:t>的形式使用</a:t>
            </a:r>
            <a:r>
              <a:rPr lang="en-US" altLang="zh-CN" dirty="0" smtClean="0"/>
              <a:t>,</a:t>
            </a:r>
            <a:r>
              <a:rPr lang="zh-CN" altLang="en-US" dirty="0" smtClean="0"/>
              <a:t>而随机时长会导致它有时只能看到较短序列。因此网络会更倾向于利用</a:t>
            </a:r>
            <a:r>
              <a:rPr lang="zh-CN" altLang="en-US" b="1" dirty="0" smtClean="0"/>
              <a:t>局部、稳定、重复出现的声学模式</a:t>
            </a:r>
            <a:r>
              <a:rPr lang="zh-CN" altLang="en-US" dirty="0" smtClean="0"/>
              <a:t>，而不是强依赖远距离上下文。</a:t>
            </a: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为什么第三步从6.52/8.17又能到5.24/6.10？是不是还有别的技巧？</a:t>
            </a:r>
          </a:p>
          <a:p>
            <a:r>
              <a:rPr lang="en-US" altLang="zh-CN" sz="1200" kern="1200" dirty="0" smtClean="0">
                <a:solidFill>
                  <a:schemeClr val="tx1"/>
                </a:solidFill>
                <a:effectLst/>
                <a:latin typeface="+mn-lt"/>
                <a:ea typeface="+mn-ea"/>
                <a:cs typeface="+mn-cs"/>
              </a:rPr>
              <a:t>没有再引入新的核心损失项，主要是在同一判别配方下继续训练到验证集最优点。汇报里把它统一归到“难负原型抑制+分类判别阶段”，不单独包装成另一种新方法。</a:t>
            </a:r>
          </a:p>
          <a:p>
            <a:r>
              <a:rPr lang="en-US" altLang="zh-CN" sz="1200" b="1" kern="1200" dirty="0" smtClean="0">
                <a:solidFill>
                  <a:schemeClr val="tx1"/>
                </a:solidFill>
                <a:effectLst/>
                <a:latin typeface="+mn-lt"/>
                <a:ea typeface="+mn-ea"/>
                <a:cs typeface="+mn-cs"/>
              </a:rPr>
              <a:t>为什么第4轮回归就停？</a:t>
            </a:r>
          </a:p>
          <a:p>
            <a:r>
              <a:rPr lang="en-US" altLang="zh-CN" sz="1200" kern="1200" dirty="0" err="1" smtClean="0">
                <a:solidFill>
                  <a:schemeClr val="tx1"/>
                </a:solidFill>
                <a:effectLst/>
                <a:latin typeface="+mn-lt"/>
                <a:ea typeface="+mn-ea"/>
                <a:cs typeface="+mn-cs"/>
              </a:rPr>
              <a:t>因为模型选择依据代理验证集的预设规则。继续训练已经出现明显回归，说明开始过拟合；官方测试集不用于反复挑轮数</a:t>
            </a:r>
            <a:r>
              <a:rPr lang="en-US" altLang="zh-CN" sz="1200" kern="1200" dirty="0" smtClean="0">
                <a:solidFill>
                  <a:schemeClr val="tx1"/>
                </a:solidFill>
                <a:effectLst/>
                <a:latin typeface="+mn-lt"/>
                <a:ea typeface="+mn-ea"/>
                <a:cs typeface="+mn-cs"/>
              </a:rPr>
              <a:t>。</a:t>
            </a:r>
            <a:endParaRPr lang="en-US" altLang="zh-CN" sz="1200" b="1" kern="1200" dirty="0" smtClean="0">
              <a:solidFill>
                <a:schemeClr val="tx1"/>
              </a:solidFill>
              <a:effectLst/>
              <a:latin typeface="+mn-lt"/>
              <a:ea typeface="+mn-ea"/>
              <a:cs typeface="+mn-cs"/>
            </a:endParaRPr>
          </a:p>
          <a:p>
            <a:r>
              <a:rPr lang="en-US" altLang="zh-CN" sz="1200" b="1" kern="1200" dirty="0" smtClean="0">
                <a:solidFill>
                  <a:schemeClr val="tx1"/>
                </a:solidFill>
                <a:effectLst/>
                <a:latin typeface="+mn-lt"/>
                <a:ea typeface="+mn-ea"/>
                <a:cs typeface="+mn-cs"/>
              </a:rPr>
              <a:t>随机时长增强为什么能解决1秒？</a:t>
            </a:r>
          </a:p>
          <a:p>
            <a:r>
              <a:rPr lang="en-US" altLang="zh-CN" sz="1200" kern="1200" dirty="0" smtClean="0">
                <a:solidFill>
                  <a:schemeClr val="tx1"/>
                </a:solidFill>
                <a:effectLst/>
                <a:latin typeface="+mn-lt"/>
                <a:ea typeface="+mn-ea"/>
                <a:cs typeface="+mn-cs"/>
              </a:rPr>
              <a:t>固定3秒训练会让模型习惯较长上下文，1秒时身份信息更少、统计更不稳定。随机1/2/3秒让训练阶段提前适应短片段。</a:t>
            </a:r>
          </a:p>
          <a:p>
            <a:r>
              <a:rPr lang="en-US" altLang="zh-CN" sz="1200" b="1" kern="1200" dirty="0" smtClean="0">
                <a:solidFill>
                  <a:schemeClr val="tx1"/>
                </a:solidFill>
                <a:effectLst/>
                <a:latin typeface="+mn-lt"/>
                <a:ea typeface="+mn-ea"/>
                <a:cs typeface="+mn-cs"/>
              </a:rPr>
              <a:t>步骤1—4和步骤5为什么口径不同？</a:t>
            </a:r>
          </a:p>
          <a:p>
            <a:r>
              <a:rPr lang="en-US" altLang="zh-CN" sz="1200" kern="1200" dirty="0" smtClean="0">
                <a:solidFill>
                  <a:schemeClr val="tx1"/>
                </a:solidFill>
                <a:effectLst/>
                <a:latin typeface="+mn-lt"/>
                <a:ea typeface="+mn-ea"/>
                <a:cs typeface="+mn-cs"/>
              </a:rPr>
              <a:t>前几步用冻结训练期验证器做选点，最后一步回到最终交付后端做官方口径终评。因此PPT已明确标注两种口径，不能把数字理解成严格同一后端上的连续曲线。</a:t>
            </a:r>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65D1F139-B027-4105-9E5E-37A3F001D4C4}" type="slidenum">
              <a:rPr lang="zh-CN" altLang="en-US" smtClean="0"/>
              <a:t>15</a:t>
            </a:fld>
            <a:endParaRPr lang="zh-CN" altLang="en-US"/>
          </a:p>
        </p:txBody>
      </p:sp>
    </p:spTree>
    <p:extLst>
      <p:ext uri="{BB962C8B-B14F-4D97-AF65-F5344CB8AC3E}">
        <p14:creationId xmlns:p14="http://schemas.microsoft.com/office/powerpoint/2010/main" val="2237688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第五部分</a:t>
            </a:r>
            <a:r>
              <a:rPr lang="en-US" altLang="zh-CN" dirty="0" smtClean="0"/>
              <a:t>,</a:t>
            </a:r>
            <a:r>
              <a:rPr lang="zh-CN" altLang="en-US" dirty="0" smtClean="0"/>
              <a:t>实验结果与消融。</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16</a:t>
            </a:fld>
            <a:endParaRPr lang="zh-CN" altLang="en-US"/>
          </a:p>
        </p:txBody>
      </p:sp>
    </p:spTree>
    <p:extLst>
      <p:ext uri="{BB962C8B-B14F-4D97-AF65-F5344CB8AC3E}">
        <p14:creationId xmlns:p14="http://schemas.microsoft.com/office/powerpoint/2010/main" val="4945331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这页就是最终验收结果</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主力ERes2Net在0 dB从8.39降到4.89，相对下降41.7%；-5 dB从11.06降到5.56，下降49.7%，两档都明显超过30%的验收线。</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ECAPA也分别下降43.3%和50.3%，同样过线，这说明前端的收益不是只绑定一个主力后端。轻量的ReDimNet-B6也有提升，但只有23.7%和28.2%，接近验收线但没有完全过，这也是后面要讲的一个局限。另外clean从5.29到4.17，至少说明前端没有以牺牲干净语音为代价换取噪声场景收益。</a:t>
            </a: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为什么ReDimNet没过线</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目前最合理的解释是训练监督主要来自ERes2Net系冻结验证器，前端学到的身份判别方向与B6嵌入空间不完全匹配。这个是解释性判断，不是已被严格证明的因果机理；下一步最直接的实验就是用B6自身作为验证器重训前端。</a:t>
            </a:r>
          </a:p>
          <a:p>
            <a:r>
              <a:rPr lang="zh-CN" altLang="en-US" sz="1200" b="1" kern="1200" dirty="0" smtClean="0">
                <a:solidFill>
                  <a:schemeClr val="tx1"/>
                </a:solidFill>
                <a:effectLst/>
                <a:latin typeface="+mn-lt"/>
                <a:ea typeface="+mn-ea"/>
                <a:cs typeface="+mn-cs"/>
              </a:rPr>
              <a:t>反而比</a:t>
            </a:r>
            <a:r>
              <a:rPr lang="en-US" altLang="zh-CN" sz="1200" b="1" kern="1200" dirty="0" smtClean="0">
                <a:solidFill>
                  <a:schemeClr val="tx1"/>
                </a:solidFill>
                <a:effectLst/>
                <a:latin typeface="+mn-lt"/>
                <a:ea typeface="+mn-ea"/>
                <a:cs typeface="+mn-cs"/>
              </a:rPr>
              <a:t>clean</a:t>
            </a:r>
            <a:r>
              <a:rPr lang="zh-CN" altLang="en-US" sz="1200" b="1" kern="1200" dirty="0" smtClean="0">
                <a:solidFill>
                  <a:schemeClr val="tx1"/>
                </a:solidFill>
                <a:effectLst/>
                <a:latin typeface="+mn-lt"/>
                <a:ea typeface="+mn-ea"/>
                <a:cs typeface="+mn-cs"/>
              </a:rPr>
              <a:t>还好</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是不是因为前端在做域归一化</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dirty="0" smtClean="0"/>
              <a:t>这个现象并不表示增强语音在物理意义上比</a:t>
            </a:r>
            <a:r>
              <a:rPr lang="en-US" altLang="zh-CN" dirty="0" smtClean="0"/>
              <a:t>clean</a:t>
            </a:r>
            <a:r>
              <a:rPr lang="zh-CN" altLang="en-US" dirty="0" smtClean="0"/>
              <a:t>语音更真实，而是因为我们的优化目标不是语音重建，而是声纹验证性能。传统</a:t>
            </a:r>
            <a:r>
              <a:rPr lang="en-US" altLang="zh-CN" dirty="0" smtClean="0"/>
              <a:t>clean</a:t>
            </a:r>
            <a:r>
              <a:rPr lang="zh-CN" altLang="en-US" dirty="0" smtClean="0"/>
              <a:t>语音包含完整声学信息，但其中部分变化来自通道、内容和环境，对身份判别并非都是有益信息。我们的前端在冻结声纹后端的约束下，通过说话人保持、难负抑制和</a:t>
            </a:r>
            <a:r>
              <a:rPr lang="en-US" altLang="zh-CN" dirty="0" smtClean="0"/>
              <a:t>AAM</a:t>
            </a:r>
            <a:r>
              <a:rPr lang="zh-CN" altLang="en-US" dirty="0" smtClean="0"/>
              <a:t>分类损失，主动增强与身份相关的判别特征，使输出</a:t>
            </a:r>
            <a:r>
              <a:rPr lang="en-US" altLang="zh-CN" dirty="0" smtClean="0"/>
              <a:t>embedding</a:t>
            </a:r>
            <a:r>
              <a:rPr lang="zh-CN" altLang="en-US" dirty="0" smtClean="0"/>
              <a:t>更加接近目标类别中心并远离混淆类别。因此在特定验证任务中，经过身份感知优化后的表示可能优于未经处理的</a:t>
            </a:r>
            <a:r>
              <a:rPr lang="en-US" altLang="zh-CN" dirty="0" smtClean="0"/>
              <a:t>clean</a:t>
            </a:r>
            <a:r>
              <a:rPr lang="zh-CN" altLang="en-US" dirty="0" smtClean="0"/>
              <a:t>输入。该结果说明模型优化的是声纹判别空间，而不是单纯恢复波形。</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17</a:t>
            </a:fld>
            <a:endParaRPr lang="zh-CN" altLang="en-US"/>
          </a:p>
        </p:txBody>
      </p:sp>
    </p:spTree>
    <p:extLst>
      <p:ext uri="{BB962C8B-B14F-4D97-AF65-F5344CB8AC3E}">
        <p14:creationId xmlns:p14="http://schemas.microsoft.com/office/powerpoint/2010/main" val="29862958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数字之外，我放一个3秒的真实样本帮助大家建立直观感受。</a:t>
            </a:r>
            <a:br>
              <a:rPr lang="en-US" altLang="zh-CN" sz="1200" kern="1200" dirty="0" smtClean="0">
                <a:solidFill>
                  <a:schemeClr val="tx1"/>
                </a:solidFill>
                <a:effectLst/>
                <a:latin typeface="+mn-lt"/>
                <a:ea typeface="+mn-ea"/>
                <a:cs typeface="+mn-cs"/>
              </a:rPr>
            </a:br>
            <a:r>
              <a:rPr lang="en-US" altLang="zh-CN" sz="1200" kern="1200" dirty="0" smtClean="0">
                <a:solidFill>
                  <a:schemeClr val="tx1"/>
                </a:solidFill>
                <a:effectLst/>
                <a:latin typeface="+mn-lt"/>
                <a:ea typeface="+mn-ea"/>
                <a:cs typeface="+mn-cs"/>
              </a:rPr>
              <a:t>第一段是0 dB的原始带噪语音，也就是目标语音和噪声能量接近；第二段是交付前端的增强结果；第三段是同一说话人的clean参考。大家主要听两个点：噪声有没有明显被压下去，以及目标说话人的音色和内容有没有被破坏。</a:t>
            </a:r>
          </a:p>
          <a:p>
            <a:endParaRPr lang="en-US"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听感变好和EER变好一定一致吗</a:t>
            </a:r>
            <a:r>
              <a:rPr lang="en-US" altLang="zh-CN" sz="1200"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不一定，这也是我们前期通用降噪失败得到的教训。所以最终方法同时看信号恢复和身份判别，而不是只凭主观听感</a:t>
            </a:r>
            <a:r>
              <a:rPr lang="en-US" altLang="zh-CN" sz="1200" kern="1200" dirty="0" smtClean="0">
                <a:solidFill>
                  <a:schemeClr val="tx1"/>
                </a:solidFill>
                <a:effectLst/>
                <a:latin typeface="+mn-lt"/>
                <a:ea typeface="+mn-ea"/>
                <a:cs typeface="+mn-cs"/>
              </a:rPr>
              <a:t>。</a:t>
            </a:r>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18</a:t>
            </a:fld>
            <a:endParaRPr lang="zh-CN" altLang="en-US"/>
          </a:p>
        </p:txBody>
      </p:sp>
    </p:spTree>
    <p:extLst>
      <p:ext uri="{BB962C8B-B14F-4D97-AF65-F5344CB8AC3E}">
        <p14:creationId xmlns:p14="http://schemas.microsoft.com/office/powerpoint/2010/main" val="42022901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前面的主结果只说明在主验收噪声池有效，所以我又把测试噪声换成训练阶段没见过的文件。纯音乐和SoundBible音效上仍然能保持接近40%以上的相对改善，说明主验收结果不是只记住了某一批噪声。但一旦换成竞争说话人，收益明显缩水，-5 </a:t>
            </a:r>
            <a:r>
              <a:rPr lang="en-US" altLang="zh-CN" sz="1200" kern="1200" dirty="0" err="1" smtClean="0">
                <a:solidFill>
                  <a:schemeClr val="tx1"/>
                </a:solidFill>
                <a:effectLst/>
                <a:latin typeface="+mn-lt"/>
                <a:ea typeface="+mn-ea"/>
                <a:cs typeface="+mn-cs"/>
              </a:rPr>
              <a:t>dB甚至略有恶化。这个对比很有价值：非人声噪声比较容易迁移，语音型干扰才是当前真正难的地方，和后面的多人重叠结果是同一个方向</a:t>
            </a:r>
            <a:r>
              <a:rPr lang="en-US" altLang="zh-CN" sz="1200" kern="1200" dirty="0" smtClean="0">
                <a:solidFill>
                  <a:schemeClr val="tx1"/>
                </a:solidFill>
                <a:effectLst/>
                <a:latin typeface="+mn-lt"/>
                <a:ea typeface="+mn-ea"/>
                <a:cs typeface="+mn-cs"/>
              </a:rPr>
              <a:t>。</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为什么竞争说话人比音乐</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音效难</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因为竞争人声和目标语音共享类似的语音结构、频谱和时序模式，不能简单把它当成背景噪声去压；在不损害目标身份的前提下做语音</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语音分离更难</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speech域-5 </a:t>
            </a:r>
            <a:r>
              <a:rPr lang="en-US" altLang="zh-CN" sz="1200" b="1" kern="1200" dirty="0" err="1" smtClean="0">
                <a:solidFill>
                  <a:schemeClr val="tx1"/>
                </a:solidFill>
                <a:effectLst/>
                <a:latin typeface="+mn-lt"/>
                <a:ea typeface="+mn-ea"/>
                <a:cs typeface="+mn-cs"/>
              </a:rPr>
              <a:t>dB反而变差，是不是方法失败</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说明当前方法对人声型干扰存在明确边界。我们没有把它隐藏掉，而是单独作为局限，并把后续工作优先放在人声混合训练和分离前端级联</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训练未见噪声文件能证明泛化吗</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提供更强的换域证据，但不是“对所有噪声都泛化”的绝对证明。因此表述是“</a:t>
            </a:r>
            <a:r>
              <a:rPr lang="en-US" altLang="zh-CN" sz="1200" kern="1200" dirty="0" err="1" smtClean="0">
                <a:solidFill>
                  <a:schemeClr val="tx1"/>
                </a:solidFill>
                <a:effectLst/>
                <a:latin typeface="+mn-lt"/>
                <a:ea typeface="+mn-ea"/>
                <a:cs typeface="+mn-cs"/>
              </a:rPr>
              <a:t>非人声换域噪声上稳定迁移</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不做无限外推</a:t>
            </a:r>
            <a:r>
              <a:rPr lang="en-US" altLang="zh-CN" sz="1200" kern="1200" dirty="0" smtClean="0">
                <a:solidFill>
                  <a:schemeClr val="tx1"/>
                </a:solidFill>
                <a:effectLst/>
                <a:latin typeface="+mn-lt"/>
                <a:ea typeface="+mn-ea"/>
                <a:cs typeface="+mn-cs"/>
              </a:rPr>
              <a:t>。</a:t>
            </a: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19</a:t>
            </a:fld>
            <a:endParaRPr lang="zh-CN" altLang="en-US"/>
          </a:p>
        </p:txBody>
      </p:sp>
    </p:spTree>
    <p:extLst>
      <p:ext uri="{BB962C8B-B14F-4D97-AF65-F5344CB8AC3E}">
        <p14:creationId xmlns:p14="http://schemas.microsoft.com/office/powerpoint/2010/main" val="40925594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这一页从三个维度补充泛化</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左边是时长：0 dB下1秒从18.56降到13.57，改善26.9%，还差一点到30%线；3秒和5秒都已经过线。</a:t>
            </a:r>
            <a:endParaRPr lang="zh-CN"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右上是复杂场景：混响有稳定改善，但多人重叠明显更难，再次说明语音型干扰是主要瓶颈</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右下是注册端鲁棒性。我们把注册语音本身从clean一路加噪到0 </a:t>
            </a:r>
            <a:r>
              <a:rPr lang="en-US" altLang="zh-CN" sz="1200" kern="1200" dirty="0" err="1" smtClean="0">
                <a:solidFill>
                  <a:schemeClr val="tx1"/>
                </a:solidFill>
                <a:effectLst/>
                <a:latin typeface="+mn-lt"/>
                <a:ea typeface="+mn-ea"/>
                <a:cs typeface="+mn-cs"/>
              </a:rPr>
              <a:t>dB，前端仍然保留比较明显的收益。也就是说，实际部署时注册阶段不一定非要达到录音棚级的clean条件</a:t>
            </a:r>
            <a:r>
              <a:rPr lang="en-US" altLang="zh-CN" sz="1200" kern="1200" dirty="0" smtClean="0">
                <a:solidFill>
                  <a:schemeClr val="tx1"/>
                </a:solidFill>
                <a:effectLst/>
                <a:latin typeface="+mn-lt"/>
                <a:ea typeface="+mn-ea"/>
                <a:cs typeface="+mn-cs"/>
              </a:rPr>
              <a:t>。</a:t>
            </a:r>
          </a:p>
          <a:p>
            <a:endParaRPr lang="en-US" altLang="zh-CN" sz="1200" b="1"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为什么注册端带噪实验不是官方测试口径</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这是补充鲁棒性诊断，使用100个未见说话人的代理验证集，目的不是替代主验收结论，而是观察注册质量变化时的趋势。主验收仍以官方冻结测试集为准。</a:t>
            </a:r>
          </a:p>
          <a:p>
            <a:r>
              <a:rPr lang="en-US" altLang="zh-CN" sz="1200" b="1" kern="1200" dirty="0" smtClean="0">
                <a:solidFill>
                  <a:schemeClr val="tx1"/>
                </a:solidFill>
                <a:effectLst/>
                <a:latin typeface="+mn-lt"/>
                <a:ea typeface="+mn-ea"/>
                <a:cs typeface="+mn-cs"/>
              </a:rPr>
              <a:t>为什么1秒只有26.9%，3秒和5秒明显更好？</a:t>
            </a:r>
          </a:p>
          <a:p>
            <a:r>
              <a:rPr lang="en-US" altLang="zh-CN" sz="1200" kern="1200" dirty="0" smtClean="0">
                <a:solidFill>
                  <a:schemeClr val="tx1"/>
                </a:solidFill>
                <a:effectLst/>
                <a:latin typeface="+mn-lt"/>
                <a:ea typeface="+mn-ea"/>
                <a:cs typeface="+mn-cs"/>
              </a:rPr>
              <a:t>1秒的身份信息更少，embedding估计方差更大，随机时长增强能缓解但不能凭空补回缺失信息，所以短语音仍是下一步重点。</a:t>
            </a:r>
          </a:p>
          <a:p>
            <a:r>
              <a:rPr lang="en-US" altLang="zh-CN" sz="1200" b="1" kern="1200" dirty="0" err="1" smtClean="0">
                <a:solidFill>
                  <a:schemeClr val="tx1"/>
                </a:solidFill>
                <a:effectLst/>
                <a:latin typeface="+mn-lt"/>
                <a:ea typeface="+mn-ea"/>
                <a:cs typeface="+mn-cs"/>
              </a:rPr>
              <a:t>三人中文重叠为什么降幅反而比二人中文更大</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相对降幅受到raw基线难度影响，三人重叠的原始EER更高，所以不能只看相对百分比判断哪个场景更容易；绝对EER仍然是三人重叠更困难。</a:t>
            </a:r>
            <a:endParaRPr lang="zh-CN"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A9B40070-7991-483E-99D3-F39B8081B956}" type="slidenum">
              <a:rPr lang="zh-CN" altLang="en-US" smtClean="0"/>
              <a:t>20</a:t>
            </a:fld>
            <a:endParaRPr lang="zh-CN" altLang="en-US"/>
          </a:p>
        </p:txBody>
      </p:sp>
    </p:spTree>
    <p:extLst>
      <p:ext uri="{BB962C8B-B14F-4D97-AF65-F5344CB8AC3E}">
        <p14:creationId xmlns:p14="http://schemas.microsoft.com/office/powerpoint/2010/main" val="18733886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前面主要用EER看总体可分性，这里再看更接近工程部署的工作点</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minDCF和固定阈值下的FAR、FRR都和EER同方向改善。比如主力0 dB在FAR固定5%时，FRR从12.46%降到4.77%；</a:t>
            </a:r>
            <a:r>
              <a:rPr lang="en-US" altLang="zh-CN" sz="1200" kern="1200" dirty="0" err="1" smtClean="0">
                <a:solidFill>
                  <a:schemeClr val="tx1"/>
                </a:solidFill>
                <a:effectLst/>
                <a:latin typeface="+mn-lt"/>
                <a:ea typeface="+mn-ea"/>
                <a:cs typeface="+mn-cs"/>
              </a:rPr>
              <a:t>下面的DET曲线也能看到增强后整体往更优方向移动</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右边我另外做了失败样本统计，用来定位哪些说话人最容易漏判、哪些区域是模型边界。这部分主要用于诊断和后续方案设计，不会拿官方测试标签反过来修改测试集分布。</a:t>
            </a:r>
          </a:p>
          <a:p>
            <a:endParaRPr lang="en-US" altLang="zh-CN" sz="1200" kern="1200" dirty="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smtClean="0"/>
              <a:t>Detection Cost Function </a:t>
            </a:r>
            <a:r>
              <a:rPr lang="zh-CN" altLang="en-US" dirty="0" smtClean="0"/>
              <a:t>检测代价函数。</a:t>
            </a:r>
            <a:endParaRPr lang="en-US" altLang="zh-CN" dirty="0" smtClean="0"/>
          </a:p>
          <a:p>
            <a:r>
              <a:rPr lang="en-US" altLang="zh-CN" dirty="0" err="1" smtClean="0"/>
              <a:t>minDCF</a:t>
            </a:r>
            <a:r>
              <a:rPr lang="zh-CN" altLang="en-US" dirty="0" smtClean="0"/>
              <a:t>是考虑实际部署成本的评价指标，它通过给误拒绝和误接受设置不同权重，在所有判决阈值中寻找最低检测代价。相比</a:t>
            </a:r>
            <a:r>
              <a:rPr lang="en-US" altLang="zh-CN" dirty="0" smtClean="0"/>
              <a:t>EER</a:t>
            </a:r>
            <a:r>
              <a:rPr lang="zh-CN" altLang="en-US" dirty="0" smtClean="0"/>
              <a:t>只关注错误率相等的单一工作点，</a:t>
            </a:r>
            <a:r>
              <a:rPr lang="en-US" altLang="zh-CN" dirty="0" err="1" smtClean="0"/>
              <a:t>minDCF</a:t>
            </a:r>
            <a:r>
              <a:rPr lang="zh-CN" altLang="en-US" dirty="0" smtClean="0"/>
              <a:t>更能反映声纹系统在实际安全认证场景下的运行性能。本实验中</a:t>
            </a:r>
            <a:r>
              <a:rPr lang="en-US" altLang="zh-CN" dirty="0" smtClean="0"/>
              <a:t>EER</a:t>
            </a:r>
            <a:r>
              <a:rPr lang="zh-CN" altLang="en-US" dirty="0" smtClean="0"/>
              <a:t>降低的同时，</a:t>
            </a:r>
            <a:r>
              <a:rPr lang="en-US" altLang="zh-CN" dirty="0" err="1" smtClean="0"/>
              <a:t>minDCF</a:t>
            </a:r>
            <a:r>
              <a:rPr lang="zh-CN" altLang="en-US" dirty="0" smtClean="0"/>
              <a:t>同步下降，说明模型不仅改善平均判别能力，也改善了实际部署工作点下的风险。</a:t>
            </a:r>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EER、minDCF、FAR</a:t>
            </a:r>
            <a:r>
              <a:rPr lang="en-US" altLang="zh-CN" sz="1200" b="1" kern="1200" dirty="0" smtClean="0">
                <a:solidFill>
                  <a:schemeClr val="tx1"/>
                </a:solidFill>
                <a:effectLst/>
                <a:latin typeface="+mn-lt"/>
                <a:ea typeface="+mn-ea"/>
                <a:cs typeface="+mn-cs"/>
              </a:rPr>
              <a:t>/</a:t>
            </a:r>
            <a:r>
              <a:rPr lang="en-US" altLang="zh-CN" sz="1200" b="1" kern="1200" dirty="0" err="1" smtClean="0">
                <a:solidFill>
                  <a:schemeClr val="tx1"/>
                </a:solidFill>
                <a:effectLst/>
                <a:latin typeface="+mn-lt"/>
                <a:ea typeface="+mn-ea"/>
                <a:cs typeface="+mn-cs"/>
              </a:rPr>
              <a:t>FRR分别看什么</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smtClean="0">
                <a:solidFill>
                  <a:schemeClr val="tx1"/>
                </a:solidFill>
                <a:effectLst/>
                <a:latin typeface="+mn-lt"/>
                <a:ea typeface="+mn-ea"/>
                <a:cs typeface="+mn-cs"/>
              </a:rPr>
              <a:t>EER看整体可分性；固定FAR</a:t>
            </a:r>
            <a:r>
              <a:rPr lang="en-US" altLang="zh-CN" sz="1200" kern="1200" dirty="0" smtClean="0">
                <a:solidFill>
                  <a:schemeClr val="tx1"/>
                </a:solidFill>
                <a:effectLst/>
                <a:latin typeface="+mn-lt"/>
                <a:ea typeface="+mn-ea"/>
                <a:cs typeface="+mn-cs"/>
              </a:rPr>
              <a:t>/FRR看指定业务风险下另一类错误是多少；minDCF是在给定先验和代价下综合评价。三者同向改善，说明结果不是只在某一个阈值点好看。</a:t>
            </a:r>
            <a:endParaRPr lang="zh-CN"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DET曲线怎么看</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err="1" smtClean="0">
                <a:solidFill>
                  <a:schemeClr val="tx1"/>
                </a:solidFill>
                <a:effectLst/>
                <a:latin typeface="+mn-lt"/>
                <a:ea typeface="+mn-ea"/>
                <a:cs typeface="+mn-cs"/>
              </a:rPr>
              <a:t>横轴FAR、纵轴FRR，越靠左下越好。增强后的曲线整体位于baseline更优的一侧，说明不是只在EER交点附近改善</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失败样本分析会不会造成测试集泄漏</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不会用于重新训练或改测试分布。它用于结果诊断和困难说话人定位；模型选择仍在代理验证集，官方测试集冻结</a:t>
            </a:r>
            <a:r>
              <a:rPr lang="en-US" altLang="zh-CN" sz="1200" kern="1200" dirty="0" smtClean="0">
                <a:solidFill>
                  <a:schemeClr val="tx1"/>
                </a:solidFill>
                <a:effectLst/>
                <a:latin typeface="+mn-lt"/>
                <a:ea typeface="+mn-ea"/>
                <a:cs typeface="+mn-cs"/>
              </a:rPr>
              <a:t>。</a:t>
            </a:r>
          </a:p>
          <a:p>
            <a:r>
              <a:rPr lang="en-US" altLang="zh-CN" sz="1200" b="1" kern="1200" dirty="0" smtClean="0">
                <a:solidFill>
                  <a:schemeClr val="tx1"/>
                </a:solidFill>
                <a:effectLst/>
                <a:latin typeface="+mn-lt"/>
                <a:ea typeface="+mn-ea"/>
                <a:cs typeface="+mn-cs"/>
              </a:rPr>
              <a:t>最困难说话人45.6%漏报说明什么？</a:t>
            </a:r>
          </a:p>
          <a:p>
            <a:r>
              <a:rPr lang="en-US" altLang="zh-CN" sz="1200" kern="1200" dirty="0" err="1" smtClean="0">
                <a:solidFill>
                  <a:schemeClr val="tx1"/>
                </a:solidFill>
                <a:effectLst/>
                <a:latin typeface="+mn-lt"/>
                <a:ea typeface="+mn-ea"/>
                <a:cs typeface="+mn-cs"/>
              </a:rPr>
              <a:t>说明错误并不是均匀分布的，少数说话人</a:t>
            </a:r>
            <a:r>
              <a:rPr lang="en-US" altLang="zh-CN" sz="1200" kern="1200" dirty="0" smtClean="0">
                <a:solidFill>
                  <a:schemeClr val="tx1"/>
                </a:solidFill>
                <a:effectLst/>
                <a:latin typeface="+mn-lt"/>
                <a:ea typeface="+mn-ea"/>
                <a:cs typeface="+mn-cs"/>
              </a:rPr>
              <a:t>/</a:t>
            </a:r>
            <a:r>
              <a:rPr lang="en-US" altLang="zh-CN" sz="1200" kern="1200" dirty="0" err="1" smtClean="0">
                <a:solidFill>
                  <a:schemeClr val="tx1"/>
                </a:solidFill>
                <a:effectLst/>
                <a:latin typeface="+mn-lt"/>
                <a:ea typeface="+mn-ea"/>
                <a:cs typeface="+mn-cs"/>
              </a:rPr>
              <a:t>条件是主要风险来源。这有助于后续从数据质量、说话人特性、设备条件等角度做针对性诊断</a:t>
            </a:r>
            <a:r>
              <a:rPr lang="en-US" altLang="zh-CN" sz="1200" kern="1200" dirty="0" smtClean="0">
                <a:solidFill>
                  <a:schemeClr val="tx1"/>
                </a:solidFill>
                <a:effectLst/>
                <a:latin typeface="+mn-lt"/>
                <a:ea typeface="+mn-ea"/>
                <a:cs typeface="+mn-cs"/>
              </a:rPr>
              <a:t>。</a:t>
            </a:r>
            <a:endParaRPr lang="en-US" altLang="zh-CN" sz="1200" b="1"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endParaRPr lang="en-US" altLang="zh-CN" sz="1200" b="1" kern="1200" dirty="0" smtClean="0">
              <a:solidFill>
                <a:schemeClr val="tx1"/>
              </a:solidFill>
              <a:effectLst/>
              <a:latin typeface="+mn-lt"/>
              <a:ea typeface="+mn-ea"/>
              <a:cs typeface="+mn-cs"/>
            </a:endParaRPr>
          </a:p>
          <a:p>
            <a:endParaRPr lang="zh-CN" altLang="zh-CN" sz="1200" b="1"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4B890C0B-B866-4A9B-9F35-201AC8326D3B}" type="slidenum">
              <a:rPr lang="zh-CN" altLang="en-US" smtClean="0"/>
              <a:t>21</a:t>
            </a:fld>
            <a:endParaRPr lang="zh-CN" altLang="en-US"/>
          </a:p>
        </p:txBody>
      </p:sp>
    </p:spTree>
    <p:extLst>
      <p:ext uri="{BB962C8B-B14F-4D97-AF65-F5344CB8AC3E}">
        <p14:creationId xmlns:p14="http://schemas.microsoft.com/office/powerpoint/2010/main" val="13309927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22 </a:t>
            </a:r>
            <a:r>
              <a:rPr lang="zh-CN" altLang="en-US" smtClean="0"/>
              <a:t>页 </a:t>
            </a:r>
            <a:r>
              <a:rPr lang="en-US" altLang="zh-CN" smtClean="0"/>
              <a:t>| </a:t>
            </a:r>
            <a:r>
              <a:rPr lang="zh-CN" altLang="en-US" smtClean="0"/>
              <a:t>分节</a:t>
            </a:r>
            <a:r>
              <a:rPr lang="en-US" altLang="zh-CN" smtClean="0"/>
              <a:t>:</a:t>
            </a:r>
            <a:r>
              <a:rPr lang="zh-CN" altLang="en-US" smtClean="0"/>
              <a:t>讨论与展望 </a:t>
            </a:r>
            <a:r>
              <a:rPr lang="en-US" altLang="zh-CN" smtClean="0"/>
              <a:t>| </a:t>
            </a:r>
            <a:r>
              <a:rPr lang="zh-CN" altLang="en-US" smtClean="0"/>
              <a:t>约 </a:t>
            </a:r>
            <a:r>
              <a:rPr lang="en-US" altLang="zh-CN" smtClean="0"/>
              <a:t>3 </a:t>
            </a:r>
            <a:r>
              <a:rPr lang="zh-CN" altLang="en-US" smtClean="0"/>
              <a:t>秒</a:t>
            </a:r>
            <a:r>
              <a:rPr lang="en-US" altLang="zh-CN" smtClean="0"/>
              <a:t>]</a:t>
            </a:r>
          </a:p>
          <a:p>
            <a:endParaRPr lang="en-US" altLang="zh-CN" smtClean="0"/>
          </a:p>
          <a:p>
            <a:r>
              <a:rPr lang="zh-CN" altLang="en-US" smtClean="0"/>
              <a:t>最后</a:t>
            </a:r>
            <a:r>
              <a:rPr lang="en-US" altLang="zh-CN" smtClean="0"/>
              <a:t>,</a:t>
            </a:r>
            <a:r>
              <a:rPr lang="zh-CN" altLang="en-US" smtClean="0"/>
              <a:t>讨论与展望。</a:t>
            </a:r>
            <a:endParaRPr lang="zh-CN" altLang="en-US"/>
          </a:p>
        </p:txBody>
      </p:sp>
      <p:sp>
        <p:nvSpPr>
          <p:cNvPr id="4" name="灯片编号占位符 3"/>
          <p:cNvSpPr>
            <a:spLocks noGrp="1"/>
          </p:cNvSpPr>
          <p:nvPr>
            <p:ph type="sldNum" sz="quarter" idx="10"/>
          </p:nvPr>
        </p:nvSpPr>
        <p:spPr/>
        <p:txBody>
          <a:bodyPr/>
          <a:lstStyle/>
          <a:p>
            <a:fld id="{83FA4863-82EA-4055-A6CB-D03302C3F2F9}" type="slidenum">
              <a:rPr lang="zh-CN" altLang="en-US" smtClean="0"/>
              <a:t>22</a:t>
            </a:fld>
            <a:endParaRPr lang="zh-CN" altLang="en-US"/>
          </a:p>
        </p:txBody>
      </p:sp>
    </p:spTree>
    <p:extLst>
      <p:ext uri="{BB962C8B-B14F-4D97-AF65-F5344CB8AC3E}">
        <p14:creationId xmlns:p14="http://schemas.microsoft.com/office/powerpoint/2010/main" val="7897973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t>
            </a:r>
            <a:r>
              <a:rPr lang="zh-CN" altLang="en-US" dirty="0" smtClean="0"/>
              <a:t>第 </a:t>
            </a:r>
            <a:r>
              <a:rPr lang="en-US" altLang="zh-CN" dirty="0" smtClean="0"/>
              <a:t>23 </a:t>
            </a:r>
            <a:r>
              <a:rPr lang="zh-CN" altLang="en-US" dirty="0" smtClean="0"/>
              <a:t>页 </a:t>
            </a:r>
            <a:r>
              <a:rPr lang="en-US" altLang="zh-CN" dirty="0" smtClean="0"/>
              <a:t>| </a:t>
            </a:r>
            <a:r>
              <a:rPr lang="zh-CN" altLang="en-US" dirty="0" smtClean="0"/>
              <a:t>局限性分析 </a:t>
            </a:r>
            <a:r>
              <a:rPr lang="en-US" altLang="zh-CN" dirty="0" smtClean="0"/>
              <a:t>| </a:t>
            </a:r>
            <a:r>
              <a:rPr lang="zh-CN" altLang="en-US" dirty="0" smtClean="0"/>
              <a:t>约 </a:t>
            </a:r>
            <a:r>
              <a:rPr lang="en-US" altLang="zh-CN" dirty="0" smtClean="0"/>
              <a:t>40 </a:t>
            </a:r>
            <a:r>
              <a:rPr lang="zh-CN" altLang="en-US" dirty="0" smtClean="0"/>
              <a:t>秒</a:t>
            </a:r>
            <a:r>
              <a:rPr lang="en-US" altLang="zh-CN" dirty="0" smtClean="0"/>
              <a:t>]</a:t>
            </a:r>
          </a:p>
          <a:p>
            <a:endParaRPr lang="en-US" altLang="zh-CN" dirty="0" smtClean="0"/>
          </a:p>
          <a:p>
            <a:r>
              <a:rPr lang="en-US" altLang="zh-CN" sz="1200" kern="1200" dirty="0" err="1" smtClean="0">
                <a:solidFill>
                  <a:schemeClr val="tx1"/>
                </a:solidFill>
                <a:effectLst/>
                <a:latin typeface="+mn-lt"/>
                <a:ea typeface="+mn-ea"/>
                <a:cs typeface="+mn-cs"/>
              </a:rPr>
              <a:t>结果过线不代表问题都解决了。目前我看到四个比较明确的边界</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第一，人声干扰和多人重叠仍然最难；第二，1秒短语音还差大约3个百分点到30%线；第三，轻量后端迁移时增益会打折；第四，离0.5%的挑战目标还有数量级差距。</a:t>
            </a:r>
            <a:endParaRPr lang="zh-CN" altLang="zh-CN" sz="1200" kern="1200" dirty="0" smtClean="0">
              <a:solidFill>
                <a:schemeClr val="tx1"/>
              </a:solidFill>
              <a:effectLst/>
              <a:latin typeface="+mn-lt"/>
              <a:ea typeface="+mn-ea"/>
              <a:cs typeface="+mn-cs"/>
            </a:endParaRPr>
          </a:p>
          <a:p>
            <a:r>
              <a:rPr lang="en-US" altLang="zh-CN" sz="1200" kern="1200" dirty="0" err="1" smtClean="0">
                <a:solidFill>
                  <a:schemeClr val="tx1"/>
                </a:solidFill>
                <a:effectLst/>
                <a:latin typeface="+mn-lt"/>
                <a:ea typeface="+mn-ea"/>
                <a:cs typeface="+mn-cs"/>
              </a:rPr>
              <a:t>我把这四点都当成后续研发问题，而不是用一个平均指标把它们盖掉。前面三项在下一页都有直接对应的技术路线</a:t>
            </a:r>
            <a:r>
              <a:rPr lang="en-US" altLang="zh-CN" sz="1200" kern="1200" dirty="0" smtClean="0">
                <a:solidFill>
                  <a:schemeClr val="tx1"/>
                </a:solidFill>
                <a:effectLst/>
                <a:latin typeface="+mn-lt"/>
                <a:ea typeface="+mn-ea"/>
                <a:cs typeface="+mn-cs"/>
              </a:rPr>
              <a:t>。</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你觉得当前最大的局限是哪一个</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优先级最高的是人声型干扰</a:t>
            </a:r>
            <a:r>
              <a:rPr lang="en-US" altLang="zh-CN" sz="1200" kern="1200" dirty="0" smtClean="0">
                <a:solidFill>
                  <a:schemeClr val="tx1"/>
                </a:solidFill>
                <a:effectLst/>
                <a:latin typeface="+mn-lt"/>
                <a:ea typeface="+mn-ea"/>
                <a:cs typeface="+mn-cs"/>
              </a:rPr>
              <a:t>。</a:t>
            </a:r>
          </a:p>
          <a:p>
            <a:r>
              <a:rPr lang="en-US" altLang="zh-CN" sz="1200" b="1" kern="1200" dirty="0" err="1" smtClean="0">
                <a:solidFill>
                  <a:schemeClr val="tx1"/>
                </a:solidFill>
                <a:effectLst/>
                <a:latin typeface="+mn-lt"/>
                <a:ea typeface="+mn-ea"/>
                <a:cs typeface="+mn-cs"/>
              </a:rPr>
              <a:t>轻量后端兼容性不足只是猜测吗</a:t>
            </a:r>
            <a:r>
              <a:rPr lang="en-US" altLang="zh-CN" sz="1200" b="1" kern="1200" dirty="0" smtClean="0">
                <a:solidFill>
                  <a:schemeClr val="tx1"/>
                </a:solidFill>
                <a:effectLst/>
                <a:latin typeface="+mn-lt"/>
                <a:ea typeface="+mn-ea"/>
                <a:cs typeface="+mn-cs"/>
              </a:rPr>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kern="1200" dirty="0" smtClean="0">
                <a:solidFill>
                  <a:schemeClr val="tx1"/>
                </a:solidFill>
                <a:effectLst/>
                <a:latin typeface="+mn-lt"/>
                <a:ea typeface="+mn-ea"/>
                <a:cs typeface="+mn-cs"/>
              </a:rPr>
              <a:t>是解释性假设，不是已严格证明的机制。我们基于跨后端结果提出这个判断，下一步会用B6作为冻结验证器重训前端来验证。</a:t>
            </a:r>
            <a:endParaRPr lang="zh-CN"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DE40927-F9A0-4268-B5E8-929F24F13783}" type="slidenum">
              <a:rPr lang="zh-CN" altLang="en-US" smtClean="0"/>
              <a:t>23</a:t>
            </a:fld>
            <a:endParaRPr lang="zh-CN" altLang="en-US"/>
          </a:p>
        </p:txBody>
      </p:sp>
    </p:spTree>
    <p:extLst>
      <p:ext uri="{BB962C8B-B14F-4D97-AF65-F5344CB8AC3E}">
        <p14:creationId xmlns:p14="http://schemas.microsoft.com/office/powerpoint/2010/main" val="19218880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smtClean="0">
                <a:solidFill>
                  <a:schemeClr val="tx1"/>
                </a:solidFill>
                <a:effectLst/>
                <a:latin typeface="+mn-lt"/>
                <a:ea typeface="+mn-ea"/>
                <a:cs typeface="+mn-cs"/>
              </a:rPr>
              <a:t>最后总结一下这次实习。我觉得最重要的不是某一个单独数字，而是把一条从“方案失败”到“方法重新定义”再到“正式交付”的路线完整走通了：先把评测体系校准，再证伪直接微调和通用增强，最后转到注册条件化的身份感知前端。最终9.2M可训练前端在两个主后端上都超过30%验收线，同时做了跨噪声、短语音、混响、重叠和注册端退化这些扩展验证。下一步优先解决三个最直接的问题：人声干扰、短语音和轻量后端；再往后才是语音大模型融合和真实终端部署。</a:t>
            </a:r>
          </a:p>
          <a:p>
            <a:endParaRPr lang="en-US" altLang="zh-CN" sz="1200" kern="1200" dirty="0" smtClean="0">
              <a:solidFill>
                <a:schemeClr val="tx1"/>
              </a:solidFill>
              <a:effectLst/>
              <a:latin typeface="+mn-lt"/>
              <a:ea typeface="+mn-ea"/>
              <a:cs typeface="+mn-cs"/>
            </a:endParaRPr>
          </a:p>
          <a:p>
            <a:r>
              <a:rPr lang="en-US" altLang="zh-CN" sz="1200" b="1" kern="1200" dirty="0" err="1" smtClean="0">
                <a:solidFill>
                  <a:schemeClr val="tx1"/>
                </a:solidFill>
                <a:effectLst/>
                <a:latin typeface="+mn-lt"/>
                <a:ea typeface="+mn-ea"/>
                <a:cs typeface="+mn-cs"/>
              </a:rPr>
              <a:t>如果只给你一个月继续做，你第一件事做什么</a:t>
            </a:r>
            <a:r>
              <a:rPr lang="en-US" altLang="zh-CN" sz="1200" b="1" kern="1200" dirty="0" smtClean="0">
                <a:solidFill>
                  <a:schemeClr val="tx1"/>
                </a:solidFill>
                <a:effectLst/>
                <a:latin typeface="+mn-lt"/>
                <a:ea typeface="+mn-ea"/>
                <a:cs typeface="+mn-cs"/>
              </a:rPr>
              <a:t>？</a:t>
            </a:r>
          </a:p>
          <a:p>
            <a:r>
              <a:rPr lang="en-US" altLang="zh-CN" sz="1200" kern="1200" dirty="0" err="1" smtClean="0">
                <a:solidFill>
                  <a:schemeClr val="tx1"/>
                </a:solidFill>
                <a:effectLst/>
                <a:latin typeface="+mn-lt"/>
                <a:ea typeface="+mn-ea"/>
                <a:cs typeface="+mn-cs"/>
              </a:rPr>
              <a:t>先做人声干扰。具体会先加入竞争说话人</a:t>
            </a:r>
            <a:r>
              <a:rPr lang="en-US" altLang="zh-CN" sz="1200" kern="1200" dirty="0" smtClean="0">
                <a:solidFill>
                  <a:schemeClr val="tx1"/>
                </a:solidFill>
                <a:effectLst/>
                <a:latin typeface="+mn-lt"/>
                <a:ea typeface="+mn-ea"/>
                <a:cs typeface="+mn-cs"/>
              </a:rPr>
              <a:t>/utterance mixing训练，再比较“条件化增强单前端”和“说话人分离前端级联”两条路线，因为当前两类独立实验都把人声干扰指向首要瓶颈。第一件事做什么？</a:t>
            </a:r>
          </a:p>
          <a:p>
            <a:r>
              <a:rPr lang="en-US" altLang="zh-CN" sz="1200" b="1" kern="1200" dirty="0" err="1" smtClean="0">
                <a:solidFill>
                  <a:schemeClr val="tx1"/>
                </a:solidFill>
                <a:effectLst/>
                <a:latin typeface="+mn-lt"/>
                <a:ea typeface="+mn-ea"/>
                <a:cs typeface="+mn-cs"/>
              </a:rPr>
              <a:t>为什么下一步要引入语音大模型</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不是因为“模型越大越好”，而是SSL模型可以提供更强的中文语音表征和跨场景先验。但是否值得部署要同时比较参数、延迟和真实EER收益。</a:t>
            </a:r>
          </a:p>
          <a:p>
            <a:r>
              <a:rPr lang="en-US" altLang="zh-CN" sz="1200" b="1" kern="1200" dirty="0" err="1" smtClean="0">
                <a:solidFill>
                  <a:schemeClr val="tx1"/>
                </a:solidFill>
                <a:effectLst/>
                <a:latin typeface="+mn-lt"/>
                <a:ea typeface="+mn-ea"/>
                <a:cs typeface="+mn-cs"/>
              </a:rPr>
              <a:t>WavLM做过吗？为什么PPT没放</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报告里做过补充探索，但在当前中文协议下没有成为最终交付方案，所以正文不占时间展开。被问到时可以说明：大模型并没有自动解决本任务，最终选择仍以同协议实测结果和部署性为准；具体数值以技术报告记录为准。</a:t>
            </a:r>
          </a:p>
          <a:p>
            <a:r>
              <a:rPr lang="en-US" altLang="zh-CN" sz="1200" b="1" kern="1200" dirty="0" err="1" smtClean="0">
                <a:solidFill>
                  <a:schemeClr val="tx1"/>
                </a:solidFill>
                <a:effectLst/>
                <a:latin typeface="+mn-lt"/>
                <a:ea typeface="+mn-ea"/>
                <a:cs typeface="+mn-cs"/>
              </a:rPr>
              <a:t>你认为这项工作的创新点是什么</a:t>
            </a:r>
            <a:r>
              <a:rPr lang="en-US" altLang="zh-CN" sz="1200" b="1" kern="1200" dirty="0" smtClean="0">
                <a:solidFill>
                  <a:schemeClr val="tx1"/>
                </a:solidFill>
                <a:effectLst/>
                <a:latin typeface="+mn-lt"/>
                <a:ea typeface="+mn-ea"/>
                <a:cs typeface="+mn-cs"/>
              </a:rPr>
              <a:t>？</a:t>
            </a:r>
          </a:p>
          <a:p>
            <a:r>
              <a:rPr lang="en-US" altLang="zh-CN" sz="1200" kern="1200" dirty="0" smtClean="0">
                <a:solidFill>
                  <a:schemeClr val="tx1"/>
                </a:solidFill>
                <a:effectLst/>
                <a:latin typeface="+mn-lt"/>
                <a:ea typeface="+mn-ea"/>
                <a:cs typeface="+mn-cs"/>
              </a:rPr>
              <a:t>企业课题里我更愿意说三点贡献：一是把通用增强重新定义为注册条件化的身份感知增强；二是用“目标拉近+难负推远”的损失把增强目标和验证任务对齐；三是建立了严格隔离、可复现的多条件评测和交付闭环。</a:t>
            </a:r>
          </a:p>
          <a:p>
            <a:endParaRPr lang="en-US" altLang="zh-CN" sz="1200" kern="1200" dirty="0" smtClean="0">
              <a:solidFill>
                <a:schemeClr val="tx1"/>
              </a:solidFill>
              <a:effectLst/>
              <a:latin typeface="+mn-lt"/>
              <a:ea typeface="+mn-ea"/>
              <a:cs typeface="+mn-cs"/>
            </a:endParaRPr>
          </a:p>
          <a:p>
            <a:endParaRPr lang="en-US" altLang="zh-CN" sz="1200" kern="1200" dirty="0" smtClean="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DE40927-F9A0-4268-B5E8-929F24F13783}" type="slidenum">
              <a:rPr lang="zh-CN" altLang="en-US" smtClean="0"/>
              <a:t>24</a:t>
            </a:fld>
            <a:endParaRPr lang="zh-CN" altLang="en-US"/>
          </a:p>
        </p:txBody>
      </p:sp>
    </p:spTree>
    <p:extLst>
      <p:ext uri="{BB962C8B-B14F-4D97-AF65-F5344CB8AC3E}">
        <p14:creationId xmlns:p14="http://schemas.microsoft.com/office/powerpoint/2010/main" val="3447341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err="1" smtClean="0">
                <a:solidFill>
                  <a:schemeClr val="tx1"/>
                </a:solidFill>
                <a:effectLst/>
                <a:latin typeface="+mn-lt"/>
                <a:ea typeface="+mn-ea"/>
                <a:cs typeface="+mn-cs"/>
              </a:rPr>
              <a:t>最后简单讲一下个人规划</a:t>
            </a:r>
            <a:r>
              <a:rPr lang="en-US" altLang="zh-CN" sz="1200" kern="1200" dirty="0" smtClean="0">
                <a:solidFill>
                  <a:schemeClr val="tx1"/>
                </a:solidFill>
                <a:effectLst/>
                <a:latin typeface="+mn-lt"/>
                <a:ea typeface="+mn-ea"/>
                <a:cs typeface="+mn-cs"/>
              </a:rPr>
              <a:t>。</a:t>
            </a:r>
            <a:endParaRPr lang="zh-CN" altLang="zh-CN" sz="1200" kern="1200" dirty="0" smtClean="0">
              <a:solidFill>
                <a:schemeClr val="tx1"/>
              </a:solidFill>
              <a:effectLst/>
              <a:latin typeface="+mn-lt"/>
              <a:ea typeface="+mn-ea"/>
              <a:cs typeface="+mn-cs"/>
            </a:endParaRPr>
          </a:p>
          <a:p>
            <a:r>
              <a:rPr lang="en-US" altLang="zh-CN" sz="1200" kern="1200" dirty="0" smtClean="0">
                <a:solidFill>
                  <a:schemeClr val="tx1"/>
                </a:solidFill>
                <a:effectLst/>
                <a:latin typeface="+mn-lt"/>
                <a:ea typeface="+mn-ea"/>
                <a:cs typeface="+mn-cs"/>
              </a:rPr>
              <a:t>这次实习之后，我对智能语音这个方向的兴趣更明确了。研究生阶段，我会继续把声纹识别、语音增强和SSL语音大模型这些基础补扎实，同时把工程部署能力补起来。</a:t>
            </a:r>
            <a:endParaRPr lang="zh-CN" altLang="zh-CN" sz="1200" kern="1200" dirty="0" smtClean="0">
              <a:solidFill>
                <a:schemeClr val="tx1"/>
              </a:solidFill>
              <a:effectLst/>
              <a:latin typeface="+mn-lt"/>
              <a:ea typeface="+mn-ea"/>
              <a:cs typeface="+mn-cs"/>
            </a:endParaRPr>
          </a:p>
          <a:p>
            <a:r>
              <a:rPr lang="en-US" altLang="zh-CN" sz="1200" kern="1200" smtClean="0">
                <a:solidFill>
                  <a:schemeClr val="tx1"/>
                </a:solidFill>
                <a:effectLst/>
                <a:latin typeface="+mn-lt"/>
                <a:ea typeface="+mn-ea"/>
                <a:cs typeface="+mn-cs"/>
              </a:rPr>
              <a:t>毕业以后希望做智能语音算法研发，重点关注声纹验证、目标说话人提取和语音大模型在终端场景里的应用。长期来说，我希望能一直做“算法真正落到设备和产品里”这件事，而不是只停留在离线指标上。</a:t>
            </a:r>
            <a:endParaRPr lang="zh-CN" altLang="zh-CN" sz="1200" kern="120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DDE40927-F9A0-4268-B5E8-929F24F13783}" type="slidenum">
              <a:rPr lang="zh-CN" altLang="en-US" smtClean="0"/>
              <a:t>25</a:t>
            </a:fld>
            <a:endParaRPr lang="zh-CN" altLang="en-US"/>
          </a:p>
        </p:txBody>
      </p:sp>
    </p:spTree>
    <p:extLst>
      <p:ext uri="{BB962C8B-B14F-4D97-AF65-F5344CB8AC3E}">
        <p14:creationId xmlns:p14="http://schemas.microsoft.com/office/powerpoint/2010/main" val="41271108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26 </a:t>
            </a:r>
            <a:r>
              <a:rPr lang="zh-CN" altLang="en-US" smtClean="0"/>
              <a:t>页 </a:t>
            </a:r>
            <a:r>
              <a:rPr lang="en-US" altLang="zh-CN" smtClean="0"/>
              <a:t>| </a:t>
            </a:r>
            <a:r>
              <a:rPr lang="zh-CN" altLang="en-US" smtClean="0"/>
              <a:t>谢谢 </a:t>
            </a:r>
            <a:r>
              <a:rPr lang="en-US" altLang="zh-CN" smtClean="0"/>
              <a:t>| </a:t>
            </a:r>
            <a:r>
              <a:rPr lang="zh-CN" altLang="en-US" smtClean="0"/>
              <a:t>约 </a:t>
            </a:r>
            <a:r>
              <a:rPr lang="en-US" altLang="zh-CN" smtClean="0"/>
              <a:t>8 </a:t>
            </a:r>
            <a:r>
              <a:rPr lang="zh-CN" altLang="en-US" smtClean="0"/>
              <a:t>秒</a:t>
            </a:r>
            <a:r>
              <a:rPr lang="en-US" altLang="zh-CN" smtClean="0"/>
              <a:t>]</a:t>
            </a:r>
          </a:p>
          <a:p>
            <a:endParaRPr lang="en-US" altLang="zh-CN" smtClean="0"/>
          </a:p>
          <a:p>
            <a:r>
              <a:rPr lang="zh-CN" altLang="en-US" smtClean="0"/>
              <a:t>我的汇报到此结束</a:t>
            </a:r>
            <a:r>
              <a:rPr lang="en-US" altLang="zh-CN" smtClean="0"/>
              <a:t>,</a:t>
            </a:r>
            <a:r>
              <a:rPr lang="zh-CN" altLang="en-US" smtClean="0"/>
              <a:t>谢谢各位老师</a:t>
            </a:r>
            <a:r>
              <a:rPr lang="en-US" altLang="zh-CN" smtClean="0"/>
              <a:t>,</a:t>
            </a:r>
            <a:r>
              <a:rPr lang="zh-CN" altLang="en-US" smtClean="0"/>
              <a:t>恳请批评指正。</a:t>
            </a:r>
            <a:endParaRPr lang="zh-CN" altLang="en-US"/>
          </a:p>
        </p:txBody>
      </p:sp>
      <p:sp>
        <p:nvSpPr>
          <p:cNvPr id="4" name="灯片编号占位符 3"/>
          <p:cNvSpPr>
            <a:spLocks noGrp="1"/>
          </p:cNvSpPr>
          <p:nvPr>
            <p:ph type="sldNum" sz="quarter" idx="10"/>
          </p:nvPr>
        </p:nvSpPr>
        <p:spPr/>
        <p:txBody>
          <a:bodyPr/>
          <a:lstStyle/>
          <a:p>
            <a:fld id="{83FA4863-82EA-4055-A6CB-D03302C3F2F9}" type="slidenum">
              <a:rPr lang="zh-CN" altLang="en-US" smtClean="0"/>
              <a:t>26</a:t>
            </a:fld>
            <a:endParaRPr lang="zh-CN" altLang="en-US"/>
          </a:p>
        </p:txBody>
      </p:sp>
    </p:spTree>
    <p:extLst>
      <p:ext uri="{BB962C8B-B14F-4D97-AF65-F5344CB8AC3E}">
        <p14:creationId xmlns:p14="http://schemas.microsoft.com/office/powerpoint/2010/main" val="2443816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a:t>
            </a:r>
            <a:r>
              <a:rPr lang="zh-CN" altLang="en-US" dirty="0" smtClean="0"/>
              <a:t>第 </a:t>
            </a:r>
            <a:r>
              <a:rPr lang="en-US" altLang="zh-CN" dirty="0" smtClean="0"/>
              <a:t>29 </a:t>
            </a:r>
            <a:r>
              <a:rPr lang="zh-CN" altLang="en-US" dirty="0" smtClean="0"/>
              <a:t>页 </a:t>
            </a:r>
            <a:r>
              <a:rPr lang="en-US" altLang="zh-CN" dirty="0" smtClean="0"/>
              <a:t>| </a:t>
            </a:r>
            <a:r>
              <a:rPr lang="zh-CN" altLang="en-US" dirty="0" smtClean="0"/>
              <a:t>备用</a:t>
            </a:r>
            <a:r>
              <a:rPr lang="en-US" altLang="zh-CN" dirty="0" smtClean="0"/>
              <a:t>:</a:t>
            </a:r>
            <a:r>
              <a:rPr lang="zh-CN" altLang="en-US" dirty="0" smtClean="0"/>
              <a:t>指标口径速查</a:t>
            </a:r>
            <a:r>
              <a:rPr lang="en-US" altLang="zh-CN" dirty="0" smtClean="0"/>
              <a:t>(</a:t>
            </a:r>
            <a:r>
              <a:rPr lang="zh-CN" altLang="en-US" dirty="0" smtClean="0"/>
              <a:t>问及再讲</a:t>
            </a:r>
            <a:r>
              <a:rPr lang="en-US" altLang="zh-CN" dirty="0" smtClean="0"/>
              <a:t>) | </a:t>
            </a:r>
            <a:r>
              <a:rPr lang="zh-CN" altLang="en-US" dirty="0" smtClean="0"/>
              <a:t>约 </a:t>
            </a:r>
            <a:r>
              <a:rPr lang="en-US" altLang="zh-CN" dirty="0" smtClean="0"/>
              <a:t>70 </a:t>
            </a:r>
            <a:r>
              <a:rPr lang="zh-CN" altLang="en-US" dirty="0" smtClean="0"/>
              <a:t>秒</a:t>
            </a:r>
            <a:r>
              <a:rPr lang="en-US" altLang="zh-CN" dirty="0" smtClean="0"/>
              <a:t>]</a:t>
            </a:r>
          </a:p>
          <a:p>
            <a:endParaRPr lang="en-US" altLang="zh-CN" dirty="0" smtClean="0"/>
          </a:p>
          <a:p>
            <a:r>
              <a:rPr lang="zh-CN" altLang="en-US" dirty="0" smtClean="0"/>
              <a:t>如果老师问指标含义</a:t>
            </a:r>
            <a:r>
              <a:rPr lang="en-US" altLang="zh-CN" dirty="0" smtClean="0"/>
              <a:t>,</a:t>
            </a:r>
            <a:r>
              <a:rPr lang="zh-CN" altLang="en-US" dirty="0" smtClean="0"/>
              <a:t>用这一页。</a:t>
            </a:r>
          </a:p>
          <a:p>
            <a:r>
              <a:rPr lang="zh-CN" altLang="en-US" dirty="0" smtClean="0"/>
              <a:t>系统给每条试验打一个分</a:t>
            </a:r>
            <a:r>
              <a:rPr lang="en-US" altLang="zh-CN" dirty="0" smtClean="0"/>
              <a:t>,</a:t>
            </a:r>
            <a:r>
              <a:rPr lang="zh-CN" altLang="en-US" dirty="0" smtClean="0"/>
              <a:t>拿阈值切</a:t>
            </a:r>
            <a:r>
              <a:rPr lang="en-US" altLang="zh-CN" dirty="0" smtClean="0"/>
              <a:t>,</a:t>
            </a:r>
            <a:r>
              <a:rPr lang="zh-CN" altLang="en-US" dirty="0" smtClean="0"/>
              <a:t>只有两种错误</a:t>
            </a:r>
            <a:r>
              <a:rPr lang="en-US" altLang="zh-CN" dirty="0" smtClean="0"/>
              <a:t>:</a:t>
            </a:r>
            <a:r>
              <a:rPr lang="zh-CN" altLang="en-US" dirty="0" smtClean="0"/>
              <a:t>冒认被放进来是 </a:t>
            </a:r>
            <a:r>
              <a:rPr lang="en-US" altLang="zh-CN" dirty="0" smtClean="0"/>
              <a:t>FAR,</a:t>
            </a:r>
            <a:r>
              <a:rPr lang="zh-CN" altLang="en-US" dirty="0" smtClean="0"/>
              <a:t>本人被拒是 </a:t>
            </a:r>
            <a:r>
              <a:rPr lang="en-US" altLang="zh-CN" dirty="0" smtClean="0"/>
              <a:t>FRR——</a:t>
            </a:r>
            <a:r>
              <a:rPr lang="zh-CN" altLang="en-US" dirty="0" smtClean="0"/>
              <a:t>所有指标都是这对错误在不同读法下的数字。</a:t>
            </a:r>
          </a:p>
          <a:p>
            <a:r>
              <a:rPr lang="en-US" altLang="zh-CN" dirty="0" smtClean="0"/>
              <a:t>EER,</a:t>
            </a:r>
            <a:r>
              <a:rPr lang="zh-CN" altLang="en-US" dirty="0" smtClean="0"/>
              <a:t>是 </a:t>
            </a:r>
            <a:r>
              <a:rPr lang="en-US" altLang="zh-CN" dirty="0" smtClean="0"/>
              <a:t>FAR </a:t>
            </a:r>
            <a:r>
              <a:rPr lang="zh-CN" altLang="en-US" dirty="0" smtClean="0"/>
              <a:t>等于 </a:t>
            </a:r>
            <a:r>
              <a:rPr lang="en-US" altLang="zh-CN" dirty="0" smtClean="0"/>
              <a:t>FRR </a:t>
            </a:r>
            <a:r>
              <a:rPr lang="zh-CN" altLang="en-US" dirty="0" smtClean="0"/>
              <a:t>那一点</a:t>
            </a:r>
            <a:r>
              <a:rPr lang="en-US" altLang="zh-CN" dirty="0" smtClean="0"/>
              <a:t>,</a:t>
            </a:r>
            <a:r>
              <a:rPr lang="zh-CN" altLang="en-US" dirty="0" smtClean="0"/>
              <a:t>阈值无关</a:t>
            </a:r>
            <a:r>
              <a:rPr lang="en-US" altLang="zh-CN" dirty="0" smtClean="0"/>
              <a:t>,</a:t>
            </a:r>
            <a:r>
              <a:rPr lang="zh-CN" altLang="en-US" dirty="0" smtClean="0"/>
              <a:t>衡量可分性</a:t>
            </a:r>
            <a:r>
              <a:rPr lang="en-US" altLang="zh-CN" dirty="0" smtClean="0"/>
              <a:t>:</a:t>
            </a:r>
            <a:r>
              <a:rPr lang="zh-CN" altLang="en-US" dirty="0" smtClean="0"/>
              <a:t>主力 </a:t>
            </a:r>
            <a:r>
              <a:rPr lang="en-US" altLang="zh-CN" dirty="0" smtClean="0"/>
              <a:t>0 </a:t>
            </a:r>
            <a:r>
              <a:rPr lang="zh-CN" altLang="en-US" dirty="0" smtClean="0"/>
              <a:t>分贝 </a:t>
            </a:r>
            <a:r>
              <a:rPr lang="en-US" altLang="zh-CN" dirty="0" smtClean="0"/>
              <a:t>8.39 </a:t>
            </a:r>
            <a:r>
              <a:rPr lang="zh-CN" altLang="en-US" dirty="0" smtClean="0"/>
              <a:t>到 </a:t>
            </a:r>
            <a:r>
              <a:rPr lang="en-US" altLang="zh-CN" dirty="0" smtClean="0"/>
              <a:t>4.89</a:t>
            </a:r>
            <a:r>
              <a:rPr lang="zh-CN" altLang="en-US" dirty="0" smtClean="0"/>
              <a:t>。</a:t>
            </a:r>
          </a:p>
          <a:p>
            <a:r>
              <a:rPr lang="en-US" altLang="zh-CN" dirty="0" smtClean="0"/>
              <a:t>ROC </a:t>
            </a:r>
            <a:r>
              <a:rPr lang="zh-CN" altLang="en-US" dirty="0" smtClean="0"/>
              <a:t>和 </a:t>
            </a:r>
            <a:r>
              <a:rPr lang="en-US" altLang="zh-CN" dirty="0" smtClean="0"/>
              <a:t>DET,</a:t>
            </a:r>
            <a:r>
              <a:rPr lang="zh-CN" altLang="en-US" dirty="0" smtClean="0"/>
              <a:t>是全阈值段的权衡曲线</a:t>
            </a:r>
            <a:r>
              <a:rPr lang="en-US" altLang="zh-CN" dirty="0" smtClean="0"/>
              <a:t>,DET </a:t>
            </a:r>
            <a:r>
              <a:rPr lang="zh-CN" altLang="en-US" dirty="0" smtClean="0"/>
              <a:t>用正态概率刻度把尾部细节拉开</a:t>
            </a:r>
            <a:r>
              <a:rPr lang="en-US" altLang="zh-CN" dirty="0" smtClean="0"/>
              <a:t>,</a:t>
            </a:r>
            <a:r>
              <a:rPr lang="zh-CN" altLang="en-US" dirty="0" smtClean="0"/>
              <a:t>是声纹圈的标准画法。</a:t>
            </a:r>
          </a:p>
          <a:p>
            <a:r>
              <a:rPr lang="en-US" altLang="zh-CN" dirty="0" err="1" smtClean="0"/>
              <a:t>minDCF</a:t>
            </a:r>
            <a:r>
              <a:rPr lang="en-US" altLang="zh-CN" dirty="0" smtClean="0"/>
              <a:t>,</a:t>
            </a:r>
            <a:r>
              <a:rPr lang="zh-CN" altLang="en-US" dirty="0" smtClean="0"/>
              <a:t>是部署视角</a:t>
            </a:r>
            <a:r>
              <a:rPr lang="en-US" altLang="zh-CN" dirty="0" smtClean="0"/>
              <a:t>:</a:t>
            </a:r>
            <a:r>
              <a:rPr lang="zh-CN" altLang="en-US" dirty="0" smtClean="0"/>
              <a:t>假设每次验证只有百分之一概率是本人</a:t>
            </a:r>
            <a:r>
              <a:rPr lang="en-US" altLang="zh-CN" dirty="0" smtClean="0"/>
              <a:t>,</a:t>
            </a:r>
            <a:r>
              <a:rPr lang="zh-CN" altLang="en-US" dirty="0" smtClean="0"/>
              <a:t>挑最优阈值时的加权错误代价</a:t>
            </a:r>
            <a:r>
              <a:rPr lang="en-US" altLang="zh-CN" dirty="0" smtClean="0"/>
              <a:t>,1.0 </a:t>
            </a:r>
            <a:r>
              <a:rPr lang="zh-CN" altLang="en-US" dirty="0" smtClean="0"/>
              <a:t>等于全拒绝</a:t>
            </a:r>
            <a:r>
              <a:rPr lang="en-US" altLang="zh-CN" dirty="0" smtClean="0"/>
              <a:t>;</a:t>
            </a:r>
            <a:r>
              <a:rPr lang="zh-CN" altLang="en-US" dirty="0" smtClean="0"/>
              <a:t>我们从 </a:t>
            </a:r>
            <a:r>
              <a:rPr lang="en-US" altLang="zh-CN" dirty="0" smtClean="0"/>
              <a:t>0.628 </a:t>
            </a:r>
            <a:r>
              <a:rPr lang="zh-CN" altLang="en-US" dirty="0" smtClean="0"/>
              <a:t>降到 </a:t>
            </a:r>
            <a:r>
              <a:rPr lang="en-US" altLang="zh-CN" dirty="0" smtClean="0"/>
              <a:t>0.515,</a:t>
            </a:r>
            <a:r>
              <a:rPr lang="zh-CN" altLang="en-US" dirty="0" smtClean="0"/>
              <a:t>方向一致、幅度温和</a:t>
            </a:r>
            <a:r>
              <a:rPr lang="en-US" altLang="zh-CN" dirty="0" smtClean="0"/>
              <a:t>,</a:t>
            </a:r>
            <a:r>
              <a:rPr lang="zh-CN" altLang="en-US" dirty="0" smtClean="0"/>
              <a:t>因为低误报先验把工作点压到尾部区。</a:t>
            </a:r>
          </a:p>
          <a:p>
            <a:r>
              <a:rPr lang="zh-CN" altLang="en-US" dirty="0" smtClean="0"/>
              <a:t>固定工作点</a:t>
            </a:r>
            <a:r>
              <a:rPr lang="en-US" altLang="zh-CN" dirty="0" smtClean="0"/>
              <a:t>:FAR </a:t>
            </a:r>
            <a:r>
              <a:rPr lang="zh-CN" altLang="en-US" dirty="0" smtClean="0"/>
              <a:t>容忍 </a:t>
            </a:r>
            <a:r>
              <a:rPr lang="en-US" altLang="zh-CN" dirty="0" smtClean="0"/>
              <a:t>5% </a:t>
            </a:r>
            <a:r>
              <a:rPr lang="zh-CN" altLang="en-US" dirty="0" smtClean="0"/>
              <a:t>时本人被拒 </a:t>
            </a:r>
            <a:r>
              <a:rPr lang="en-US" altLang="zh-CN" dirty="0" smtClean="0"/>
              <a:t>4.77,FRR </a:t>
            </a:r>
            <a:r>
              <a:rPr lang="zh-CN" altLang="en-US" dirty="0" smtClean="0"/>
              <a:t>压到 </a:t>
            </a:r>
            <a:r>
              <a:rPr lang="en-US" altLang="zh-CN" dirty="0" smtClean="0"/>
              <a:t>5% </a:t>
            </a:r>
            <a:r>
              <a:rPr lang="zh-CN" altLang="en-US" dirty="0" smtClean="0"/>
              <a:t>时冒认漏进 </a:t>
            </a:r>
            <a:r>
              <a:rPr lang="en-US" altLang="zh-CN" dirty="0" smtClean="0"/>
              <a:t>4.77</a:t>
            </a:r>
            <a:r>
              <a:rPr lang="zh-CN" altLang="en-US" dirty="0" smtClean="0"/>
              <a:t>。两个数几乎一样不是笔误</a:t>
            </a:r>
            <a:r>
              <a:rPr lang="en-US" altLang="zh-CN" dirty="0" smtClean="0"/>
              <a:t>:</a:t>
            </a:r>
            <a:r>
              <a:rPr lang="zh-CN" altLang="en-US" dirty="0" smtClean="0"/>
              <a:t>这一格 </a:t>
            </a:r>
            <a:r>
              <a:rPr lang="en-US" altLang="zh-CN" dirty="0" smtClean="0"/>
              <a:t>EER 4.89 </a:t>
            </a:r>
            <a:r>
              <a:rPr lang="zh-CN" altLang="en-US" dirty="0" smtClean="0"/>
              <a:t>恰贴着 </a:t>
            </a:r>
            <a:r>
              <a:rPr lang="en-US" altLang="zh-CN" dirty="0" smtClean="0"/>
              <a:t>5%,</a:t>
            </a:r>
            <a:r>
              <a:rPr lang="zh-CN" altLang="en-US" dirty="0" smtClean="0"/>
              <a:t>两个交点关于对角线近似镜像</a:t>
            </a:r>
            <a:r>
              <a:rPr lang="en-US" altLang="zh-CN" dirty="0" smtClean="0"/>
              <a:t>;</a:t>
            </a:r>
            <a:r>
              <a:rPr lang="zh-CN" altLang="en-US" dirty="0" smtClean="0"/>
              <a:t>但并非逐位相等</a:t>
            </a:r>
            <a:r>
              <a:rPr lang="en-US" altLang="zh-CN" dirty="0" smtClean="0"/>
              <a:t>,</a:t>
            </a:r>
            <a:r>
              <a:rPr lang="zh-CN" altLang="en-US" dirty="0" smtClean="0"/>
              <a:t>精确值 </a:t>
            </a:r>
            <a:r>
              <a:rPr lang="en-US" altLang="zh-CN" dirty="0" smtClean="0"/>
              <a:t>4.771 </a:t>
            </a:r>
            <a:r>
              <a:rPr lang="zh-CN" altLang="en-US" dirty="0" smtClean="0"/>
              <a:t>和 </a:t>
            </a:r>
            <a:r>
              <a:rPr lang="en-US" altLang="zh-CN" dirty="0" smtClean="0"/>
              <a:t>4.769,</a:t>
            </a:r>
            <a:r>
              <a:rPr lang="zh-CN" altLang="en-US" dirty="0" smtClean="0"/>
              <a:t>千分位分开</a:t>
            </a:r>
            <a:r>
              <a:rPr lang="en-US" altLang="zh-CN" dirty="0" smtClean="0"/>
              <a:t>——</a:t>
            </a:r>
            <a:r>
              <a:rPr lang="zh-CN" altLang="en-US" dirty="0" smtClean="0"/>
              <a:t>若真逐位相等</a:t>
            </a:r>
            <a:r>
              <a:rPr lang="en-US" altLang="zh-CN" dirty="0" smtClean="0"/>
              <a:t>,EER </a:t>
            </a:r>
            <a:r>
              <a:rPr lang="zh-CN" altLang="en-US" dirty="0" smtClean="0"/>
              <a:t>应为整 </a:t>
            </a:r>
            <a:r>
              <a:rPr lang="en-US" altLang="zh-CN" dirty="0" smtClean="0"/>
              <a:t>5.00%</a:t>
            </a:r>
            <a:r>
              <a:rPr lang="zh-CN" altLang="en-US" dirty="0" smtClean="0"/>
              <a:t>。</a:t>
            </a:r>
            <a:r>
              <a:rPr lang="en-US" altLang="zh-CN" dirty="0" smtClean="0"/>
              <a:t>raw </a:t>
            </a:r>
            <a:r>
              <a:rPr lang="zh-CN" altLang="en-US" dirty="0" smtClean="0"/>
              <a:t>曲线 </a:t>
            </a:r>
            <a:r>
              <a:rPr lang="en-US" altLang="zh-CN" dirty="0" smtClean="0"/>
              <a:t>EER 8.39 </a:t>
            </a:r>
            <a:r>
              <a:rPr lang="zh-CN" altLang="en-US" dirty="0" smtClean="0"/>
              <a:t>远离 </a:t>
            </a:r>
            <a:r>
              <a:rPr lang="en-US" altLang="zh-CN" dirty="0" smtClean="0"/>
              <a:t>5%,</a:t>
            </a:r>
            <a:r>
              <a:rPr lang="zh-CN" altLang="en-US" dirty="0" smtClean="0"/>
              <a:t>两个读数就分开成 </a:t>
            </a:r>
            <a:r>
              <a:rPr lang="en-US" altLang="zh-CN" dirty="0" smtClean="0"/>
              <a:t>12.46 </a:t>
            </a:r>
            <a:r>
              <a:rPr lang="zh-CN" altLang="en-US" dirty="0" smtClean="0"/>
              <a:t>和 </a:t>
            </a:r>
            <a:r>
              <a:rPr lang="en-US" altLang="zh-CN" dirty="0" smtClean="0"/>
              <a:t>14.98</a:t>
            </a:r>
            <a:r>
              <a:rPr lang="zh-CN" altLang="en-US" dirty="0" smtClean="0"/>
              <a:t>。全量 </a:t>
            </a:r>
            <a:r>
              <a:rPr lang="en-US" altLang="zh-CN" dirty="0" smtClean="0"/>
              <a:t>137.8 </a:t>
            </a:r>
            <a:r>
              <a:rPr lang="zh-CN" altLang="en-US" dirty="0" smtClean="0"/>
              <a:t>万条 </a:t>
            </a:r>
            <a:r>
              <a:rPr lang="en-US" altLang="zh-CN" dirty="0" smtClean="0"/>
              <a:t>trial </a:t>
            </a:r>
            <a:r>
              <a:rPr lang="zh-CN" altLang="en-US" dirty="0" smtClean="0"/>
              <a:t>独立复算核实。</a:t>
            </a:r>
          </a:p>
          <a:p>
            <a:r>
              <a:rPr lang="zh-CN" altLang="en-US" dirty="0" smtClean="0"/>
              <a:t>最后强调阈值纪律</a:t>
            </a:r>
            <a:r>
              <a:rPr lang="en-US" altLang="zh-CN" dirty="0" smtClean="0"/>
              <a:t>:</a:t>
            </a:r>
            <a:r>
              <a:rPr lang="zh-CN" altLang="en-US" dirty="0" smtClean="0"/>
              <a:t>阈值只能在验证集定、测试集冻结</a:t>
            </a:r>
            <a:r>
              <a:rPr lang="en-US" altLang="zh-CN" dirty="0" smtClean="0"/>
              <a:t>,</a:t>
            </a:r>
            <a:r>
              <a:rPr lang="zh-CN" altLang="en-US" dirty="0" smtClean="0"/>
              <a:t>全部工作点按冻结口径报告。</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27</a:t>
            </a:fld>
            <a:endParaRPr lang="zh-CN" altLang="en-US"/>
          </a:p>
        </p:txBody>
      </p:sp>
    </p:spTree>
    <p:extLst>
      <p:ext uri="{BB962C8B-B14F-4D97-AF65-F5344CB8AC3E}">
        <p14:creationId xmlns:p14="http://schemas.microsoft.com/office/powerpoint/2010/main" val="178204531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27 </a:t>
            </a:r>
            <a:r>
              <a:rPr lang="zh-CN" altLang="en-US" smtClean="0"/>
              <a:t>页 </a:t>
            </a:r>
            <a:r>
              <a:rPr lang="en-US" altLang="zh-CN" smtClean="0"/>
              <a:t>| </a:t>
            </a:r>
            <a:r>
              <a:rPr lang="zh-CN" altLang="en-US" smtClean="0"/>
              <a:t>备用</a:t>
            </a:r>
            <a:r>
              <a:rPr lang="en-US" altLang="zh-CN" smtClean="0"/>
              <a:t>:claim </a:t>
            </a:r>
            <a:r>
              <a:rPr lang="zh-CN" altLang="en-US" smtClean="0"/>
              <a:t>部署口径</a:t>
            </a:r>
            <a:r>
              <a:rPr lang="en-US" altLang="zh-CN" smtClean="0"/>
              <a:t>——</a:t>
            </a:r>
            <a:r>
              <a:rPr lang="zh-CN" altLang="en-US" smtClean="0"/>
              <a:t>机理与前沿</a:t>
            </a:r>
            <a:r>
              <a:rPr lang="en-US" altLang="zh-CN" smtClean="0"/>
              <a:t>(</a:t>
            </a:r>
            <a:r>
              <a:rPr lang="zh-CN" altLang="en-US" smtClean="0"/>
              <a:t>问及再讲</a:t>
            </a:r>
            <a:r>
              <a:rPr lang="en-US" altLang="zh-CN" smtClean="0"/>
              <a:t>) | </a:t>
            </a:r>
            <a:r>
              <a:rPr lang="zh-CN" altLang="en-US" smtClean="0"/>
              <a:t>约 </a:t>
            </a:r>
            <a:r>
              <a:rPr lang="en-US" altLang="zh-CN" smtClean="0"/>
              <a:t>80 </a:t>
            </a:r>
            <a:r>
              <a:rPr lang="zh-CN" altLang="en-US" smtClean="0"/>
              <a:t>秒</a:t>
            </a:r>
            <a:r>
              <a:rPr lang="en-US" altLang="zh-CN" smtClean="0"/>
              <a:t>]</a:t>
            </a:r>
          </a:p>
          <a:p>
            <a:endParaRPr lang="en-US" altLang="zh-CN" smtClean="0"/>
          </a:p>
          <a:p>
            <a:r>
              <a:rPr lang="zh-CN" altLang="en-US" smtClean="0"/>
              <a:t>这一页回应「部署真实条件下方法还行不行」。之前的交付表格都是 </a:t>
            </a:r>
            <a:r>
              <a:rPr lang="en-US" altLang="zh-CN" smtClean="0"/>
              <a:t>oracle </a:t>
            </a:r>
            <a:r>
              <a:rPr lang="zh-CN" altLang="en-US" smtClean="0"/>
              <a:t>口径</a:t>
            </a:r>
            <a:r>
              <a:rPr lang="en-US" altLang="zh-CN" smtClean="0"/>
              <a:t>——</a:t>
            </a:r>
            <a:r>
              <a:rPr lang="zh-CN" altLang="en-US" smtClean="0"/>
              <a:t>按测试句真实说话人做增强条件</a:t>
            </a:r>
            <a:r>
              <a:rPr lang="en-US" altLang="zh-CN" smtClean="0"/>
              <a:t>,</a:t>
            </a:r>
            <a:r>
              <a:rPr lang="zh-CN" altLang="en-US" smtClean="0"/>
              <a:t>相当于系统知道这句话是谁的。但部署时系统只知道对方声称的身份</a:t>
            </a:r>
            <a:r>
              <a:rPr lang="en-US" altLang="zh-CN" smtClean="0"/>
              <a:t>,</a:t>
            </a:r>
            <a:r>
              <a:rPr lang="zh-CN" altLang="en-US" smtClean="0"/>
              <a:t>冒认者会拿别人的身份攻击系统。所以我们复测了 </a:t>
            </a:r>
            <a:r>
              <a:rPr lang="en-US" altLang="zh-CN" smtClean="0"/>
              <a:t>claim </a:t>
            </a:r>
            <a:r>
              <a:rPr lang="zh-CN" altLang="en-US" smtClean="0"/>
              <a:t>口径</a:t>
            </a:r>
            <a:r>
              <a:rPr lang="en-US" altLang="zh-CN" smtClean="0"/>
              <a:t>:</a:t>
            </a:r>
            <a:r>
              <a:rPr lang="zh-CN" altLang="en-US" smtClean="0"/>
              <a:t>冒认句按声称者的注册语音做条件。</a:t>
            </a:r>
          </a:p>
          <a:p>
            <a:r>
              <a:rPr lang="zh-CN" altLang="en-US" smtClean="0"/>
              <a:t>结果</a:t>
            </a:r>
            <a:r>
              <a:rPr lang="en-US" altLang="zh-CN" smtClean="0"/>
              <a:t>,0 </a:t>
            </a:r>
            <a:r>
              <a:rPr lang="zh-CN" altLang="en-US" smtClean="0"/>
              <a:t>分贝下 </a:t>
            </a:r>
            <a:r>
              <a:rPr lang="en-US" altLang="zh-CN" smtClean="0"/>
              <a:t>claim 10.72,</a:t>
            </a:r>
            <a:r>
              <a:rPr lang="zh-CN" altLang="en-US" smtClean="0"/>
              <a:t>比 </a:t>
            </a:r>
            <a:r>
              <a:rPr lang="en-US" altLang="zh-CN" smtClean="0"/>
              <a:t>raw </a:t>
            </a:r>
            <a:r>
              <a:rPr lang="zh-CN" altLang="en-US" smtClean="0"/>
              <a:t>的 </a:t>
            </a:r>
            <a:r>
              <a:rPr lang="en-US" altLang="zh-CN" smtClean="0"/>
              <a:t>8.37 </a:t>
            </a:r>
            <a:r>
              <a:rPr lang="zh-CN" altLang="en-US" smtClean="0"/>
              <a:t>还差 </a:t>
            </a:r>
            <a:r>
              <a:rPr lang="en-US" altLang="zh-CN" smtClean="0"/>
              <a:t>2.36 </a:t>
            </a:r>
            <a:r>
              <a:rPr lang="zh-CN" altLang="en-US" smtClean="0"/>
              <a:t>个点。</a:t>
            </a:r>
          </a:p>
          <a:p>
            <a:r>
              <a:rPr lang="zh-CN" altLang="en-US" smtClean="0"/>
              <a:t>机理是冒认泄漏</a:t>
            </a:r>
            <a:r>
              <a:rPr lang="en-US" altLang="zh-CN" smtClean="0"/>
              <a:t>:</a:t>
            </a:r>
            <a:r>
              <a:rPr lang="zh-CN" altLang="en-US" smtClean="0"/>
              <a:t>增强把冒认者的语音往声称者拉</a:t>
            </a:r>
            <a:r>
              <a:rPr lang="en-US" altLang="zh-CN" smtClean="0"/>
              <a:t>,</a:t>
            </a:r>
            <a:r>
              <a:rPr lang="zh-CN" altLang="en-US" smtClean="0"/>
              <a:t>冒认分数中位数从 </a:t>
            </a:r>
            <a:r>
              <a:rPr lang="en-US" altLang="zh-CN" smtClean="0"/>
              <a:t>0.044 </a:t>
            </a:r>
            <a:r>
              <a:rPr lang="zh-CN" altLang="en-US" smtClean="0"/>
              <a:t>抬到 </a:t>
            </a:r>
            <a:r>
              <a:rPr lang="en-US" altLang="zh-CN" smtClean="0"/>
              <a:t>0.129,</a:t>
            </a:r>
            <a:r>
              <a:rPr lang="zh-CN" altLang="en-US" smtClean="0"/>
              <a:t>涨了三倍</a:t>
            </a:r>
            <a:r>
              <a:rPr lang="en-US" altLang="zh-CN" smtClean="0"/>
              <a:t>——</a:t>
            </a:r>
            <a:r>
              <a:rPr lang="zh-CN" altLang="en-US" smtClean="0"/>
              <a:t>注册身份信息经条件化增强</a:t>
            </a:r>
            <a:r>
              <a:rPr lang="en-US" altLang="zh-CN" smtClean="0"/>
              <a:t>,</a:t>
            </a:r>
            <a:r>
              <a:rPr lang="zh-CN" altLang="en-US" smtClean="0"/>
              <a:t>泄漏进了输出语音本身</a:t>
            </a:r>
            <a:r>
              <a:rPr lang="en-US" altLang="zh-CN" smtClean="0"/>
              <a:t>;</a:t>
            </a:r>
            <a:r>
              <a:rPr lang="zh-CN" altLang="en-US" smtClean="0"/>
              <a:t>去噪越成功</a:t>
            </a:r>
            <a:r>
              <a:rPr lang="en-US" altLang="zh-CN" smtClean="0"/>
              <a:t>,</a:t>
            </a:r>
            <a:r>
              <a:rPr lang="zh-CN" altLang="en-US" smtClean="0"/>
              <a:t>冒认语音越像声称者</a:t>
            </a:r>
            <a:r>
              <a:rPr lang="en-US" altLang="zh-CN" smtClean="0"/>
              <a:t>,</a:t>
            </a:r>
            <a:r>
              <a:rPr lang="zh-CN" altLang="en-US" smtClean="0"/>
              <a:t>这是结构性机理</a:t>
            </a:r>
            <a:r>
              <a:rPr lang="en-US" altLang="zh-CN" smtClean="0"/>
              <a:t>,</a:t>
            </a:r>
            <a:r>
              <a:rPr lang="zh-CN" altLang="en-US" smtClean="0"/>
              <a:t>不是调参能解决的。</a:t>
            </a:r>
          </a:p>
          <a:p>
            <a:r>
              <a:rPr lang="en-US" altLang="zh-CN" smtClean="0"/>
              <a:t>claim </a:t>
            </a:r>
            <a:r>
              <a:rPr lang="zh-CN" altLang="en-US" smtClean="0"/>
              <a:t>最好的臂是难负原型抑制占比加码到 </a:t>
            </a:r>
            <a:r>
              <a:rPr lang="en-US" altLang="zh-CN" smtClean="0"/>
              <a:t>70%:claim 8.11 </a:t>
            </a:r>
            <a:r>
              <a:rPr lang="zh-CN" altLang="en-US" smtClean="0"/>
              <a:t>首次低于 </a:t>
            </a:r>
            <a:r>
              <a:rPr lang="en-US" altLang="zh-CN" smtClean="0"/>
              <a:t>raw,</a:t>
            </a:r>
            <a:r>
              <a:rPr lang="zh-CN" altLang="en-US" smtClean="0"/>
              <a:t>但 </a:t>
            </a:r>
            <a:r>
              <a:rPr lang="en-US" altLang="zh-CN" smtClean="0"/>
              <a:t>oracle </a:t>
            </a:r>
            <a:r>
              <a:rPr lang="zh-CN" altLang="en-US" smtClean="0"/>
              <a:t>退到 </a:t>
            </a:r>
            <a:r>
              <a:rPr lang="en-US" altLang="zh-CN" smtClean="0"/>
              <a:t>6.69,</a:t>
            </a:r>
            <a:r>
              <a:rPr lang="zh-CN" altLang="en-US" smtClean="0"/>
              <a:t>距达标线 </a:t>
            </a:r>
            <a:r>
              <a:rPr lang="en-US" altLang="zh-CN" smtClean="0"/>
              <a:t>5.87 </a:t>
            </a:r>
            <a:r>
              <a:rPr lang="zh-CN" altLang="en-US" smtClean="0"/>
              <a:t>还差 </a:t>
            </a:r>
            <a:r>
              <a:rPr lang="en-US" altLang="zh-CN" smtClean="0"/>
              <a:t>0.8 </a:t>
            </a:r>
            <a:r>
              <a:rPr lang="zh-CN" altLang="en-US" smtClean="0"/>
              <a:t>个点</a:t>
            </a:r>
            <a:r>
              <a:rPr lang="en-US" altLang="zh-CN" smtClean="0"/>
              <a:t>——15 </a:t>
            </a:r>
            <a:r>
              <a:rPr lang="zh-CN" altLang="en-US" smtClean="0"/>
              <a:t>个臂无一进入「双达标区」。这 </a:t>
            </a:r>
            <a:r>
              <a:rPr lang="en-US" altLang="zh-CN" smtClean="0"/>
              <a:t>15 </a:t>
            </a:r>
            <a:r>
              <a:rPr lang="zh-CN" altLang="en-US" smtClean="0"/>
              <a:t>臂具体做了什么</a:t>
            </a:r>
            <a:r>
              <a:rPr lang="en-US" altLang="zh-CN" smtClean="0"/>
              <a:t>,</a:t>
            </a:r>
            <a:r>
              <a:rPr lang="zh-CN" altLang="en-US" smtClean="0"/>
              <a:t>下一页全景表专门讲。</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28</a:t>
            </a:fld>
            <a:endParaRPr lang="zh-CN" altLang="en-US"/>
          </a:p>
        </p:txBody>
      </p:sp>
    </p:spTree>
    <p:extLst>
      <p:ext uri="{BB962C8B-B14F-4D97-AF65-F5344CB8AC3E}">
        <p14:creationId xmlns:p14="http://schemas.microsoft.com/office/powerpoint/2010/main" val="40372563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mtClean="0"/>
              <a:t>[</a:t>
            </a:r>
            <a:r>
              <a:rPr lang="zh-CN" altLang="en-US" smtClean="0"/>
              <a:t>第 </a:t>
            </a:r>
            <a:r>
              <a:rPr lang="en-US" altLang="zh-CN" smtClean="0"/>
              <a:t>28 </a:t>
            </a:r>
            <a:r>
              <a:rPr lang="zh-CN" altLang="en-US" smtClean="0"/>
              <a:t>页 </a:t>
            </a:r>
            <a:r>
              <a:rPr lang="en-US" altLang="zh-CN" smtClean="0"/>
              <a:t>| </a:t>
            </a:r>
            <a:r>
              <a:rPr lang="zh-CN" altLang="en-US" smtClean="0"/>
              <a:t>备用</a:t>
            </a:r>
            <a:r>
              <a:rPr lang="en-US" altLang="zh-CN" smtClean="0"/>
              <a:t>:claim </a:t>
            </a:r>
            <a:r>
              <a:rPr lang="zh-CN" altLang="en-US" smtClean="0"/>
              <a:t>修复努力全景</a:t>
            </a:r>
            <a:r>
              <a:rPr lang="en-US" altLang="zh-CN" smtClean="0"/>
              <a:t>(</a:t>
            </a:r>
            <a:r>
              <a:rPr lang="zh-CN" altLang="en-US" smtClean="0"/>
              <a:t>问及再讲</a:t>
            </a:r>
            <a:r>
              <a:rPr lang="en-US" altLang="zh-CN" smtClean="0"/>
              <a:t>) | </a:t>
            </a:r>
            <a:r>
              <a:rPr lang="zh-CN" altLang="en-US" smtClean="0"/>
              <a:t>约 </a:t>
            </a:r>
            <a:r>
              <a:rPr lang="en-US" altLang="zh-CN" smtClean="0"/>
              <a:t>90 </a:t>
            </a:r>
            <a:r>
              <a:rPr lang="zh-CN" altLang="en-US" smtClean="0"/>
              <a:t>秒</a:t>
            </a:r>
            <a:r>
              <a:rPr lang="en-US" altLang="zh-CN" smtClean="0"/>
              <a:t>]</a:t>
            </a:r>
          </a:p>
          <a:p>
            <a:endParaRPr lang="en-US" altLang="zh-CN" smtClean="0"/>
          </a:p>
          <a:p>
            <a:r>
              <a:rPr lang="zh-CN" altLang="en-US" smtClean="0"/>
              <a:t>这页把 </a:t>
            </a:r>
            <a:r>
              <a:rPr lang="en-US" altLang="zh-CN" smtClean="0"/>
              <a:t>15 </a:t>
            </a:r>
            <a:r>
              <a:rPr lang="zh-CN" altLang="en-US" smtClean="0"/>
              <a:t>个补救臂摊开</a:t>
            </a:r>
            <a:r>
              <a:rPr lang="en-US" altLang="zh-CN" smtClean="0"/>
              <a:t>,13 </a:t>
            </a:r>
            <a:r>
              <a:rPr lang="zh-CN" altLang="en-US" smtClean="0"/>
              <a:t>个训练侧、</a:t>
            </a:r>
            <a:r>
              <a:rPr lang="en-US" altLang="zh-CN" smtClean="0"/>
              <a:t>2 </a:t>
            </a:r>
            <a:r>
              <a:rPr lang="zh-CN" altLang="en-US" smtClean="0"/>
              <a:t>个推理侧。训练侧四族</a:t>
            </a:r>
            <a:r>
              <a:rPr lang="en-US" altLang="zh-CN" smtClean="0"/>
              <a:t>:</a:t>
            </a:r>
          </a:p>
          <a:p>
            <a:r>
              <a:rPr lang="en-US" altLang="zh-CN" smtClean="0"/>
              <a:t>A </a:t>
            </a:r>
            <a:r>
              <a:rPr lang="zh-CN" altLang="en-US" smtClean="0"/>
              <a:t>族</a:t>
            </a:r>
            <a:r>
              <a:rPr lang="en-US" altLang="zh-CN" smtClean="0"/>
              <a:t>,</a:t>
            </a:r>
            <a:r>
              <a:rPr lang="zh-CN" altLang="en-US" smtClean="0"/>
              <a:t>难负原型抑制加码</a:t>
            </a:r>
            <a:r>
              <a:rPr lang="en-US" altLang="zh-CN" smtClean="0"/>
              <a:t>:</a:t>
            </a:r>
            <a:r>
              <a:rPr lang="zh-CN" altLang="en-US" smtClean="0"/>
              <a:t>抑制占比从 </a:t>
            </a:r>
            <a:r>
              <a:rPr lang="en-US" altLang="zh-CN" smtClean="0"/>
              <a:t>30% </a:t>
            </a:r>
            <a:r>
              <a:rPr lang="zh-CN" altLang="en-US" smtClean="0"/>
              <a:t>加到 </a:t>
            </a:r>
            <a:r>
              <a:rPr lang="en-US" altLang="zh-CN" smtClean="0"/>
              <a:t>50%</a:t>
            </a:r>
            <a:r>
              <a:rPr lang="zh-CN" altLang="en-US" smtClean="0"/>
              <a:t>、</a:t>
            </a:r>
            <a:r>
              <a:rPr lang="en-US" altLang="zh-CN" smtClean="0"/>
              <a:t>70%,</a:t>
            </a:r>
            <a:r>
              <a:rPr lang="zh-CN" altLang="en-US" smtClean="0"/>
              <a:t>再加反拉项</a:t>
            </a:r>
            <a:r>
              <a:rPr lang="en-US" altLang="zh-CN" smtClean="0"/>
              <a:t>——claim </a:t>
            </a:r>
            <a:r>
              <a:rPr lang="zh-CN" altLang="en-US" smtClean="0"/>
              <a:t>从 </a:t>
            </a:r>
            <a:r>
              <a:rPr lang="en-US" altLang="zh-CN" smtClean="0"/>
              <a:t>10.72 </a:t>
            </a:r>
            <a:r>
              <a:rPr lang="zh-CN" altLang="en-US" smtClean="0"/>
              <a:t>压到 </a:t>
            </a:r>
            <a:r>
              <a:rPr lang="en-US" altLang="zh-CN" smtClean="0"/>
              <a:t>8.11,</a:t>
            </a:r>
            <a:r>
              <a:rPr lang="zh-CN" altLang="en-US" smtClean="0"/>
              <a:t>首次低于 </a:t>
            </a:r>
            <a:r>
              <a:rPr lang="en-US" altLang="zh-CN" smtClean="0"/>
              <a:t>raw,</a:t>
            </a:r>
            <a:r>
              <a:rPr lang="zh-CN" altLang="en-US" smtClean="0"/>
              <a:t>但 </a:t>
            </a:r>
            <a:r>
              <a:rPr lang="en-US" altLang="zh-CN" smtClean="0"/>
              <a:t>oracle </a:t>
            </a:r>
            <a:r>
              <a:rPr lang="zh-CN" altLang="en-US" smtClean="0"/>
              <a:t>从 </a:t>
            </a:r>
            <a:r>
              <a:rPr lang="en-US" altLang="zh-CN" smtClean="0"/>
              <a:t>4.88 </a:t>
            </a:r>
            <a:r>
              <a:rPr lang="zh-CN" altLang="en-US" smtClean="0"/>
              <a:t>退到 </a:t>
            </a:r>
            <a:r>
              <a:rPr lang="en-US" altLang="zh-CN" smtClean="0"/>
              <a:t>6.69,</a:t>
            </a:r>
            <a:r>
              <a:rPr lang="zh-CN" altLang="en-US" smtClean="0"/>
              <a:t>距达标线差 </a:t>
            </a:r>
            <a:r>
              <a:rPr lang="en-US" altLang="zh-CN" smtClean="0"/>
              <a:t>0.8 </a:t>
            </a:r>
            <a:r>
              <a:rPr lang="zh-CN" altLang="en-US" smtClean="0"/>
              <a:t>个点</a:t>
            </a:r>
            <a:r>
              <a:rPr lang="en-US" altLang="zh-CN" smtClean="0"/>
              <a:t>,</a:t>
            </a:r>
            <a:r>
              <a:rPr lang="zh-CN" altLang="en-US" smtClean="0"/>
              <a:t>不过线。</a:t>
            </a:r>
          </a:p>
          <a:p>
            <a:r>
              <a:rPr lang="en-US" altLang="zh-CN" smtClean="0"/>
              <a:t>B </a:t>
            </a:r>
            <a:r>
              <a:rPr lang="zh-CN" altLang="en-US" smtClean="0"/>
              <a:t>族</a:t>
            </a:r>
            <a:r>
              <a:rPr lang="en-US" altLang="zh-CN" smtClean="0"/>
              <a:t>,</a:t>
            </a:r>
            <a:r>
              <a:rPr lang="zh-CN" altLang="en-US" smtClean="0"/>
              <a:t>判别损失中性化</a:t>
            </a:r>
            <a:r>
              <a:rPr lang="en-US" altLang="zh-CN" smtClean="0"/>
              <a:t>:</a:t>
            </a:r>
            <a:r>
              <a:rPr lang="zh-CN" altLang="en-US" smtClean="0"/>
              <a:t>把判别损失清零、减半、再到配方强化</a:t>
            </a:r>
            <a:r>
              <a:rPr lang="en-US" altLang="zh-CN" smtClean="0"/>
              <a:t>——claim </a:t>
            </a:r>
            <a:r>
              <a:rPr lang="zh-CN" altLang="en-US" smtClean="0"/>
              <a:t>能到 </a:t>
            </a:r>
            <a:r>
              <a:rPr lang="en-US" altLang="zh-CN" smtClean="0"/>
              <a:t>7.79,</a:t>
            </a:r>
            <a:r>
              <a:rPr lang="zh-CN" altLang="en-US" smtClean="0"/>
              <a:t>但 </a:t>
            </a:r>
            <a:r>
              <a:rPr lang="en-US" altLang="zh-CN" smtClean="0"/>
              <a:t>oracle </a:t>
            </a:r>
            <a:r>
              <a:rPr lang="zh-CN" altLang="en-US" smtClean="0"/>
              <a:t>也退到 </a:t>
            </a:r>
            <a:r>
              <a:rPr lang="en-US" altLang="zh-CN" smtClean="0"/>
              <a:t>7.78,</a:t>
            </a:r>
            <a:r>
              <a:rPr lang="zh-CN" altLang="en-US" smtClean="0"/>
              <a:t>前端增益归零</a:t>
            </a:r>
            <a:r>
              <a:rPr lang="en-US" altLang="zh-CN" smtClean="0"/>
              <a:t>,</a:t>
            </a:r>
            <a:r>
              <a:rPr lang="zh-CN" altLang="en-US" smtClean="0"/>
              <a:t>只是权衡前沿的另一个端点。</a:t>
            </a:r>
          </a:p>
          <a:p>
            <a:r>
              <a:rPr lang="en-US" altLang="zh-CN" smtClean="0"/>
              <a:t>C </a:t>
            </a:r>
            <a:r>
              <a:rPr lang="zh-CN" altLang="en-US" smtClean="0"/>
              <a:t>族</a:t>
            </a:r>
            <a:r>
              <a:rPr lang="en-US" altLang="zh-CN" smtClean="0"/>
              <a:t>,</a:t>
            </a:r>
            <a:r>
              <a:rPr lang="zh-CN" altLang="en-US" smtClean="0"/>
              <a:t>冒认条件混合训练</a:t>
            </a:r>
            <a:r>
              <a:rPr lang="en-US" altLang="zh-CN" smtClean="0"/>
              <a:t>:</a:t>
            </a:r>
            <a:r>
              <a:rPr lang="zh-CN" altLang="en-US" smtClean="0"/>
              <a:t>训练时混入按冒认身份条件化的样本</a:t>
            </a:r>
            <a:r>
              <a:rPr lang="en-US" altLang="zh-CN" smtClean="0"/>
              <a:t>,</a:t>
            </a:r>
            <a:r>
              <a:rPr lang="zh-CN" altLang="en-US" smtClean="0"/>
              <a:t>强度 </a:t>
            </a:r>
            <a:r>
              <a:rPr lang="en-US" altLang="zh-CN" smtClean="0"/>
              <a:t>0.3</a:t>
            </a:r>
            <a:r>
              <a:rPr lang="zh-CN" altLang="en-US" smtClean="0"/>
              <a:t>、</a:t>
            </a:r>
            <a:r>
              <a:rPr lang="en-US" altLang="zh-CN" smtClean="0"/>
              <a:t>0.5,</a:t>
            </a:r>
            <a:r>
              <a:rPr lang="zh-CN" altLang="en-US" smtClean="0"/>
              <a:t>再加排序损失、直到强化版</a:t>
            </a:r>
            <a:r>
              <a:rPr lang="en-US" altLang="zh-CN" smtClean="0"/>
              <a:t>——claim </a:t>
            </a:r>
            <a:r>
              <a:rPr lang="zh-CN" altLang="en-US" smtClean="0"/>
              <a:t>最好只到 </a:t>
            </a:r>
            <a:r>
              <a:rPr lang="en-US" altLang="zh-CN" smtClean="0"/>
              <a:t>9.33,</a:t>
            </a:r>
            <a:r>
              <a:rPr lang="zh-CN" altLang="en-US" smtClean="0"/>
              <a:t>泄漏没有堵住。</a:t>
            </a:r>
          </a:p>
          <a:p>
            <a:r>
              <a:rPr lang="en-US" altLang="zh-CN" smtClean="0"/>
              <a:t>D </a:t>
            </a:r>
            <a:r>
              <a:rPr lang="zh-CN" altLang="en-US" smtClean="0"/>
              <a:t>族最激进</a:t>
            </a:r>
            <a:r>
              <a:rPr lang="en-US" altLang="zh-CN" smtClean="0"/>
              <a:t>:</a:t>
            </a:r>
            <a:r>
              <a:rPr lang="zh-CN" altLang="en-US" smtClean="0"/>
              <a:t>把冒认段做静音掩蔽再加排序损失</a:t>
            </a:r>
            <a:r>
              <a:rPr lang="en-US" altLang="zh-CN" smtClean="0"/>
              <a:t>——oracle 4.73 </a:t>
            </a:r>
            <a:r>
              <a:rPr lang="zh-CN" altLang="en-US" smtClean="0"/>
              <a:t>全场最优</a:t>
            </a:r>
            <a:r>
              <a:rPr lang="en-US" altLang="zh-CN" smtClean="0"/>
              <a:t>,claim 12.60 </a:t>
            </a:r>
            <a:r>
              <a:rPr lang="zh-CN" altLang="en-US" smtClean="0"/>
              <a:t>全场最差</a:t>
            </a:r>
            <a:r>
              <a:rPr lang="en-US" altLang="zh-CN" smtClean="0"/>
              <a:t>,</a:t>
            </a:r>
            <a:r>
              <a:rPr lang="zh-CN" altLang="en-US" smtClean="0"/>
              <a:t>越保护交付口径、泄漏越重。</a:t>
            </a:r>
          </a:p>
          <a:p>
            <a:r>
              <a:rPr lang="zh-CN" altLang="en-US" smtClean="0"/>
              <a:t>推理侧两臂</a:t>
            </a:r>
            <a:r>
              <a:rPr lang="en-US" altLang="zh-CN" smtClean="0"/>
              <a:t>:</a:t>
            </a:r>
            <a:r>
              <a:rPr lang="zh-CN" altLang="en-US" smtClean="0"/>
              <a:t>能量门控</a:t>
            </a:r>
            <a:r>
              <a:rPr lang="en-US" altLang="zh-CN" smtClean="0"/>
              <a:t>,</a:t>
            </a:r>
            <a:r>
              <a:rPr lang="zh-CN" altLang="en-US" smtClean="0"/>
              <a:t>按增强语音能量把可疑段静音</a:t>
            </a:r>
            <a:r>
              <a:rPr lang="en-US" altLang="zh-CN" smtClean="0"/>
              <a:t>,</a:t>
            </a:r>
            <a:r>
              <a:rPr lang="zh-CN" altLang="en-US" smtClean="0"/>
              <a:t>门限从负 </a:t>
            </a:r>
            <a:r>
              <a:rPr lang="en-US" altLang="zh-CN" smtClean="0"/>
              <a:t>60 </a:t>
            </a:r>
            <a:r>
              <a:rPr lang="zh-CN" altLang="en-US" smtClean="0"/>
              <a:t>扫到负 </a:t>
            </a:r>
            <a:r>
              <a:rPr lang="en-US" altLang="zh-CN" smtClean="0"/>
              <a:t>10 </a:t>
            </a:r>
            <a:r>
              <a:rPr lang="zh-CN" altLang="en-US" smtClean="0"/>
              <a:t>分贝</a:t>
            </a:r>
            <a:r>
              <a:rPr lang="en-US" altLang="zh-CN" smtClean="0"/>
              <a:t>,</a:t>
            </a:r>
            <a:r>
              <a:rPr lang="zh-CN" altLang="en-US" smtClean="0"/>
              <a:t>任何门限下 </a:t>
            </a:r>
            <a:r>
              <a:rPr lang="en-US" altLang="zh-CN" smtClean="0"/>
              <a:t>claim </a:t>
            </a:r>
            <a:r>
              <a:rPr lang="zh-CN" altLang="en-US" smtClean="0"/>
              <a:t>都劣于 </a:t>
            </a:r>
            <a:r>
              <a:rPr lang="en-US" altLang="zh-CN" smtClean="0"/>
              <a:t>oracle,</a:t>
            </a:r>
            <a:r>
              <a:rPr lang="zh-CN" altLang="en-US" smtClean="0"/>
              <a:t>救不回</a:t>
            </a:r>
            <a:r>
              <a:rPr lang="en-US" altLang="zh-CN" smtClean="0"/>
              <a:t>;raw </a:t>
            </a:r>
            <a:r>
              <a:rPr lang="zh-CN" altLang="en-US" smtClean="0"/>
              <a:t>加 </a:t>
            </a:r>
            <a:r>
              <a:rPr lang="en-US" altLang="zh-CN" smtClean="0"/>
              <a:t>claim </a:t>
            </a:r>
            <a:r>
              <a:rPr lang="zh-CN" altLang="en-US" smtClean="0"/>
              <a:t>分数融合</a:t>
            </a:r>
            <a:r>
              <a:rPr lang="en-US" altLang="zh-CN" smtClean="0"/>
              <a:t>,</a:t>
            </a:r>
            <a:r>
              <a:rPr lang="zh-CN" altLang="en-US" smtClean="0"/>
              <a:t>验证集上网格搜权重</a:t>
            </a:r>
            <a:r>
              <a:rPr lang="en-US" altLang="zh-CN" smtClean="0"/>
              <a:t>,</a:t>
            </a:r>
            <a:r>
              <a:rPr lang="zh-CN" altLang="en-US" smtClean="0"/>
              <a:t>最优 </a:t>
            </a:r>
            <a:r>
              <a:rPr lang="en-US" altLang="zh-CN" smtClean="0"/>
              <a:t>8.23,</a:t>
            </a:r>
            <a:r>
              <a:rPr lang="zh-CN" altLang="en-US" smtClean="0"/>
              <a:t>只是回到 </a:t>
            </a:r>
            <a:r>
              <a:rPr lang="en-US" altLang="zh-CN" smtClean="0"/>
              <a:t>raw </a:t>
            </a:r>
            <a:r>
              <a:rPr lang="zh-CN" altLang="en-US" smtClean="0"/>
              <a:t>附近</a:t>
            </a:r>
            <a:r>
              <a:rPr lang="en-US" altLang="zh-CN" smtClean="0"/>
              <a:t>,</a:t>
            </a:r>
            <a:r>
              <a:rPr lang="zh-CN" altLang="en-US" smtClean="0"/>
              <a:t>没有净增益。</a:t>
            </a:r>
          </a:p>
          <a:p>
            <a:r>
              <a:rPr lang="zh-CN" altLang="en-US" smtClean="0"/>
              <a:t>结论</a:t>
            </a:r>
            <a:r>
              <a:rPr lang="en-US" altLang="zh-CN" smtClean="0"/>
              <a:t>:15 </a:t>
            </a:r>
            <a:r>
              <a:rPr lang="zh-CN" altLang="en-US" smtClean="0"/>
              <a:t>臂全部只在前沿上滑动</a:t>
            </a:r>
            <a:r>
              <a:rPr lang="en-US" altLang="zh-CN" smtClean="0"/>
              <a:t>——</a:t>
            </a:r>
            <a:r>
              <a:rPr lang="zh-CN" altLang="en-US" smtClean="0"/>
              <a:t>「条件化增强把身份写进语音」是结构性机理</a:t>
            </a:r>
            <a:r>
              <a:rPr lang="en-US" altLang="zh-CN" smtClean="0"/>
              <a:t>,</a:t>
            </a:r>
            <a:r>
              <a:rPr lang="zh-CN" altLang="en-US" smtClean="0"/>
              <a:t>非调参可解。下一步三个方向已写在展望</a:t>
            </a:r>
            <a:r>
              <a:rPr lang="en-US" altLang="zh-CN" smtClean="0"/>
              <a:t>:</a:t>
            </a:r>
            <a:r>
              <a:rPr lang="zh-CN" altLang="en-US" smtClean="0"/>
              <a:t>条件扰动 </a:t>
            </a:r>
            <a:r>
              <a:rPr lang="en-US" altLang="zh-CN" smtClean="0"/>
              <a:t>dropout </a:t>
            </a:r>
            <a:r>
              <a:rPr lang="zh-CN" altLang="en-US" smtClean="0"/>
              <a:t>式训练、冒认感知的分数域校准、改条件注入位置。</a:t>
            </a:r>
            <a:endParaRPr lang="zh-CN" altLang="en-US" dirty="0"/>
          </a:p>
        </p:txBody>
      </p:sp>
      <p:sp>
        <p:nvSpPr>
          <p:cNvPr id="4" name="灯片编号占位符 3"/>
          <p:cNvSpPr>
            <a:spLocks noGrp="1"/>
          </p:cNvSpPr>
          <p:nvPr>
            <p:ph type="sldNum" sz="quarter" idx="10"/>
          </p:nvPr>
        </p:nvSpPr>
        <p:spPr/>
        <p:txBody>
          <a:bodyPr/>
          <a:lstStyle/>
          <a:p>
            <a:fld id="{83FA4863-82EA-4055-A6CB-D03302C3F2F9}" type="slidenum">
              <a:rPr lang="zh-CN" altLang="en-US" smtClean="0"/>
              <a:t>29</a:t>
            </a:fld>
            <a:endParaRPr lang="zh-CN" altLang="en-US"/>
          </a:p>
        </p:txBody>
      </p:sp>
    </p:spTree>
    <p:extLst>
      <p:ext uri="{BB962C8B-B14F-4D97-AF65-F5344CB8AC3E}">
        <p14:creationId xmlns:p14="http://schemas.microsoft.com/office/powerpoint/2010/main" val="7299606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本部分只汇报数据与评测支撑，以及最终交付前端的工作原理。</a:t>
            </a:r>
          </a:p>
          <a:p>
            <a:r>
              <a:t>研究思路和完整方法选取过程已由同伴汇报，本部分不重复展开。</a:t>
            </a:r>
          </a:p>
          <a:p>
            <a:r>
              <a:t>[Sources]</a:t>
            </a:r>
          </a:p>
          <a:p>
            <a:r>
              <a:t>技术报告_跨设备噪声鲁棒声纹识别_v2.pdf：小组成员与分工、2.2、4.1-4.2</a:t>
            </a:r>
          </a:p>
          <a:p>
            <a:r>
              <a:t>ds分析.docx：幻灯片1-7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左侧是同伴已经覆盖的算法主线，右侧是我负责且本次重点汇报的内容。</a:t>
            </a:r>
          </a:p>
          <a:p>
            <a:r>
              <a:t>方法部分只讲文献为什么支持尝试、内部结果为何保留或否决；随后解释交付前端的输入输出和模块原理。</a:t>
            </a:r>
          </a:p>
          <a:p>
            <a:r>
              <a:t>[Sources]</a:t>
            </a:r>
          </a:p>
          <a:p>
            <a:r>
              <a:t>技术报告_跨设备噪声鲁棒声纹识别_v2.pdf：小组成员与分工</a:t>
            </a:r>
          </a:p>
          <a:p>
            <a:r>
              <a:t>ds分析.docx：幻灯片2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汇报分六个部分:任务背景与要求、研究思路、实验条件与评测协议、交付的方法、实验结果与消融,最后是局限性分析与展望。</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首先看任务背景。</a:t>
            </a:r>
          </a:p>
        </p:txBody>
      </p:sp>
      <p:sp>
        <p:nvSpPr>
          <p:cNvPr id="4" name="灯片编号占位符 3"/>
          <p:cNvSpPr>
            <a:spLocks noGrp="1"/>
          </p:cNvSpPr>
          <p:nvPr>
            <p:ph type="sldNum" sz="quarter" idx="10"/>
          </p:nvPr>
        </p:nvSpPr>
        <p:spPr/>
        <p:txBody>
          <a:bodyPr/>
          <a:lstStyle/>
          <a:p>
            <a:fld id="{83FA4863-82EA-4055-A6CB-D03302C3F2F9}" type="slidenum">
              <a:rPr lang="zh-CN" altLang="en-US" smtClean="0"/>
              <a:t>33</a:t>
            </a:fld>
            <a:endParaRPr lang="zh-CN" altLang="en-US"/>
          </a:p>
        </p:txBody>
      </p:sp>
    </p:spTree>
    <p:extLst>
      <p:ext uri="{BB962C8B-B14F-4D97-AF65-F5344CB8AC3E}">
        <p14:creationId xmlns:p14="http://schemas.microsoft.com/office/powerpoint/2010/main" val="19478449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所有条件共用一套注册语音和一套 Trial 清单，变化只发生在测试侧。</a:t>
            </a:r>
          </a:p>
          <a:p>
            <a:r>
              <a:t>八套测试语音按 clean 1 套、噪声 2 套、混响 1 套、中文重叠 2 套、英文重叠 2 套组成；短语音 1/3/5 秒作为统一时长轴。</a:t>
            </a:r>
          </a:p>
          <a:p>
            <a:r>
              <a:t>[Sources]</a:t>
            </a:r>
          </a:p>
          <a:p>
            <a:r>
              <a:t>技术报告_跨设备噪声鲁棒声纹识别_v2.pdf：1.2、2.2</a:t>
            </a:r>
          </a:p>
          <a:p>
            <a:r>
              <a:t>ds分析.docx：幻灯片4-5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所有条件共用一套注册语音和一套 Trial 清单，变化只发生在测试侧。</a:t>
            </a:r>
          </a:p>
          <a:p>
            <a:r>
              <a:t>八套测试语音按 clean 1 套、噪声 2 套、混响 1 套、中文重叠 2 套、英文重叠 2 套组成；短语音 1/3/5 秒作为统一时长轴。</a:t>
            </a:r>
          </a:p>
          <a:p>
            <a:r>
              <a:t>[Sources]</a:t>
            </a:r>
          </a:p>
          <a:p>
            <a:r>
              <a:t>技术报告_跨设备噪声鲁棒声纹识别_v2.pdf：1.2、2.2</a:t>
            </a:r>
          </a:p>
          <a:p>
            <a:r>
              <a:t>ds分析.docx：幻灯片4-5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FC58F-C28A-2435-1313-78AC59887B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D6CFDC-884F-83AC-648A-D85B01C9A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39CC5E-8B4E-FEE1-006B-7279E83116FE}"/>
              </a:ext>
            </a:extLst>
          </p:cNvPr>
          <p:cNvSpPr>
            <a:spLocks noGrp="1"/>
          </p:cNvSpPr>
          <p:nvPr>
            <p:ph type="body" idx="1"/>
          </p:nvPr>
        </p:nvSpPr>
        <p:spPr/>
        <p:txBody>
          <a:bodyPr/>
          <a:lstStyle/>
          <a:p>
            <a:r>
              <a:rPr dirty="0" err="1"/>
              <a:t>本页改为与张启元汇报一致的流程图表达。上半部分是</a:t>
            </a:r>
            <a:r>
              <a:rPr lang="zh-CN" altLang="en-US" dirty="0"/>
              <a:t>干净语音合成、下部分是</a:t>
            </a:r>
            <a:r>
              <a:rPr dirty="0" err="1"/>
              <a:t>噪声合成</a:t>
            </a:r>
            <a:r>
              <a:rPr dirty="0"/>
              <a:t>, </a:t>
            </a:r>
            <a:endParaRPr lang="en-US" dirty="0"/>
          </a:p>
          <a:p>
            <a:r>
              <a:rPr lang="zh-CN" altLang="zh-CN" sz="1200" b="1" i="0" kern="1200" dirty="0">
                <a:effectLst/>
              </a:rPr>
              <a:t>对于同一条干净语音，生成 0dB 和 -5dB 时，选取的噪声文件、截取起始位置（</a:t>
            </a:r>
            <a:r>
              <a:rPr lang="zh-CN" altLang="zh-CN" sz="1200" b="0" i="0" kern="1200" dirty="0">
                <a:effectLst/>
              </a:rPr>
              <a:t>noise_start</a:t>
            </a:r>
            <a:r>
              <a:rPr lang="zh-CN" altLang="zh-CN" sz="1200" b="1" i="0" kern="1200" dirty="0">
                <a:effectLst/>
              </a:rPr>
              <a:t>）是完全相同的。</a:t>
            </a:r>
            <a:endParaRPr lang="en-US" dirty="0"/>
          </a:p>
          <a:p>
            <a:r>
              <a:rPr dirty="0" err="1"/>
              <a:t>噪声按目标SNR整体缩放</a:t>
            </a:r>
            <a:r>
              <a:rPr dirty="0"/>
              <a:t>;</a:t>
            </a:r>
          </a:p>
        </p:txBody>
      </p:sp>
      <p:sp>
        <p:nvSpPr>
          <p:cNvPr id="4" name="Slide Number Placeholder 3">
            <a:extLst>
              <a:ext uri="{FF2B5EF4-FFF2-40B4-BE49-F238E27FC236}">
                <a16:creationId xmlns:a16="http://schemas.microsoft.com/office/drawing/2014/main" id="{43128AE1-D21D-E3B8-13CF-A954DAE0CCC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06206263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8C82E-86BA-AD9A-3F30-35BB784028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61A6C-91AB-2F9D-08E0-AA6698240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029A55-5FDA-B39D-5FDF-5A9742F7D550}"/>
              </a:ext>
            </a:extLst>
          </p:cNvPr>
          <p:cNvSpPr>
            <a:spLocks noGrp="1"/>
          </p:cNvSpPr>
          <p:nvPr>
            <p:ph type="body" idx="1"/>
          </p:nvPr>
        </p:nvSpPr>
        <p:spPr/>
        <p:txBody>
          <a:bodyPr/>
          <a:lstStyle/>
          <a:p>
            <a:r>
              <a:rPr dirty="0" err="1"/>
              <a:t>本页改为与张启元汇报一致的流程图表达。上半部分是噪声合成,下半部分是多人重叠合成</a:t>
            </a:r>
            <a:r>
              <a:rPr dirty="0"/>
              <a:t>。</a:t>
            </a:r>
          </a:p>
          <a:p>
            <a:r>
              <a:rPr dirty="0" err="1"/>
              <a:t>噪声按目标SNR整体缩放;多人重叠先合并干扰,再按目标TIR整体缩放,避免逐路缩放改变实际能量关系</a:t>
            </a:r>
            <a:r>
              <a:rPr dirty="0"/>
              <a:t>。</a:t>
            </a:r>
          </a:p>
          <a:p>
            <a:r>
              <a:rPr dirty="0" err="1"/>
              <a:t>两条路径都保存来源、功率条件、裁剪位置、长度、峰值和随机种子,因此每个样本都能复算</a:t>
            </a:r>
            <a:r>
              <a:rPr dirty="0"/>
              <a:t>。</a:t>
            </a:r>
          </a:p>
        </p:txBody>
      </p:sp>
      <p:sp>
        <p:nvSpPr>
          <p:cNvPr id="4" name="Slide Number Placeholder 3">
            <a:extLst>
              <a:ext uri="{FF2B5EF4-FFF2-40B4-BE49-F238E27FC236}">
                <a16:creationId xmlns:a16="http://schemas.microsoft.com/office/drawing/2014/main" id="{BC319137-D792-A23C-1C05-03EB5375E71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7084637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这一页补充混响数据的实际生成路径。先把语音和RIR的幅值尺度统一,并把RIR整体缩小,然后做时域卷积</a:t>
            </a:r>
            <a:r>
              <a:rPr dirty="0"/>
              <a:t>。</a:t>
            </a:r>
          </a:p>
          <a:p>
            <a:r>
              <a:rPr dirty="0" err="1"/>
              <a:t>卷积后只保留原测试时长,最后用整段统一比例做反削波。这样不会逐点改变波形,同时避免削波成为额外变量</a:t>
            </a:r>
            <a:r>
              <a:rPr dirty="0"/>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64A49-31DE-1CE8-E937-4634B13D89C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F3DD3F-233F-9157-9ACF-C640D7D56A6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92985CD-EB43-F588-007F-E03DD551823E}"/>
              </a:ext>
            </a:extLst>
          </p:cNvPr>
          <p:cNvSpPr>
            <a:spLocks noGrp="1"/>
          </p:cNvSpPr>
          <p:nvPr>
            <p:ph type="body" idx="1"/>
          </p:nvPr>
        </p:nvSpPr>
        <p:spPr/>
        <p:txBody>
          <a:bodyPr/>
          <a:lstStyle/>
          <a:p>
            <a:r>
              <a:rPr lang="zh-CN" altLang="en-US"/>
              <a:t>首先看任务背景。</a:t>
            </a:r>
          </a:p>
        </p:txBody>
      </p:sp>
      <p:sp>
        <p:nvSpPr>
          <p:cNvPr id="4" name="灯片编号占位符 3">
            <a:extLst>
              <a:ext uri="{FF2B5EF4-FFF2-40B4-BE49-F238E27FC236}">
                <a16:creationId xmlns:a16="http://schemas.microsoft.com/office/drawing/2014/main" id="{8110B474-F407-E272-BEAC-52C8E47E62F3}"/>
              </a:ext>
            </a:extLst>
          </p:cNvPr>
          <p:cNvSpPr>
            <a:spLocks noGrp="1"/>
          </p:cNvSpPr>
          <p:nvPr>
            <p:ph type="sldNum" sz="quarter" idx="10"/>
          </p:nvPr>
        </p:nvSpPr>
        <p:spPr/>
        <p:txBody>
          <a:bodyPr/>
          <a:lstStyle/>
          <a:p>
            <a:fld id="{83FA4863-82EA-4055-A6CB-D03302C3F2F9}" type="slidenum">
              <a:rPr lang="zh-CN" altLang="en-US" smtClean="0"/>
              <a:t>39</a:t>
            </a:fld>
            <a:endParaRPr lang="zh-CN" altLang="en-US"/>
          </a:p>
        </p:txBody>
      </p:sp>
    </p:spTree>
    <p:extLst>
      <p:ext uri="{BB962C8B-B14F-4D97-AF65-F5344CB8AC3E}">
        <p14:creationId xmlns:p14="http://schemas.microsoft.com/office/powerpoint/2010/main" val="2750685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三项检查分别解决三个不同粒度的问题。说话人级保证开集隔离,MD5级排查同一个文件被复制,切片级排查同一条长录音被切成不同片段后分流。</a:t>
            </a:r>
          </a:p>
          <a:p>
            <a:r>
              <a:t>只有三项全部通过才生成评测manifest,因此泄漏检查是评测之前的硬门槛。</a:t>
            </a:r>
          </a:p>
          <a:p>
            <a:r>
              <a:t>[Sources]</a:t>
            </a:r>
          </a:p>
          <a:p>
            <a:r>
              <a:t>技术报告_跨设备噪声鲁棒声纹识别_v2.pdf：1.2、2.2。</a:t>
            </a:r>
          </a:p>
          <a:p>
            <a:r>
              <a:t>ds分析.docx：三重泄漏检查与manifest守门流程。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074140-7AEC-3C6A-C23F-93BDBF28D3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AE3E070-1879-5D71-A61E-44855C2B22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3E87240-9C0C-CA2E-FFDA-57275EB8B166}"/>
              </a:ext>
            </a:extLst>
          </p:cNvPr>
          <p:cNvSpPr>
            <a:spLocks noGrp="1"/>
          </p:cNvSpPr>
          <p:nvPr>
            <p:ph type="body" idx="1"/>
          </p:nvPr>
        </p:nvSpPr>
        <p:spPr/>
        <p:txBody>
          <a:bodyPr/>
          <a:lstStyle/>
          <a:p>
            <a:r>
              <a:rPr lang="zh-CN" altLang="en-US"/>
              <a:t>首先看任务背景。</a:t>
            </a:r>
          </a:p>
        </p:txBody>
      </p:sp>
      <p:sp>
        <p:nvSpPr>
          <p:cNvPr id="4" name="灯片编号占位符 3">
            <a:extLst>
              <a:ext uri="{FF2B5EF4-FFF2-40B4-BE49-F238E27FC236}">
                <a16:creationId xmlns:a16="http://schemas.microsoft.com/office/drawing/2014/main" id="{7D8904E1-E1E7-80C5-8E21-43B4FC4B621D}"/>
              </a:ext>
            </a:extLst>
          </p:cNvPr>
          <p:cNvSpPr>
            <a:spLocks noGrp="1"/>
          </p:cNvSpPr>
          <p:nvPr>
            <p:ph type="sldNum" sz="quarter" idx="10"/>
          </p:nvPr>
        </p:nvSpPr>
        <p:spPr/>
        <p:txBody>
          <a:bodyPr/>
          <a:lstStyle/>
          <a:p>
            <a:fld id="{83FA4863-82EA-4055-A6CB-D03302C3F2F9}" type="slidenum">
              <a:rPr lang="zh-CN" altLang="en-US" smtClean="0"/>
              <a:t>41</a:t>
            </a:fld>
            <a:endParaRPr lang="zh-CN" altLang="en-US"/>
          </a:p>
        </p:txBody>
      </p:sp>
    </p:spTree>
    <p:extLst>
      <p:ext uri="{BB962C8B-B14F-4D97-AF65-F5344CB8AC3E}">
        <p14:creationId xmlns:p14="http://schemas.microsoft.com/office/powerpoint/2010/main" val="95030598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所有路线都使用同一份trial、同一后端和同一指标实现。Dev只负责确定阈值,Eval只做冻结阈值下的最终计算。</a:t>
            </a:r>
          </a:p>
          <a:p>
            <a:r>
              <a:t>脚本既给出EER和minDCF,也保存ROC、DET以及固定阈值FAR/FRR,便于从不同角度复核结果。</a:t>
            </a:r>
          </a:p>
          <a:p>
            <a:r>
              <a:t>[Sources]</a:t>
            </a:r>
          </a:p>
          <a:p>
            <a:r>
              <a:t>技术报告_跨设备噪声鲁棒声纹识别_v2.pdf：1.2-1.3、2.2、5.3、附录B。</a:t>
            </a:r>
          </a:p>
          <a:p>
            <a:r>
              <a:t>ds分析.docx：统一评测脚本说明。</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第一层校准是复现公开协议数值,第二层校准是让自建脚本和官方脚本对同一打分文件逐位对账。</a:t>
            </a:r>
          </a:p>
          <a:p>
            <a:r>
              <a:t>两层同时通过后,才用该管线对各条方法路线作保留或淘汰判断。</a:t>
            </a:r>
          </a:p>
          <a:p>
            <a:r>
              <a:t>[Sources]</a:t>
            </a:r>
          </a:p>
          <a:p>
            <a:r>
              <a:t>技术报告_跨设备噪声鲁棒声纹识别_v2.pdf：2.1-2.2。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60770-5701-D1E8-5312-3F633951B3C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082C9CC-B62B-E47A-5F20-731A67E052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2510BA-06D9-D831-1AA2-4E699FC1F61F}"/>
              </a:ext>
            </a:extLst>
          </p:cNvPr>
          <p:cNvSpPr>
            <a:spLocks noGrp="1"/>
          </p:cNvSpPr>
          <p:nvPr>
            <p:ph type="body" idx="1"/>
          </p:nvPr>
        </p:nvSpPr>
        <p:spPr/>
        <p:txBody>
          <a:bodyPr/>
          <a:lstStyle/>
          <a:p>
            <a:r>
              <a:rPr lang="zh-CN" altLang="en-US"/>
              <a:t>首先看任务背景。</a:t>
            </a:r>
          </a:p>
        </p:txBody>
      </p:sp>
      <p:sp>
        <p:nvSpPr>
          <p:cNvPr id="4" name="灯片编号占位符 3">
            <a:extLst>
              <a:ext uri="{FF2B5EF4-FFF2-40B4-BE49-F238E27FC236}">
                <a16:creationId xmlns:a16="http://schemas.microsoft.com/office/drawing/2014/main" id="{6448F8AB-9FF8-5298-91F1-634009CE4A5E}"/>
              </a:ext>
            </a:extLst>
          </p:cNvPr>
          <p:cNvSpPr>
            <a:spLocks noGrp="1"/>
          </p:cNvSpPr>
          <p:nvPr>
            <p:ph type="sldNum" sz="quarter" idx="10"/>
          </p:nvPr>
        </p:nvSpPr>
        <p:spPr/>
        <p:txBody>
          <a:bodyPr/>
          <a:lstStyle/>
          <a:p>
            <a:fld id="{83FA4863-82EA-4055-A6CB-D03302C3F2F9}" type="slidenum">
              <a:rPr lang="zh-CN" altLang="en-US" smtClean="0"/>
              <a:t>44</a:t>
            </a:fld>
            <a:endParaRPr lang="zh-CN" altLang="en-US"/>
          </a:p>
        </p:txBody>
      </p:sp>
    </p:spTree>
    <p:extLst>
      <p:ext uri="{BB962C8B-B14F-4D97-AF65-F5344CB8AC3E}">
        <p14:creationId xmlns:p14="http://schemas.microsoft.com/office/powerpoint/2010/main" val="55930475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这里不再重复完整研究历程,只保留三条路线的选择依据、内部验证结果和最终判断。</a:t>
            </a:r>
          </a:p>
          <a:p>
            <a:r>
              <a:t>后端微调与通用增强都存在公开研究依据,但在本课题统一协议下没有带来正收益。TSE把问题从去除噪声改成提取注册说话人,因此被保留。</a:t>
            </a:r>
          </a:p>
          <a:p>
            <a:r>
              <a:t>[Sources]</a:t>
            </a:r>
          </a:p>
          <a:p>
            <a:r>
              <a:t>Tabatabaee et al., FT-Boosted SV, Interspeech 2025, DOI 10.21437/Interspeech.2025-1002。</a:t>
            </a:r>
          </a:p>
          <a:p>
            <a:r>
              <a:t>Kim et al., ParaNoise-SV, Interspeech 2025, DOI 10.21437/Interspeech.2025-1145。</a:t>
            </a:r>
          </a:p>
          <a:p>
            <a:r>
              <a:t>Liu et al., Target Speaker Extraction with Curriculum Learning, Interspeech 2024, DOI 10.21437/Interspeech.2024-1375。</a:t>
            </a:r>
          </a:p>
          <a:p>
            <a:r>
              <a:t>技术报告_跨设备噪声鲁棒声纹识别_v2.pdf：3.2-3.4、5.1。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46B03-A6DC-C0A4-201A-5F932A328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91FA77-3A83-EE01-640F-698E412348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66C40B-5972-0DEB-0092-61E34FB41E30}"/>
              </a:ext>
            </a:extLst>
          </p:cNvPr>
          <p:cNvSpPr>
            <a:spLocks noGrp="1"/>
          </p:cNvSpPr>
          <p:nvPr>
            <p:ph type="body" idx="1"/>
          </p:nvPr>
        </p:nvSpPr>
        <p:spPr/>
        <p:txBody>
          <a:bodyPr/>
          <a:lstStyle/>
          <a:p>
            <a:r>
              <a:t>这里不再重复完整研究历程,只保留三条路线的选择依据、内部验证结果和最终判断。</a:t>
            </a:r>
          </a:p>
          <a:p>
            <a:r>
              <a:t>后端微调与通用增强都存在公开研究依据,但在本课题统一协议下没有带来正收益。TSE把问题从去除噪声改成提取注册说话人,因此被保留。</a:t>
            </a:r>
          </a:p>
          <a:p>
            <a:r>
              <a:t>[Sources]</a:t>
            </a:r>
          </a:p>
          <a:p>
            <a:r>
              <a:t>Tabatabaee et al., FT-Boosted SV, Interspeech 2025, DOI 10.21437/Interspeech.2025-1002。</a:t>
            </a:r>
          </a:p>
          <a:p>
            <a:r>
              <a:t>Kim et al., ParaNoise-SV, Interspeech 2025, DOI 10.21437/Interspeech.2025-1145。</a:t>
            </a:r>
          </a:p>
          <a:p>
            <a:r>
              <a:t>Liu et al., Target Speaker Extraction with Curriculum Learning, Interspeech 2024, DOI 10.21437/Interspeech.2024-1375。</a:t>
            </a:r>
          </a:p>
          <a:p>
            <a:r>
              <a:t>技术报告_跨设备噪声鲁棒声纹识别_v2.pdf：3.2-3.4、5.1。</a:t>
            </a:r>
          </a:p>
        </p:txBody>
      </p:sp>
      <p:sp>
        <p:nvSpPr>
          <p:cNvPr id="4" name="Slide Number Placeholder 3">
            <a:extLst>
              <a:ext uri="{FF2B5EF4-FFF2-40B4-BE49-F238E27FC236}">
                <a16:creationId xmlns:a16="http://schemas.microsoft.com/office/drawing/2014/main" id="{5F7C0C1A-6ED6-A2F6-0A30-D08A924B68F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002272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37658-CA2B-2D40-0C38-49553633A6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F77BBF-A24C-E650-BED7-878FE8EAC3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23E263-C001-A4F4-DE75-EE443E8522B8}"/>
              </a:ext>
            </a:extLst>
          </p:cNvPr>
          <p:cNvSpPr>
            <a:spLocks noGrp="1"/>
          </p:cNvSpPr>
          <p:nvPr>
            <p:ph type="body" idx="1"/>
          </p:nvPr>
        </p:nvSpPr>
        <p:spPr/>
        <p:txBody>
          <a:bodyPr/>
          <a:lstStyle/>
          <a:p>
            <a:r>
              <a:t>这里不再重复完整研究历程,只保留三条路线的选择依据、内部验证结果和最终判断。</a:t>
            </a:r>
          </a:p>
          <a:p>
            <a:r>
              <a:t>后端微调与通用增强都存在公开研究依据,但在本课题统一协议下没有带来正收益。TSE把问题从去除噪声改成提取注册说话人,因此被保留。</a:t>
            </a:r>
          </a:p>
          <a:p>
            <a:r>
              <a:t>[Sources]</a:t>
            </a:r>
          </a:p>
          <a:p>
            <a:r>
              <a:t>Tabatabaee et al., FT-Boosted SV, Interspeech 2025, DOI 10.21437/Interspeech.2025-1002。</a:t>
            </a:r>
          </a:p>
          <a:p>
            <a:r>
              <a:t>Kim et al., ParaNoise-SV, Interspeech 2025, DOI 10.21437/Interspeech.2025-1145。</a:t>
            </a:r>
          </a:p>
          <a:p>
            <a:r>
              <a:t>Liu et al., Target Speaker Extraction with Curriculum Learning, Interspeech 2024, DOI 10.21437/Interspeech.2024-1375。</a:t>
            </a:r>
          </a:p>
          <a:p>
            <a:r>
              <a:t>技术报告_跨设备噪声鲁棒声纹识别_v2.pdf：3.2-3.4、5.1。</a:t>
            </a:r>
          </a:p>
        </p:txBody>
      </p:sp>
      <p:sp>
        <p:nvSpPr>
          <p:cNvPr id="4" name="Slide Number Placeholder 3">
            <a:extLst>
              <a:ext uri="{FF2B5EF4-FFF2-40B4-BE49-F238E27FC236}">
                <a16:creationId xmlns:a16="http://schemas.microsoft.com/office/drawing/2014/main" id="{3039EE27-3427-C87D-BB59-68B9682DF8D9}"/>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579745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90072-EB29-D5F7-0086-92E32DCC53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B2B640-9D27-F61E-1D5D-36CE32AB213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0182A72-FC19-B064-E18E-D6FD5541DD52}"/>
              </a:ext>
            </a:extLst>
          </p:cNvPr>
          <p:cNvSpPr>
            <a:spLocks noGrp="1"/>
          </p:cNvSpPr>
          <p:nvPr>
            <p:ph type="body" idx="1"/>
          </p:nvPr>
        </p:nvSpPr>
        <p:spPr/>
        <p:txBody>
          <a:bodyPr/>
          <a:lstStyle/>
          <a:p>
            <a:r>
              <a:rPr lang="zh-CN" altLang="en-US"/>
              <a:t>首先看任务背景。</a:t>
            </a:r>
          </a:p>
        </p:txBody>
      </p:sp>
      <p:sp>
        <p:nvSpPr>
          <p:cNvPr id="4" name="灯片编号占位符 3">
            <a:extLst>
              <a:ext uri="{FF2B5EF4-FFF2-40B4-BE49-F238E27FC236}">
                <a16:creationId xmlns:a16="http://schemas.microsoft.com/office/drawing/2014/main" id="{9D7052BE-8124-4835-27C6-8B5DE3E4B78B}"/>
              </a:ext>
            </a:extLst>
          </p:cNvPr>
          <p:cNvSpPr>
            <a:spLocks noGrp="1"/>
          </p:cNvSpPr>
          <p:nvPr>
            <p:ph type="sldNum" sz="quarter" idx="10"/>
          </p:nvPr>
        </p:nvSpPr>
        <p:spPr/>
        <p:txBody>
          <a:bodyPr/>
          <a:lstStyle/>
          <a:p>
            <a:fld id="{83FA4863-82EA-4055-A6CB-D03302C3F2F9}" type="slidenum">
              <a:rPr lang="zh-CN" altLang="en-US" smtClean="0"/>
              <a:t>48</a:t>
            </a:fld>
            <a:endParaRPr lang="zh-CN" altLang="en-US"/>
          </a:p>
        </p:txBody>
      </p:sp>
    </p:spTree>
    <p:extLst>
      <p:ext uri="{BB962C8B-B14F-4D97-AF65-F5344CB8AC3E}">
        <p14:creationId xmlns:p14="http://schemas.microsoft.com/office/powerpoint/2010/main" val="286720406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整个前端有两条输入。注册语音回答要提取谁,带噪测试语音提供需要处理的信号。</a:t>
            </a:r>
          </a:p>
          <a:p>
            <a:r>
              <a:t>小MLP把注册嵌入转换为FiLM参数,调制FullSubNet+的三路全带输入;增强语音再由同一个冻结后端编码并打分。</a:t>
            </a:r>
          </a:p>
          <a:p>
            <a:r>
              <a:t>[Sources]</a:t>
            </a:r>
          </a:p>
          <a:p>
            <a:r>
              <a:t>技术报告_跨设备噪声鲁棒声纹识别_v2.pdf：4.1、图2。</a:t>
            </a:r>
          </a:p>
          <a:p>
            <a:r>
              <a:t>Wang et al., VoiceFilter, Interspeech 2019/arXiv:1810.04826。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dirty="0" err="1"/>
              <a:t>右上图A来自FullSubNet+论文。Xm、Xr、Xi是幅度、实部和虚部三路输入,每一路包含MulCA</a:t>
            </a:r>
            <a:r>
              <a:rPr lang="zh-CN" altLang="en-US" dirty="0"/>
              <a:t>通道注意力增强</a:t>
            </a:r>
            <a:r>
              <a:rPr dirty="0" err="1"/>
              <a:t>和全带特征提取器,再把unfold后的局部频带与全带输出拼接送入子带模型</a:t>
            </a:r>
            <a:r>
              <a:rPr lang="zh-CN" altLang="en-US" dirty="0"/>
              <a:t>，</a:t>
            </a:r>
            <a:r>
              <a:rPr lang="zh-CN" altLang="zh-CN" sz="1200" kern="1200" dirty="0">
                <a:effectLst/>
              </a:rPr>
              <a:t>全带分支生成的</a:t>
            </a:r>
            <a:r>
              <a:rPr lang="en-US" altLang="zh-CN" sz="1200" kern="1200" dirty="0">
                <a:effectLst/>
              </a:rPr>
              <a:t>“</a:t>
            </a:r>
            <a:r>
              <a:rPr lang="zh-CN" altLang="zh-CN" sz="1200" kern="1200" dirty="0">
                <a:effectLst/>
              </a:rPr>
              <a:t>全局注意力</a:t>
            </a:r>
            <a:r>
              <a:rPr lang="en-US" altLang="zh-CN" sz="1200" kern="1200" dirty="0">
                <a:effectLst/>
              </a:rPr>
              <a:t>”</a:t>
            </a:r>
            <a:r>
              <a:rPr lang="zh-CN" altLang="zh-CN" sz="1200" kern="1200" dirty="0">
                <a:effectLst/>
              </a:rPr>
              <a:t>会传递给子带分支，指挥子带分支哪里该加强、哪里该抑制。</a:t>
            </a:r>
            <a:r>
              <a:rPr lang="zh-CN" altLang="zh-CN" sz="1200" b="1" kern="1200" dirty="0">
                <a:effectLst/>
              </a:rPr>
              <a:t>最终两者融合生成一个实值掩码（</a:t>
            </a:r>
            <a:r>
              <a:rPr lang="en-US" altLang="zh-CN" sz="1200" b="1" kern="1200" dirty="0">
                <a:effectLst/>
              </a:rPr>
              <a:t>Mask</a:t>
            </a:r>
            <a:r>
              <a:rPr lang="zh-CN" altLang="zh-CN" sz="1200" b="1" kern="1200" dirty="0">
                <a:effectLst/>
              </a:rPr>
              <a:t>），乘上带噪语音的频谱，即可还原出干净的语音。</a:t>
            </a:r>
            <a:r>
              <a:rPr dirty="0" err="1"/>
              <a:t>最终输出复数掩码的实部和虚部</a:t>
            </a:r>
            <a:r>
              <a:rPr dirty="0"/>
              <a:t>。</a:t>
            </a:r>
          </a:p>
          <a:p>
            <a:r>
              <a:rPr dirty="0"/>
              <a:t>右下图B来自FullSubNet论文。它强调每一时刻先由全带模型提取全局信息,再与某一频点附近的子带单元拼接,由子带LSTM估计掩码;两个模型的隐藏状态都沿时间传递。本课题实际采用FullSubNet+结构,图B用于解释全带和子带融合的基础机制。报告配置为全带512、子带384、相邻15带。</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FiLM本身只做逐特征仿射变换,真正把512维声纹向量转成γ和β</a:t>
            </a:r>
            <a:r>
              <a:rPr dirty="0" err="1"/>
              <a:t>的是两层小MLP。第一层完成非线性变换,第二层输出目标维度参数</a:t>
            </a:r>
            <a:r>
              <a:rPr dirty="0"/>
              <a:t>。</a:t>
            </a:r>
          </a:p>
          <a:p>
            <a:r>
              <a:rPr dirty="0"/>
              <a:t>选择小MLP的原因不是简单追求参数少,而是这个任务只需要条件格式转换。更大的网络会增加计算和过拟合风险,还可能让参数生成器记住训练说话人。</a:t>
            </a:r>
          </a:p>
          <a:p>
            <a:r>
              <a:rPr dirty="0"/>
              <a:t>末层初始化为γ等于1、β等于0,因此训练开始时不改变原FullSubNet+输出,条件化能力从稳定起点逐步学习。</a:t>
            </a:r>
            <a:endParaRPr lang="en-US" dirty="0"/>
          </a:p>
          <a:p>
            <a:endParaRPr lang="en-US" dirty="0"/>
          </a:p>
          <a:p>
            <a:r>
              <a:rPr lang="zh-CN" altLang="en-US" dirty="0"/>
              <a:t>缩放系数</a:t>
            </a:r>
            <a:r>
              <a:rPr lang="el-GR" altLang="zh-CN" sz="1200" b="0" dirty="0">
                <a:solidFill>
                  <a:srgbClr val="333333"/>
                </a:solidFill>
                <a:latin typeface="微软雅黑"/>
                <a:ea typeface="微软雅黑"/>
              </a:rPr>
              <a:t>γ</a:t>
            </a:r>
            <a:r>
              <a:rPr lang="zh-CN" altLang="en-US" sz="1200" b="0" dirty="0">
                <a:solidFill>
                  <a:srgbClr val="333333"/>
                </a:solidFill>
                <a:latin typeface="微软雅黑"/>
                <a:ea typeface="微软雅黑"/>
              </a:rPr>
              <a:t>，偏移系数</a:t>
            </a:r>
            <a:r>
              <a:rPr lang="el-GR" altLang="zh-CN" sz="1200" b="0" dirty="0">
                <a:solidFill>
                  <a:srgbClr val="333333"/>
                </a:solidFill>
                <a:latin typeface="微软雅黑"/>
                <a:ea typeface="微软雅黑"/>
              </a:rPr>
              <a:t>β</a:t>
            </a:r>
            <a:endParaRPr lang="en-US" dirty="0"/>
          </a:p>
          <a:p>
            <a:r>
              <a:rPr lang="en-US" altLang="zh-CN" dirty="0"/>
              <a:t>H=</a:t>
            </a:r>
            <a:r>
              <a:rPr lang="en-US" altLang="zh-CN" dirty="0" err="1"/>
              <a:t>ReLU</a:t>
            </a:r>
            <a:r>
              <a:rPr lang="en-US" altLang="zh-CN" sz="1200" b="0" dirty="0">
                <a:solidFill>
                  <a:srgbClr val="333333"/>
                </a:solidFill>
                <a:latin typeface="微软雅黑"/>
                <a:ea typeface="微软雅黑"/>
                <a:cs typeface="微软雅黑"/>
              </a:rPr>
              <a:t>(W1e+b1) </a:t>
            </a:r>
          </a:p>
          <a:p>
            <a:r>
              <a:rPr lang="en-US" sz="1200" b="0" dirty="0">
                <a:solidFill>
                  <a:srgbClr val="333333"/>
                </a:solidFill>
                <a:latin typeface="微软雅黑"/>
                <a:ea typeface="微软雅黑"/>
              </a:rPr>
              <a:t>Z=</a:t>
            </a:r>
            <a:r>
              <a:rPr lang="en-US" altLang="zh-CN" sz="1200" b="0" dirty="0">
                <a:solidFill>
                  <a:srgbClr val="333333"/>
                </a:solidFill>
                <a:latin typeface="微软雅黑"/>
                <a:ea typeface="微软雅黑"/>
                <a:cs typeface="微软雅黑"/>
              </a:rPr>
              <a:t>W2h+b2</a:t>
            </a:r>
          </a:p>
          <a:p>
            <a:r>
              <a:rPr lang="zh-CN" altLang="en-US" sz="1200" b="0" dirty="0">
                <a:solidFill>
                  <a:srgbClr val="333333"/>
                </a:solidFill>
                <a:latin typeface="微软雅黑"/>
                <a:ea typeface="微软雅黑"/>
              </a:rPr>
              <a:t>最后将输出向量</a:t>
            </a:r>
            <a:r>
              <a:rPr lang="en-US" altLang="zh-CN" sz="1200" b="0" dirty="0">
                <a:solidFill>
                  <a:srgbClr val="333333"/>
                </a:solidFill>
                <a:latin typeface="微软雅黑"/>
                <a:ea typeface="微软雅黑"/>
              </a:rPr>
              <a:t>z</a:t>
            </a:r>
            <a:r>
              <a:rPr lang="zh-CN" altLang="en-US" sz="1200" b="0" dirty="0">
                <a:solidFill>
                  <a:srgbClr val="333333"/>
                </a:solidFill>
                <a:latin typeface="微软雅黑"/>
                <a:ea typeface="微软雅黑"/>
              </a:rPr>
              <a:t>划分成两部分</a:t>
            </a:r>
            <a:r>
              <a:rPr lang="en-US" altLang="zh-CN" sz="1200" b="0" dirty="0">
                <a:solidFill>
                  <a:srgbClr val="333333"/>
                </a:solidFill>
                <a:latin typeface="微软雅黑"/>
                <a:ea typeface="微软雅黑"/>
              </a:rPr>
              <a:t>z=|</a:t>
            </a:r>
            <a:r>
              <a:rPr lang="el-GR" altLang="zh-CN" sz="1200" b="0" dirty="0">
                <a:solidFill>
                  <a:srgbClr val="333333"/>
                </a:solidFill>
                <a:latin typeface="微软雅黑"/>
                <a:ea typeface="微软雅黑"/>
              </a:rPr>
              <a:t>Δ</a:t>
            </a:r>
            <a:r>
              <a:rPr lang="en-US" altLang="zh-CN" sz="1200" b="0" dirty="0">
                <a:solidFill>
                  <a:srgbClr val="333333"/>
                </a:solidFill>
                <a:latin typeface="微软雅黑"/>
                <a:ea typeface="微软雅黑"/>
              </a:rPr>
              <a:t>(</a:t>
            </a:r>
            <a:r>
              <a:rPr lang="el-GR" altLang="zh-CN" sz="1200" b="0" dirty="0">
                <a:solidFill>
                  <a:srgbClr val="333333"/>
                </a:solidFill>
                <a:latin typeface="微软雅黑"/>
                <a:ea typeface="微软雅黑"/>
              </a:rPr>
              <a:t>γ</a:t>
            </a:r>
            <a:r>
              <a:rPr lang="en-US" altLang="zh-CN" sz="1200" b="0" dirty="0">
                <a:solidFill>
                  <a:srgbClr val="333333"/>
                </a:solidFill>
                <a:latin typeface="微软雅黑"/>
                <a:ea typeface="微软雅黑"/>
              </a:rPr>
              <a:t>),</a:t>
            </a:r>
            <a:r>
              <a:rPr lang="el-GR" altLang="zh-CN" sz="1200" b="0" dirty="0">
                <a:solidFill>
                  <a:srgbClr val="333333"/>
                </a:solidFill>
                <a:latin typeface="微软雅黑"/>
                <a:ea typeface="微软雅黑"/>
              </a:rPr>
              <a:t>β</a:t>
            </a:r>
            <a:r>
              <a:rPr lang="en-US" altLang="zh-CN" sz="1200" b="0" dirty="0">
                <a:solidFill>
                  <a:srgbClr val="333333"/>
                </a:solidFill>
                <a:latin typeface="微软雅黑"/>
                <a:ea typeface="微软雅黑"/>
              </a:rPr>
              <a:t>|</a:t>
            </a:r>
            <a:r>
              <a:rPr lang="zh-CN" altLang="en-US" sz="1200" b="0" dirty="0">
                <a:solidFill>
                  <a:srgbClr val="333333"/>
                </a:solidFill>
                <a:latin typeface="微软雅黑"/>
                <a:ea typeface="微软雅黑"/>
              </a:rPr>
              <a:t>，为了让训练初始阶段不破坏原</a:t>
            </a:r>
            <a:r>
              <a:rPr lang="en-US" altLang="zh-CN" sz="1200" b="0" dirty="0" err="1">
                <a:solidFill>
                  <a:srgbClr val="333333"/>
                </a:solidFill>
                <a:latin typeface="微软雅黑"/>
                <a:ea typeface="微软雅黑"/>
              </a:rPr>
              <a:t>FullSubNet</a:t>
            </a:r>
            <a:r>
              <a:rPr lang="en-US" altLang="zh-CN" sz="1200" b="0" dirty="0">
                <a:solidFill>
                  <a:srgbClr val="333333"/>
                </a:solidFill>
                <a:latin typeface="微软雅黑"/>
                <a:ea typeface="微软雅黑"/>
              </a:rPr>
              <a:t>+</a:t>
            </a:r>
            <a:r>
              <a:rPr lang="zh-CN" altLang="en-US" sz="1200" b="0" dirty="0">
                <a:solidFill>
                  <a:srgbClr val="333333"/>
                </a:solidFill>
                <a:latin typeface="微软雅黑"/>
                <a:ea typeface="微软雅黑"/>
              </a:rPr>
              <a:t>的特征，实际调制系数可写为</a:t>
            </a:r>
            <a:r>
              <a:rPr lang="el-GR" altLang="zh-CN" sz="1200" b="0" dirty="0">
                <a:solidFill>
                  <a:srgbClr val="333333"/>
                </a:solidFill>
                <a:latin typeface="微软雅黑"/>
                <a:ea typeface="微软雅黑"/>
              </a:rPr>
              <a:t>γ</a:t>
            </a:r>
            <a:r>
              <a:rPr lang="en-US" altLang="zh-CN" sz="1200" b="0" dirty="0">
                <a:solidFill>
                  <a:srgbClr val="333333"/>
                </a:solidFill>
                <a:latin typeface="微软雅黑"/>
                <a:ea typeface="微软雅黑"/>
              </a:rPr>
              <a:t>=1+</a:t>
            </a:r>
            <a:r>
              <a:rPr lang="el-GR" altLang="zh-CN" sz="1200" b="0" dirty="0">
                <a:solidFill>
                  <a:srgbClr val="333333"/>
                </a:solidFill>
                <a:latin typeface="微软雅黑"/>
                <a:ea typeface="微软雅黑"/>
              </a:rPr>
              <a:t>Δγ</a:t>
            </a:r>
            <a:r>
              <a:rPr lang="zh-CN" altLang="en-US" sz="1200" b="0" dirty="0">
                <a:solidFill>
                  <a:srgbClr val="333333"/>
                </a:solidFill>
                <a:latin typeface="微软雅黑"/>
                <a:ea typeface="微软雅黑"/>
              </a:rPr>
              <a:t>，因此，初始状态为</a:t>
            </a:r>
            <a:r>
              <a:rPr lang="el-GR" altLang="zh-CN" sz="1200" b="0" dirty="0">
                <a:solidFill>
                  <a:srgbClr val="333333"/>
                </a:solidFill>
                <a:latin typeface="微软雅黑"/>
                <a:ea typeface="微软雅黑"/>
              </a:rPr>
              <a:t>γ</a:t>
            </a:r>
            <a:r>
              <a:rPr lang="en-US" altLang="zh-CN" sz="1200" b="0" dirty="0">
                <a:solidFill>
                  <a:srgbClr val="333333"/>
                </a:solidFill>
                <a:latin typeface="微软雅黑"/>
                <a:ea typeface="微软雅黑"/>
              </a:rPr>
              <a:t>=1</a:t>
            </a:r>
            <a:r>
              <a:rPr lang="zh-CN" altLang="en-US" sz="1200" b="0" dirty="0">
                <a:solidFill>
                  <a:srgbClr val="333333"/>
                </a:solidFill>
                <a:latin typeface="微软雅黑"/>
                <a:ea typeface="微软雅黑"/>
              </a:rPr>
              <a:t>；</a:t>
            </a:r>
            <a:r>
              <a:rPr lang="el-GR" altLang="zh-CN" sz="1200" b="0" dirty="0">
                <a:solidFill>
                  <a:srgbClr val="333333"/>
                </a:solidFill>
                <a:latin typeface="微软雅黑"/>
                <a:ea typeface="微软雅黑"/>
              </a:rPr>
              <a:t>β</a:t>
            </a:r>
            <a:r>
              <a:rPr lang="en-US" altLang="zh-CN" sz="1200" b="0" dirty="0">
                <a:solidFill>
                  <a:srgbClr val="333333"/>
                </a:solidFill>
                <a:latin typeface="微软雅黑"/>
                <a:ea typeface="微软雅黑"/>
              </a:rPr>
              <a:t>=0</a:t>
            </a:r>
          </a:p>
          <a:p>
            <a:endParaRPr lang="en-US" sz="1200" b="0" dirty="0">
              <a:solidFill>
                <a:srgbClr val="333333"/>
              </a:solidFill>
              <a:latin typeface="微软雅黑"/>
              <a:ea typeface="微软雅黑"/>
            </a:endParaRPr>
          </a:p>
          <a:p>
            <a:r>
              <a:rPr lang="zh-CN" altLang="zh-CN" sz="1200" b="0" i="0" kern="1200" dirty="0">
                <a:effectLst/>
              </a:rPr>
              <a:t>直观理解是：小 MLP 把“这个目标说话人是谁”的 512 维声纹向量，翻译成 FullSubNet+ 能够执行的通道控制指令。不同注册说话人会产生不同的 � 和 �，因此即使输入同一段多人混合语音，网络也会根据注册语音重点保留不同的目标说话人。</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B34F-1C66-93B7-7C7B-BD025FE522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D2EDB-E19F-EE59-5D21-6E8D089AC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E5B81-64F2-4F95-4EA9-0E473647E8BE}"/>
              </a:ext>
            </a:extLst>
          </p:cNvPr>
          <p:cNvSpPr>
            <a:spLocks noGrp="1"/>
          </p:cNvSpPr>
          <p:nvPr>
            <p:ph type="body" idx="1"/>
          </p:nvPr>
        </p:nvSpPr>
        <p:spPr/>
        <p:txBody>
          <a:bodyPr/>
          <a:lstStyle/>
          <a:p>
            <a:r>
              <a:t>FiLM本身只做逐特征仿射变换,真正把512维声纹向量转成γ和β的是两层小MLP。第一层完成非线性变换,第二层输出目标维度参数。</a:t>
            </a:r>
          </a:p>
          <a:p>
            <a:r>
              <a:t>选择小MLP的原因不是简单追求参数少,而是这个任务只需要条件格式转换。更大的网络会增加计算和过拟合风险,还可能让参数生成器记住训练说话人。</a:t>
            </a:r>
          </a:p>
          <a:p>
            <a:r>
              <a:t>末层初始化为γ等于1、β等于0,因此训练开始时不改变原FullSubNet+输出,条件化能力从稳定起点逐步学习。</a:t>
            </a:r>
          </a:p>
          <a:p>
            <a:r>
              <a:t>[Sources]</a:t>
            </a:r>
          </a:p>
          <a:p>
            <a:r>
              <a:t>Perez et al., FiLM, AAAI 2018/arXiv:1709.07871, Figure 2。</a:t>
            </a:r>
          </a:p>
          <a:p>
            <a:r>
              <a:t>Yu et al., Speaker Conditional Sinc-Extractor for Personal VAD, Interspeech 2024, Figure 1。</a:t>
            </a:r>
          </a:p>
          <a:p>
            <a:r>
              <a:t>技术报告_跨设备噪声鲁棒声纹识别_v2.pdf：4.1.2、附录A。</a:t>
            </a:r>
          </a:p>
        </p:txBody>
      </p:sp>
      <p:sp>
        <p:nvSpPr>
          <p:cNvPr id="4" name="Slide Number Placeholder 3">
            <a:extLst>
              <a:ext uri="{FF2B5EF4-FFF2-40B4-BE49-F238E27FC236}">
                <a16:creationId xmlns:a16="http://schemas.microsoft.com/office/drawing/2014/main" id="{385CE205-5F08-0BE1-03DA-70E742BE8AF3}"/>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5464067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这四项都直接服务于本课题的注册条件化前端。Lse在频谱侧约束预测掩码与clean目标;Lspk在冻结声纹空间把增强语音拉向注册说话人。</a:t>
            </a:r>
          </a:p>
          <a:p>
            <a:r>
              <a:rPr dirty="0"/>
              <a:t>Lns使用本课题的9900类负原型库,选出最相似的8个难负类并施加阈值0.30的合页惩罚;Lce用真实标签进行AAM-CE分类。</a:t>
            </a:r>
          </a:p>
          <a:p>
            <a:r>
              <a:rPr dirty="0" err="1"/>
              <a:t>冻结后端只是不更新参数,身份相关损失的梯度仍穿过其固定计算回到SpeakerFiLM和FullSubNet</a:t>
            </a:r>
            <a:r>
              <a:rPr dirty="0"/>
              <a:t>+。</a:t>
            </a:r>
            <a:r>
              <a:rPr dirty="0" err="1"/>
              <a:t>论文仅提供通用方法依据,具体Top-K、阈值和权重来自本课题技术报告</a:t>
            </a:r>
            <a:r>
              <a:rPr dirty="0"/>
              <a:t>。</a:t>
            </a:r>
          </a:p>
          <a:p>
            <a:r>
              <a:rPr dirty="0"/>
              <a:t>[Sources]</a:t>
            </a:r>
          </a:p>
          <a:p>
            <a:r>
              <a:rPr dirty="0"/>
              <a:t>Chen et al., </a:t>
            </a:r>
            <a:r>
              <a:rPr dirty="0" err="1"/>
              <a:t>FullSubNet</a:t>
            </a:r>
            <a:r>
              <a:rPr dirty="0"/>
              <a:t>+, ICASSP 2022/arXiv:2203.12188, Figure 2。</a:t>
            </a:r>
          </a:p>
          <a:p>
            <a:r>
              <a:rPr dirty="0"/>
              <a:t>Wan et al., GE2E, ICASSP 2018/arXiv:1710.10467, Figure 1。</a:t>
            </a:r>
          </a:p>
          <a:p>
            <a:r>
              <a:rPr dirty="0"/>
              <a:t>Snell et al., Prototypical Networks for Few-shot Learning, </a:t>
            </a:r>
            <a:r>
              <a:rPr dirty="0" err="1"/>
              <a:t>NeurIPS</a:t>
            </a:r>
            <a:r>
              <a:rPr dirty="0"/>
              <a:t> 2017/arXiv:1703.05175, Figure 1。</a:t>
            </a:r>
          </a:p>
          <a:p>
            <a:r>
              <a:rPr dirty="0"/>
              <a:t>Deng et al., </a:t>
            </a:r>
            <a:r>
              <a:rPr dirty="0" err="1"/>
              <a:t>ArcFace</a:t>
            </a:r>
            <a:r>
              <a:rPr dirty="0"/>
              <a:t>, TPAMI 2022/arXiv:1801.07698, Figure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四项损失约束的是同一个前端,但各自使用不同输入侧。Lse直接比较预测掩码和目标cIRM;另外三项都先把增强语音送入冻结声纹后端获得e_enh。</a:t>
            </a:r>
          </a:p>
          <a:p>
            <a:r>
              <a:rPr dirty="0" err="1"/>
              <a:t>Lspk把e_enh拉近注册嵌入;Lns把它推离最容易混淆的八个非目标原型;Lce利用真实身份标签做角度间隔分类</a:t>
            </a:r>
            <a:r>
              <a:rPr dirty="0"/>
              <a:t>。</a:t>
            </a:r>
          </a:p>
          <a:p>
            <a:r>
              <a:rPr dirty="0"/>
              <a:t>所谓后端冻结是参数不更新,并不等于切断梯度。损失仍可通过后端的固定计算过程把梯度传回SpeakerFiLM和FullSubNet+。</a:t>
            </a:r>
          </a:p>
          <a:p>
            <a:r>
              <a:rPr dirty="0" err="1"/>
              <a:t>四项结合的优势是同时保住语音重建质量和身份可分性,针对普通降噪听感改善但EER上升的问题</a:t>
            </a:r>
            <a:r>
              <a:rPr dirty="0"/>
              <a:t>。</a:t>
            </a:r>
            <a:endParaRPr lang="en-US" dirty="0"/>
          </a:p>
          <a:p>
            <a:endParaRPr lang="en-US" dirty="0"/>
          </a:p>
          <a:p>
            <a:r>
              <a:rPr lang="zh-CN" altLang="en-US" dirty="0"/>
              <a:t>总的来说：</a:t>
            </a:r>
            <a:r>
              <a:rPr lang="zh-CN" altLang="zh-CN" sz="1200" b="0" i="0" kern="1200" dirty="0">
                <a:effectLst/>
              </a:rPr>
              <a:t>四项损失并非全部经过声纹后端。其中重建损失直接监督 FullSubNet+ 输出的 cIRM；另外三项身份相关损失将增强语音送入冻结声纹后端计算嵌入，再把梯度穿过固定后端传回 SpeakerFiLM 和 FullSubNet+。后端参数不更新，实际训练的始终只有前端。</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声纹后端把语音映射为高维嵌入。理想情况下,同一说话人的嵌入方向接近,不同说话人的方向分离。</a:t>
            </a:r>
          </a:p>
          <a:p>
            <a:r>
              <a:t>余弦相似度用点积除以两个向量的模长,因此主要比较夹角而不是绝对模长。它计算简单,也不引入额外打分参数。</a:t>
            </a:r>
          </a:p>
          <a:p>
            <a:r>
              <a:t>同一个余弦度量还用于说话人保持损失,因此训练目标和最终评测方向保持一致。</a:t>
            </a:r>
          </a:p>
          <a:p>
            <a:r>
              <a:t>[Sources]</a:t>
            </a:r>
          </a:p>
          <a:p>
            <a:r>
              <a:t>技术报告_跨设备噪声鲁棒声纹识别_v2.pdf：1.2、4.1-4.2、5.1。</a:t>
            </a:r>
          </a:p>
          <a:p>
            <a:r>
              <a:t>Wan et al., Generalized End-to-End Loss for Speaker Verification, ICASSP 2018/arXiv:1710.10467。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0495A-EB5B-C203-F4DC-6FCA10BE294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57A60E-39D4-DFE2-5362-70B93EEDB4C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37FEC99-9EBF-BF9B-E97D-0CFE92DF2C54}"/>
              </a:ext>
            </a:extLst>
          </p:cNvPr>
          <p:cNvSpPr>
            <a:spLocks noGrp="1"/>
          </p:cNvSpPr>
          <p:nvPr>
            <p:ph type="body" idx="1"/>
          </p:nvPr>
        </p:nvSpPr>
        <p:spPr/>
        <p:txBody>
          <a:bodyPr/>
          <a:lstStyle/>
          <a:p>
            <a:r>
              <a:rPr lang="zh-CN" altLang="en-US"/>
              <a:t>首先看任务背景。</a:t>
            </a:r>
          </a:p>
        </p:txBody>
      </p:sp>
      <p:sp>
        <p:nvSpPr>
          <p:cNvPr id="4" name="灯片编号占位符 3">
            <a:extLst>
              <a:ext uri="{FF2B5EF4-FFF2-40B4-BE49-F238E27FC236}">
                <a16:creationId xmlns:a16="http://schemas.microsoft.com/office/drawing/2014/main" id="{C2B4B9FC-DD83-95C4-F5E9-F11D086525CD}"/>
              </a:ext>
            </a:extLst>
          </p:cNvPr>
          <p:cNvSpPr>
            <a:spLocks noGrp="1"/>
          </p:cNvSpPr>
          <p:nvPr>
            <p:ph type="sldNum" sz="quarter" idx="10"/>
          </p:nvPr>
        </p:nvSpPr>
        <p:spPr/>
        <p:txBody>
          <a:bodyPr/>
          <a:lstStyle/>
          <a:p>
            <a:fld id="{83FA4863-82EA-4055-A6CB-D03302C3F2F9}" type="slidenum">
              <a:rPr lang="zh-CN" altLang="en-US" smtClean="0"/>
              <a:t>56</a:t>
            </a:fld>
            <a:endParaRPr lang="zh-CN" altLang="en-US"/>
          </a:p>
        </p:txBody>
      </p:sp>
    </p:spTree>
    <p:extLst>
      <p:ext uri="{BB962C8B-B14F-4D97-AF65-F5344CB8AC3E}">
        <p14:creationId xmlns:p14="http://schemas.microsoft.com/office/powerpoint/2010/main" val="4405938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最后是我的职业规划,分三个阶段。</a:t>
            </a:r>
          </a:p>
          <a:p>
            <a:r>
              <a:t>短期,硕士在读这一两年:完成课题交付,把部署口径问题和人声盲区这两个开放问题推进成论文成果,同时补齐语音大模型方向的工程能力。</a:t>
            </a:r>
          </a:p>
          <a:p>
            <a:r>
              <a:t>中期,毕业后三到五年:进入工业界做语音算法研发,专注声纹、识别、增强这类技术在智能终端和车载场景的规模化落地。</a:t>
            </a:r>
          </a:p>
          <a:p>
            <a:r>
              <a:t>长期:成长为能独立带方向的技术专家,深耕可信语音交互——鲁棒、安全、隐私——也希望能在像中国移动九天大模型这样的国产 AI 平台上,做出真正落地的贡献。</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我的汇报就到这里。谢谢各位老师,恳请批评指正。</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1790777F-255D-4534-8952-E04E84580E24}" type="datetime1">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294057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3B784357-628E-4B06-9542-52565D19EFF0}" type="datetime1">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7311482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7698075-6C5D-479B-9349-FE70644687AE}" type="datetime1">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241514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99F1ACB9-785B-4ED7-B638-CDB35BE59611}" type="datetime1">
              <a:rPr lang="zh-CN" altLang="en-US" smtClean="0"/>
              <a:t>2026/9/9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14318613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14B678A-074F-4652-A169-842B4211CBA0}" type="datetime1">
              <a:rPr lang="zh-CN" altLang="en-US" smtClean="0"/>
              <a:t>2026/9/9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85222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6ABB96B-F56D-40AE-A3F3-E8E1DEE466D7}" type="datetime1">
              <a:rPr lang="zh-CN" altLang="en-US" smtClean="0"/>
              <a:t>2026/9/9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40934296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9EBA67A-1A19-46A3-9E5D-46C69239F1BA}" type="datetime1">
              <a:rPr lang="zh-CN" altLang="en-US" smtClean="0"/>
              <a:t>2026/9/9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355403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0B57BC1-256A-4C48-9958-A4D3EC0C8564}" type="datetime1">
              <a:rPr lang="zh-CN" altLang="en-US" smtClean="0"/>
              <a:t>2026/9/9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1486804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97C17EED-BBC7-419C-B7D5-698DDF1FBF75}" type="datetime1">
              <a:rPr lang="zh-CN" altLang="en-US" smtClean="0"/>
              <a:t>2026/9/9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8168850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5607677-CB6D-4A10-B359-81C51C3A9188}" type="datetime1">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1338523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0EAECED3-ECD4-4267-9704-70A5D5599FE9}" type="datetime1">
              <a:rPr lang="zh-CN" altLang="en-US" smtClean="0"/>
              <a:t>2026/9/9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4076554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CCE0F6A-F3AD-4C1F-88B7-8F40BA950951}" type="datetime1">
              <a:rPr lang="zh-CN" altLang="en-US" smtClean="0"/>
              <a:t>2026/9/9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F2EA3F-D088-4729-88F9-9D4FADF26323}" type="slidenum">
              <a:rPr lang="zh-CN" altLang="en-US" smtClean="0"/>
              <a:t>‹#›</a:t>
            </a:fld>
            <a:endParaRPr lang="zh-CN" altLang="en-US"/>
          </a:p>
        </p:txBody>
      </p:sp>
    </p:spTree>
    <p:extLst>
      <p:ext uri="{BB962C8B-B14F-4D97-AF65-F5344CB8AC3E}">
        <p14:creationId xmlns:p14="http://schemas.microsoft.com/office/powerpoint/2010/main" val="28885376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notesSlide" Target="../notesSlides/notesSlide18.xml"/><Relationship Id="rId3" Type="http://schemas.microsoft.com/office/2007/relationships/media" Target="../media/media2.wav"/><Relationship Id="rId7" Type="http://schemas.openxmlformats.org/officeDocument/2006/relationships/slideLayout" Target="../slideLayouts/slideLayout7.xml"/><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audio" Target="../media/media3.wav"/><Relationship Id="rId5" Type="http://schemas.microsoft.com/office/2007/relationships/media" Target="../media/media3.wav"/><Relationship Id="rId4" Type="http://schemas.openxmlformats.org/officeDocument/2006/relationships/audio" Target="../media/media2.wav"/><Relationship Id="rId9"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3.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0" y="1470241"/>
            <a:ext cx="12192000" cy="338554"/>
          </a:xfrm>
          <a:prstGeom prst="rect">
            <a:avLst/>
          </a:prstGeom>
          <a:noFill/>
        </p:spPr>
        <p:txBody>
          <a:bodyPr vert="horz" rtlCol="0">
            <a:spAutoFit/>
          </a:bodyPr>
          <a:lstStyle/>
          <a:p>
            <a:pPr algn="ct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中国移动实习项目 </a:t>
            </a:r>
            <a:r>
              <a:rPr lang="en-US" altLang="zh-CN"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基于</a:t>
            </a:r>
            <a:r>
              <a:rPr lang="zh-CN" altLang="en-US" sz="16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大模型的多条件中文声纹识别与噪声鲁棒性</a:t>
            </a: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增强 </a:t>
            </a:r>
            <a:r>
              <a:rPr lang="en-US" altLang="zh-CN"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子课题一</a:t>
            </a:r>
            <a:endParaRPr lang="zh-CN" altLang="en-US" sz="16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文本框 3"/>
          <p:cNvSpPr txBox="1"/>
          <p:nvPr/>
        </p:nvSpPr>
        <p:spPr>
          <a:xfrm>
            <a:off x="0" y="2206841"/>
            <a:ext cx="12192000" cy="646331"/>
          </a:xfrm>
          <a:prstGeom prst="rect">
            <a:avLst/>
          </a:prstGeom>
          <a:noFill/>
        </p:spPr>
        <p:txBody>
          <a:bodyPr vert="horz" rtlCol="0">
            <a:spAutoFit/>
          </a:bodyPr>
          <a:lstStyle/>
          <a:p>
            <a:pPr algn="ctr"/>
            <a:r>
              <a:rPr lang="zh-CN" altLang="en-US" sz="36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多条件中文声纹识别与噪声鲁棒性增强</a:t>
            </a:r>
            <a:endParaRPr lang="zh-CN" altLang="en-US" sz="36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0" y="3299041"/>
            <a:ext cx="12192000" cy="353943"/>
          </a:xfrm>
          <a:prstGeom prst="rect">
            <a:avLst/>
          </a:prstGeom>
          <a:noFill/>
        </p:spPr>
        <p:txBody>
          <a:bodyPr vert="horz" rtlCol="0">
            <a:spAutoFit/>
          </a:bodyPr>
          <a:lstStyle/>
          <a:p>
            <a:pPr algn="ctr"/>
            <a:r>
              <a:rPr lang="en-US" altLang="zh-CN" sz="1700"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700"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注册条件化目标说话人提取：面向智能终端的开集声纹验证 </a:t>
            </a:r>
            <a:r>
              <a:rPr lang="en-US" altLang="zh-CN" sz="1700"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7" name="文本框 6"/>
          <p:cNvSpPr txBox="1"/>
          <p:nvPr/>
        </p:nvSpPr>
        <p:spPr>
          <a:xfrm>
            <a:off x="0" y="4305670"/>
            <a:ext cx="12192000" cy="553998"/>
          </a:xfrm>
          <a:prstGeom prst="rect">
            <a:avLst/>
          </a:prstGeom>
          <a:noFill/>
        </p:spPr>
        <p:txBody>
          <a:bodyPr vert="horz" rtlCol="0">
            <a:spAutoFit/>
          </a:bodyPr>
          <a:lstStyle/>
          <a:p>
            <a:pPr algn="ct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汇报人：张启元（中国科学院大学</a:t>
            </a:r>
            <a:r>
              <a:rPr lang="zh-CN" altLang="en-US" sz="1500"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2026 </a:t>
            </a: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年 </a:t>
            </a:r>
            <a:r>
              <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9 </a:t>
            </a: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月 </a:t>
            </a:r>
            <a:r>
              <a:rPr lang="en-US" altLang="zh-CN" sz="1500"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8</a:t>
            </a:r>
            <a:r>
              <a:rPr lang="en-US" altLang="zh-CN"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日</a:t>
            </a:r>
            <a:endParaRPr lang="zh-CN" altLang="en-US" sz="1500"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1480157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小组成员与分工</a:t>
            </a:r>
            <a:endParaRPr lang="zh-CN" altLang="en-US" sz="24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 name="矩形 3"/>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 name="矩形 4"/>
          <p:cNvSpPr/>
          <p:nvPr/>
        </p:nvSpPr>
        <p:spPr>
          <a:xfrm>
            <a:off x="508000" y="1168399"/>
            <a:ext cx="5486400" cy="4462087"/>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168400"/>
            <a:ext cx="5486400" cy="762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p:cNvSpPr txBox="1"/>
          <p:nvPr/>
        </p:nvSpPr>
        <p:spPr>
          <a:xfrm>
            <a:off x="812800" y="1422400"/>
            <a:ext cx="4953000" cy="384721"/>
          </a:xfrm>
          <a:prstGeom prst="rect">
            <a:avLst/>
          </a:prstGeom>
          <a:noFill/>
        </p:spPr>
        <p:txBody>
          <a:bodyPr vert="horz" rtlCol="0">
            <a:spAutoFit/>
          </a:bodyPr>
          <a:lstStyle/>
          <a:p>
            <a:r>
              <a:rPr lang="zh-CN" altLang="en-US" sz="19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张启元</a:t>
            </a:r>
            <a:endParaRPr lang="zh-CN" altLang="en-US" sz="19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812800" y="1879600"/>
            <a:ext cx="4953000" cy="323165"/>
          </a:xfrm>
          <a:prstGeom prst="rect">
            <a:avLst/>
          </a:prstGeom>
          <a:noFill/>
        </p:spPr>
        <p:txBody>
          <a:bodyPr vert="horz" rtlCol="0">
            <a:spAutoFit/>
          </a:bodyPr>
          <a:lstStyle/>
          <a:p>
            <a:r>
              <a:rPr lang="zh-CN" altLang="en-US" sz="15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算法与实验主线</a:t>
            </a:r>
            <a:endParaRPr lang="zh-CN" altLang="en-US" sz="15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812800" y="2362200"/>
            <a:ext cx="4953000" cy="1705595"/>
          </a:xfrm>
          <a:prstGeom prst="rect">
            <a:avLst/>
          </a:prstGeom>
          <a:noFill/>
        </p:spPr>
        <p:txBody>
          <a:bodyPr vert="horz" rtlCol="0">
            <a:spAutoFit/>
          </a:bodyPr>
          <a:lstStyle/>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子课题需求分解与达标路线设计</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评测环境与自动化管线搭建</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鲁棒方案设计与四轮迭代</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交付前端</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三后端全量实验与官方终评</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失败案例挖掘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ROC/DET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分析</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技术报告与汇报材料</a:t>
            </a:r>
            <a:endParaRPr lang="zh-CN" altLang="en-US" sz="1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6248400" y="1168400"/>
            <a:ext cx="5486400" cy="4462086"/>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矩形 10"/>
          <p:cNvSpPr/>
          <p:nvPr/>
        </p:nvSpPr>
        <p:spPr>
          <a:xfrm>
            <a:off x="6248400" y="1168400"/>
            <a:ext cx="5486400" cy="76200"/>
          </a:xfrm>
          <a:prstGeom prst="rect">
            <a:avLst/>
          </a:prstGeom>
          <a:solidFill>
            <a:srgbClr val="2F54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 name="文本框 11"/>
          <p:cNvSpPr txBox="1"/>
          <p:nvPr/>
        </p:nvSpPr>
        <p:spPr>
          <a:xfrm>
            <a:off x="6553200" y="1422400"/>
            <a:ext cx="4953000" cy="384721"/>
          </a:xfrm>
          <a:prstGeom prst="rect">
            <a:avLst/>
          </a:prstGeom>
          <a:noFill/>
        </p:spPr>
        <p:txBody>
          <a:bodyPr vert="horz" rtlCol="0">
            <a:spAutoFit/>
          </a:bodyPr>
          <a:lstStyle/>
          <a:p>
            <a:r>
              <a:rPr lang="zh-CN" altLang="en-US" sz="19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邓姣姣</a:t>
            </a:r>
            <a:endParaRPr lang="zh-CN" altLang="en-US" sz="19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6553200" y="1879600"/>
            <a:ext cx="4953000" cy="323165"/>
          </a:xfrm>
          <a:prstGeom prst="rect">
            <a:avLst/>
          </a:prstGeom>
          <a:noFill/>
        </p:spPr>
        <p:txBody>
          <a:bodyPr vert="horz" rtlCol="0">
            <a:spAutoFit/>
          </a:bodyPr>
          <a:lstStyle/>
          <a:p>
            <a:r>
              <a:rPr lang="zh-CN" altLang="en-US" sz="15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数据与评测支撑</a:t>
            </a:r>
            <a:endParaRPr lang="zh-CN" altLang="en-US" sz="15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p:cNvSpPr txBox="1"/>
          <p:nvPr/>
        </p:nvSpPr>
        <p:spPr>
          <a:xfrm>
            <a:off x="6553200" y="2362200"/>
            <a:ext cx="4953000" cy="1426031"/>
          </a:xfrm>
          <a:prstGeom prst="rect">
            <a:avLst/>
          </a:prstGeom>
          <a:noFill/>
        </p:spPr>
        <p:txBody>
          <a:bodyPr vert="horz" rtlCol="0">
            <a:spAutoFit/>
          </a:bodyPr>
          <a:lstStyle/>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声学条件测试数据协议与构建</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多人重叠数据合成</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(SNR / TIR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记录</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三重数据泄漏检查</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说话人 </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MD5 /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切片</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统一评测脚本</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 </a:t>
            </a:r>
            <a:r>
              <a:rPr lang="en-US" altLang="zh-CN" sz="14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minDCF</a:t>
            </a: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ROC-DET · FAR/FRR)</a:t>
            </a:r>
          </a:p>
          <a:p>
            <a:pPr>
              <a:spcAft>
                <a:spcPts val="500"/>
              </a:spcAft>
            </a:pPr>
            <a:r>
              <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鲁棒性文献调研</a:t>
            </a:r>
            <a:endParaRPr lang="en-US" altLang="zh-CN"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矩形 14"/>
          <p:cNvSpPr/>
          <p:nvPr/>
        </p:nvSpPr>
        <p:spPr>
          <a:xfrm>
            <a:off x="508000" y="5948052"/>
            <a:ext cx="112268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文本框 15"/>
          <p:cNvSpPr txBox="1"/>
          <p:nvPr/>
        </p:nvSpPr>
        <p:spPr>
          <a:xfrm>
            <a:off x="508000" y="6056440"/>
            <a:ext cx="11226800" cy="315471"/>
          </a:xfrm>
          <a:prstGeom prst="rect">
            <a:avLst/>
          </a:prstGeom>
          <a:noFill/>
        </p:spPr>
        <p:txBody>
          <a:bodyPr vert="horz" rtlCol="0">
            <a:spAutoFit/>
          </a:bodyPr>
          <a:lstStyle/>
          <a:p>
            <a:pPr algn="ctr"/>
            <a:r>
              <a:rPr lang="zh-CN" altLang="en-US"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协作模式：「可复现评测基座 </a:t>
            </a:r>
            <a:r>
              <a:rPr lang="en-US" altLang="zh-CN"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鲁棒算法主线」 </a:t>
            </a:r>
            <a:r>
              <a:rPr lang="en-US" altLang="zh-CN"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每周对齐进度</a:t>
            </a:r>
            <a:endParaRPr lang="zh-CN" altLang="en-US" sz="1450" b="1"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灯片编号占位符 16"/>
          <p:cNvSpPr>
            <a:spLocks noGrp="1"/>
          </p:cNvSpPr>
          <p:nvPr>
            <p:ph type="sldNum" sz="quarter" idx="12"/>
          </p:nvPr>
        </p:nvSpPr>
        <p:spPr/>
        <p:txBody>
          <a:bodyPr/>
          <a:lstStyle/>
          <a:p>
            <a:fld id="{7BF2EA3F-D088-4729-88F9-9D4FADF26323}" type="slidenum">
              <a:rPr lang="zh-CN" altLang="en-US" smtClean="0"/>
              <a:t>2</a:t>
            </a:fld>
            <a:endParaRPr lang="zh-CN" altLang="en-US"/>
          </a:p>
        </p:txBody>
      </p:sp>
    </p:spTree>
    <p:extLst>
      <p:ext uri="{BB962C8B-B14F-4D97-AF65-F5344CB8AC3E}">
        <p14:creationId xmlns:p14="http://schemas.microsoft.com/office/powerpoint/2010/main" val="118999261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38243880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03263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2003" y="1329620"/>
            <a:ext cx="6098267" cy="4890052"/>
          </a:xfrm>
          <a:prstGeom prst="rect">
            <a:avLst/>
          </a:prstGeom>
        </p:spPr>
      </p:pic>
      <p:sp>
        <p:nvSpPr>
          <p:cNvPr id="2" name="矩形 1"/>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任务背景：智能终端上的声纹验证</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08000" y="1006455"/>
            <a:ext cx="11303000" cy="338554"/>
          </a:xfrm>
          <a:prstGeom prst="rect">
            <a:avLst/>
          </a:prstGeom>
          <a:noFill/>
        </p:spPr>
        <p:txBody>
          <a:bodyPr vert="horz" rtlCol="0">
            <a:spAutoFit/>
          </a:bodyPr>
          <a:lstStyle/>
          <a:p>
            <a:r>
              <a:rPr lang="en-US" altLang="zh-CN" sz="1600" b="1" dirty="0" smtClean="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rPr>
              <a:t>AI </a:t>
            </a:r>
            <a:r>
              <a:rPr lang="zh-CN" altLang="en-US" sz="1600" b="1" dirty="0" smtClean="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rPr>
              <a:t>眼镜等终端需要理解用户身份：通过注册语音建立声纹模板，并在开放环境中判断当前用户身份</a:t>
            </a:r>
            <a:endParaRPr lang="zh-CN" altLang="en-US" sz="1600" b="1" dirty="0">
              <a:solidFill>
                <a:schemeClr val="accent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520700" y="1492944"/>
            <a:ext cx="5230133" cy="4842351"/>
          </a:xfrm>
          <a:prstGeom prst="rect">
            <a:avLst/>
          </a:prstGeom>
          <a:noFill/>
        </p:spPr>
        <p:txBody>
          <a:bodyPr vert="horz" wrap="square" rtlCol="0">
            <a:spAutoFit/>
          </a:bodyPr>
          <a:lstStyle/>
          <a:p>
            <a:pPr>
              <a:spcAft>
                <a:spcPts val="800"/>
              </a:spcAft>
            </a:pPr>
            <a:r>
              <a:rPr lang="en-US" altLang="zh-CN"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应用需求：让终端理解“是谁在说话”</a:t>
            </a:r>
            <a:endParaRPr lang="en-US" altLang="zh-CN"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用户</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注册少量语音建立身份</a:t>
            </a: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模板</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后续</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无需唤醒词，即可验证是否</a:t>
            </a: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本人</a:t>
            </a:r>
            <a:endParaRPr lang="en-US" altLang="zh-CN"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区别</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于分类任务，属于开集声纹验证</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spcAft>
                <a:spcPts val="800"/>
              </a:spcAft>
            </a:pPr>
            <a:r>
              <a:rPr lang="en-US" altLang="zh-CN"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16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核心挑战：五</a:t>
            </a:r>
            <a:r>
              <a:rPr lang="zh-CN" altLang="en-US"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类典型场景</a:t>
            </a:r>
            <a:endParaRPr lang="en-US" altLang="zh-CN" sz="16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环境噪声干扰</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回声 </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混响</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多人重叠说话</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短语音输入</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跨设备采集差异</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spcAft>
                <a:spcPts val="800"/>
              </a:spcAft>
            </a:pPr>
            <a:r>
              <a:rPr lang="en-US" altLang="zh-CN" sz="15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5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任务目标：面向</a:t>
            </a:r>
            <a:r>
              <a:rPr lang="zh-CN" altLang="en-US" sz="15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中文复杂环境的鲁棒声纹验证</a:t>
            </a:r>
            <a:endParaRPr lang="en-US" altLang="zh-CN" sz="15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基于 </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3D-Speaker </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中文语音数据集 </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构建开集验证任务训练</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测试严格按说话人隔离</a:t>
            </a:r>
            <a:endParaRPr lang="en-US" altLang="zh-CN"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spcAft>
                <a:spcPts val="800"/>
              </a:spcAft>
              <a:buFont typeface="Arial" panose="020B0604020202020204" pitchFamily="34" charset="0"/>
              <a:buChar char="•"/>
            </a:pPr>
            <a:r>
              <a:rPr lang="zh-CN" altLang="en-US" sz="16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提升低信噪比条件下身份判别稳定性</a:t>
            </a:r>
          </a:p>
        </p:txBody>
      </p:sp>
      <p:sp>
        <p:nvSpPr>
          <p:cNvPr id="14" name="AutoShape 6" descr="ai眼镜 车载座舱声纹识别 的图像结果"/>
          <p:cNvSpPr>
            <a:spLocks noChangeAspect="1" noChangeArrowheads="1"/>
          </p:cNvSpPr>
          <p:nvPr/>
        </p:nvSpPr>
        <p:spPr bwMode="auto">
          <a:xfrm>
            <a:off x="63500" y="-13652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8" descr="ai眼镜 车载座舱声纹识别 的图像结果"/>
          <p:cNvSpPr>
            <a:spLocks noChangeAspect="1" noChangeArrowheads="1"/>
          </p:cNvSpPr>
          <p:nvPr/>
        </p:nvSpPr>
        <p:spPr bwMode="auto">
          <a:xfrm>
            <a:off x="215900" y="15875"/>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7" name="文本框 16"/>
          <p:cNvSpPr txBox="1"/>
          <p:nvPr/>
        </p:nvSpPr>
        <p:spPr>
          <a:xfrm>
            <a:off x="5832003" y="6147445"/>
            <a:ext cx="5978997" cy="307777"/>
          </a:xfrm>
          <a:prstGeom prst="rect">
            <a:avLst/>
          </a:prstGeom>
          <a:noFill/>
        </p:spPr>
        <p:txBody>
          <a:bodyPr vert="horz" wrap="square" rtlCol="0">
            <a:spAutoFit/>
          </a:bodyPr>
          <a:lstStyle/>
          <a:p>
            <a:pPr algn="ct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图 </a:t>
            </a:r>
            <a:r>
              <a:rPr lang="en-US" altLang="zh-CN" sz="1400" dirty="0" smtClean="0">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开集</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声纹</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验证的</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标准</a:t>
            </a:r>
            <a:r>
              <a:rPr lang="zh-CN" altLang="en-US" sz="1400" dirty="0" smtClean="0">
                <a:latin typeface="Times New Roman" panose="02020603050405020304" pitchFamily="18" charset="0"/>
                <a:ea typeface="微软雅黑" panose="020B0503020204020204" pitchFamily="34" charset="-122"/>
                <a:cs typeface="Times New Roman" panose="02020603050405020304" pitchFamily="18" charset="0"/>
              </a:rPr>
              <a:t>流程图</a:t>
            </a:r>
            <a:r>
              <a:rPr lang="en-US" altLang="zh-CN" sz="1400" baseline="30000" dirty="0" smtClean="0">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400"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7BF2EA3F-D088-4729-88F9-9D4FADF26323}" type="slidenum">
              <a:rPr lang="zh-CN" altLang="en-US" smtClean="0"/>
              <a:t>5</a:t>
            </a:fld>
            <a:endParaRPr lang="zh-CN" altLang="en-US" dirty="0"/>
          </a:p>
        </p:txBody>
      </p:sp>
      <p:sp>
        <p:nvSpPr>
          <p:cNvPr id="10" name="矩形 9"/>
          <p:cNvSpPr/>
          <p:nvPr/>
        </p:nvSpPr>
        <p:spPr>
          <a:xfrm>
            <a:off x="0" y="6690773"/>
            <a:ext cx="12192000" cy="167228"/>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050" dirty="0" smtClean="0">
                <a:latin typeface="Times New Roman" panose="02020603050405020304" pitchFamily="18" charset="0"/>
                <a:cs typeface="Times New Roman" panose="02020603050405020304" pitchFamily="18" charset="0"/>
              </a:rPr>
              <a:t>[1] D</a:t>
            </a:r>
            <a:r>
              <a:rPr lang="en-US" altLang="zh-CN" sz="1050" dirty="0">
                <a:latin typeface="Times New Roman" panose="02020603050405020304" pitchFamily="18" charset="0"/>
                <a:cs typeface="Times New Roman" panose="02020603050405020304" pitchFamily="18" charset="0"/>
              </a:rPr>
              <a:t>. A. Reynolds and R. C. Rose, “Robust text-independent speaker identification using Gaussian mixture speaker models,” </a:t>
            </a:r>
            <a:r>
              <a:rPr lang="en-US" altLang="zh-CN" sz="1050" i="1" dirty="0">
                <a:latin typeface="Times New Roman" panose="02020603050405020304" pitchFamily="18" charset="0"/>
                <a:cs typeface="Times New Roman" panose="02020603050405020304" pitchFamily="18" charset="0"/>
              </a:rPr>
              <a:t>IEEE Trans. on Speech and Audio Processing</a:t>
            </a:r>
            <a:r>
              <a:rPr lang="en-US" altLang="zh-CN" sz="1050" dirty="0">
                <a:latin typeface="Times New Roman" panose="02020603050405020304" pitchFamily="18" charset="0"/>
                <a:cs typeface="Times New Roman" panose="02020603050405020304" pitchFamily="18" charset="0"/>
              </a:rPr>
              <a:t>, vol. 3, no. 1, pp. 72–83, Jan. 1995.</a:t>
            </a:r>
            <a:endParaRPr lang="zh-CN" altLang="en-US" sz="10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8514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任务</a:t>
            </a:r>
            <a:r>
              <a:rPr lang="zh-CN" altLang="en-US" sz="2400" b="1" dirty="0">
                <a:solidFill>
                  <a:srgbClr val="1F3864"/>
                </a:solidFill>
                <a:latin typeface="微软雅黑" panose="020B0503020204020204" pitchFamily="34" charset="-122"/>
                <a:ea typeface="微软雅黑" panose="020B0503020204020204" pitchFamily="34" charset="-122"/>
              </a:rPr>
              <a:t>目标与验收标准</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669692057"/>
              </p:ext>
            </p:extLst>
          </p:nvPr>
        </p:nvGraphicFramePr>
        <p:xfrm>
          <a:off x="508000" y="1270000"/>
          <a:ext cx="11303001" cy="2997201"/>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615833026"/>
                    </a:ext>
                  </a:extLst>
                </a:gridCol>
                <a:gridCol w="3767667">
                  <a:extLst>
                    <a:ext uri="{9D8B030D-6E8A-4147-A177-3AD203B41FA5}">
                      <a16:colId xmlns:a16="http://schemas.microsoft.com/office/drawing/2014/main" val="3216877120"/>
                    </a:ext>
                  </a:extLst>
                </a:gridCol>
                <a:gridCol w="3767667">
                  <a:extLst>
                    <a:ext uri="{9D8B030D-6E8A-4147-A177-3AD203B41FA5}">
                      <a16:colId xmlns:a16="http://schemas.microsoft.com/office/drawing/2014/main" val="2551294609"/>
                    </a:ext>
                  </a:extLst>
                </a:gridCol>
              </a:tblGrid>
              <a:tr h="465667">
                <a:tc>
                  <a:txBody>
                    <a:bodyPr/>
                    <a:lstStyle/>
                    <a:p>
                      <a:pPr marL="0" algn="ctr" defTabSz="914400" rtl="0" eaLnBrk="1" latinLnBrk="0" hangingPunct="1"/>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层级</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marL="0" algn="ctr" defTabSz="914400" rtl="0" eaLnBrk="1" latinLnBrk="0" hangingPunct="1"/>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指标</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marL="0" algn="ctr" defTabSz="914400" rtl="0" eaLnBrk="1" latinLnBrk="0" hangingPunct="1"/>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完成情况</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106160828"/>
                  </a:ext>
                </a:extLst>
              </a:tr>
              <a:tr h="465667">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挑战目标</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单说话人噪声两档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均 ≤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超出现阶段能力范围（未冲击）</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919542371"/>
                  </a:ext>
                </a:extLst>
              </a:tr>
              <a:tr h="465667">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达标目标</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单说话人噪声两档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相对下降≥</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b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dB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下降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41.7%</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 dB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下降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49.7%</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2755081840"/>
                  </a:ext>
                </a:extLst>
              </a:tr>
              <a:tr h="465667">
                <a:tc>
                  <a:txBody>
                    <a:bodyPr/>
                    <a:lstStyle/>
                    <a:p>
                      <a:pPr algn="ctr"/>
                      <a:r>
                        <a:rPr lang="zh-CN" altLang="en-US"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基线定义</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未增强原始骨干模型</a:t>
                      </a:r>
                      <a:endPar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（禁用前端增强</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鲁棒训练</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域适配</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后端校准）</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逐后端同条件对照</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交付大表</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2123738327"/>
                  </a:ext>
                </a:extLst>
              </a:tr>
              <a:tr h="465667">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其他场景</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不设硬阈值，分项报告</a:t>
                      </a:r>
                      <a:endPar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 </a:t>
                      </a:r>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minDCF</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ROC-DET / FAR-FRR</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全部已产出</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529865241"/>
                  </a:ext>
                </a:extLst>
              </a:tr>
              <a:tr h="465667">
                <a:tc>
                  <a:txBody>
                    <a:bodyPr/>
                    <a:lstStyle/>
                    <a:p>
                      <a:pPr algn="ctr"/>
                      <a:r>
                        <a:rPr lang="zh-CN" altLang="en-US"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交付物</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模型、权重、代码、对比报告、失败案例</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全部已产出</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4120950408"/>
                  </a:ext>
                </a:extLst>
              </a:tr>
            </a:tbl>
          </a:graphicData>
        </a:graphic>
      </p:graphicFrame>
      <p:sp>
        <p:nvSpPr>
          <p:cNvPr id="7" name="文本框 6"/>
          <p:cNvSpPr txBox="1"/>
          <p:nvPr/>
        </p:nvSpPr>
        <p:spPr>
          <a:xfrm>
            <a:off x="419100" y="4585857"/>
            <a:ext cx="5080000" cy="338554"/>
          </a:xfrm>
          <a:prstGeom prst="rect">
            <a:avLst/>
          </a:prstGeom>
          <a:noFill/>
        </p:spPr>
        <p:txBody>
          <a:bodyPr vert="horz" rtlCol="0">
            <a:spAutoFit/>
          </a:bodyPr>
          <a:lstStyle/>
          <a:p>
            <a:r>
              <a:rPr lang="zh-CN" altLang="en-US" sz="16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评测规范：保证</a:t>
            </a:r>
            <a:r>
              <a:rPr lang="zh-CN" altLang="en-US" sz="16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结果公平可信</a:t>
            </a:r>
          </a:p>
        </p:txBody>
      </p:sp>
      <p:sp>
        <p:nvSpPr>
          <p:cNvPr id="8" name="文本框 7"/>
          <p:cNvSpPr txBox="1"/>
          <p:nvPr/>
        </p:nvSpPr>
        <p:spPr>
          <a:xfrm>
            <a:off x="520700" y="5007538"/>
            <a:ext cx="11303000" cy="1250342"/>
          </a:xfrm>
          <a:prstGeom prst="rect">
            <a:avLst/>
          </a:prstGeom>
          <a:noFill/>
        </p:spPr>
        <p:txBody>
          <a:bodyPr vert="horz" rtlCol="0">
            <a:spAutoFit/>
          </a:bodyPr>
          <a:lstStyle/>
          <a:p>
            <a:pPr marL="285750" indent="-285750">
              <a:lnSpc>
                <a:spcPct val="150000"/>
              </a:lnSpc>
              <a:spcAft>
                <a:spcPts val="600"/>
              </a:spcAft>
              <a:buFont typeface="Arial" panose="020B0604020202020204" pitchFamily="34" charset="0"/>
              <a:buChar char="•"/>
            </a:pP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测试说话人互不重叠，禁止同源切片泄漏</a:t>
            </a:r>
          </a:p>
          <a:p>
            <a:pPr marL="285750" indent="-285750">
              <a:lnSpc>
                <a:spcPct val="150000"/>
              </a:lnSpc>
              <a:spcAft>
                <a:spcPts val="600"/>
              </a:spcAft>
              <a:buFont typeface="Arial" panose="020B0604020202020204" pitchFamily="34" charset="0"/>
              <a:buChar char="•"/>
            </a:pP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固定注册数量、测试时长</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(1s/3s/5s)</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、正负试验清单与比例</a:t>
            </a:r>
          </a:p>
          <a:p>
            <a:pPr marL="285750" indent="-285750">
              <a:lnSpc>
                <a:spcPct val="150000"/>
              </a:lnSpc>
              <a:spcAft>
                <a:spcPts val="600"/>
              </a:spcAft>
              <a:buFont typeface="Arial" panose="020B0604020202020204" pitchFamily="34" charset="0"/>
              <a:buChar char="•"/>
            </a:pP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阈值只能在验证集确定</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测试集冻结</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不得重调</a:t>
            </a:r>
            <a:endPar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灯片编号占位符 8"/>
          <p:cNvSpPr>
            <a:spLocks noGrp="1"/>
          </p:cNvSpPr>
          <p:nvPr>
            <p:ph type="sldNum" sz="quarter" idx="12"/>
          </p:nvPr>
        </p:nvSpPr>
        <p:spPr/>
        <p:txBody>
          <a:bodyPr/>
          <a:lstStyle/>
          <a:p>
            <a:fld id="{7BF2EA3F-D088-4729-88F9-9D4FADF26323}" type="slidenum">
              <a:rPr lang="zh-CN" altLang="en-US" smtClean="0"/>
              <a:t>6</a:t>
            </a:fld>
            <a:endParaRPr lang="zh-CN" altLang="en-US"/>
          </a:p>
        </p:txBody>
      </p:sp>
      <p:sp>
        <p:nvSpPr>
          <p:cNvPr id="11" name="矩形 10"/>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624480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9947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圆角矩形 214"/>
          <p:cNvSpPr/>
          <p:nvPr/>
        </p:nvSpPr>
        <p:spPr>
          <a:xfrm>
            <a:off x="9822139" y="1824036"/>
            <a:ext cx="2057400" cy="4560509"/>
          </a:xfrm>
          <a:prstGeom prst="roundRect">
            <a:avLst>
              <a:gd name="adj" fmla="val 6000"/>
            </a:avLst>
          </a:prstGeom>
          <a:solidFill>
            <a:srgbClr val="FDF3E7"/>
          </a:solidFill>
          <a:ln w="15875">
            <a:solidFill>
              <a:srgbClr val="D269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研究思路：从</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语音增强到身份感知增强</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3" name="组合 12"/>
          <p:cNvGrpSpPr/>
          <p:nvPr/>
        </p:nvGrpSpPr>
        <p:grpSpPr>
          <a:xfrm>
            <a:off x="2650849" y="1169569"/>
            <a:ext cx="2057400" cy="496332"/>
            <a:chOff x="2717163" y="1184968"/>
            <a:chExt cx="2057400" cy="496332"/>
          </a:xfrm>
        </p:grpSpPr>
        <p:sp>
          <p:nvSpPr>
            <p:cNvPr id="204" name="圆角矩形 203"/>
            <p:cNvSpPr/>
            <p:nvPr/>
          </p:nvSpPr>
          <p:spPr>
            <a:xfrm>
              <a:off x="2717163" y="1184968"/>
              <a:ext cx="2057400" cy="482600"/>
            </a:xfrm>
            <a:prstGeom prst="roundRect">
              <a:avLst>
                <a:gd name="adj" fmla="val 6000"/>
              </a:avLst>
            </a:prstGeom>
            <a:solidFill>
              <a:srgbClr val="8B641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5" name="文本框 204"/>
            <p:cNvSpPr txBox="1"/>
            <p:nvPr/>
          </p:nvSpPr>
          <p:spPr>
            <a:xfrm>
              <a:off x="2742563" y="1311968"/>
              <a:ext cx="2006600" cy="369332"/>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关键机理发现</a:t>
              </a:r>
              <a:endPar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06" name="圆角矩形 205"/>
          <p:cNvSpPr/>
          <p:nvPr/>
        </p:nvSpPr>
        <p:spPr>
          <a:xfrm>
            <a:off x="2642508" y="1824036"/>
            <a:ext cx="2057400" cy="4590157"/>
          </a:xfrm>
          <a:prstGeom prst="roundRect">
            <a:avLst>
              <a:gd name="adj" fmla="val 6000"/>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1" name="组合 10"/>
          <p:cNvGrpSpPr/>
          <p:nvPr/>
        </p:nvGrpSpPr>
        <p:grpSpPr>
          <a:xfrm>
            <a:off x="5029200" y="1166936"/>
            <a:ext cx="2057400" cy="496332"/>
            <a:chOff x="5163819" y="1181793"/>
            <a:chExt cx="2057400" cy="496332"/>
          </a:xfrm>
        </p:grpSpPr>
        <p:sp>
          <p:nvSpPr>
            <p:cNvPr id="207" name="圆角矩形 206"/>
            <p:cNvSpPr/>
            <p:nvPr/>
          </p:nvSpPr>
          <p:spPr>
            <a:xfrm>
              <a:off x="5163819" y="1181793"/>
              <a:ext cx="2057400" cy="482600"/>
            </a:xfrm>
            <a:prstGeom prst="roundRect">
              <a:avLst>
                <a:gd name="adj" fmla="val 6000"/>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8" name="文本框 207"/>
            <p:cNvSpPr txBox="1"/>
            <p:nvPr/>
          </p:nvSpPr>
          <p:spPr>
            <a:xfrm>
              <a:off x="5189219" y="1308793"/>
              <a:ext cx="2006600" cy="369332"/>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方法</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重新定义</a:t>
              </a:r>
              <a:endPar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2" name="组合 11"/>
          <p:cNvGrpSpPr/>
          <p:nvPr/>
        </p:nvGrpSpPr>
        <p:grpSpPr>
          <a:xfrm>
            <a:off x="7432951" y="1167848"/>
            <a:ext cx="2057400" cy="496332"/>
            <a:chOff x="7349489" y="1181793"/>
            <a:chExt cx="2057400" cy="496332"/>
          </a:xfrm>
        </p:grpSpPr>
        <p:sp>
          <p:nvSpPr>
            <p:cNvPr id="210" name="圆角矩形 209"/>
            <p:cNvSpPr/>
            <p:nvPr/>
          </p:nvSpPr>
          <p:spPr>
            <a:xfrm>
              <a:off x="7349489" y="1181793"/>
              <a:ext cx="2057400" cy="482600"/>
            </a:xfrm>
            <a:prstGeom prst="roundRect">
              <a:avLst>
                <a:gd name="adj" fmla="val 6000"/>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1" name="文本框 210"/>
            <p:cNvSpPr txBox="1"/>
            <p:nvPr/>
          </p:nvSpPr>
          <p:spPr>
            <a:xfrm>
              <a:off x="7374889" y="1308793"/>
              <a:ext cx="2006600" cy="369332"/>
            </a:xfrm>
            <a:prstGeom prst="rect">
              <a:avLst/>
            </a:prstGeom>
            <a:noFill/>
          </p:spPr>
          <p:txBody>
            <a:bodyPr vert="horz" wrap="square" lIns="0" tIns="0" rIns="0" bIns="0" rtlCol="0">
              <a:noAutofit/>
            </a:bodyPr>
            <a:lstStyle>
              <a:defPPr>
                <a:defRPr lang="zh-CN"/>
              </a:defPPr>
              <a:lvl1pPr algn="ctr">
                <a:defRPr sz="11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defRPr>
              </a:lvl1pPr>
            </a:lstStyle>
            <a:p>
              <a:r>
                <a:rPr lang="en-US" altLang="zh-CN" dirty="0"/>
                <a:t>4.  </a:t>
              </a:r>
              <a:r>
                <a:rPr lang="zh-CN" altLang="en-US" dirty="0" smtClean="0"/>
                <a:t>身份保持优化</a:t>
              </a:r>
              <a:endParaRPr lang="zh-CN" altLang="en-US" dirty="0"/>
            </a:p>
          </p:txBody>
        </p:sp>
      </p:grpSp>
      <p:sp>
        <p:nvSpPr>
          <p:cNvPr id="212" name="圆角矩形 211"/>
          <p:cNvSpPr/>
          <p:nvPr/>
        </p:nvSpPr>
        <p:spPr>
          <a:xfrm>
            <a:off x="7416800" y="1824037"/>
            <a:ext cx="2057400" cy="4565134"/>
          </a:xfrm>
          <a:prstGeom prst="roundRect">
            <a:avLst>
              <a:gd name="adj" fmla="val 6000"/>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14" name="组合 13"/>
          <p:cNvGrpSpPr/>
          <p:nvPr/>
        </p:nvGrpSpPr>
        <p:grpSpPr>
          <a:xfrm>
            <a:off x="9836702" y="1160070"/>
            <a:ext cx="2057400" cy="496332"/>
            <a:chOff x="9822139" y="1168061"/>
            <a:chExt cx="2057400" cy="496332"/>
          </a:xfrm>
        </p:grpSpPr>
        <p:sp>
          <p:nvSpPr>
            <p:cNvPr id="213" name="圆角矩形 212"/>
            <p:cNvSpPr/>
            <p:nvPr/>
          </p:nvSpPr>
          <p:spPr>
            <a:xfrm>
              <a:off x="9822139" y="1168061"/>
              <a:ext cx="2057400" cy="482600"/>
            </a:xfrm>
            <a:prstGeom prst="roundRect">
              <a:avLst>
                <a:gd name="adj" fmla="val 6000"/>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4" name="文本框 213"/>
            <p:cNvSpPr txBox="1"/>
            <p:nvPr/>
          </p:nvSpPr>
          <p:spPr>
            <a:xfrm>
              <a:off x="9847539" y="1295061"/>
              <a:ext cx="2006600" cy="369332"/>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最终交付结果</a:t>
              </a:r>
              <a:endParaRPr lang="zh-CN" altLang="en-US" sz="11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16" name="右箭头 215"/>
          <p:cNvSpPr/>
          <p:nvPr/>
        </p:nvSpPr>
        <p:spPr>
          <a:xfrm>
            <a:off x="2330720" y="3984048"/>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2" name="圆角矩形 231"/>
          <p:cNvSpPr/>
          <p:nvPr/>
        </p:nvSpPr>
        <p:spPr>
          <a:xfrm>
            <a:off x="2744108" y="4930927"/>
            <a:ext cx="1854200" cy="1131907"/>
          </a:xfrm>
          <a:prstGeom prst="roundRect">
            <a:avLst>
              <a:gd name="adj" fmla="val 6000"/>
            </a:avLst>
          </a:prstGeom>
          <a:solidFill>
            <a:schemeClr val="bg1"/>
          </a:solidFill>
          <a:ln w="15875" cap="flat" cmpd="sng" algn="ctr">
            <a:solidFill>
              <a:srgbClr val="8B6414"/>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3" name="文本框 232"/>
          <p:cNvSpPr txBox="1"/>
          <p:nvPr/>
        </p:nvSpPr>
        <p:spPr>
          <a:xfrm>
            <a:off x="2744108" y="5073906"/>
            <a:ext cx="1843043" cy="369332"/>
          </a:xfrm>
          <a:prstGeom prst="rect">
            <a:avLst/>
          </a:prstGeom>
          <a:noFill/>
        </p:spPr>
        <p:txBody>
          <a:bodyPr vert="horz" wrap="square" lIns="0" tIns="0" rIns="0" bIns="0" rtlCol="0">
            <a:noAutofit/>
          </a:bodyPr>
          <a:lstStyle/>
          <a:p>
            <a:pPr algn="ctr"/>
            <a:r>
              <a:rPr lang="zh-CN" altLang="en-US" sz="1050" b="1" dirty="0" smtClean="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降噪前后目标</a:t>
            </a:r>
            <a:r>
              <a:rPr lang="zh-CN" altLang="en-US"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对分数均值</a:t>
            </a:r>
          </a:p>
        </p:txBody>
      </p:sp>
      <p:sp>
        <p:nvSpPr>
          <p:cNvPr id="234" name="文本框 233"/>
          <p:cNvSpPr txBox="1"/>
          <p:nvPr/>
        </p:nvSpPr>
        <p:spPr>
          <a:xfrm>
            <a:off x="2738529" y="5302015"/>
            <a:ext cx="1854199" cy="181688"/>
          </a:xfrm>
          <a:prstGeom prst="rect">
            <a:avLst/>
          </a:prstGeom>
          <a:noFill/>
        </p:spPr>
        <p:txBody>
          <a:bodyPr vert="horz" wrap="square" lIns="0" tIns="0" rIns="0" bIns="0" rtlCol="0">
            <a:noAutofit/>
          </a:bodyPr>
          <a:lstStyle/>
          <a:p>
            <a:pPr algn="ctr"/>
            <a:r>
              <a:rPr lang="en-US" altLang="zh-CN"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0.422 → 0.391</a:t>
            </a:r>
            <a:endParaRPr lang="zh-CN" altLang="en-US"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5" name="椭圆 234"/>
          <p:cNvSpPr/>
          <p:nvPr/>
        </p:nvSpPr>
        <p:spPr>
          <a:xfrm>
            <a:off x="3249654" y="5549212"/>
            <a:ext cx="149371" cy="149371"/>
          </a:xfrm>
          <a:prstGeom prst="ellipse">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6" name="圆角矩形 235"/>
          <p:cNvSpPr/>
          <p:nvPr/>
        </p:nvSpPr>
        <p:spPr>
          <a:xfrm>
            <a:off x="3150186" y="5757526"/>
            <a:ext cx="348308" cy="191421"/>
          </a:xfrm>
          <a:prstGeom prst="roundRect">
            <a:avLst>
              <a:gd name="adj" fmla="val 50000"/>
            </a:avLst>
          </a:prstGeom>
          <a:solidFill>
            <a:srgbClr val="59595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cxnSp>
        <p:nvCxnSpPr>
          <p:cNvPr id="239" name="直接连接符 238"/>
          <p:cNvCxnSpPr/>
          <p:nvPr/>
        </p:nvCxnSpPr>
        <p:spPr>
          <a:xfrm>
            <a:off x="3508655" y="5697175"/>
            <a:ext cx="330200" cy="0"/>
          </a:xfrm>
          <a:prstGeom prst="line">
            <a:avLst/>
          </a:prstGeom>
          <a:ln w="19050" cap="sq">
            <a:solidFill>
              <a:srgbClr val="595959"/>
            </a:solidFill>
            <a:prstDash val="dot"/>
            <a:tailEnd type="triangle" w="med" len="med"/>
          </a:ln>
        </p:spPr>
        <p:style>
          <a:lnRef idx="1">
            <a:schemeClr val="accent1"/>
          </a:lnRef>
          <a:fillRef idx="0">
            <a:schemeClr val="accent1"/>
          </a:fillRef>
          <a:effectRef idx="0">
            <a:schemeClr val="accent1"/>
          </a:effectRef>
          <a:fontRef idx="minor">
            <a:schemeClr val="tx1"/>
          </a:fontRef>
        </p:style>
      </p:cxnSp>
      <p:sp>
        <p:nvSpPr>
          <p:cNvPr id="262" name="下箭头 261"/>
          <p:cNvSpPr/>
          <p:nvPr/>
        </p:nvSpPr>
        <p:spPr>
          <a:xfrm>
            <a:off x="8353309" y="2976026"/>
            <a:ext cx="154594" cy="208467"/>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2" name="下箭头 271"/>
          <p:cNvSpPr/>
          <p:nvPr/>
        </p:nvSpPr>
        <p:spPr>
          <a:xfrm>
            <a:off x="8369300" y="5344337"/>
            <a:ext cx="152400" cy="101600"/>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7" name="圆角矩形 276"/>
          <p:cNvSpPr/>
          <p:nvPr/>
        </p:nvSpPr>
        <p:spPr>
          <a:xfrm>
            <a:off x="9961839" y="2126678"/>
            <a:ext cx="1803400" cy="2721040"/>
          </a:xfrm>
          <a:prstGeom prst="roundRect">
            <a:avLst>
              <a:gd name="adj" fmla="val 6000"/>
            </a:avLst>
          </a:prstGeom>
          <a:solidFill>
            <a:srgbClr val="FFFFFF"/>
          </a:solidFill>
          <a:ln w="19050">
            <a:solidFill>
              <a:srgbClr val="D269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8" name="文本框 277"/>
          <p:cNvSpPr txBox="1"/>
          <p:nvPr/>
        </p:nvSpPr>
        <p:spPr>
          <a:xfrm>
            <a:off x="9961839" y="2126678"/>
            <a:ext cx="1803400" cy="744906"/>
          </a:xfrm>
          <a:prstGeom prst="rect">
            <a:avLst/>
          </a:prstGeom>
          <a:noFill/>
        </p:spPr>
        <p:txBody>
          <a:bodyPr vert="horz" wrap="square" lIns="0" tIns="0" rIns="0" bIns="0" rtlCol="0" anchor="ctr">
            <a:noAutofit/>
          </a:bodyPr>
          <a:lstStyle/>
          <a:p>
            <a:pPr algn="ctr"/>
            <a:r>
              <a:rPr lang="zh-CN" altLang="en-US" sz="105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最终</a:t>
            </a:r>
            <a:r>
              <a:rPr lang="zh-CN" altLang="en-US"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交付结果</a:t>
            </a:r>
            <a:endParaRPr lang="en-US" altLang="zh-CN"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ERes2Net-large + </a:t>
            </a:r>
            <a:r>
              <a:rPr lang="zh-CN" altLang="en-US" sz="10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前端</a:t>
            </a:r>
            <a:endParaRPr lang="zh-CN" altLang="en-US" sz="105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5" name="矩形 294"/>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6" name="圆角矩形 295"/>
          <p:cNvSpPr/>
          <p:nvPr/>
        </p:nvSpPr>
        <p:spPr>
          <a:xfrm>
            <a:off x="9961839" y="5395137"/>
            <a:ext cx="1803400" cy="669600"/>
          </a:xfrm>
          <a:prstGeom prst="roundRect">
            <a:avLst>
              <a:gd name="adj" fmla="val 6000"/>
            </a:avLst>
          </a:prstGeom>
          <a:solidFill>
            <a:schemeClr val="bg1"/>
          </a:solidFill>
          <a:ln w="19050" cap="flat" cmpd="sng" algn="ctr">
            <a:solidFill>
              <a:schemeClr val="accent2">
                <a:lumMod val="75000"/>
              </a:schemeClr>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smtClean="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结论：显著超过验收要求的 </a:t>
            </a:r>
            <a:r>
              <a:rPr lang="en-US" altLang="zh-CN" sz="1050" b="1" dirty="0" smtClean="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30% </a:t>
            </a:r>
            <a:r>
              <a:rPr lang="zh-CN" altLang="en-US" sz="1050" b="1" dirty="0" smtClean="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相对降幅线</a:t>
            </a:r>
            <a:endParaRPr lang="zh-CN" altLang="en-US" sz="1050" b="1" dirty="0">
              <a:solidFill>
                <a:schemeClr val="accent2">
                  <a:lumMod val="75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7" name="组合 16"/>
          <p:cNvGrpSpPr/>
          <p:nvPr/>
        </p:nvGrpSpPr>
        <p:grpSpPr>
          <a:xfrm>
            <a:off x="227645" y="1182526"/>
            <a:ext cx="2057400" cy="482600"/>
            <a:chOff x="211769" y="1181793"/>
            <a:chExt cx="2057400" cy="482600"/>
          </a:xfrm>
        </p:grpSpPr>
        <p:sp>
          <p:nvSpPr>
            <p:cNvPr id="104" name="圆角矩形 103"/>
            <p:cNvSpPr/>
            <p:nvPr/>
          </p:nvSpPr>
          <p:spPr>
            <a:xfrm>
              <a:off x="211769" y="1181793"/>
              <a:ext cx="2057400" cy="482600"/>
            </a:xfrm>
            <a:prstGeom prst="roundRect">
              <a:avLst>
                <a:gd name="adj" fmla="val 6000"/>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5" name="文本框 104"/>
            <p:cNvSpPr txBox="1"/>
            <p:nvPr/>
          </p:nvSpPr>
          <p:spPr>
            <a:xfrm>
              <a:off x="237169" y="1308793"/>
              <a:ext cx="2006600" cy="330200"/>
            </a:xfrm>
            <a:prstGeom prst="rect">
              <a:avLst/>
            </a:prstGeom>
            <a:noFill/>
          </p:spPr>
          <p:txBody>
            <a:bodyPr vert="horz" wrap="square" lIns="0" tIns="0" rIns="0" bIns="0" rtlCol="0">
              <a:noAutofit/>
            </a:bodyPr>
            <a:lstStyle/>
            <a:p>
              <a:pPr algn="ctr"/>
              <a:r>
                <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  </a:t>
              </a:r>
              <a:r>
                <a:rPr lang="zh-CN" altLang="en-US"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传统方法验证</a:t>
              </a:r>
              <a:endParaRPr lang="en-US" altLang="zh-CN" sz="11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8" name="组合 7"/>
          <p:cNvGrpSpPr/>
          <p:nvPr/>
        </p:nvGrpSpPr>
        <p:grpSpPr>
          <a:xfrm>
            <a:off x="227645" y="1824036"/>
            <a:ext cx="2057400" cy="4572000"/>
            <a:chOff x="211769" y="1715194"/>
            <a:chExt cx="2057400" cy="4572000"/>
          </a:xfrm>
        </p:grpSpPr>
        <p:sp>
          <p:nvSpPr>
            <p:cNvPr id="106" name="圆角矩形 105"/>
            <p:cNvSpPr/>
            <p:nvPr/>
          </p:nvSpPr>
          <p:spPr>
            <a:xfrm>
              <a:off x="211769" y="1715194"/>
              <a:ext cx="2057400" cy="4572000"/>
            </a:xfrm>
            <a:prstGeom prst="roundRect">
              <a:avLst>
                <a:gd name="adj" fmla="val 6000"/>
              </a:avLst>
            </a:prstGeom>
            <a:solidFill>
              <a:srgbClr val="FDF1F0"/>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0" name="圆角矩形 219"/>
            <p:cNvSpPr/>
            <p:nvPr/>
          </p:nvSpPr>
          <p:spPr>
            <a:xfrm>
              <a:off x="338769" y="2019993"/>
              <a:ext cx="1803400" cy="1371600"/>
            </a:xfrm>
            <a:prstGeom prst="roundRect">
              <a:avLst>
                <a:gd name="adj" fmla="val 6000"/>
              </a:avLst>
            </a:prstGeom>
            <a:solidFill>
              <a:schemeClr val="bg1"/>
            </a:solidFill>
            <a:ln w="19050" cap="flat" cmpd="sng" algn="ctr">
              <a:solidFill>
                <a:srgbClr val="C00000"/>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1" name="文本框 220"/>
            <p:cNvSpPr txBox="1"/>
            <p:nvPr/>
          </p:nvSpPr>
          <p:spPr>
            <a:xfrm>
              <a:off x="440369" y="2121593"/>
              <a:ext cx="1600200" cy="369332"/>
            </a:xfrm>
            <a:prstGeom prst="rect">
              <a:avLst/>
            </a:prstGeom>
            <a:noFill/>
          </p:spPr>
          <p:txBody>
            <a:bodyPr vert="horz" wrap="square" lIns="0" tIns="0" rIns="0" bIns="0" rtlCol="0">
              <a:noAutofit/>
            </a:bodyPr>
            <a:lstStyle/>
            <a:p>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 </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冻结式鲁棒后端微调</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2" name="文本框 221"/>
            <p:cNvSpPr txBox="1"/>
            <p:nvPr/>
          </p:nvSpPr>
          <p:spPr>
            <a:xfrm>
              <a:off x="440369" y="2350193"/>
              <a:ext cx="1651000" cy="762000"/>
            </a:xfrm>
            <a:prstGeom prst="rect">
              <a:avLst/>
            </a:prstGeom>
            <a:noFill/>
          </p:spPr>
          <p:txBody>
            <a:bodyPr vert="horz" wrap="square" lIns="0" tIns="0" rIns="0" bIns="0" rtlCol="0">
              <a:noAutofit/>
            </a:bodyPr>
            <a:lstStyle/>
            <a:p>
              <a:pPr marL="171450" indent="-171450">
                <a:lnSpc>
                  <a:spcPct val="150000"/>
                </a:lnSpc>
                <a:spcAft>
                  <a:spcPts val="300"/>
                </a:spcAft>
                <a:buFont typeface="Arial" panose="020B0604020202020204" pitchFamily="34" charset="0"/>
                <a:buChar char="•"/>
              </a:pP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clean </a:t>
              </a:r>
              <a:r>
                <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0 dB / -5 dB </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混合</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p>
            <a:p>
              <a:pPr marL="171450" indent="-171450">
                <a:lnSpc>
                  <a:spcPct val="150000"/>
                </a:lnSpc>
                <a:spcAft>
                  <a:spcPts val="300"/>
                </a:spcAft>
                <a:buFont typeface="Arial" panose="020B0604020202020204" pitchFamily="34" charset="0"/>
                <a:buChar char="•"/>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分层</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冻结策略</a:t>
              </a:r>
              <a:endPar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lnSpc>
                  <a:spcPct val="150000"/>
                </a:lnSpc>
                <a:spcAft>
                  <a:spcPts val="300"/>
                </a:spcAft>
                <a:buFont typeface="Arial" panose="020B0604020202020204" pitchFamily="34" charset="0"/>
                <a:buChar char="•"/>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有一定鲁棒性提升</a:t>
              </a:r>
            </a:p>
          </p:txBody>
        </p:sp>
        <p:sp>
          <p:nvSpPr>
            <p:cNvPr id="223" name="文本框 222"/>
            <p:cNvSpPr txBox="1"/>
            <p:nvPr/>
          </p:nvSpPr>
          <p:spPr>
            <a:xfrm>
              <a:off x="338769" y="3156735"/>
              <a:ext cx="1803400" cy="205736"/>
            </a:xfrm>
            <a:prstGeom prst="rect">
              <a:avLst/>
            </a:prstGeom>
            <a:noFill/>
          </p:spPr>
          <p:txBody>
            <a:bodyPr vert="horz" wrap="square" lIns="0" tIns="0" rIns="0" bIns="0" rtlCol="0">
              <a:noAutofit/>
            </a:bodyPr>
            <a:lstStyle/>
            <a:p>
              <a:pPr algn="ct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8.39% → 7.69%</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7" name="圆角矩形 226"/>
            <p:cNvSpPr/>
            <p:nvPr/>
          </p:nvSpPr>
          <p:spPr>
            <a:xfrm>
              <a:off x="351136" y="5538356"/>
              <a:ext cx="1803400" cy="415636"/>
            </a:xfrm>
            <a:prstGeom prst="roundRect">
              <a:avLst>
                <a:gd name="adj" fmla="val 6000"/>
              </a:avLst>
            </a:prstGeom>
            <a:solidFill>
              <a:schemeClr val="bg1"/>
            </a:solidFill>
            <a:ln w="19050" cap="flat" cmpd="sng" algn="ctr">
              <a:solidFill>
                <a:srgbClr val="C00000"/>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结论：两条路线均</a:t>
              </a:r>
              <a:endPar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未达到交付要求</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7" name="组合 6"/>
            <p:cNvGrpSpPr/>
            <p:nvPr/>
          </p:nvGrpSpPr>
          <p:grpSpPr>
            <a:xfrm>
              <a:off x="338769" y="3654779"/>
              <a:ext cx="1803400" cy="1594189"/>
              <a:chOff x="333688" y="3536489"/>
              <a:chExt cx="1803400" cy="1594189"/>
            </a:xfrm>
          </p:grpSpPr>
          <p:sp>
            <p:nvSpPr>
              <p:cNvPr id="224" name="圆角矩形 223"/>
              <p:cNvSpPr/>
              <p:nvPr/>
            </p:nvSpPr>
            <p:spPr>
              <a:xfrm>
                <a:off x="333688" y="3536489"/>
                <a:ext cx="1803400" cy="1572895"/>
              </a:xfrm>
              <a:prstGeom prst="roundRect">
                <a:avLst>
                  <a:gd name="adj" fmla="val 6000"/>
                </a:avLst>
              </a:prstGeom>
              <a:solidFill>
                <a:schemeClr val="bg1"/>
              </a:solidFill>
              <a:ln w="19050" cap="flat" cmpd="sng" algn="ctr">
                <a:solidFill>
                  <a:srgbClr val="C00000"/>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5" name="文本框 224"/>
              <p:cNvSpPr txBox="1"/>
              <p:nvPr/>
            </p:nvSpPr>
            <p:spPr>
              <a:xfrm>
                <a:off x="435288" y="3633790"/>
                <a:ext cx="1600200" cy="223246"/>
              </a:xfrm>
              <a:prstGeom prst="rect">
                <a:avLst/>
              </a:prstGeom>
              <a:noFill/>
            </p:spPr>
            <p:txBody>
              <a:bodyPr vert="horz" wrap="square" lIns="0" tIns="0" rIns="0" bIns="0" rtlCol="0">
                <a:noAutofit/>
              </a:bodyPr>
              <a:lstStyle/>
              <a:p>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B </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通用语音增强</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6" name="文本框 225"/>
              <p:cNvSpPr txBox="1"/>
              <p:nvPr/>
            </p:nvSpPr>
            <p:spPr>
              <a:xfrm>
                <a:off x="437825" y="3839384"/>
                <a:ext cx="1651000" cy="1270000"/>
              </a:xfrm>
              <a:prstGeom prst="rect">
                <a:avLst/>
              </a:prstGeom>
              <a:noFill/>
            </p:spPr>
            <p:txBody>
              <a:bodyPr vert="horz" wrap="square" lIns="0" tIns="0" rIns="0" bIns="0" rtlCol="0">
                <a:noAutofit/>
              </a:bodyPr>
              <a:lstStyle/>
              <a:p>
                <a:pPr marL="171450" indent="-171450">
                  <a:lnSpc>
                    <a:spcPct val="150000"/>
                  </a:lnSpc>
                  <a:spcAft>
                    <a:spcPts val="300"/>
                  </a:spcAft>
                  <a:buFont typeface="Arial" panose="020B0604020202020204" pitchFamily="34" charset="0"/>
                  <a:buChar char="•"/>
                </a:pPr>
                <a:r>
                  <a:rPr lang="en-US" altLang="zh-CN" sz="95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a:p>
                <a:pPr marL="171450" indent="-171450">
                  <a:lnSpc>
                    <a:spcPct val="150000"/>
                  </a:lnSpc>
                  <a:spcAft>
                    <a:spcPts val="300"/>
                  </a:spcAft>
                  <a:buFont typeface="Arial" panose="020B0604020202020204" pitchFamily="34" charset="0"/>
                  <a:buChar char="•"/>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以信号重建为目标</a:t>
                </a:r>
              </a:p>
              <a:p>
                <a:pPr marL="171450" indent="-171450">
                  <a:lnSpc>
                    <a:spcPct val="150000"/>
                  </a:lnSpc>
                  <a:spcAft>
                    <a:spcPts val="300"/>
                  </a:spcAft>
                  <a:buFont typeface="Arial" panose="020B0604020202020204" pitchFamily="34" charset="0"/>
                  <a:buChar char="•"/>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输出</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增强语音送入验证器</a:t>
                </a:r>
                <a:endPar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171450" indent="-171450">
                  <a:lnSpc>
                    <a:spcPct val="150000"/>
                  </a:lnSpc>
                  <a:spcAft>
                    <a:spcPts val="300"/>
                  </a:spcAft>
                  <a:buFont typeface="Arial" panose="020B0604020202020204" pitchFamily="34" charset="0"/>
                  <a:buChar char="•"/>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跨句稳定身份特征被削弱</a:t>
                </a:r>
              </a:p>
            </p:txBody>
          </p:sp>
          <p:sp>
            <p:nvSpPr>
              <p:cNvPr id="298" name="文本框 297"/>
              <p:cNvSpPr txBox="1"/>
              <p:nvPr/>
            </p:nvSpPr>
            <p:spPr>
              <a:xfrm>
                <a:off x="333688" y="4907038"/>
                <a:ext cx="1803400" cy="223640"/>
              </a:xfrm>
              <a:prstGeom prst="rect">
                <a:avLst/>
              </a:prstGeom>
              <a:noFill/>
            </p:spPr>
            <p:txBody>
              <a:bodyPr vert="horz" wrap="square" lIns="0" tIns="0" rIns="0" bIns="0" rtlCol="0">
                <a:noAutofit/>
              </a:bodyPr>
              <a:lstStyle/>
              <a:p>
                <a:pPr algn="ct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0 </a:t>
                </a:r>
                <a:r>
                  <a:rPr lang="en-US" altLang="zh-CN"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dB</a:t>
                </a: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EER</a:t>
                </a:r>
                <a:r>
                  <a:rPr lang="zh-CN" altLang="en-US"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8.39% → 10.11%</a:t>
                </a:r>
                <a:endParaRPr lang="zh-CN" altLang="en-US" sz="10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sp>
        <p:nvSpPr>
          <p:cNvPr id="299" name="圆角矩形 298"/>
          <p:cNvSpPr/>
          <p:nvPr/>
        </p:nvSpPr>
        <p:spPr>
          <a:xfrm>
            <a:off x="2802370" y="2126679"/>
            <a:ext cx="1803400" cy="843620"/>
          </a:xfrm>
          <a:prstGeom prst="roundRect">
            <a:avLst>
              <a:gd name="adj" fmla="val 6000"/>
            </a:avLst>
          </a:prstGeom>
          <a:solidFill>
            <a:schemeClr val="bg1"/>
          </a:solidFill>
          <a:ln w="19050" cap="flat" cmpd="sng" algn="ctr">
            <a:solidFill>
              <a:schemeClr val="accent4">
                <a:lumMod val="50000"/>
              </a:schemeClr>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语音增强优化的是信号质量，而声纹验证关注的是身份判别</a:t>
            </a:r>
            <a:r>
              <a:rPr lang="zh-CN" altLang="en-US" sz="1050" b="1" dirty="0" smtClean="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特征。</a:t>
            </a:r>
            <a:endParaRPr lang="en-US" altLang="zh-CN" sz="1050" b="1" dirty="0" smtClean="0">
              <a:solidFill>
                <a:schemeClr val="accent4">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p:cNvGrpSpPr/>
          <p:nvPr/>
        </p:nvGrpSpPr>
        <p:grpSpPr>
          <a:xfrm>
            <a:off x="5019039" y="1824036"/>
            <a:ext cx="2057400" cy="4565511"/>
            <a:chOff x="5163819" y="1824036"/>
            <a:chExt cx="2057400" cy="4528443"/>
          </a:xfrm>
        </p:grpSpPr>
        <p:sp>
          <p:nvSpPr>
            <p:cNvPr id="209" name="圆角矩形 208"/>
            <p:cNvSpPr/>
            <p:nvPr/>
          </p:nvSpPr>
          <p:spPr>
            <a:xfrm>
              <a:off x="5163819" y="1824036"/>
              <a:ext cx="2057400" cy="4528443"/>
            </a:xfrm>
            <a:prstGeom prst="roundRect">
              <a:avLst>
                <a:gd name="adj" fmla="val 6000"/>
              </a:avLst>
            </a:prstGeom>
            <a:solidFill>
              <a:srgbClr val="EAF1F9"/>
            </a:solidFill>
            <a:ln w="15875">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0" name="圆角矩形 239"/>
            <p:cNvSpPr/>
            <p:nvPr/>
          </p:nvSpPr>
          <p:spPr>
            <a:xfrm>
              <a:off x="5303604" y="2124221"/>
              <a:ext cx="1803400" cy="669627"/>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注册条件化</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目标说话人提取（</a:t>
              </a:r>
              <a:r>
                <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TSE</a:t>
              </a: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243" name="圆角矩形 242"/>
            <p:cNvSpPr/>
            <p:nvPr/>
          </p:nvSpPr>
          <p:spPr>
            <a:xfrm>
              <a:off x="5271680" y="3199313"/>
              <a:ext cx="793579" cy="502627"/>
            </a:xfrm>
            <a:prstGeom prst="roundRect">
              <a:avLst>
                <a:gd name="adj" fmla="val 6000"/>
              </a:avLst>
            </a:prstGeom>
            <a:solidFill>
              <a:schemeClr val="bg1"/>
            </a:solidFill>
            <a:ln w="19050">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输入</a:t>
              </a:r>
              <a:r>
                <a:rPr lang="en-US" altLang="zh-CN"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注册语音</a:t>
              </a:r>
              <a:endPar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9" name="下箭头 248"/>
            <p:cNvSpPr/>
            <p:nvPr/>
          </p:nvSpPr>
          <p:spPr>
            <a:xfrm>
              <a:off x="5586809" y="3830070"/>
              <a:ext cx="152400" cy="366515"/>
            </a:xfrm>
            <a:prstGeom prst="down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1" name="圆角矩形 250"/>
            <p:cNvSpPr/>
            <p:nvPr/>
          </p:nvSpPr>
          <p:spPr>
            <a:xfrm>
              <a:off x="5271680" y="4328451"/>
              <a:ext cx="1803401" cy="575474"/>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输出</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目标说话人语音</a:t>
              </a:r>
            </a:p>
          </p:txBody>
        </p:sp>
        <p:sp>
          <p:nvSpPr>
            <p:cNvPr id="302" name="圆角矩形 301"/>
            <p:cNvSpPr/>
            <p:nvPr/>
          </p:nvSpPr>
          <p:spPr>
            <a:xfrm>
              <a:off x="6246408" y="3199313"/>
              <a:ext cx="828673" cy="502627"/>
            </a:xfrm>
            <a:prstGeom prst="roundRect">
              <a:avLst>
                <a:gd name="adj" fmla="val 6000"/>
              </a:avLst>
            </a:prstGeom>
            <a:solidFill>
              <a:schemeClr val="bg1"/>
            </a:solidFill>
            <a:ln w="19050">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输入 </a:t>
              </a:r>
              <a:r>
                <a:rPr lang="en-US" altLang="zh-CN"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带噪语音</a:t>
              </a:r>
              <a:endPar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3" name="下箭头 302"/>
            <p:cNvSpPr/>
            <p:nvPr/>
          </p:nvSpPr>
          <p:spPr>
            <a:xfrm>
              <a:off x="6582957" y="3831991"/>
              <a:ext cx="152400" cy="366515"/>
            </a:xfrm>
            <a:prstGeom prst="down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4" name="圆角矩形 303"/>
            <p:cNvSpPr/>
            <p:nvPr/>
          </p:nvSpPr>
          <p:spPr>
            <a:xfrm>
              <a:off x="5271680" y="5358819"/>
              <a:ext cx="1803401" cy="6696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注册语音</a:t>
              </a: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提供</a:t>
              </a:r>
              <a:endParaRPr lang="en-US" altLang="zh-CN"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提取谁」</a:t>
              </a:r>
              <a:r>
                <a:rPr lang="zh-CN" altLang="en-US" sz="1050" b="1"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的身份条件</a:t>
              </a:r>
              <a:endParaRPr lang="zh-CN" altLang="en-US" sz="1050" b="1"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05" name="右箭头 304"/>
          <p:cNvSpPr/>
          <p:nvPr/>
        </p:nvSpPr>
        <p:spPr>
          <a:xfrm>
            <a:off x="4733290" y="3982659"/>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6" name="右箭头 305"/>
          <p:cNvSpPr/>
          <p:nvPr/>
        </p:nvSpPr>
        <p:spPr>
          <a:xfrm>
            <a:off x="7110095" y="3985953"/>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7" name="右箭头 306"/>
          <p:cNvSpPr/>
          <p:nvPr/>
        </p:nvSpPr>
        <p:spPr>
          <a:xfrm>
            <a:off x="9514090" y="3982659"/>
            <a:ext cx="273049" cy="330200"/>
          </a:xfrm>
          <a:prstGeom prst="rightArrow">
            <a:avLst/>
          </a:prstGeom>
          <a:solidFill>
            <a:schemeClr val="bg2">
              <a:lumMod val="50000"/>
            </a:schemeClr>
          </a:solidFill>
          <a:ln w="12700" cap="flat" cmpd="sng" algn="ctr">
            <a:solidFill>
              <a:schemeClr val="bg1"/>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aphicFrame>
        <p:nvGraphicFramePr>
          <p:cNvPr id="15" name="表格 14"/>
          <p:cNvGraphicFramePr>
            <a:graphicFrameLocks noGrp="1"/>
          </p:cNvGraphicFramePr>
          <p:nvPr>
            <p:extLst>
              <p:ext uri="{D42A27DB-BD31-4B8C-83A1-F6EECF244321}">
                <p14:modId xmlns:p14="http://schemas.microsoft.com/office/powerpoint/2010/main" val="3911795914"/>
              </p:ext>
            </p:extLst>
          </p:nvPr>
        </p:nvGraphicFramePr>
        <p:xfrm>
          <a:off x="10038039" y="2840035"/>
          <a:ext cx="1651000" cy="1635760"/>
        </p:xfrm>
        <a:graphic>
          <a:graphicData uri="http://schemas.openxmlformats.org/drawingml/2006/table">
            <a:tbl>
              <a:tblPr firstRow="1" bandRow="1">
                <a:tableStyleId>{21E4AEA4-8DFA-4A89-87EB-49C32662AFE0}</a:tableStyleId>
              </a:tblPr>
              <a:tblGrid>
                <a:gridCol w="553245">
                  <a:extLst>
                    <a:ext uri="{9D8B030D-6E8A-4147-A177-3AD203B41FA5}">
                      <a16:colId xmlns:a16="http://schemas.microsoft.com/office/drawing/2014/main" val="1402492811"/>
                    </a:ext>
                  </a:extLst>
                </a:gridCol>
                <a:gridCol w="1097755">
                  <a:extLst>
                    <a:ext uri="{9D8B030D-6E8A-4147-A177-3AD203B41FA5}">
                      <a16:colId xmlns:a16="http://schemas.microsoft.com/office/drawing/2014/main" val="2012017389"/>
                    </a:ext>
                  </a:extLst>
                </a:gridCol>
              </a:tblGrid>
              <a:tr h="408940">
                <a:tc>
                  <a:txBody>
                    <a:bodyPr/>
                    <a:lstStyle/>
                    <a:p>
                      <a:pPr algn="ctr"/>
                      <a:r>
                        <a:rPr lang="zh-CN" altLang="en-US" sz="950" b="1"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信噪比</a:t>
                      </a:r>
                      <a:endParaRPr lang="zh-CN" altLang="en-US" sz="950" b="1"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algn="ctr"/>
                      <a:r>
                        <a:rPr lang="en-US" altLang="zh-CN" sz="950" b="1"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950" b="1"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变化</a:t>
                      </a:r>
                      <a:endParaRPr lang="zh-CN" altLang="en-US" sz="950" b="1"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1306920422"/>
                  </a:ext>
                </a:extLst>
              </a:tr>
              <a:tr h="408940">
                <a:tc>
                  <a:txBody>
                    <a:bodyPr/>
                    <a:lstStyle/>
                    <a:p>
                      <a:pPr algn="ctr"/>
                      <a:r>
                        <a:rPr lang="en-US" altLang="zh-CN" sz="950" b="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clean</a:t>
                      </a:r>
                      <a:endParaRPr lang="zh-CN" altLang="en-US" sz="950" b="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5.29% → 4.17%</a:t>
                      </a:r>
                      <a:br>
                        <a:rPr lang="en-US" altLang="zh-CN"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br>
                      <a:r>
                        <a:rPr lang="en-US" altLang="zh-CN"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(-21.2%)</a:t>
                      </a:r>
                      <a:endParaRPr lang="zh-CN" altLang="en-US" sz="9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564479552"/>
                  </a:ext>
                </a:extLst>
              </a:tr>
              <a:tr h="408940">
                <a:tc>
                  <a:txBody>
                    <a:bodyPr/>
                    <a:lstStyle/>
                    <a:p>
                      <a:pPr algn="ctr"/>
                      <a:r>
                        <a:rPr lang="en-US" altLang="zh-CN" sz="950" b="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dB</a:t>
                      </a:r>
                      <a:endParaRPr lang="zh-CN" altLang="en-US" sz="950" b="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8.39% → 4.89%</a:t>
                      </a:r>
                      <a:endPar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(-41.7%)</a:t>
                      </a:r>
                      <a:endParaRPr lang="zh-CN" altLang="en-US"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797852448"/>
                  </a:ext>
                </a:extLst>
              </a:tr>
              <a:tr h="408940">
                <a:tc>
                  <a:txBody>
                    <a:bodyPr/>
                    <a:lstStyle/>
                    <a:p>
                      <a:pPr algn="ctr"/>
                      <a:r>
                        <a:rPr lang="en-US" altLang="zh-CN" sz="950" b="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 dB</a:t>
                      </a:r>
                      <a:endParaRPr lang="zh-CN" altLang="en-US" sz="950" b="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11.06% → 5.56%</a:t>
                      </a:r>
                      <a:endPar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(-49.7%)</a:t>
                      </a:r>
                      <a:endParaRPr lang="zh-CN" altLang="en-US" sz="1000" b="1"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tc>
                <a:extLst>
                  <a:ext uri="{0D108BD9-81ED-4DB2-BD59-A6C34878D82A}">
                    <a16:rowId xmlns:a16="http://schemas.microsoft.com/office/drawing/2014/main" val="638320872"/>
                  </a:ext>
                </a:extLst>
              </a:tr>
            </a:tbl>
          </a:graphicData>
        </a:graphic>
      </p:graphicFrame>
      <p:grpSp>
        <p:nvGrpSpPr>
          <p:cNvPr id="16" name="组合 15"/>
          <p:cNvGrpSpPr/>
          <p:nvPr/>
        </p:nvGrpSpPr>
        <p:grpSpPr>
          <a:xfrm>
            <a:off x="7528906" y="2127947"/>
            <a:ext cx="1854200" cy="786959"/>
            <a:chOff x="7518400" y="2161288"/>
            <a:chExt cx="1854200" cy="786959"/>
          </a:xfrm>
        </p:grpSpPr>
        <p:sp>
          <p:nvSpPr>
            <p:cNvPr id="258" name="圆角矩形 257"/>
            <p:cNvSpPr/>
            <p:nvPr/>
          </p:nvSpPr>
          <p:spPr>
            <a:xfrm>
              <a:off x="7518400" y="2161288"/>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条件化前端</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接入</a:t>
              </a:r>
              <a:endPar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en-US" altLang="zh-CN" sz="95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调制</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重建</a:t>
              </a: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分类损失</a:t>
              </a:r>
              <a:endPar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08" name="文本框 307"/>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8.39% → 7.38%</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09" name="组合 308"/>
          <p:cNvGrpSpPr/>
          <p:nvPr/>
        </p:nvGrpSpPr>
        <p:grpSpPr>
          <a:xfrm>
            <a:off x="7516206" y="3209911"/>
            <a:ext cx="1854200" cy="786959"/>
            <a:chOff x="7518400" y="2161288"/>
            <a:chExt cx="1854200" cy="786959"/>
          </a:xfrm>
        </p:grpSpPr>
        <p:sp>
          <p:nvSpPr>
            <p:cNvPr id="310" name="圆角矩形 309"/>
            <p:cNvSpPr/>
            <p:nvPr/>
          </p:nvSpPr>
          <p:spPr>
            <a:xfrm>
              <a:off x="7518400" y="2161288"/>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说话</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人保持</a:t>
              </a:r>
              <a:endParaRPr lang="en-US" altLang="zh-CN"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Aft>
                  <a:spcPts val="150"/>
                </a:spcAft>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保持</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增强前后身份嵌入一致</a:t>
              </a:r>
            </a:p>
          </p:txBody>
        </p:sp>
        <p:sp>
          <p:nvSpPr>
            <p:cNvPr id="311" name="文本框 310"/>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7.38% → 7.29%</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12" name="组合 311"/>
          <p:cNvGrpSpPr/>
          <p:nvPr/>
        </p:nvGrpSpPr>
        <p:grpSpPr>
          <a:xfrm>
            <a:off x="7503506" y="4244654"/>
            <a:ext cx="1859181" cy="786959"/>
            <a:chOff x="7500719" y="2160640"/>
            <a:chExt cx="1859181" cy="786959"/>
          </a:xfrm>
        </p:grpSpPr>
        <p:sp>
          <p:nvSpPr>
            <p:cNvPr id="313" name="圆角矩形 312"/>
            <p:cNvSpPr/>
            <p:nvPr/>
          </p:nvSpPr>
          <p:spPr>
            <a:xfrm>
              <a:off x="7500719" y="2160640"/>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难负原型抑制</a:t>
              </a:r>
              <a:endPar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推离最难混淆原型</a:t>
              </a:r>
            </a:p>
          </p:txBody>
        </p:sp>
        <p:sp>
          <p:nvSpPr>
            <p:cNvPr id="314" name="文本框 313"/>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7.29% → 6.52%</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315" name="组合 314"/>
          <p:cNvGrpSpPr/>
          <p:nvPr/>
        </p:nvGrpSpPr>
        <p:grpSpPr>
          <a:xfrm>
            <a:off x="7518400" y="5280045"/>
            <a:ext cx="1854200" cy="786959"/>
            <a:chOff x="7518400" y="2161288"/>
            <a:chExt cx="1854200" cy="786959"/>
          </a:xfrm>
        </p:grpSpPr>
        <p:sp>
          <p:nvSpPr>
            <p:cNvPr id="316" name="圆角矩形 315"/>
            <p:cNvSpPr/>
            <p:nvPr/>
          </p:nvSpPr>
          <p:spPr>
            <a:xfrm>
              <a:off x="7518400" y="2161288"/>
              <a:ext cx="1854200" cy="786959"/>
            </a:xfrm>
            <a:prstGeom prst="roundRect">
              <a:avLst>
                <a:gd name="adj" fmla="val 6000"/>
              </a:avLst>
            </a:prstGeom>
            <a:solidFill>
              <a:srgbClr val="FFFFFF"/>
            </a:solidFill>
            <a:ln w="1905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50000"/>
                </a:lnSpc>
              </a:pPr>
              <a:r>
                <a:rPr lang="en-US" altLang="zh-CN"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4. </a:t>
              </a:r>
              <a:r>
                <a:rPr lang="zh-CN" altLang="en-US" sz="1050" b="1" dirty="0" smtClean="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rPr>
                <a:t>随机时长增强</a:t>
              </a:r>
              <a:endParaRPr lang="en-US" altLang="zh-CN" sz="1050" b="1" dirty="0">
                <a:solidFill>
                  <a:srgbClr val="2F4F2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spcAft>
                  <a:spcPts val="150"/>
                </a:spcAft>
              </a:pPr>
              <a:r>
                <a:rPr lang="en-US" altLang="zh-CN"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1s </a:t>
              </a:r>
              <a:r>
                <a:rPr lang="en-US" altLang="zh-CN"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2s / 3s </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随机裁切</a:t>
              </a:r>
            </a:p>
            <a:p>
              <a:pPr>
                <a:lnSpc>
                  <a:spcPct val="150000"/>
                </a:lnSpc>
                <a:spcAft>
                  <a:spcPts val="150"/>
                </a:spcAft>
              </a:pPr>
              <a:endPar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7" name="文本框 316"/>
            <p:cNvSpPr txBox="1"/>
            <p:nvPr/>
          </p:nvSpPr>
          <p:spPr>
            <a:xfrm>
              <a:off x="7556500" y="2699189"/>
              <a:ext cx="1803400" cy="205736"/>
            </a:xfrm>
            <a:prstGeom prst="rect">
              <a:avLst/>
            </a:prstGeom>
            <a:noFill/>
          </p:spPr>
          <p:txBody>
            <a:bodyPr vert="horz" wrap="square" lIns="0" tIns="0" rIns="0" bIns="0" rtlCol="0">
              <a:noAutofit/>
            </a:bodyPr>
            <a:lstStyle/>
            <a:p>
              <a:pPr algn="ct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0 dB EER</a:t>
              </a:r>
              <a:r>
                <a:rPr lang="zh-CN" altLang="en-US"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050" b="1" dirty="0" smtClean="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6.52% → 4.89%</a:t>
              </a:r>
              <a:endParaRPr lang="zh-CN" altLang="en-US" sz="1050" b="1" dirty="0">
                <a:solidFill>
                  <a:schemeClr val="accent6">
                    <a:lumMod val="50000"/>
                  </a:schemeClr>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18" name="下箭头 317"/>
          <p:cNvSpPr/>
          <p:nvPr/>
        </p:nvSpPr>
        <p:spPr>
          <a:xfrm>
            <a:off x="8350796" y="4019459"/>
            <a:ext cx="154594" cy="208467"/>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9" name="下箭头 318"/>
          <p:cNvSpPr/>
          <p:nvPr/>
        </p:nvSpPr>
        <p:spPr>
          <a:xfrm>
            <a:off x="8351115" y="5049724"/>
            <a:ext cx="154594" cy="208467"/>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0" name="圆角矩形 319"/>
          <p:cNvSpPr/>
          <p:nvPr/>
        </p:nvSpPr>
        <p:spPr>
          <a:xfrm>
            <a:off x="2794908" y="3273161"/>
            <a:ext cx="1792244" cy="1219382"/>
          </a:xfrm>
          <a:prstGeom prst="roundRect">
            <a:avLst>
              <a:gd name="adj" fmla="val 6000"/>
            </a:avLst>
          </a:prstGeom>
          <a:solidFill>
            <a:schemeClr val="bg1"/>
          </a:solidFill>
          <a:ln w="19050" cap="flat" cmpd="sng" algn="ctr">
            <a:solidFill>
              <a:schemeClr val="accent4">
                <a:lumMod val="50000"/>
              </a:schemeClr>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nSpc>
                <a:spcPct val="150000"/>
              </a:lnSpc>
              <a:buFont typeface="Wingdings" panose="05000000000000000000" pitchFamily="2" charset="2"/>
              <a:buChar char="Ø"/>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降</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噪器会保留所有</a:t>
            </a: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语音，因此</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会保留干扰说话人</a:t>
            </a:r>
          </a:p>
          <a:p>
            <a:pPr marL="171450" indent="-171450">
              <a:lnSpc>
                <a:spcPct val="150000"/>
              </a:lnSpc>
              <a:buFont typeface="Wingdings" panose="05000000000000000000" pitchFamily="2" charset="2"/>
              <a:buChar char="Ø"/>
            </a:pPr>
            <a:r>
              <a:rPr lang="zh-CN" altLang="en-US" sz="9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降</a:t>
            </a:r>
            <a:r>
              <a:rPr lang="zh-CN" altLang="en-US" sz="9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噪抹平了跨句稳定的说话人身份特征</a:t>
            </a:r>
          </a:p>
        </p:txBody>
      </p:sp>
      <p:sp>
        <p:nvSpPr>
          <p:cNvPr id="323" name="椭圆 322"/>
          <p:cNvSpPr/>
          <p:nvPr/>
        </p:nvSpPr>
        <p:spPr>
          <a:xfrm>
            <a:off x="3938323" y="5547804"/>
            <a:ext cx="149371" cy="149371"/>
          </a:xfrm>
          <a:prstGeom prst="ellipse">
            <a:avLst/>
          </a:prstGeom>
          <a:solidFill>
            <a:schemeClr val="accent4">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4" name="圆角矩形 323"/>
          <p:cNvSpPr/>
          <p:nvPr/>
        </p:nvSpPr>
        <p:spPr>
          <a:xfrm>
            <a:off x="3838855" y="5757526"/>
            <a:ext cx="348308" cy="191421"/>
          </a:xfrm>
          <a:prstGeom prst="roundRect">
            <a:avLst>
              <a:gd name="adj" fmla="val 50000"/>
            </a:avLst>
          </a:prstGeom>
          <a:solidFill>
            <a:schemeClr val="accent4">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7BF2EA3F-D088-4729-88F9-9D4FADF26323}" type="slidenum">
              <a:rPr lang="zh-CN" altLang="en-US" smtClean="0"/>
              <a:t>8</a:t>
            </a:fld>
            <a:endParaRPr lang="zh-CN" altLang="en-US"/>
          </a:p>
        </p:txBody>
      </p:sp>
    </p:spTree>
    <p:extLst>
      <p:ext uri="{BB962C8B-B14F-4D97-AF65-F5344CB8AC3E}">
        <p14:creationId xmlns:p14="http://schemas.microsoft.com/office/powerpoint/2010/main" val="14923774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9536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smtClean="0">
                <a:solidFill>
                  <a:srgbClr val="1F3864"/>
                </a:solidFill>
                <a:latin typeface="微软雅黑" panose="020B0503020204020204" pitchFamily="34" charset="-122"/>
                <a:ea typeface="微软雅黑" panose="020B0503020204020204" pitchFamily="34" charset="-122"/>
              </a:rPr>
              <a:t>实验条件与训练参数</a:t>
            </a:r>
            <a:endParaRPr lang="zh-CN" altLang="en-US" sz="2400" b="1">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392137652"/>
              </p:ext>
            </p:extLst>
          </p:nvPr>
        </p:nvGraphicFramePr>
        <p:xfrm>
          <a:off x="508000" y="1168400"/>
          <a:ext cx="11303000" cy="4572000"/>
        </p:xfrm>
        <a:graphic>
          <a:graphicData uri="http://schemas.openxmlformats.org/drawingml/2006/table">
            <a:tbl>
              <a:tblPr firstRow="1" bandRow="1">
                <a:tableStyleId>{5C22544A-7EE6-4342-B048-85BDC9FD1C3A}</a:tableStyleId>
              </a:tblPr>
              <a:tblGrid>
                <a:gridCol w="5651500">
                  <a:extLst>
                    <a:ext uri="{9D8B030D-6E8A-4147-A177-3AD203B41FA5}">
                      <a16:colId xmlns:a16="http://schemas.microsoft.com/office/drawing/2014/main" val="1103085786"/>
                    </a:ext>
                  </a:extLst>
                </a:gridCol>
                <a:gridCol w="5651500">
                  <a:extLst>
                    <a:ext uri="{9D8B030D-6E8A-4147-A177-3AD203B41FA5}">
                      <a16:colId xmlns:a16="http://schemas.microsoft.com/office/drawing/2014/main" val="2627228004"/>
                    </a:ext>
                  </a:extLst>
                </a:gridCol>
              </a:tblGrid>
              <a:tr h="571500">
                <a:tc>
                  <a:txBody>
                    <a:bodyPr/>
                    <a:lstStyle/>
                    <a:p>
                      <a:pPr algn="ctr"/>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实验条件</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配置</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1990711421"/>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算力</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 × NVIDIA Tesla P100 12GB</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；训练与全量评测共享使用，单卡单任务</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983555078"/>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数据</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l"/>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3D-Speaker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中文数据：</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190 GB / 579,003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条；每轮抽样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30,000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条；训练</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测试按说话人严格隔离</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531849082"/>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MUSAN free-sound</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；训练池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615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条、测试池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168+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条，严格隔离，每次训练时动态混噪，</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SNR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在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−5} dB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随机</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3710413484"/>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声学前端</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l"/>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采样率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16 kHz</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STFT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：窗长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、帧移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256</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257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维频谱；交付版随机采样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 2, 3} s</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1102117485"/>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模型</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：全带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LSTM 512</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、子带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384</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SpeakerFiLM</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0.52M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参数；前端总参数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9.20M</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414940588"/>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优化</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l"/>
                      <a:r>
                        <a:rPr lang="en-US" altLang="zh-CN" sz="1450" kern="12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lr</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1×10⁻⁵</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batch size = 2</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workers = 6</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；每级续训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轮；</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seed = 2026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650401730"/>
                  </a:ext>
                </a:extLst>
              </a:tr>
              <a:tr h="571500">
                <a:tc>
                  <a:txBody>
                    <a:bodyPr/>
                    <a:lstStyle/>
                    <a:p>
                      <a:pPr algn="ct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纪律</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l"/>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100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个未见说话人代理验证集选点；阈值仅在验证集确定，官方测试集冻结；每个决策仅跑一次官方评测；增益 </a:t>
                      </a: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&lt; 0.08 pp </a:t>
                      </a:r>
                      <a:r>
                        <a:rPr lang="zh-CN" altLang="en-US"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自动停止</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2656836245"/>
                  </a:ext>
                </a:extLst>
              </a:tr>
            </a:tbl>
          </a:graphicData>
        </a:graphic>
      </p:graphicFrame>
      <p:sp>
        <p:nvSpPr>
          <p:cNvPr id="7" name="灯片编号占位符 6"/>
          <p:cNvSpPr>
            <a:spLocks noGrp="1"/>
          </p:cNvSpPr>
          <p:nvPr>
            <p:ph type="sldNum" sz="quarter" idx="12"/>
          </p:nvPr>
        </p:nvSpPr>
        <p:spPr/>
        <p:txBody>
          <a:bodyPr/>
          <a:lstStyle/>
          <a:p>
            <a:fld id="{7BF2EA3F-D088-4729-88F9-9D4FADF26323}" type="slidenum">
              <a:rPr lang="zh-CN" altLang="en-US" smtClean="0"/>
              <a:t>10</a:t>
            </a:fld>
            <a:endParaRPr lang="zh-CN" altLang="en-US"/>
          </a:p>
        </p:txBody>
      </p:sp>
      <p:sp>
        <p:nvSpPr>
          <p:cNvPr id="9" name="矩形 8"/>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15153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smtClean="0">
                <a:solidFill>
                  <a:srgbClr val="1F3864"/>
                </a:solidFill>
                <a:latin typeface="微软雅黑" panose="020B0503020204020204" pitchFamily="34" charset="-122"/>
                <a:ea typeface="微软雅黑" panose="020B0503020204020204" pitchFamily="34" charset="-122"/>
              </a:rPr>
              <a:t>评测协议与基线</a:t>
            </a:r>
            <a:endParaRPr lang="zh-CN" altLang="en-US" sz="2400" b="1">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431800" y="1053603"/>
            <a:ext cx="10565161" cy="1508105"/>
          </a:xfrm>
          <a:prstGeom prst="rect">
            <a:avLst/>
          </a:prstGeom>
          <a:noFill/>
        </p:spPr>
        <p:txBody>
          <a:bodyPr vert="horz" wrap="square" rtlCol="0">
            <a:spAutoFit/>
          </a:bodyPr>
          <a:lstStyle/>
          <a:p>
            <a:pPr>
              <a:lnSpc>
                <a:spcPct val="150000"/>
              </a:lnSpc>
              <a:spcAft>
                <a:spcPts val="600"/>
              </a:spcAft>
            </a:pPr>
            <a:r>
              <a:rPr lang="zh-CN" altLang="en-US"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统一评测</a:t>
            </a:r>
            <a:r>
              <a:rPr lang="zh-CN" altLang="en-US" sz="14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协议：</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240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个官方测试说话</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人；</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8,687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条注册</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语音；官方 </a:t>
            </a:r>
            <a:r>
              <a:rPr lang="en-US" altLang="zh-CN" sz="145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trials_cross_device</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共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1,378,206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trial</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目标：非</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目标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5.5</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seed=2026</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，可复现。</a:t>
            </a:r>
          </a:p>
          <a:p>
            <a:pPr>
              <a:lnSpc>
                <a:spcPct val="150000"/>
              </a:lnSpc>
              <a:spcAft>
                <a:spcPts val="600"/>
              </a:spcAft>
            </a:pPr>
            <a:r>
              <a:rPr lang="zh-CN" altLang="en-US"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官方协议</a:t>
            </a:r>
            <a:r>
              <a:rPr lang="zh-CN" altLang="en-US" sz="14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校准：</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ECAPA-TDNN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实测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9.31%</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（论文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8.87%</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实测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6.87%</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（论文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6.34%</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），偏差均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&lt; 0.6 pp</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，验证评测管线可靠。</a:t>
            </a:r>
          </a:p>
        </p:txBody>
      </p:sp>
      <p:sp>
        <p:nvSpPr>
          <p:cNvPr id="7" name="文本框 6"/>
          <p:cNvSpPr txBox="1"/>
          <p:nvPr/>
        </p:nvSpPr>
        <p:spPr>
          <a:xfrm>
            <a:off x="381000" y="2625955"/>
            <a:ext cx="11303000" cy="338554"/>
          </a:xfrm>
          <a:prstGeom prst="rect">
            <a:avLst/>
          </a:prstGeom>
          <a:noFill/>
        </p:spPr>
        <p:txBody>
          <a:bodyPr vert="horz" rtlCol="0">
            <a:spAutoFit/>
          </a:bodyPr>
          <a:lstStyle/>
          <a:p>
            <a:r>
              <a:rPr lang="zh-CN" altLang="en-US" sz="1600" b="1" smtClean="0">
                <a:solidFill>
                  <a:srgbClr val="1F3864"/>
                </a:solidFill>
                <a:latin typeface="微软雅黑" panose="020B0503020204020204" pitchFamily="34" charset="-122"/>
                <a:ea typeface="微软雅黑" panose="020B0503020204020204" pitchFamily="34" charset="-122"/>
              </a:rPr>
              <a:t>未增强基线锚点 </a:t>
            </a:r>
            <a:r>
              <a:rPr lang="en-US" altLang="zh-CN" sz="1600" b="1" smtClean="0">
                <a:solidFill>
                  <a:srgbClr val="1F3864"/>
                </a:solidFill>
                <a:latin typeface="微软雅黑" panose="020B0503020204020204" pitchFamily="34" charset="-122"/>
                <a:ea typeface="微软雅黑" panose="020B0503020204020204" pitchFamily="34" charset="-122"/>
              </a:rPr>
              <a:t>EER(%)(</a:t>
            </a:r>
            <a:r>
              <a:rPr lang="zh-CN" altLang="en-US" sz="1600" b="1" smtClean="0">
                <a:solidFill>
                  <a:srgbClr val="1F3864"/>
                </a:solidFill>
                <a:latin typeface="微软雅黑" panose="020B0503020204020204" pitchFamily="34" charset="-122"/>
                <a:ea typeface="微软雅黑" panose="020B0503020204020204" pitchFamily="34" charset="-122"/>
              </a:rPr>
              <a:t>主线一切对比的起点</a:t>
            </a:r>
            <a:r>
              <a:rPr lang="en-US" altLang="zh-CN" sz="1600" b="1" smtClean="0">
                <a:solidFill>
                  <a:srgbClr val="1F3864"/>
                </a:solidFill>
                <a:latin typeface="微软雅黑" panose="020B0503020204020204" pitchFamily="34" charset="-122"/>
                <a:ea typeface="微软雅黑" panose="020B0503020204020204" pitchFamily="34" charset="-122"/>
              </a:rPr>
              <a:t>)</a:t>
            </a:r>
            <a:endParaRPr lang="zh-CN" altLang="en-US" sz="1600" b="1">
              <a:solidFill>
                <a:srgbClr val="1F3864"/>
              </a:solidFill>
              <a:latin typeface="微软雅黑" panose="020B0503020204020204" pitchFamily="34" charset="-122"/>
              <a:ea typeface="微软雅黑" panose="020B0503020204020204" pitchFamily="34" charset="-122"/>
            </a:endParaRPr>
          </a:p>
        </p:txBody>
      </p:sp>
      <p:graphicFrame>
        <p:nvGraphicFramePr>
          <p:cNvPr id="8" name="表格 7"/>
          <p:cNvGraphicFramePr>
            <a:graphicFrameLocks noGrp="1"/>
          </p:cNvGraphicFramePr>
          <p:nvPr>
            <p:extLst>
              <p:ext uri="{D42A27DB-BD31-4B8C-83A1-F6EECF244321}">
                <p14:modId xmlns:p14="http://schemas.microsoft.com/office/powerpoint/2010/main" val="795816300"/>
              </p:ext>
            </p:extLst>
          </p:nvPr>
        </p:nvGraphicFramePr>
        <p:xfrm>
          <a:off x="482600" y="3030654"/>
          <a:ext cx="11303000" cy="2012950"/>
        </p:xfrm>
        <a:graphic>
          <a:graphicData uri="http://schemas.openxmlformats.org/drawingml/2006/table">
            <a:tbl>
              <a:tblPr firstRow="1" bandRow="1">
                <a:tableStyleId>{5C22544A-7EE6-4342-B048-85BDC9FD1C3A}</a:tableStyleId>
              </a:tblPr>
              <a:tblGrid>
                <a:gridCol w="1412875">
                  <a:extLst>
                    <a:ext uri="{9D8B030D-6E8A-4147-A177-3AD203B41FA5}">
                      <a16:colId xmlns:a16="http://schemas.microsoft.com/office/drawing/2014/main" val="3303335917"/>
                    </a:ext>
                  </a:extLst>
                </a:gridCol>
                <a:gridCol w="1412875">
                  <a:extLst>
                    <a:ext uri="{9D8B030D-6E8A-4147-A177-3AD203B41FA5}">
                      <a16:colId xmlns:a16="http://schemas.microsoft.com/office/drawing/2014/main" val="3510024397"/>
                    </a:ext>
                  </a:extLst>
                </a:gridCol>
                <a:gridCol w="1412875">
                  <a:extLst>
                    <a:ext uri="{9D8B030D-6E8A-4147-A177-3AD203B41FA5}">
                      <a16:colId xmlns:a16="http://schemas.microsoft.com/office/drawing/2014/main" val="1078286356"/>
                    </a:ext>
                  </a:extLst>
                </a:gridCol>
                <a:gridCol w="1412875">
                  <a:extLst>
                    <a:ext uri="{9D8B030D-6E8A-4147-A177-3AD203B41FA5}">
                      <a16:colId xmlns:a16="http://schemas.microsoft.com/office/drawing/2014/main" val="1818152361"/>
                    </a:ext>
                  </a:extLst>
                </a:gridCol>
                <a:gridCol w="1412875">
                  <a:extLst>
                    <a:ext uri="{9D8B030D-6E8A-4147-A177-3AD203B41FA5}">
                      <a16:colId xmlns:a16="http://schemas.microsoft.com/office/drawing/2014/main" val="2473028247"/>
                    </a:ext>
                  </a:extLst>
                </a:gridCol>
                <a:gridCol w="1412875">
                  <a:extLst>
                    <a:ext uri="{9D8B030D-6E8A-4147-A177-3AD203B41FA5}">
                      <a16:colId xmlns:a16="http://schemas.microsoft.com/office/drawing/2014/main" val="711313070"/>
                    </a:ext>
                  </a:extLst>
                </a:gridCol>
                <a:gridCol w="1412875">
                  <a:extLst>
                    <a:ext uri="{9D8B030D-6E8A-4147-A177-3AD203B41FA5}">
                      <a16:colId xmlns:a16="http://schemas.microsoft.com/office/drawing/2014/main" val="2621846952"/>
                    </a:ext>
                  </a:extLst>
                </a:gridCol>
                <a:gridCol w="1412875">
                  <a:extLst>
                    <a:ext uri="{9D8B030D-6E8A-4147-A177-3AD203B41FA5}">
                      <a16:colId xmlns:a16="http://schemas.microsoft.com/office/drawing/2014/main" val="2075891995"/>
                    </a:ext>
                  </a:extLst>
                </a:gridCol>
              </a:tblGrid>
              <a:tr h="412750">
                <a:tc>
                  <a:txBody>
                    <a:bodyPr/>
                    <a:lstStyle/>
                    <a:p>
                      <a:pPr algn="ctr"/>
                      <a:r>
                        <a:rPr lang="zh-CN" altLang="en-US"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后端（参数量）</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Clean 3s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0dB 3s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-5dB 3s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0dB 1s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-5dB 1s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0dB 5s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450" kern="1200" dirty="0" smtClean="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-5dB 5s</a:t>
                      </a:r>
                      <a:endParaRPr lang="zh-CN" altLang="en-US" sz="1450" kern="12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4205504199"/>
                  </a:ext>
                </a:extLst>
              </a:tr>
              <a:tr h="412750">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ERes2Net-large(29.1M)</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5.29</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8.39</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11.06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18.56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21.44</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7.86</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10.08</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3746392399"/>
                  </a:ext>
                </a:extLst>
              </a:tr>
              <a:tr h="412750">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ECAPA-TDNN(20.8M)</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6.92</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11.15</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14.36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24.51</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27.47</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10.36</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13.37</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2036033139"/>
                  </a:ext>
                </a:extLst>
              </a:tr>
              <a:tr h="412750">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ReDimNet2-B6(12.7M)</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6.13</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9.94</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13.03</a:t>
                      </a:r>
                      <a:endParaRPr lang="zh-CN" altLang="en-US" sz="1450" kern="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21.73</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25.55</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9.50</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45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12.35</a:t>
                      </a:r>
                      <a:endParaRPr lang="zh-CN" altLang="en-US" sz="145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802494625"/>
                  </a:ext>
                </a:extLst>
              </a:tr>
            </a:tbl>
          </a:graphicData>
        </a:graphic>
      </p:graphicFrame>
      <p:sp>
        <p:nvSpPr>
          <p:cNvPr id="9" name="文本框 8"/>
          <p:cNvSpPr txBox="1"/>
          <p:nvPr/>
        </p:nvSpPr>
        <p:spPr>
          <a:xfrm>
            <a:off x="508000" y="5408729"/>
            <a:ext cx="11303000" cy="796372"/>
          </a:xfrm>
          <a:prstGeom prst="rect">
            <a:avLst/>
          </a:prstGeom>
          <a:noFill/>
        </p:spPr>
        <p:txBody>
          <a:bodyPr vert="horz" rtlCol="0">
            <a:spAutoFit/>
          </a:bodyPr>
          <a:lstStyle/>
          <a:p>
            <a:pPr>
              <a:lnSpc>
                <a:spcPct val="150000"/>
              </a:lnSpc>
            </a:pPr>
            <a:r>
              <a:rPr lang="zh-CN" altLang="en-US"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验收档（</a:t>
            </a:r>
            <a:r>
              <a:rPr lang="en-US" altLang="zh-CN" sz="145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3s</a:t>
            </a:r>
            <a:r>
              <a:rPr lang="zh-CN" altLang="en-US" sz="145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以</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主力后端未增强基线为锚点，</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 dB / -5 dB EER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需分别 ≤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5.874% / 7.739%</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（相对下降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训练</a:t>
            </a:r>
            <a:r>
              <a:rPr lang="en-US" altLang="zh-CN" sz="1600" dirty="0">
                <a:solidFill>
                  <a:srgbClr val="FF0000"/>
                </a:solidFill>
              </a:rPr>
              <a:t>/</a:t>
            </a:r>
            <a:r>
              <a:rPr lang="zh-CN" altLang="en-US" sz="1600" dirty="0">
                <a:solidFill>
                  <a:srgbClr val="FF0000"/>
                </a:solidFill>
              </a:rPr>
              <a:t>验证</a:t>
            </a:r>
            <a:r>
              <a:rPr lang="en-US" altLang="zh-CN" sz="1600" dirty="0">
                <a:solidFill>
                  <a:srgbClr val="FF0000"/>
                </a:solidFill>
              </a:rPr>
              <a:t>/</a:t>
            </a:r>
            <a:r>
              <a:rPr lang="zh-CN" altLang="en-US" sz="1600" dirty="0">
                <a:solidFill>
                  <a:srgbClr val="FF0000"/>
                </a:solidFill>
              </a:rPr>
              <a:t>测试说话人严格</a:t>
            </a:r>
            <a:r>
              <a:rPr lang="zh-CN" altLang="en-US" sz="1600" dirty="0" smtClean="0">
                <a:solidFill>
                  <a:srgbClr val="FF0000"/>
                </a:solidFill>
              </a:rPr>
              <a:t>隔离；阈值</a:t>
            </a:r>
            <a:r>
              <a:rPr lang="zh-CN" altLang="en-US" sz="1600" dirty="0">
                <a:solidFill>
                  <a:srgbClr val="FF0000"/>
                </a:solidFill>
              </a:rPr>
              <a:t>仅在验证集确定，官方测试集冻结。</a:t>
            </a:r>
            <a:endParaRPr lang="zh-CN" altLang="en-US" sz="1450" dirty="0">
              <a:solidFill>
                <a:srgbClr val="FF0000"/>
              </a:solidFill>
              <a:latin typeface="微软雅黑" panose="020B0503020204020204" pitchFamily="34" charset="-122"/>
              <a:ea typeface="微软雅黑" panose="020B0503020204020204" pitchFamily="34" charset="-122"/>
            </a:endParaRPr>
          </a:p>
        </p:txBody>
      </p:sp>
      <p:sp>
        <p:nvSpPr>
          <p:cNvPr id="10" name="灯片编号占位符 9"/>
          <p:cNvSpPr>
            <a:spLocks noGrp="1"/>
          </p:cNvSpPr>
          <p:nvPr>
            <p:ph type="sldNum" sz="quarter" idx="12"/>
          </p:nvPr>
        </p:nvSpPr>
        <p:spPr/>
        <p:txBody>
          <a:bodyPr/>
          <a:lstStyle/>
          <a:p>
            <a:fld id="{7BF2EA3F-D088-4729-88F9-9D4FADF26323}" type="slidenum">
              <a:rPr lang="zh-CN" altLang="en-US" smtClean="0"/>
              <a:t>11</a:t>
            </a:fld>
            <a:endParaRPr lang="zh-CN" altLang="en-US" dirty="0"/>
          </a:p>
        </p:txBody>
      </p:sp>
      <p:sp>
        <p:nvSpPr>
          <p:cNvPr id="13" name="矩形 12"/>
          <p:cNvSpPr/>
          <p:nvPr/>
        </p:nvSpPr>
        <p:spPr>
          <a:xfrm>
            <a:off x="508000" y="5068431"/>
            <a:ext cx="8027020" cy="315471"/>
          </a:xfrm>
          <a:prstGeom prst="rect">
            <a:avLst/>
          </a:prstGeom>
        </p:spPr>
        <p:txBody>
          <a:bodyPr wrap="square">
            <a:spAutoFit/>
          </a:bodyPr>
          <a:lstStyle/>
          <a:p>
            <a:r>
              <a:rPr lang="en-US" altLang="zh-CN"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Clean </a:t>
            </a:r>
            <a:r>
              <a:rPr lang="zh-CN" altLang="en-US"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完整</a:t>
            </a:r>
            <a:r>
              <a:rPr lang="zh-CN" altLang="en-US"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时长</a:t>
            </a:r>
            <a:r>
              <a:rPr lang="zh-CN" altLang="en-US"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基准：</a:t>
            </a:r>
            <a:r>
              <a:rPr lang="en-US" altLang="zh-CN"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1s </a:t>
            </a:r>
            <a:r>
              <a:rPr lang="en-US" altLang="zh-CN"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 3s / </a:t>
            </a:r>
            <a:r>
              <a:rPr lang="en-US" altLang="zh-CN"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5s</a:t>
            </a:r>
            <a:r>
              <a:rPr lang="zh-CN" altLang="en-US" sz="1450" dirty="0" smtClean="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；主力</a:t>
            </a:r>
            <a:r>
              <a:rPr lang="zh-CN" altLang="en-US"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后端分别为 </a:t>
            </a:r>
            <a:r>
              <a:rPr lang="en-US" altLang="zh-CN"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13.37 / 5.29 / 5.06%</a:t>
            </a:r>
            <a:r>
              <a:rPr lang="zh-CN" altLang="en-US" sz="1450" dirty="0">
                <a:solidFill>
                  <a:schemeClr val="bg2">
                    <a:lumMod val="50000"/>
                  </a:schemeClr>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矩形 13"/>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52803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415498"/>
          </a:xfrm>
          <a:prstGeom prst="rect">
            <a:avLst/>
          </a:prstGeom>
          <a:noFill/>
        </p:spPr>
        <p:txBody>
          <a:bodyPr vert="horz" rtlCol="0">
            <a:spAutoFit/>
          </a:bodyPr>
          <a:lstStyle/>
          <a:p>
            <a:r>
              <a:rPr lang="zh-CN" altLang="en-US" sz="210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210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928115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 </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1/3 ·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模型结构：注册条件化目标说话人提取前端</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圆角矩形 5"/>
          <p:cNvSpPr/>
          <p:nvPr/>
        </p:nvSpPr>
        <p:spPr>
          <a:xfrm>
            <a:off x="695960" y="1022588"/>
            <a:ext cx="7924800" cy="2159000"/>
          </a:xfrm>
          <a:prstGeom prst="roundRect">
            <a:avLst>
              <a:gd name="adj" fmla="val 6000"/>
            </a:avLst>
          </a:prstGeom>
          <a:solidFill>
            <a:srgbClr val="FDF3E7"/>
          </a:solidFill>
          <a:ln w="25400">
            <a:solidFill>
              <a:srgbClr val="D2691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p:cNvSpPr txBox="1"/>
          <p:nvPr/>
        </p:nvSpPr>
        <p:spPr>
          <a:xfrm>
            <a:off x="899160" y="1168400"/>
            <a:ext cx="2540000" cy="369332"/>
          </a:xfrm>
          <a:prstGeom prst="rect">
            <a:avLst/>
          </a:prstGeom>
          <a:noFill/>
        </p:spPr>
        <p:txBody>
          <a:bodyPr vert="horz" wrap="square" lIns="0" tIns="0" rIns="0" bIns="0" rtlCol="0">
            <a:noAutofit/>
          </a:bodyPr>
          <a:lstStyle/>
          <a:p>
            <a:r>
              <a:rPr lang="zh-CN" altLang="en-US" sz="1250" b="1"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注册条件路径</a:t>
            </a:r>
            <a:endParaRPr lang="zh-CN" altLang="en-US" sz="1250" b="1">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899160" y="1422400"/>
            <a:ext cx="2794000" cy="369332"/>
          </a:xfrm>
          <a:prstGeom prst="rect">
            <a:avLst/>
          </a:prstGeom>
          <a:noFill/>
        </p:spPr>
        <p:txBody>
          <a:bodyPr vert="horz" wrap="square" lIns="0" tIns="0" rIns="0" bIns="0" rtlCol="0">
            <a:noAutofit/>
          </a:bodyPr>
          <a:lstStyle/>
          <a:p>
            <a:r>
              <a:rPr lang="zh-CN" altLang="en-US" sz="90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提供「提取谁」的条件</a:t>
            </a:r>
            <a:endParaRPr lang="zh-CN" altLang="en-US" sz="90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圆角矩形 8"/>
          <p:cNvSpPr/>
          <p:nvPr/>
        </p:nvSpPr>
        <p:spPr>
          <a:xfrm>
            <a:off x="899160" y="1701800"/>
            <a:ext cx="1778000" cy="1164352"/>
          </a:xfrm>
          <a:prstGeom prst="roundRect">
            <a:avLst>
              <a:gd name="adj" fmla="val 6000"/>
            </a:avLst>
          </a:prstGeom>
          <a:solidFill>
            <a:schemeClr val="bg1"/>
          </a:solidFill>
          <a:ln w="19050" cap="flat" cmpd="sng" algn="ctr">
            <a:solidFill>
              <a:srgbClr val="D2691E"/>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椭圆 9"/>
          <p:cNvSpPr/>
          <p:nvPr/>
        </p:nvSpPr>
        <p:spPr>
          <a:xfrm>
            <a:off x="1026160" y="1803400"/>
            <a:ext cx="203200" cy="203200"/>
          </a:xfrm>
          <a:prstGeom prst="ellipse">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1305560" y="1828800"/>
            <a:ext cx="1270000" cy="369332"/>
          </a:xfrm>
          <a:prstGeom prst="rect">
            <a:avLst/>
          </a:prstGeom>
          <a:noFill/>
        </p:spPr>
        <p:txBody>
          <a:bodyPr vert="horz" wrap="square" lIns="0" tIns="0" rIns="0" bIns="0" rtlCol="0">
            <a:noAutofit/>
          </a:bodyPr>
          <a:lstStyle/>
          <a:p>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注册语音</a:t>
            </a:r>
            <a:endParaRPr lang="zh-CN" altLang="en-US" sz="100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9" name="组合 28"/>
          <p:cNvGrpSpPr/>
          <p:nvPr/>
        </p:nvGrpSpPr>
        <p:grpSpPr>
          <a:xfrm>
            <a:off x="1034098" y="2248409"/>
            <a:ext cx="1476375" cy="508000"/>
            <a:chOff x="1049973" y="2425700"/>
            <a:chExt cx="1476375" cy="508000"/>
          </a:xfrm>
        </p:grpSpPr>
        <p:sp>
          <p:nvSpPr>
            <p:cNvPr id="13" name="w10"/>
            <p:cNvSpPr/>
            <p:nvPr/>
          </p:nvSpPr>
          <p:spPr>
            <a:xfrm>
              <a:off x="1049973" y="2584450"/>
              <a:ext cx="47625" cy="190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w11"/>
            <p:cNvSpPr/>
            <p:nvPr/>
          </p:nvSpPr>
          <p:spPr>
            <a:xfrm>
              <a:off x="1145223" y="2514600"/>
              <a:ext cx="47625" cy="3302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w12"/>
            <p:cNvSpPr/>
            <p:nvPr/>
          </p:nvSpPr>
          <p:spPr>
            <a:xfrm>
              <a:off x="1240473" y="2457450"/>
              <a:ext cx="47625" cy="444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w13"/>
            <p:cNvSpPr/>
            <p:nvPr/>
          </p:nvSpPr>
          <p:spPr>
            <a:xfrm>
              <a:off x="1335723" y="2536825"/>
              <a:ext cx="47625" cy="2857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w14"/>
            <p:cNvSpPr/>
            <p:nvPr/>
          </p:nvSpPr>
          <p:spPr>
            <a:xfrm>
              <a:off x="1430973" y="2425700"/>
              <a:ext cx="47625" cy="508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w15"/>
            <p:cNvSpPr/>
            <p:nvPr/>
          </p:nvSpPr>
          <p:spPr>
            <a:xfrm>
              <a:off x="1526223" y="2489200"/>
              <a:ext cx="47625" cy="381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w16"/>
            <p:cNvSpPr/>
            <p:nvPr/>
          </p:nvSpPr>
          <p:spPr>
            <a:xfrm>
              <a:off x="1621473" y="2568575"/>
              <a:ext cx="47625" cy="222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w17"/>
            <p:cNvSpPr/>
            <p:nvPr/>
          </p:nvSpPr>
          <p:spPr>
            <a:xfrm>
              <a:off x="1716723" y="2505075"/>
              <a:ext cx="47625" cy="349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w18"/>
            <p:cNvSpPr/>
            <p:nvPr/>
          </p:nvSpPr>
          <p:spPr>
            <a:xfrm>
              <a:off x="1811973" y="2441575"/>
              <a:ext cx="47625" cy="476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 name="w19"/>
            <p:cNvSpPr/>
            <p:nvPr/>
          </p:nvSpPr>
          <p:spPr>
            <a:xfrm>
              <a:off x="1907223" y="2520950"/>
              <a:ext cx="47625" cy="317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 name="w110"/>
            <p:cNvSpPr/>
            <p:nvPr/>
          </p:nvSpPr>
          <p:spPr>
            <a:xfrm>
              <a:off x="2002473" y="2473325"/>
              <a:ext cx="47625" cy="4127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w111"/>
            <p:cNvSpPr/>
            <p:nvPr/>
          </p:nvSpPr>
          <p:spPr>
            <a:xfrm>
              <a:off x="2097723" y="2552700"/>
              <a:ext cx="47625" cy="254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w112"/>
            <p:cNvSpPr/>
            <p:nvPr/>
          </p:nvSpPr>
          <p:spPr>
            <a:xfrm>
              <a:off x="2192973" y="2457450"/>
              <a:ext cx="47625" cy="444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w113"/>
            <p:cNvSpPr/>
            <p:nvPr/>
          </p:nvSpPr>
          <p:spPr>
            <a:xfrm>
              <a:off x="2288223" y="2505075"/>
              <a:ext cx="47625" cy="349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w114"/>
            <p:cNvSpPr/>
            <p:nvPr/>
          </p:nvSpPr>
          <p:spPr>
            <a:xfrm>
              <a:off x="2383473" y="2578100"/>
              <a:ext cx="47625" cy="2032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w115"/>
            <p:cNvSpPr/>
            <p:nvPr/>
          </p:nvSpPr>
          <p:spPr>
            <a:xfrm>
              <a:off x="2478723" y="2489200"/>
              <a:ext cx="47625" cy="381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30" name="右箭头 29"/>
          <p:cNvSpPr/>
          <p:nvPr/>
        </p:nvSpPr>
        <p:spPr>
          <a:xfrm>
            <a:off x="2747096" y="2137284"/>
            <a:ext cx="203200" cy="254000"/>
          </a:xfrm>
          <a:prstGeom prst="rightArrow">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 name="圆角矩形 30"/>
          <p:cNvSpPr/>
          <p:nvPr/>
        </p:nvSpPr>
        <p:spPr>
          <a:xfrm>
            <a:off x="3032760" y="1701800"/>
            <a:ext cx="1905000" cy="1164352"/>
          </a:xfrm>
          <a:prstGeom prst="roundRect">
            <a:avLst>
              <a:gd name="adj" fmla="val 6000"/>
            </a:avLst>
          </a:prstGeom>
          <a:solidFill>
            <a:schemeClr val="bg1"/>
          </a:solidFill>
          <a:ln w="19050" cap="flat" cmpd="sng" algn="ctr">
            <a:solidFill>
              <a:srgbClr val="D2691E"/>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5" name="组合 214"/>
          <p:cNvGrpSpPr/>
          <p:nvPr/>
        </p:nvGrpSpPr>
        <p:grpSpPr>
          <a:xfrm>
            <a:off x="3159760" y="1837098"/>
            <a:ext cx="1676400" cy="394732"/>
            <a:chOff x="3159760" y="1803400"/>
            <a:chExt cx="1676400" cy="394732"/>
          </a:xfrm>
        </p:grpSpPr>
        <p:sp>
          <p:nvSpPr>
            <p:cNvPr id="32" name="椭圆 31"/>
            <p:cNvSpPr/>
            <p:nvPr/>
          </p:nvSpPr>
          <p:spPr>
            <a:xfrm>
              <a:off x="3159760" y="1803400"/>
              <a:ext cx="203200" cy="203200"/>
            </a:xfrm>
            <a:prstGeom prst="ellipse">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文本框 32"/>
            <p:cNvSpPr txBox="1"/>
            <p:nvPr/>
          </p:nvSpPr>
          <p:spPr>
            <a:xfrm>
              <a:off x="3439160" y="1828800"/>
              <a:ext cx="1397000" cy="369332"/>
            </a:xfrm>
            <a:prstGeom prst="rect">
              <a:avLst/>
            </a:prstGeom>
            <a:noFill/>
          </p:spPr>
          <p:txBody>
            <a:bodyPr vert="horz" wrap="square" lIns="0" tIns="0" rIns="0" bIns="0" rtlCol="0">
              <a:noAutofit/>
            </a:bodyPr>
            <a:lstStyle/>
            <a:p>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冻结的 </a:t>
              </a:r>
              <a:r>
                <a:rPr lang="en-US" altLang="zh-CN"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34" name="文本框 33"/>
          <p:cNvSpPr txBox="1"/>
          <p:nvPr/>
        </p:nvSpPr>
        <p:spPr>
          <a:xfrm>
            <a:off x="3159760" y="2165090"/>
            <a:ext cx="1676400" cy="187834"/>
          </a:xfrm>
          <a:prstGeom prst="rect">
            <a:avLst/>
          </a:prstGeom>
          <a:noFill/>
        </p:spPr>
        <p:txBody>
          <a:bodyPr vert="horz" wrap="square" lIns="0" tIns="0" rIns="0" bIns="0" rtlCol="0">
            <a:noAutofit/>
          </a:bodyPr>
          <a:lstStyle/>
          <a:p>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提取说话人嵌入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维</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6" name="组合 215"/>
          <p:cNvGrpSpPr/>
          <p:nvPr/>
        </p:nvGrpSpPr>
        <p:grpSpPr>
          <a:xfrm>
            <a:off x="3161088" y="2356366"/>
            <a:ext cx="1708150" cy="419993"/>
            <a:chOff x="3185160" y="2501900"/>
            <a:chExt cx="1708150" cy="419993"/>
          </a:xfrm>
        </p:grpSpPr>
        <p:sp>
          <p:nvSpPr>
            <p:cNvPr id="35" name="矩形 34"/>
            <p:cNvSpPr/>
            <p:nvPr/>
          </p:nvSpPr>
          <p:spPr>
            <a:xfrm>
              <a:off x="3185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6" name="矩形 35"/>
            <p:cNvSpPr/>
            <p:nvPr/>
          </p:nvSpPr>
          <p:spPr>
            <a:xfrm>
              <a:off x="33756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p:cNvSpPr/>
            <p:nvPr/>
          </p:nvSpPr>
          <p:spPr>
            <a:xfrm>
              <a:off x="3566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8" name="矩形 37"/>
            <p:cNvSpPr/>
            <p:nvPr/>
          </p:nvSpPr>
          <p:spPr>
            <a:xfrm>
              <a:off x="37566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9" name="矩形 38"/>
            <p:cNvSpPr/>
            <p:nvPr/>
          </p:nvSpPr>
          <p:spPr>
            <a:xfrm>
              <a:off x="3947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0" name="矩形 39"/>
            <p:cNvSpPr/>
            <p:nvPr/>
          </p:nvSpPr>
          <p:spPr>
            <a:xfrm>
              <a:off x="41376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1" name="矩形 40"/>
            <p:cNvSpPr/>
            <p:nvPr/>
          </p:nvSpPr>
          <p:spPr>
            <a:xfrm>
              <a:off x="4328160" y="2540000"/>
              <a:ext cx="152400" cy="152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2" name="文本框 41"/>
            <p:cNvSpPr txBox="1"/>
            <p:nvPr/>
          </p:nvSpPr>
          <p:spPr>
            <a:xfrm>
              <a:off x="4518660" y="25019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文本框 42"/>
            <p:cNvSpPr txBox="1"/>
            <p:nvPr/>
          </p:nvSpPr>
          <p:spPr>
            <a:xfrm>
              <a:off x="3191510" y="2769493"/>
              <a:ext cx="1701800" cy="152400"/>
            </a:xfrm>
            <a:prstGeom prst="rect">
              <a:avLst/>
            </a:prstGeom>
            <a:noFill/>
          </p:spPr>
          <p:txBody>
            <a:bodyPr vert="horz" wrap="square" lIns="0" tIns="0" rIns="0" bIns="0" rtlCol="0">
              <a:noAutofit/>
            </a:bodyPr>
            <a:lstStyle/>
            <a:p>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Step 8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共享同一冻结后端</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4" name="右箭头 43"/>
          <p:cNvSpPr/>
          <p:nvPr/>
        </p:nvSpPr>
        <p:spPr>
          <a:xfrm>
            <a:off x="5013960" y="2260600"/>
            <a:ext cx="203200" cy="254000"/>
          </a:xfrm>
          <a:prstGeom prst="rightArrow">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5" name="圆角矩形 44"/>
          <p:cNvSpPr/>
          <p:nvPr/>
        </p:nvSpPr>
        <p:spPr>
          <a:xfrm>
            <a:off x="5293360" y="1701800"/>
            <a:ext cx="1828800" cy="1164352"/>
          </a:xfrm>
          <a:prstGeom prst="roundRect">
            <a:avLst>
              <a:gd name="adj" fmla="val 6000"/>
            </a:avLst>
          </a:prstGeom>
          <a:solidFill>
            <a:schemeClr val="bg1"/>
          </a:solidFill>
          <a:ln w="19050" cap="flat" cmpd="sng" algn="ctr">
            <a:solidFill>
              <a:srgbClr val="D2691E"/>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4" name="组合 213"/>
          <p:cNvGrpSpPr/>
          <p:nvPr/>
        </p:nvGrpSpPr>
        <p:grpSpPr>
          <a:xfrm>
            <a:off x="5427980" y="1817886"/>
            <a:ext cx="1625600" cy="394732"/>
            <a:chOff x="5420360" y="1752600"/>
            <a:chExt cx="1625600" cy="394732"/>
          </a:xfrm>
        </p:grpSpPr>
        <p:sp>
          <p:nvSpPr>
            <p:cNvPr id="46" name="椭圆 45"/>
            <p:cNvSpPr/>
            <p:nvPr/>
          </p:nvSpPr>
          <p:spPr>
            <a:xfrm>
              <a:off x="5420360" y="1752600"/>
              <a:ext cx="203200" cy="203200"/>
            </a:xfrm>
            <a:prstGeom prst="ellipse">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3</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6"/>
            <p:cNvSpPr txBox="1"/>
            <p:nvPr/>
          </p:nvSpPr>
          <p:spPr>
            <a:xfrm>
              <a:off x="5699760" y="1778000"/>
              <a:ext cx="1346200" cy="369332"/>
            </a:xfrm>
            <a:prstGeom prst="rect">
              <a:avLst/>
            </a:prstGeom>
            <a:noFill/>
          </p:spPr>
          <p:txBody>
            <a:bodyPr vert="horz" wrap="square" lIns="0" tIns="0" rIns="0" bIns="0" rtlCol="0">
              <a:noAutofit/>
            </a:bodyPr>
            <a:lstStyle/>
            <a:p>
              <a:r>
                <a:rPr lang="en-US" altLang="zh-CN" sz="1000" b="1"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SpeakerFiLM</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48" name="文本框 47"/>
          <p:cNvSpPr txBox="1"/>
          <p:nvPr/>
        </p:nvSpPr>
        <p:spPr>
          <a:xfrm>
            <a:off x="5469688" y="2052087"/>
            <a:ext cx="1625600" cy="266343"/>
          </a:xfrm>
          <a:prstGeom prst="rect">
            <a:avLst/>
          </a:prstGeom>
          <a:noFill/>
        </p:spPr>
        <p:txBody>
          <a:bodyPr vert="horz" wrap="square" lIns="0" tIns="0" rIns="0" bIns="0" rtlCol="0">
            <a:noAutofit/>
          </a:bodyPr>
          <a:lstStyle/>
          <a:p>
            <a:pPr algn="ct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根据</a:t>
            </a:r>
            <a:r>
              <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注册说话人</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Embedding</a:t>
            </a:r>
          </a:p>
          <a:p>
            <a:pPr algn="ct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生成 </a:t>
            </a:r>
            <a:r>
              <a:rPr lang="en-US" altLang="zh-CN" sz="900" dirty="0" err="1"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γ</a:t>
            </a:r>
            <a:r>
              <a:rPr lang="en-US" altLang="zh-CN"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9" name="文本框 48"/>
          <p:cNvSpPr txBox="1"/>
          <p:nvPr/>
        </p:nvSpPr>
        <p:spPr>
          <a:xfrm>
            <a:off x="5475490" y="2377122"/>
            <a:ext cx="177800" cy="369332"/>
          </a:xfrm>
          <a:prstGeom prst="rect">
            <a:avLst/>
          </a:prstGeom>
          <a:noFill/>
        </p:spPr>
        <p:txBody>
          <a:bodyPr vert="horz" wrap="square" lIns="0" tIns="0" rIns="0" bIns="0" rtlCol="0">
            <a:noAutofit/>
          </a:bodyPr>
          <a:lstStyle/>
          <a:p>
            <a:r>
              <a:rPr lang="el-GR" altLang="zh-CN"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γ</a:t>
            </a:r>
            <a:r>
              <a:rPr lang="zh-CN" altLang="el-GR"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0" name="矩形 49"/>
          <p:cNvSpPr/>
          <p:nvPr/>
        </p:nvSpPr>
        <p:spPr>
          <a:xfrm>
            <a:off x="56743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1" name="矩形 50"/>
          <p:cNvSpPr/>
          <p:nvPr/>
        </p:nvSpPr>
        <p:spPr>
          <a:xfrm>
            <a:off x="58394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2" name="矩形 51"/>
          <p:cNvSpPr/>
          <p:nvPr/>
        </p:nvSpPr>
        <p:spPr>
          <a:xfrm>
            <a:off x="60045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3" name="矩形 52"/>
          <p:cNvSpPr/>
          <p:nvPr/>
        </p:nvSpPr>
        <p:spPr>
          <a:xfrm>
            <a:off x="61696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4" name="矩形 53"/>
          <p:cNvSpPr/>
          <p:nvPr/>
        </p:nvSpPr>
        <p:spPr>
          <a:xfrm>
            <a:off x="63347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5" name="矩形 54"/>
          <p:cNvSpPr/>
          <p:nvPr/>
        </p:nvSpPr>
        <p:spPr>
          <a:xfrm>
            <a:off x="6499860" y="2413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6" name="文本框 55"/>
          <p:cNvSpPr txBox="1"/>
          <p:nvPr/>
        </p:nvSpPr>
        <p:spPr>
          <a:xfrm>
            <a:off x="6664960" y="23749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7" name="文本框 56"/>
          <p:cNvSpPr txBox="1"/>
          <p:nvPr/>
        </p:nvSpPr>
        <p:spPr>
          <a:xfrm>
            <a:off x="5469688" y="2648964"/>
            <a:ext cx="177800" cy="369332"/>
          </a:xfrm>
          <a:prstGeom prst="rect">
            <a:avLst/>
          </a:prstGeom>
          <a:noFill/>
        </p:spPr>
        <p:txBody>
          <a:bodyPr vert="horz" wrap="square" lIns="0" tIns="0" rIns="0" bIns="0" rtlCol="0">
            <a:noAutofit/>
          </a:bodyPr>
          <a:lstStyle/>
          <a:p>
            <a:r>
              <a:rPr lang="el-GR" altLang="zh-CN"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β</a:t>
            </a:r>
            <a:r>
              <a:rPr lang="zh-CN" altLang="el-GR"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8" name="矩形 57"/>
          <p:cNvSpPr/>
          <p:nvPr/>
        </p:nvSpPr>
        <p:spPr>
          <a:xfrm>
            <a:off x="56743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9" name="矩形 58"/>
          <p:cNvSpPr/>
          <p:nvPr/>
        </p:nvSpPr>
        <p:spPr>
          <a:xfrm>
            <a:off x="58394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0" name="矩形 59"/>
          <p:cNvSpPr/>
          <p:nvPr/>
        </p:nvSpPr>
        <p:spPr>
          <a:xfrm>
            <a:off x="60045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1" name="矩形 60"/>
          <p:cNvSpPr/>
          <p:nvPr/>
        </p:nvSpPr>
        <p:spPr>
          <a:xfrm>
            <a:off x="61696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2" name="矩形 61"/>
          <p:cNvSpPr/>
          <p:nvPr/>
        </p:nvSpPr>
        <p:spPr>
          <a:xfrm>
            <a:off x="63347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3" name="矩形 62"/>
          <p:cNvSpPr/>
          <p:nvPr/>
        </p:nvSpPr>
        <p:spPr>
          <a:xfrm>
            <a:off x="6499860" y="2667000"/>
            <a:ext cx="127000" cy="127000"/>
          </a:xfrm>
          <a:prstGeom prst="rect">
            <a:avLst/>
          </a:prstGeom>
          <a:solidFill>
            <a:srgbClr val="D2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4" name="文本框 63"/>
          <p:cNvSpPr txBox="1"/>
          <p:nvPr/>
        </p:nvSpPr>
        <p:spPr>
          <a:xfrm>
            <a:off x="6664960" y="26289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213" name="组合 212"/>
          <p:cNvGrpSpPr/>
          <p:nvPr/>
        </p:nvGrpSpPr>
        <p:grpSpPr>
          <a:xfrm>
            <a:off x="7340215" y="1701801"/>
            <a:ext cx="1168400" cy="1164352"/>
            <a:chOff x="7198360" y="1752600"/>
            <a:chExt cx="1168400" cy="1163082"/>
          </a:xfrm>
        </p:grpSpPr>
        <p:sp>
          <p:nvSpPr>
            <p:cNvPr id="65" name="圆角矩形 64"/>
            <p:cNvSpPr/>
            <p:nvPr/>
          </p:nvSpPr>
          <p:spPr>
            <a:xfrm>
              <a:off x="7198360" y="1752600"/>
              <a:ext cx="1168400" cy="1163082"/>
            </a:xfrm>
            <a:prstGeom prst="roundRect">
              <a:avLst>
                <a:gd name="adj" fmla="val 6000"/>
              </a:avLst>
            </a:prstGeom>
            <a:solidFill>
              <a:schemeClr val="bg1"/>
            </a:solidFill>
            <a:ln w="15875" cap="flat" cmpd="sng" algn="ctr">
              <a:solidFill>
                <a:srgbClr val="D2691E"/>
              </a:solidFill>
              <a:prstDash val="dash"/>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6" name="文本框 65"/>
            <p:cNvSpPr txBox="1"/>
            <p:nvPr/>
          </p:nvSpPr>
          <p:spPr>
            <a:xfrm>
              <a:off x="7299960" y="1854200"/>
              <a:ext cx="965200" cy="369332"/>
            </a:xfrm>
            <a:prstGeom prst="rect">
              <a:avLst/>
            </a:prstGeom>
            <a:noFill/>
          </p:spPr>
          <p:txBody>
            <a:bodyPr vert="horz" wrap="square" lIns="0" tIns="0" rIns="0" bIns="0" rtlCol="0">
              <a:noAutofit/>
            </a:bodyPr>
            <a:lstStyle/>
            <a:p>
              <a:r>
                <a:rPr lang="zh-CN" altLang="en-US" sz="95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条件注入说明</a:t>
              </a:r>
              <a:endParaRPr lang="zh-CN" altLang="en-US" sz="95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7" name="文本框 66"/>
            <p:cNvSpPr txBox="1"/>
            <p:nvPr/>
          </p:nvSpPr>
          <p:spPr>
            <a:xfrm>
              <a:off x="7299960" y="2082800"/>
              <a:ext cx="1066800" cy="369332"/>
            </a:xfrm>
            <a:prstGeom prst="rect">
              <a:avLst/>
            </a:prstGeom>
            <a:noFill/>
          </p:spPr>
          <p:txBody>
            <a:bodyPr vert="horz" wrap="square" lIns="0" tIns="0" rIns="0" bIns="0" rtlCol="0">
              <a:noAutofit/>
            </a:bodyPr>
            <a:lstStyle/>
            <a:p>
              <a:pPr>
                <a:spcAft>
                  <a:spcPts val="300"/>
                </a:spcAft>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90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特征级调制</a:t>
              </a:r>
            </a:p>
            <a:p>
              <a:pPr>
                <a:spcAft>
                  <a:spcPts val="300"/>
                </a:spcAft>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约 </a:t>
              </a: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0.52M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a:t>
              </a:r>
            </a:p>
            <a:p>
              <a:pPr>
                <a:spcAft>
                  <a:spcPts val="300"/>
                </a:spcAft>
              </a:pPr>
              <a:r>
                <a:rPr lang="en-US" altLang="zh-CN"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末层零初始化</a:t>
              </a:r>
              <a:endParaRPr lang="zh-CN" altLang="en-US" sz="9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68" name="圆角矩形 67"/>
          <p:cNvSpPr/>
          <p:nvPr/>
        </p:nvSpPr>
        <p:spPr>
          <a:xfrm>
            <a:off x="695960" y="3327400"/>
            <a:ext cx="7912100" cy="2260600"/>
          </a:xfrm>
          <a:prstGeom prst="roundRect">
            <a:avLst>
              <a:gd name="adj" fmla="val 6000"/>
            </a:avLst>
          </a:prstGeom>
          <a:solidFill>
            <a:srgbClr val="EAF1F9"/>
          </a:solidFill>
          <a:ln w="25400">
            <a:solidFill>
              <a:srgbClr val="2E5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9" name="文本框 68"/>
          <p:cNvSpPr txBox="1"/>
          <p:nvPr/>
        </p:nvSpPr>
        <p:spPr>
          <a:xfrm>
            <a:off x="899160" y="3429000"/>
            <a:ext cx="2540000" cy="369332"/>
          </a:xfrm>
          <a:prstGeom prst="rect">
            <a:avLst/>
          </a:prstGeom>
          <a:noFill/>
        </p:spPr>
        <p:txBody>
          <a:bodyPr vert="horz" wrap="square" lIns="0" tIns="0" rIns="0" bIns="0" rtlCol="0">
            <a:noAutofit/>
          </a:bodyPr>
          <a:lstStyle/>
          <a:p>
            <a:r>
              <a:rPr lang="zh-CN" altLang="en-US" sz="1250" b="1"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带噪测试路径</a:t>
            </a:r>
            <a:endParaRPr lang="zh-CN" altLang="en-US" sz="1250" b="1">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0" name="文本框 69"/>
          <p:cNvSpPr txBox="1"/>
          <p:nvPr/>
        </p:nvSpPr>
        <p:spPr>
          <a:xfrm>
            <a:off x="899160" y="3683000"/>
            <a:ext cx="2794000" cy="369332"/>
          </a:xfrm>
          <a:prstGeom prst="rect">
            <a:avLst/>
          </a:prstGeom>
          <a:noFill/>
        </p:spPr>
        <p:txBody>
          <a:bodyPr vert="horz" wrap="square" lIns="0" tIns="0" rIns="0" bIns="0" rtlCol="0">
            <a:noAutofit/>
          </a:bodyPr>
          <a:lstStyle/>
          <a:p>
            <a:r>
              <a:rPr lang="zh-CN" altLang="en-US" sz="900" dirty="0" smtClean="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rPr>
              <a:t>输入待增强的带噪语音</a:t>
            </a:r>
            <a:endParaRPr lang="zh-CN" altLang="en-US" sz="900" dirty="0">
              <a:solidFill>
                <a:srgbClr val="2E5FA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1" name="圆角矩形 70"/>
          <p:cNvSpPr/>
          <p:nvPr/>
        </p:nvSpPr>
        <p:spPr>
          <a:xfrm>
            <a:off x="899160" y="3962400"/>
            <a:ext cx="14224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2" name="椭圆 71"/>
          <p:cNvSpPr/>
          <p:nvPr/>
        </p:nvSpPr>
        <p:spPr>
          <a:xfrm>
            <a:off x="1026160" y="40640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4</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3" name="文本框 72"/>
          <p:cNvSpPr txBox="1"/>
          <p:nvPr/>
        </p:nvSpPr>
        <p:spPr>
          <a:xfrm>
            <a:off x="1305560" y="4089400"/>
            <a:ext cx="939800" cy="369332"/>
          </a:xfrm>
          <a:prstGeom prst="rect">
            <a:avLst/>
          </a:prstGeom>
          <a:noFill/>
        </p:spPr>
        <p:txBody>
          <a:bodyPr vert="horz" wrap="square" lIns="0" tIns="0" rIns="0" bIns="0" rtlCol="0">
            <a:noAutofit/>
          </a:bodyPr>
          <a:lstStyle/>
          <a:p>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带噪测试语音</a:t>
            </a:r>
            <a:endParaRPr lang="zh-CN" altLang="en-US" sz="100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4" name="文本框 73"/>
          <p:cNvSpPr txBox="1"/>
          <p:nvPr/>
        </p:nvSpPr>
        <p:spPr>
          <a:xfrm>
            <a:off x="1038860" y="4426311"/>
            <a:ext cx="1168400" cy="369332"/>
          </a:xfrm>
          <a:prstGeom prst="rect">
            <a:avLst/>
          </a:prstGeom>
          <a:noFill/>
        </p:spPr>
        <p:txBody>
          <a:bodyPr vert="horz" wrap="square" lIns="0" tIns="0" rIns="0" bIns="0" rtlCol="0">
            <a:noAutofit/>
          </a:bodyPr>
          <a:lstStyle/>
          <a:p>
            <a:pPr algn="ct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(0 dB / -5 dB)</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3" name="组合 92"/>
          <p:cNvGrpSpPr/>
          <p:nvPr/>
        </p:nvGrpSpPr>
        <p:grpSpPr>
          <a:xfrm>
            <a:off x="1042388" y="4690110"/>
            <a:ext cx="1135944" cy="627380"/>
            <a:chOff x="1042388" y="4690110"/>
            <a:chExt cx="1135944" cy="627380"/>
          </a:xfrm>
        </p:grpSpPr>
        <p:sp>
          <p:nvSpPr>
            <p:cNvPr id="75" name="w20"/>
            <p:cNvSpPr/>
            <p:nvPr/>
          </p:nvSpPr>
          <p:spPr>
            <a:xfrm>
              <a:off x="1042388" y="4799076"/>
              <a:ext cx="32455" cy="409448"/>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6" name="w21"/>
            <p:cNvSpPr/>
            <p:nvPr/>
          </p:nvSpPr>
          <p:spPr>
            <a:xfrm>
              <a:off x="1107299" y="4706620"/>
              <a:ext cx="32455" cy="59436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7" name="w22"/>
            <p:cNvSpPr/>
            <p:nvPr/>
          </p:nvSpPr>
          <p:spPr>
            <a:xfrm>
              <a:off x="1172210" y="4752848"/>
              <a:ext cx="32456" cy="50190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8" name="w23"/>
            <p:cNvSpPr/>
            <p:nvPr/>
          </p:nvSpPr>
          <p:spPr>
            <a:xfrm>
              <a:off x="1237121" y="4693412"/>
              <a:ext cx="32456" cy="620776"/>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9" name="w24"/>
            <p:cNvSpPr/>
            <p:nvPr/>
          </p:nvSpPr>
          <p:spPr>
            <a:xfrm>
              <a:off x="1302032" y="4772660"/>
              <a:ext cx="32456" cy="46228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0" name="w25"/>
            <p:cNvSpPr/>
            <p:nvPr/>
          </p:nvSpPr>
          <p:spPr>
            <a:xfrm>
              <a:off x="1366943" y="4719828"/>
              <a:ext cx="32456" cy="56794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1" name="w26"/>
            <p:cNvSpPr/>
            <p:nvPr/>
          </p:nvSpPr>
          <p:spPr>
            <a:xfrm>
              <a:off x="1431854" y="4690110"/>
              <a:ext cx="32456" cy="62738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2" name="w27"/>
            <p:cNvSpPr/>
            <p:nvPr/>
          </p:nvSpPr>
          <p:spPr>
            <a:xfrm>
              <a:off x="1496766" y="4785868"/>
              <a:ext cx="32455" cy="43586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3" name="w28"/>
            <p:cNvSpPr/>
            <p:nvPr/>
          </p:nvSpPr>
          <p:spPr>
            <a:xfrm>
              <a:off x="1561677" y="4706620"/>
              <a:ext cx="32455" cy="59436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4" name="w29"/>
            <p:cNvSpPr/>
            <p:nvPr/>
          </p:nvSpPr>
          <p:spPr>
            <a:xfrm>
              <a:off x="1626588" y="4739640"/>
              <a:ext cx="32455" cy="52832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5" name="w210"/>
            <p:cNvSpPr/>
            <p:nvPr/>
          </p:nvSpPr>
          <p:spPr>
            <a:xfrm>
              <a:off x="1691499" y="4693412"/>
              <a:ext cx="32455" cy="620776"/>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6" name="w211"/>
            <p:cNvSpPr/>
            <p:nvPr/>
          </p:nvSpPr>
          <p:spPr>
            <a:xfrm>
              <a:off x="1756410" y="4769358"/>
              <a:ext cx="32456" cy="468884"/>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7" name="w212"/>
            <p:cNvSpPr/>
            <p:nvPr/>
          </p:nvSpPr>
          <p:spPr>
            <a:xfrm>
              <a:off x="1821321" y="4713224"/>
              <a:ext cx="32456" cy="581152"/>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8" name="w213"/>
            <p:cNvSpPr/>
            <p:nvPr/>
          </p:nvSpPr>
          <p:spPr>
            <a:xfrm>
              <a:off x="1886232" y="4756150"/>
              <a:ext cx="32456" cy="4953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9" name="w214"/>
            <p:cNvSpPr/>
            <p:nvPr/>
          </p:nvSpPr>
          <p:spPr>
            <a:xfrm>
              <a:off x="1951143" y="4700016"/>
              <a:ext cx="32456" cy="607568"/>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0" name="w215"/>
            <p:cNvSpPr/>
            <p:nvPr/>
          </p:nvSpPr>
          <p:spPr>
            <a:xfrm>
              <a:off x="2016054" y="4779264"/>
              <a:ext cx="32456" cy="449072"/>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1" name="w216"/>
            <p:cNvSpPr/>
            <p:nvPr/>
          </p:nvSpPr>
          <p:spPr>
            <a:xfrm>
              <a:off x="2080966" y="4723130"/>
              <a:ext cx="32455" cy="56134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2" name="w217"/>
            <p:cNvSpPr/>
            <p:nvPr/>
          </p:nvSpPr>
          <p:spPr>
            <a:xfrm>
              <a:off x="2145877" y="4746244"/>
              <a:ext cx="32455" cy="515112"/>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94" name="右箭头 93"/>
          <p:cNvSpPr/>
          <p:nvPr/>
        </p:nvSpPr>
        <p:spPr>
          <a:xfrm>
            <a:off x="2346960" y="4572000"/>
            <a:ext cx="177800" cy="254000"/>
          </a:xfrm>
          <a:prstGeom prst="right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5" name="圆角矩形 94"/>
          <p:cNvSpPr/>
          <p:nvPr/>
        </p:nvSpPr>
        <p:spPr>
          <a:xfrm>
            <a:off x="2550160" y="3962400"/>
            <a:ext cx="28194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8" name="组合 217"/>
          <p:cNvGrpSpPr/>
          <p:nvPr/>
        </p:nvGrpSpPr>
        <p:grpSpPr>
          <a:xfrm>
            <a:off x="2677160" y="4047347"/>
            <a:ext cx="2565400" cy="394732"/>
            <a:chOff x="2677160" y="4038600"/>
            <a:chExt cx="2565400" cy="394732"/>
          </a:xfrm>
        </p:grpSpPr>
        <p:sp>
          <p:nvSpPr>
            <p:cNvPr id="96" name="椭圆 95"/>
            <p:cNvSpPr/>
            <p:nvPr/>
          </p:nvSpPr>
          <p:spPr>
            <a:xfrm>
              <a:off x="2677160" y="40386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7" name="文本框 96"/>
            <p:cNvSpPr txBox="1"/>
            <p:nvPr/>
          </p:nvSpPr>
          <p:spPr>
            <a:xfrm>
              <a:off x="2956560" y="4064000"/>
              <a:ext cx="2286000" cy="369332"/>
            </a:xfrm>
            <a:prstGeom prst="rect">
              <a:avLst/>
            </a:prstGeom>
            <a:noFill/>
          </p:spPr>
          <p:txBody>
            <a:bodyPr vert="horz" wrap="square" lIns="0" tIns="0" rIns="0" bIns="0" rtlCol="0">
              <a:noAutofit/>
            </a:bodyPr>
            <a:lstStyle/>
            <a:p>
              <a:r>
                <a:rPr lang="en-US" altLang="zh-CN" sz="1000" b="1"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（条件化增强网络）</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98" name="文本框 97"/>
          <p:cNvSpPr txBox="1"/>
          <p:nvPr/>
        </p:nvSpPr>
        <p:spPr>
          <a:xfrm>
            <a:off x="2677160" y="4318000"/>
            <a:ext cx="2159000" cy="369332"/>
          </a:xfrm>
          <a:prstGeom prst="rect">
            <a:avLst/>
          </a:prstGeom>
          <a:noFill/>
        </p:spPr>
        <p:txBody>
          <a:bodyPr vert="horz" wrap="square" lIns="0" tIns="0" rIns="0" bIns="0" rtlCol="0">
            <a:noAutofit/>
          </a:bodyPr>
          <a:lstStyle/>
          <a:p>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全带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LSTM 512 +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子带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384</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9" name="圆角矩形 98"/>
          <p:cNvSpPr/>
          <p:nvPr/>
        </p:nvSpPr>
        <p:spPr>
          <a:xfrm>
            <a:off x="2626360" y="4546600"/>
            <a:ext cx="2667000" cy="203200"/>
          </a:xfrm>
          <a:prstGeom prst="roundRect">
            <a:avLst>
              <a:gd name="adj" fmla="val 6000"/>
            </a:avLst>
          </a:prstGeom>
          <a:solidFill>
            <a:schemeClr val="bg1"/>
          </a:solidFill>
          <a:ln w="12700">
            <a:solidFill>
              <a:srgbClr val="D2691E"/>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0" name="文本框 99"/>
          <p:cNvSpPr txBox="1"/>
          <p:nvPr/>
        </p:nvSpPr>
        <p:spPr>
          <a:xfrm>
            <a:off x="2626360" y="4584700"/>
            <a:ext cx="2667000" cy="369332"/>
          </a:xfrm>
          <a:prstGeom prst="rect">
            <a:avLst/>
          </a:prstGeom>
          <a:noFill/>
        </p:spPr>
        <p:txBody>
          <a:bodyPr vert="horz" wrap="square" lIns="0" tIns="0" rIns="0" bIns="0" rtlCol="0">
            <a:noAutofit/>
          </a:bodyPr>
          <a:lstStyle/>
          <a:p>
            <a:pPr algn="ctr"/>
            <a:r>
              <a:rPr lang="en-US" altLang="zh-CN" sz="900" b="1" dirty="0" err="1"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特征调制（</a:t>
            </a:r>
            <a:r>
              <a:rPr lang="el-GR" altLang="zh-CN"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γ, β </a:t>
            </a:r>
            <a:r>
              <a:rPr lang="zh-CN" altLang="en-US" sz="900" b="1" dirty="0" smtClean="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rPr>
              <a:t>注入点）</a:t>
            </a:r>
            <a:endParaRPr lang="zh-CN" altLang="en-US" sz="900" b="1" dirty="0">
              <a:solidFill>
                <a:srgbClr val="D2691E"/>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12" name="组合 111"/>
          <p:cNvGrpSpPr/>
          <p:nvPr/>
        </p:nvGrpSpPr>
        <p:grpSpPr>
          <a:xfrm>
            <a:off x="2691271" y="4787900"/>
            <a:ext cx="2552700" cy="533400"/>
            <a:chOff x="2702560" y="4826000"/>
            <a:chExt cx="2552700" cy="533400"/>
          </a:xfrm>
        </p:grpSpPr>
        <p:sp>
          <p:nvSpPr>
            <p:cNvPr id="101" name="enc0"/>
            <p:cNvSpPr/>
            <p:nvPr/>
          </p:nvSpPr>
          <p:spPr>
            <a:xfrm>
              <a:off x="2702560" y="4826000"/>
              <a:ext cx="139700" cy="5334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2" name="enc1"/>
            <p:cNvSpPr/>
            <p:nvPr/>
          </p:nvSpPr>
          <p:spPr>
            <a:xfrm>
              <a:off x="2943860" y="4920996"/>
              <a:ext cx="139700" cy="438404"/>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3" name="enc2"/>
            <p:cNvSpPr/>
            <p:nvPr/>
          </p:nvSpPr>
          <p:spPr>
            <a:xfrm>
              <a:off x="3185160" y="5007356"/>
              <a:ext cx="139700" cy="352044"/>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4" name="enc3"/>
            <p:cNvSpPr/>
            <p:nvPr/>
          </p:nvSpPr>
          <p:spPr>
            <a:xfrm>
              <a:off x="3426460" y="5076444"/>
              <a:ext cx="139700" cy="282956"/>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5" name="enc4"/>
            <p:cNvSpPr/>
            <p:nvPr/>
          </p:nvSpPr>
          <p:spPr>
            <a:xfrm>
              <a:off x="3667760" y="5128260"/>
              <a:ext cx="139700" cy="23114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6" name="enc5"/>
            <p:cNvSpPr/>
            <p:nvPr/>
          </p:nvSpPr>
          <p:spPr>
            <a:xfrm>
              <a:off x="3909060" y="5162804"/>
              <a:ext cx="139700" cy="196596"/>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7" name="enc6"/>
            <p:cNvSpPr/>
            <p:nvPr/>
          </p:nvSpPr>
          <p:spPr>
            <a:xfrm>
              <a:off x="4150360" y="5128260"/>
              <a:ext cx="139700" cy="23114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8" name="enc7"/>
            <p:cNvSpPr/>
            <p:nvPr/>
          </p:nvSpPr>
          <p:spPr>
            <a:xfrm>
              <a:off x="4391660" y="5067808"/>
              <a:ext cx="139700" cy="291592"/>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9" name="enc8"/>
            <p:cNvSpPr/>
            <p:nvPr/>
          </p:nvSpPr>
          <p:spPr>
            <a:xfrm>
              <a:off x="4632960" y="4998720"/>
              <a:ext cx="139700" cy="36068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0" name="enc9"/>
            <p:cNvSpPr/>
            <p:nvPr/>
          </p:nvSpPr>
          <p:spPr>
            <a:xfrm>
              <a:off x="4874260" y="4920996"/>
              <a:ext cx="139700" cy="438404"/>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1" name="enc10"/>
            <p:cNvSpPr/>
            <p:nvPr/>
          </p:nvSpPr>
          <p:spPr>
            <a:xfrm>
              <a:off x="5115560" y="4843272"/>
              <a:ext cx="139700" cy="516128"/>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113" name="文本框 112"/>
          <p:cNvSpPr txBox="1"/>
          <p:nvPr/>
        </p:nvSpPr>
        <p:spPr>
          <a:xfrm>
            <a:off x="2691271" y="5313402"/>
            <a:ext cx="508000" cy="369332"/>
          </a:xfrm>
          <a:prstGeom prst="rect">
            <a:avLst/>
          </a:prstGeom>
          <a:noFill/>
        </p:spPr>
        <p:txBody>
          <a:bodyPr vert="horz" wrap="square" lIns="0" tIns="0" rIns="0" bIns="0" rtlCol="0">
            <a:noAutofit/>
          </a:bodyPr>
          <a:lstStyle/>
          <a:p>
            <a:r>
              <a:rPr lang="zh-CN" altLang="en-US"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编码器</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4" name="文本框 113"/>
          <p:cNvSpPr txBox="1"/>
          <p:nvPr/>
        </p:nvSpPr>
        <p:spPr>
          <a:xfrm>
            <a:off x="4634371" y="5321022"/>
            <a:ext cx="609600" cy="369332"/>
          </a:xfrm>
          <a:prstGeom prst="rect">
            <a:avLst/>
          </a:prstGeom>
          <a:noFill/>
        </p:spPr>
        <p:txBody>
          <a:bodyPr vert="horz" wrap="square" lIns="0" tIns="0" rIns="0" bIns="0" rtlCol="0">
            <a:noAutofit/>
          </a:bodyPr>
          <a:lstStyle/>
          <a:p>
            <a:pPr algn="r"/>
            <a:r>
              <a:rPr lang="zh-CN" altLang="en-US"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解码器</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右箭头 114"/>
          <p:cNvSpPr/>
          <p:nvPr/>
        </p:nvSpPr>
        <p:spPr>
          <a:xfrm>
            <a:off x="5420360" y="4572000"/>
            <a:ext cx="177800" cy="254000"/>
          </a:xfrm>
          <a:prstGeom prst="right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6" name="圆角矩形 115"/>
          <p:cNvSpPr/>
          <p:nvPr/>
        </p:nvSpPr>
        <p:spPr>
          <a:xfrm>
            <a:off x="5646103" y="3962400"/>
            <a:ext cx="12700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19" name="组合 218"/>
          <p:cNvGrpSpPr/>
          <p:nvPr/>
        </p:nvGrpSpPr>
        <p:grpSpPr>
          <a:xfrm>
            <a:off x="5754370" y="4059160"/>
            <a:ext cx="1117600" cy="394732"/>
            <a:chOff x="5750560" y="4114800"/>
            <a:chExt cx="1117600" cy="394732"/>
          </a:xfrm>
        </p:grpSpPr>
        <p:sp>
          <p:nvSpPr>
            <p:cNvPr id="117" name="椭圆 116"/>
            <p:cNvSpPr/>
            <p:nvPr/>
          </p:nvSpPr>
          <p:spPr>
            <a:xfrm>
              <a:off x="5750560" y="41148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6</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8" name="文本框 117"/>
            <p:cNvSpPr txBox="1"/>
            <p:nvPr/>
          </p:nvSpPr>
          <p:spPr>
            <a:xfrm>
              <a:off x="6029960" y="4140200"/>
              <a:ext cx="838200" cy="369332"/>
            </a:xfrm>
            <a:prstGeom prst="rect">
              <a:avLst/>
            </a:prstGeom>
            <a:noFill/>
          </p:spPr>
          <p:txBody>
            <a:bodyPr vert="horz" wrap="square" lIns="0" tIns="0" rIns="0" bIns="0" rtlCol="0">
              <a:noAutofit/>
            </a:bodyPr>
            <a:lstStyle/>
            <a:p>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复值掩码估计</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19" name="文本框 118"/>
          <p:cNvSpPr txBox="1"/>
          <p:nvPr/>
        </p:nvSpPr>
        <p:spPr>
          <a:xfrm>
            <a:off x="5839460" y="4341599"/>
            <a:ext cx="1016000" cy="369332"/>
          </a:xfrm>
          <a:prstGeom prst="rect">
            <a:avLst/>
          </a:prstGeom>
          <a:noFill/>
        </p:spPr>
        <p:txBody>
          <a:bodyPr vert="horz" wrap="square" lIns="0" tIns="0" rIns="0" bIns="0" rtlCol="0">
            <a:noAutofit/>
          </a:bodyPr>
          <a:lstStyle/>
          <a:p>
            <a:pPr algn="ct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900" dirty="0" err="1"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cIRM</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44" name="组合 143"/>
          <p:cNvGrpSpPr/>
          <p:nvPr/>
        </p:nvGrpSpPr>
        <p:grpSpPr>
          <a:xfrm>
            <a:off x="5794693" y="4596130"/>
            <a:ext cx="685800" cy="609600"/>
            <a:chOff x="5750560" y="4699000"/>
            <a:chExt cx="685800" cy="609600"/>
          </a:xfrm>
        </p:grpSpPr>
        <p:sp>
          <p:nvSpPr>
            <p:cNvPr id="120" name="hm00"/>
            <p:cNvSpPr/>
            <p:nvPr/>
          </p:nvSpPr>
          <p:spPr>
            <a:xfrm>
              <a:off x="5750560" y="46990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1" name="hm01"/>
            <p:cNvSpPr/>
            <p:nvPr/>
          </p:nvSpPr>
          <p:spPr>
            <a:xfrm>
              <a:off x="5864860" y="4699000"/>
              <a:ext cx="114300" cy="152400"/>
            </a:xfrm>
            <a:prstGeom prst="rect">
              <a:avLst/>
            </a:prstGeom>
            <a:solidFill>
              <a:srgbClr val="558B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2" name="hm02"/>
            <p:cNvSpPr/>
            <p:nvPr/>
          </p:nvSpPr>
          <p:spPr>
            <a:xfrm>
              <a:off x="5979160" y="4699000"/>
              <a:ext cx="114300" cy="152400"/>
            </a:xfrm>
            <a:prstGeom prst="rect">
              <a:avLst/>
            </a:prstGeom>
            <a:solidFill>
              <a:srgbClr val="9E9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3" name="hm03"/>
            <p:cNvSpPr/>
            <p:nvPr/>
          </p:nvSpPr>
          <p:spPr>
            <a:xfrm>
              <a:off x="6093460" y="4699000"/>
              <a:ext cx="114300" cy="152400"/>
            </a:xfrm>
            <a:prstGeom prst="rect">
              <a:avLst/>
            </a:prstGeom>
            <a:solidFill>
              <a:srgbClr val="CDDC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4" name="hm04"/>
            <p:cNvSpPr/>
            <p:nvPr/>
          </p:nvSpPr>
          <p:spPr>
            <a:xfrm>
              <a:off x="6207760" y="46990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5" name="hm05"/>
            <p:cNvSpPr/>
            <p:nvPr/>
          </p:nvSpPr>
          <p:spPr>
            <a:xfrm>
              <a:off x="6322060" y="4699000"/>
              <a:ext cx="114300" cy="152400"/>
            </a:xfrm>
            <a:prstGeom prst="rect">
              <a:avLst/>
            </a:prstGeom>
            <a:solidFill>
              <a:srgbClr val="558B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6" name="hm10"/>
            <p:cNvSpPr/>
            <p:nvPr/>
          </p:nvSpPr>
          <p:spPr>
            <a:xfrm>
              <a:off x="5750560" y="48514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7" name="hm11"/>
            <p:cNvSpPr/>
            <p:nvPr/>
          </p:nvSpPr>
          <p:spPr>
            <a:xfrm>
              <a:off x="5864860" y="4851400"/>
              <a:ext cx="114300" cy="152400"/>
            </a:xfrm>
            <a:prstGeom prst="rect">
              <a:avLst/>
            </a:prstGeom>
            <a:solidFill>
              <a:srgbClr val="C0CA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8" name="hm12"/>
            <p:cNvSpPr/>
            <p:nvPr/>
          </p:nvSpPr>
          <p:spPr>
            <a:xfrm>
              <a:off x="5979160" y="4851400"/>
              <a:ext cx="114300" cy="152400"/>
            </a:xfrm>
            <a:prstGeom prst="rect">
              <a:avLst/>
            </a:prstGeom>
            <a:solidFill>
              <a:srgbClr val="FDD8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9" name="hm13"/>
            <p:cNvSpPr/>
            <p:nvPr/>
          </p:nvSpPr>
          <p:spPr>
            <a:xfrm>
              <a:off x="6093460" y="4851400"/>
              <a:ext cx="114300" cy="152400"/>
            </a:xfrm>
            <a:prstGeom prst="rect">
              <a:avLst/>
            </a:prstGeom>
            <a:solidFill>
              <a:srgbClr val="33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0" name="hm14"/>
            <p:cNvSpPr/>
            <p:nvPr/>
          </p:nvSpPr>
          <p:spPr>
            <a:xfrm>
              <a:off x="6207760" y="48514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1" name="hm15"/>
            <p:cNvSpPr/>
            <p:nvPr/>
          </p:nvSpPr>
          <p:spPr>
            <a:xfrm>
              <a:off x="6322060" y="4851400"/>
              <a:ext cx="114300" cy="152400"/>
            </a:xfrm>
            <a:prstGeom prst="rect">
              <a:avLst/>
            </a:prstGeom>
            <a:solidFill>
              <a:srgbClr val="C0CA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2" name="hm20"/>
            <p:cNvSpPr/>
            <p:nvPr/>
          </p:nvSpPr>
          <p:spPr>
            <a:xfrm>
              <a:off x="5750560" y="5003800"/>
              <a:ext cx="114300" cy="152400"/>
            </a:xfrm>
            <a:prstGeom prst="rect">
              <a:avLst/>
            </a:prstGeom>
            <a:solidFill>
              <a:srgbClr val="CDDC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3" name="hm21"/>
            <p:cNvSpPr/>
            <p:nvPr/>
          </p:nvSpPr>
          <p:spPr>
            <a:xfrm>
              <a:off x="5864860" y="50038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4" name="hm22"/>
            <p:cNvSpPr/>
            <p:nvPr/>
          </p:nvSpPr>
          <p:spPr>
            <a:xfrm>
              <a:off x="5979160" y="5003800"/>
              <a:ext cx="114300" cy="152400"/>
            </a:xfrm>
            <a:prstGeom prst="rect">
              <a:avLst/>
            </a:prstGeom>
            <a:solidFill>
              <a:srgbClr val="558B2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5" name="hm23"/>
            <p:cNvSpPr/>
            <p:nvPr/>
          </p:nvSpPr>
          <p:spPr>
            <a:xfrm>
              <a:off x="6093460" y="5003800"/>
              <a:ext cx="114300" cy="152400"/>
            </a:xfrm>
            <a:prstGeom prst="rect">
              <a:avLst/>
            </a:prstGeom>
            <a:solidFill>
              <a:srgbClr val="9E9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6" name="hm24"/>
            <p:cNvSpPr/>
            <p:nvPr/>
          </p:nvSpPr>
          <p:spPr>
            <a:xfrm>
              <a:off x="6207760" y="5003800"/>
              <a:ext cx="114300" cy="152400"/>
            </a:xfrm>
            <a:prstGeom prst="rect">
              <a:avLst/>
            </a:prstGeom>
            <a:solidFill>
              <a:srgbClr val="CDDC3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7" name="hm25"/>
            <p:cNvSpPr/>
            <p:nvPr/>
          </p:nvSpPr>
          <p:spPr>
            <a:xfrm>
              <a:off x="6322060" y="5003800"/>
              <a:ext cx="114300" cy="1524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8" name="hm30"/>
            <p:cNvSpPr/>
            <p:nvPr/>
          </p:nvSpPr>
          <p:spPr>
            <a:xfrm>
              <a:off x="5750560" y="5156200"/>
              <a:ext cx="114300" cy="152400"/>
            </a:xfrm>
            <a:prstGeom prst="rect">
              <a:avLst/>
            </a:prstGeom>
            <a:solidFill>
              <a:srgbClr val="33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9" name="hm31"/>
            <p:cNvSpPr/>
            <p:nvPr/>
          </p:nvSpPr>
          <p:spPr>
            <a:xfrm>
              <a:off x="5864860" y="51562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0" name="hm32"/>
            <p:cNvSpPr/>
            <p:nvPr/>
          </p:nvSpPr>
          <p:spPr>
            <a:xfrm>
              <a:off x="5979160" y="5156200"/>
              <a:ext cx="114300" cy="152400"/>
            </a:xfrm>
            <a:prstGeom prst="rect">
              <a:avLst/>
            </a:prstGeom>
            <a:solidFill>
              <a:srgbClr val="C0CA3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1" name="hm33"/>
            <p:cNvSpPr/>
            <p:nvPr/>
          </p:nvSpPr>
          <p:spPr>
            <a:xfrm>
              <a:off x="6093460" y="5156200"/>
              <a:ext cx="114300" cy="152400"/>
            </a:xfrm>
            <a:prstGeom prst="rect">
              <a:avLst/>
            </a:prstGeom>
            <a:solidFill>
              <a:srgbClr val="FDD8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2" name="hm34"/>
            <p:cNvSpPr/>
            <p:nvPr/>
          </p:nvSpPr>
          <p:spPr>
            <a:xfrm>
              <a:off x="6207760" y="5156200"/>
              <a:ext cx="114300" cy="152400"/>
            </a:xfrm>
            <a:prstGeom prst="rect">
              <a:avLst/>
            </a:prstGeom>
            <a:solidFill>
              <a:srgbClr val="33691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3" name="hm35"/>
            <p:cNvSpPr/>
            <p:nvPr/>
          </p:nvSpPr>
          <p:spPr>
            <a:xfrm>
              <a:off x="6322060" y="5156200"/>
              <a:ext cx="114300" cy="152400"/>
            </a:xfrm>
            <a:prstGeom prst="rect">
              <a:avLst/>
            </a:prstGeom>
            <a:solidFill>
              <a:srgbClr val="7CB3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sp>
        <p:nvSpPr>
          <p:cNvPr id="145" name="矩形 144"/>
          <p:cNvSpPr/>
          <p:nvPr/>
        </p:nvSpPr>
        <p:spPr>
          <a:xfrm>
            <a:off x="6626860" y="4598416"/>
            <a:ext cx="88900" cy="203200"/>
          </a:xfrm>
          <a:prstGeom prst="rect">
            <a:avLst/>
          </a:prstGeom>
          <a:solidFill>
            <a:srgbClr val="FDD8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6" name="矩形 145"/>
          <p:cNvSpPr/>
          <p:nvPr/>
        </p:nvSpPr>
        <p:spPr>
          <a:xfrm>
            <a:off x="6626860" y="4801616"/>
            <a:ext cx="88900" cy="203200"/>
          </a:xfrm>
          <a:prstGeom prst="rect">
            <a:avLst/>
          </a:prstGeom>
          <a:solidFill>
            <a:srgbClr val="9E9D2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7" name="矩形 146"/>
          <p:cNvSpPr/>
          <p:nvPr/>
        </p:nvSpPr>
        <p:spPr>
          <a:xfrm>
            <a:off x="6626860" y="5004816"/>
            <a:ext cx="88900" cy="203200"/>
          </a:xfrm>
          <a:prstGeom prst="rect">
            <a:avLst/>
          </a:prstGeom>
          <a:solidFill>
            <a:srgbClr val="1B5E2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8" name="文本框 147"/>
          <p:cNvSpPr txBox="1"/>
          <p:nvPr/>
        </p:nvSpPr>
        <p:spPr>
          <a:xfrm>
            <a:off x="6766560" y="4584700"/>
            <a:ext cx="127000" cy="369332"/>
          </a:xfrm>
          <a:prstGeom prst="rect">
            <a:avLst/>
          </a:prstGeom>
          <a:noFill/>
        </p:spPr>
        <p:txBody>
          <a:bodyPr vert="horz" wrap="square" lIns="0" tIns="0" rIns="0" bIns="0" rtlCol="0">
            <a:noAutofit/>
          </a:bodyPr>
          <a:lstStyle/>
          <a:p>
            <a:r>
              <a:rPr lang="en-US" altLang="zh-CN"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9" name="文本框 148"/>
          <p:cNvSpPr txBox="1"/>
          <p:nvPr/>
        </p:nvSpPr>
        <p:spPr>
          <a:xfrm>
            <a:off x="6766560" y="4826000"/>
            <a:ext cx="127000" cy="369332"/>
          </a:xfrm>
          <a:prstGeom prst="rect">
            <a:avLst/>
          </a:prstGeom>
          <a:noFill/>
        </p:spPr>
        <p:txBody>
          <a:bodyPr vert="horz" wrap="square" lIns="0" tIns="0" rIns="0" bIns="0" rtlCol="0">
            <a:noAutofit/>
          </a:bodyPr>
          <a:lstStyle/>
          <a:p>
            <a:r>
              <a:rPr lang="en-US" altLang="zh-CN"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0" name="文本框 149"/>
          <p:cNvSpPr txBox="1"/>
          <p:nvPr/>
        </p:nvSpPr>
        <p:spPr>
          <a:xfrm>
            <a:off x="6741160" y="5080000"/>
            <a:ext cx="152400" cy="369332"/>
          </a:xfrm>
          <a:prstGeom prst="rect">
            <a:avLst/>
          </a:prstGeom>
          <a:noFill/>
        </p:spPr>
        <p:txBody>
          <a:bodyPr vert="horz" wrap="square" lIns="0" tIns="0" rIns="0" bIns="0" rtlCol="0">
            <a:noAutofit/>
          </a:bodyPr>
          <a:lstStyle/>
          <a:p>
            <a:r>
              <a:rPr lang="en-US" altLang="zh-CN" sz="7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7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1" name="右箭头 150"/>
          <p:cNvSpPr/>
          <p:nvPr/>
        </p:nvSpPr>
        <p:spPr>
          <a:xfrm>
            <a:off x="6969760" y="4572000"/>
            <a:ext cx="203200" cy="254000"/>
          </a:xfrm>
          <a:prstGeom prst="rightArrow">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2" name="圆角矩形 151"/>
          <p:cNvSpPr/>
          <p:nvPr/>
        </p:nvSpPr>
        <p:spPr>
          <a:xfrm>
            <a:off x="7213917" y="3962400"/>
            <a:ext cx="1193800" cy="1473200"/>
          </a:xfrm>
          <a:prstGeom prst="roundRect">
            <a:avLst>
              <a:gd name="adj" fmla="val 6000"/>
            </a:avLst>
          </a:prstGeom>
          <a:solidFill>
            <a:schemeClr val="bg1"/>
          </a:solidFill>
          <a:ln w="19050" cap="flat" cmpd="sng" algn="ctr">
            <a:solidFill>
              <a:srgbClr val="2E5FA3"/>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220" name="组合 219"/>
          <p:cNvGrpSpPr/>
          <p:nvPr/>
        </p:nvGrpSpPr>
        <p:grpSpPr>
          <a:xfrm>
            <a:off x="7287260" y="4064604"/>
            <a:ext cx="1066800" cy="394732"/>
            <a:chOff x="7325360" y="4114800"/>
            <a:chExt cx="1066800" cy="394732"/>
          </a:xfrm>
        </p:grpSpPr>
        <p:sp>
          <p:nvSpPr>
            <p:cNvPr id="153" name="椭圆 152"/>
            <p:cNvSpPr/>
            <p:nvPr/>
          </p:nvSpPr>
          <p:spPr>
            <a:xfrm>
              <a:off x="7325360" y="4114800"/>
              <a:ext cx="203200" cy="203200"/>
            </a:xfrm>
            <a:prstGeom prst="ellipse">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7</a:t>
              </a:r>
              <a:endParaRPr lang="zh-CN" altLang="en-US" sz="10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4" name="文本框 153"/>
            <p:cNvSpPr txBox="1"/>
            <p:nvPr/>
          </p:nvSpPr>
          <p:spPr>
            <a:xfrm>
              <a:off x="7553960" y="4140200"/>
              <a:ext cx="838200" cy="369332"/>
            </a:xfrm>
            <a:prstGeom prst="rect">
              <a:avLst/>
            </a:prstGeom>
            <a:noFill/>
          </p:spPr>
          <p:txBody>
            <a:bodyPr vert="horz" wrap="square" lIns="0" tIns="0" rIns="0" bIns="0" rtlCol="0">
              <a:noAutofit/>
            </a:bodyPr>
            <a:lstStyle/>
            <a:p>
              <a:r>
                <a:rPr lang="zh-CN" altLang="en-US" sz="9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增强后测试语音</a:t>
              </a:r>
              <a:endParaRPr lang="zh-CN" altLang="en-US" sz="9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55" name="文本框 154"/>
          <p:cNvSpPr txBox="1"/>
          <p:nvPr/>
        </p:nvSpPr>
        <p:spPr>
          <a:xfrm>
            <a:off x="7304193" y="4386818"/>
            <a:ext cx="1092200" cy="369332"/>
          </a:xfrm>
          <a:prstGeom prst="rect">
            <a:avLst/>
          </a:prstGeom>
          <a:noFill/>
        </p:spPr>
        <p:txBody>
          <a:bodyPr vert="horz" wrap="square" lIns="0" tIns="0" rIns="0" bIns="0" rtlCol="0">
            <a:noAutofit/>
          </a:bodyPr>
          <a:lstStyle/>
          <a:p>
            <a:pPr algn="ctr"/>
            <a:r>
              <a:rPr lang="zh-CN" altLang="en-US"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保留</a:t>
            </a:r>
            <a:r>
              <a:rPr lang="zh-CN" altLang="en-US" sz="8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注册说话人</a:t>
            </a:r>
            <a:r>
              <a:rPr lang="zh-CN" altLang="en-US"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的</a:t>
            </a:r>
            <a:endParaRPr lang="en-US" altLang="zh-CN"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8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身份</a:t>
            </a:r>
            <a:r>
              <a:rPr lang="zh-CN" altLang="en-US" sz="8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判别特征</a:t>
            </a:r>
          </a:p>
        </p:txBody>
      </p:sp>
      <p:grpSp>
        <p:nvGrpSpPr>
          <p:cNvPr id="168" name="组合 167"/>
          <p:cNvGrpSpPr/>
          <p:nvPr/>
        </p:nvGrpSpPr>
        <p:grpSpPr>
          <a:xfrm>
            <a:off x="7321127" y="4826000"/>
            <a:ext cx="973666" cy="482600"/>
            <a:chOff x="7321127" y="4826000"/>
            <a:chExt cx="973666" cy="482600"/>
          </a:xfrm>
        </p:grpSpPr>
        <p:sp>
          <p:nvSpPr>
            <p:cNvPr id="156" name="w30"/>
            <p:cNvSpPr/>
            <p:nvPr/>
          </p:nvSpPr>
          <p:spPr>
            <a:xfrm>
              <a:off x="7321127" y="4908550"/>
              <a:ext cx="42333" cy="317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7" name="w31"/>
            <p:cNvSpPr/>
            <p:nvPr/>
          </p:nvSpPr>
          <p:spPr>
            <a:xfrm>
              <a:off x="7405794" y="4838700"/>
              <a:ext cx="42333" cy="4572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8" name="w32"/>
            <p:cNvSpPr/>
            <p:nvPr/>
          </p:nvSpPr>
          <p:spPr>
            <a:xfrm>
              <a:off x="7490460" y="4876800"/>
              <a:ext cx="42333" cy="3810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9" name="w33"/>
            <p:cNvSpPr/>
            <p:nvPr/>
          </p:nvSpPr>
          <p:spPr>
            <a:xfrm>
              <a:off x="7575127" y="4826000"/>
              <a:ext cx="42333" cy="4826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0" name="w34"/>
            <p:cNvSpPr/>
            <p:nvPr/>
          </p:nvSpPr>
          <p:spPr>
            <a:xfrm>
              <a:off x="7659794" y="4892675"/>
              <a:ext cx="42333" cy="34925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1" name="w35"/>
            <p:cNvSpPr/>
            <p:nvPr/>
          </p:nvSpPr>
          <p:spPr>
            <a:xfrm>
              <a:off x="7744460" y="4857750"/>
              <a:ext cx="42333" cy="4191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2" name="w36"/>
            <p:cNvSpPr/>
            <p:nvPr/>
          </p:nvSpPr>
          <p:spPr>
            <a:xfrm>
              <a:off x="7829127" y="4845050"/>
              <a:ext cx="42333" cy="444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3" name="w37"/>
            <p:cNvSpPr/>
            <p:nvPr/>
          </p:nvSpPr>
          <p:spPr>
            <a:xfrm>
              <a:off x="7913794" y="4908550"/>
              <a:ext cx="42333" cy="3175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4" name="w38"/>
            <p:cNvSpPr/>
            <p:nvPr/>
          </p:nvSpPr>
          <p:spPr>
            <a:xfrm>
              <a:off x="7998460" y="4870450"/>
              <a:ext cx="42333" cy="3937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5" name="w39"/>
            <p:cNvSpPr/>
            <p:nvPr/>
          </p:nvSpPr>
          <p:spPr>
            <a:xfrm>
              <a:off x="8083127" y="4832350"/>
              <a:ext cx="42333" cy="4699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6" name="w310"/>
            <p:cNvSpPr/>
            <p:nvPr/>
          </p:nvSpPr>
          <p:spPr>
            <a:xfrm>
              <a:off x="8167794" y="4883150"/>
              <a:ext cx="42333" cy="3683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7" name="w311"/>
            <p:cNvSpPr/>
            <p:nvPr/>
          </p:nvSpPr>
          <p:spPr>
            <a:xfrm>
              <a:off x="8252460" y="4851400"/>
              <a:ext cx="42333" cy="431800"/>
            </a:xfrm>
            <a:prstGeom prst="rect">
              <a:avLst/>
            </a:prstGeom>
            <a:solidFill>
              <a:srgbClr val="2E5FA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grpSp>
        <p:nvGrpSpPr>
          <p:cNvPr id="211" name="组合 210"/>
          <p:cNvGrpSpPr/>
          <p:nvPr/>
        </p:nvGrpSpPr>
        <p:grpSpPr>
          <a:xfrm>
            <a:off x="8862060" y="1371600"/>
            <a:ext cx="2926079" cy="3886200"/>
            <a:chOff x="8658860" y="1308100"/>
            <a:chExt cx="2926079" cy="3886200"/>
          </a:xfrm>
        </p:grpSpPr>
        <p:sp>
          <p:nvSpPr>
            <p:cNvPr id="173" name="圆角矩形 172"/>
            <p:cNvSpPr/>
            <p:nvPr/>
          </p:nvSpPr>
          <p:spPr>
            <a:xfrm>
              <a:off x="8658860" y="1308100"/>
              <a:ext cx="2926079" cy="3886200"/>
            </a:xfrm>
            <a:prstGeom prst="roundRect">
              <a:avLst>
                <a:gd name="adj" fmla="val 6000"/>
              </a:avLst>
            </a:prstGeom>
            <a:solidFill>
              <a:srgbClr val="F0F5EB"/>
            </a:solidFill>
            <a:ln w="2540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4" name="文本框 173"/>
            <p:cNvSpPr txBox="1"/>
            <p:nvPr/>
          </p:nvSpPr>
          <p:spPr>
            <a:xfrm>
              <a:off x="8836660" y="1409700"/>
              <a:ext cx="2540000" cy="369332"/>
            </a:xfrm>
            <a:prstGeom prst="rect">
              <a:avLst/>
            </a:prstGeom>
            <a:noFill/>
          </p:spPr>
          <p:txBody>
            <a:bodyPr vert="horz" wrap="square" lIns="0" tIns="0" rIns="0" bIns="0" rtlCol="0">
              <a:noAutofit/>
            </a:bodyPr>
            <a:lstStyle/>
            <a:p>
              <a:r>
                <a:rPr lang="zh-CN" altLang="en-US" sz="1250" b="1" smtClean="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rPr>
                <a:t>验证打分路径</a:t>
              </a:r>
              <a:endParaRPr lang="zh-CN" altLang="en-US" sz="1250" b="1">
                <a:solidFill>
                  <a:srgbClr val="4E7B3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5" name="文本框 174"/>
            <p:cNvSpPr txBox="1"/>
            <p:nvPr/>
          </p:nvSpPr>
          <p:spPr>
            <a:xfrm>
              <a:off x="8836660" y="1663700"/>
              <a:ext cx="2540000" cy="369332"/>
            </a:xfrm>
            <a:prstGeom prst="rect">
              <a:avLst/>
            </a:prstGeom>
            <a:noFill/>
          </p:spPr>
          <p:txBody>
            <a:bodyPr vert="horz" wrap="square" lIns="0" tIns="0" rIns="0" bIns="0" rtlCol="0">
              <a:noAutofit/>
            </a:bodyPr>
            <a:lstStyle/>
            <a:p>
              <a:r>
                <a:rPr lang="zh-CN" altLang="en-US" sz="900" dirty="0" smtClean="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rPr>
                <a:t>增强后打分验证</a:t>
              </a:r>
              <a:endParaRPr lang="zh-CN" altLang="en-US" sz="900" dirty="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7" name="圆角矩形 176"/>
            <p:cNvSpPr/>
            <p:nvPr/>
          </p:nvSpPr>
          <p:spPr>
            <a:xfrm>
              <a:off x="8811260" y="1917700"/>
              <a:ext cx="2616200" cy="1066800"/>
            </a:xfrm>
            <a:prstGeom prst="roundRect">
              <a:avLst>
                <a:gd name="adj" fmla="val 6000"/>
              </a:avLst>
            </a:prstGeom>
            <a:solidFill>
              <a:schemeClr val="bg1"/>
            </a:solidFill>
            <a:ln w="19050" cap="flat" cmpd="sng" algn="ctr">
              <a:solidFill>
                <a:srgbClr val="4E7B3A"/>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8" name="椭圆 177"/>
            <p:cNvSpPr/>
            <p:nvPr/>
          </p:nvSpPr>
          <p:spPr>
            <a:xfrm>
              <a:off x="8938260" y="2019300"/>
              <a:ext cx="203200" cy="203200"/>
            </a:xfrm>
            <a:prstGeom prst="ellipse">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8</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9" name="文本框 178"/>
            <p:cNvSpPr txBox="1"/>
            <p:nvPr/>
          </p:nvSpPr>
          <p:spPr>
            <a:xfrm>
              <a:off x="9217660" y="2044700"/>
              <a:ext cx="1524000" cy="369332"/>
            </a:xfrm>
            <a:prstGeom prst="rect">
              <a:avLst/>
            </a:prstGeom>
            <a:noFill/>
          </p:spPr>
          <p:txBody>
            <a:bodyPr vert="horz" wrap="square" lIns="0" tIns="0" rIns="0" bIns="0" rtlCol="0">
              <a:noAutofit/>
            </a:bodyPr>
            <a:lstStyle/>
            <a:p>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冻结的 </a:t>
              </a:r>
              <a:r>
                <a:rPr lang="en-US" altLang="zh-CN"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00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a:t>
              </a:r>
              <a:endParaRPr lang="zh-CN" altLang="en-US" sz="100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0" name="文本框 179"/>
            <p:cNvSpPr txBox="1"/>
            <p:nvPr/>
          </p:nvSpPr>
          <p:spPr>
            <a:xfrm>
              <a:off x="8938260" y="2324100"/>
              <a:ext cx="2362200" cy="369332"/>
            </a:xfrm>
            <a:prstGeom prst="rect">
              <a:avLst/>
            </a:prstGeom>
            <a:noFill/>
          </p:spPr>
          <p:txBody>
            <a:bodyPr vert="horz" wrap="square" lIns="0" tIns="0" rIns="0" bIns="0" rtlCol="0">
              <a:noAutofit/>
            </a:bodyPr>
            <a:lstStyle/>
            <a:p>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提取增强后嵌入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(512</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维</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1" name="文本框 180"/>
            <p:cNvSpPr txBox="1"/>
            <p:nvPr/>
          </p:nvSpPr>
          <p:spPr>
            <a:xfrm>
              <a:off x="8938260" y="2527300"/>
              <a:ext cx="2413000" cy="369332"/>
            </a:xfrm>
            <a:prstGeom prst="rect">
              <a:avLst/>
            </a:prstGeom>
            <a:noFill/>
          </p:spPr>
          <p:txBody>
            <a:bodyPr vert="horz" wrap="square" lIns="0" tIns="0" rIns="0" bIns="0" rtlCol="0">
              <a:noAutofit/>
            </a:bodyPr>
            <a:lstStyle/>
            <a:p>
              <a:r>
                <a:rPr lang="en-US" altLang="zh-CN"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Step </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2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共享同一冻结后端</a:t>
              </a:r>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2" name="矩形 181"/>
            <p:cNvSpPr/>
            <p:nvPr/>
          </p:nvSpPr>
          <p:spPr>
            <a:xfrm>
              <a:off x="89636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3" name="矩形 182"/>
            <p:cNvSpPr/>
            <p:nvPr/>
          </p:nvSpPr>
          <p:spPr>
            <a:xfrm>
              <a:off x="91541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4" name="矩形 183"/>
            <p:cNvSpPr/>
            <p:nvPr/>
          </p:nvSpPr>
          <p:spPr>
            <a:xfrm>
              <a:off x="93446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5" name="矩形 184"/>
            <p:cNvSpPr/>
            <p:nvPr/>
          </p:nvSpPr>
          <p:spPr>
            <a:xfrm>
              <a:off x="95351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6" name="矩形 185"/>
            <p:cNvSpPr/>
            <p:nvPr/>
          </p:nvSpPr>
          <p:spPr>
            <a:xfrm>
              <a:off x="9725660" y="2705100"/>
              <a:ext cx="152400" cy="1524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7" name="文本框 186"/>
            <p:cNvSpPr txBox="1"/>
            <p:nvPr/>
          </p:nvSpPr>
          <p:spPr>
            <a:xfrm>
              <a:off x="9916160" y="26670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8" name="下箭头 187"/>
            <p:cNvSpPr/>
            <p:nvPr/>
          </p:nvSpPr>
          <p:spPr>
            <a:xfrm>
              <a:off x="10005060" y="3035300"/>
              <a:ext cx="203200" cy="228600"/>
            </a:xfrm>
            <a:prstGeom prst="downArrow">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9" name="圆角矩形 188"/>
            <p:cNvSpPr/>
            <p:nvPr/>
          </p:nvSpPr>
          <p:spPr>
            <a:xfrm>
              <a:off x="8811260" y="3340100"/>
              <a:ext cx="2616200" cy="1752600"/>
            </a:xfrm>
            <a:prstGeom prst="roundRect">
              <a:avLst>
                <a:gd name="adj" fmla="val 6000"/>
              </a:avLst>
            </a:prstGeom>
            <a:solidFill>
              <a:schemeClr val="bg1"/>
            </a:solidFill>
            <a:ln w="19050" cap="flat" cmpd="sng" algn="ctr">
              <a:solidFill>
                <a:srgbClr val="4E7B3A"/>
              </a:solid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0" name="椭圆 189"/>
            <p:cNvSpPr/>
            <p:nvPr/>
          </p:nvSpPr>
          <p:spPr>
            <a:xfrm>
              <a:off x="8938260" y="3441700"/>
              <a:ext cx="203200" cy="203200"/>
            </a:xfrm>
            <a:prstGeom prst="ellipse">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9</a:t>
              </a:r>
              <a:endParaRPr lang="zh-CN" altLang="en-US" sz="10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1" name="文本框 190"/>
            <p:cNvSpPr txBox="1"/>
            <p:nvPr/>
          </p:nvSpPr>
          <p:spPr>
            <a:xfrm>
              <a:off x="9217660" y="3467100"/>
              <a:ext cx="2133600" cy="369332"/>
            </a:xfrm>
            <a:prstGeom prst="rect">
              <a:avLst/>
            </a:prstGeom>
            <a:noFill/>
          </p:spPr>
          <p:txBody>
            <a:bodyPr vert="horz" wrap="square" lIns="0" tIns="0" rIns="0" bIns="0" rtlCol="0">
              <a:noAutofit/>
            </a:bodyPr>
            <a:lstStyle/>
            <a:p>
              <a:r>
                <a:rPr lang="zh-CN" altLang="en-US" sz="1000" b="1"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与注册嵌入计算余弦相似度</a:t>
              </a:r>
              <a:endParaRPr lang="zh-CN" altLang="en-US" sz="1000" b="1"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2" name="文本框 191"/>
            <p:cNvSpPr txBox="1"/>
            <p:nvPr/>
          </p:nvSpPr>
          <p:spPr>
            <a:xfrm>
              <a:off x="8938260" y="3784600"/>
              <a:ext cx="558800" cy="369332"/>
            </a:xfrm>
            <a:prstGeom prst="rect">
              <a:avLst/>
            </a:prstGeom>
            <a:noFill/>
          </p:spPr>
          <p:txBody>
            <a:bodyPr vert="horz" wrap="square" lIns="0" tIns="0" rIns="0" bIns="0" rtlCol="0">
              <a:noAutofit/>
            </a:bodyPr>
            <a:lstStyle/>
            <a:p>
              <a:r>
                <a:rPr lang="zh-CN" altLang="en-US" sz="9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注册嵌入</a:t>
              </a:r>
              <a:endParaRPr lang="zh-CN" altLang="en-US" sz="9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3" name="矩形 192"/>
            <p:cNvSpPr/>
            <p:nvPr/>
          </p:nvSpPr>
          <p:spPr>
            <a:xfrm>
              <a:off x="95224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4" name="矩形 193"/>
            <p:cNvSpPr/>
            <p:nvPr/>
          </p:nvSpPr>
          <p:spPr>
            <a:xfrm>
              <a:off x="96875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5" name="矩形 194"/>
            <p:cNvSpPr/>
            <p:nvPr/>
          </p:nvSpPr>
          <p:spPr>
            <a:xfrm>
              <a:off x="98526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6" name="矩形 195"/>
            <p:cNvSpPr/>
            <p:nvPr/>
          </p:nvSpPr>
          <p:spPr>
            <a:xfrm>
              <a:off x="10017760" y="3759200"/>
              <a:ext cx="127000" cy="127000"/>
            </a:xfrm>
            <a:prstGeom prst="rect">
              <a:avLst/>
            </a:prstGeom>
            <a:solidFill>
              <a:srgbClr val="8FAAD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7" name="文本框 196"/>
            <p:cNvSpPr txBox="1"/>
            <p:nvPr/>
          </p:nvSpPr>
          <p:spPr>
            <a:xfrm>
              <a:off x="10182860" y="37211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8" name="文本框 197"/>
            <p:cNvSpPr txBox="1"/>
            <p:nvPr/>
          </p:nvSpPr>
          <p:spPr>
            <a:xfrm>
              <a:off x="8900160" y="4032889"/>
              <a:ext cx="635000" cy="369332"/>
            </a:xfrm>
            <a:prstGeom prst="rect">
              <a:avLst/>
            </a:prstGeom>
            <a:noFill/>
          </p:spPr>
          <p:txBody>
            <a:bodyPr vert="horz" wrap="square" lIns="0" tIns="0" rIns="0" bIns="0" rtlCol="0">
              <a:noAutofit/>
            </a:bodyPr>
            <a:lstStyle/>
            <a:p>
              <a:r>
                <a:rPr lang="zh-CN" altLang="en-US" sz="9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增强后嵌入</a:t>
              </a:r>
              <a:endParaRPr lang="zh-CN" altLang="en-US" sz="9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9" name="矩形 198"/>
            <p:cNvSpPr/>
            <p:nvPr/>
          </p:nvSpPr>
          <p:spPr>
            <a:xfrm>
              <a:off x="95224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0" name="矩形 199"/>
            <p:cNvSpPr/>
            <p:nvPr/>
          </p:nvSpPr>
          <p:spPr>
            <a:xfrm>
              <a:off x="96875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1" name="矩形 200"/>
            <p:cNvSpPr/>
            <p:nvPr/>
          </p:nvSpPr>
          <p:spPr>
            <a:xfrm>
              <a:off x="98526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2" name="矩形 201"/>
            <p:cNvSpPr/>
            <p:nvPr/>
          </p:nvSpPr>
          <p:spPr>
            <a:xfrm>
              <a:off x="10017760" y="4013200"/>
              <a:ext cx="127000" cy="127000"/>
            </a:xfrm>
            <a:prstGeom prst="rect">
              <a:avLst/>
            </a:prstGeom>
            <a:solidFill>
              <a:srgbClr val="4E7B3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3" name="文本框 202"/>
            <p:cNvSpPr txBox="1"/>
            <p:nvPr/>
          </p:nvSpPr>
          <p:spPr>
            <a:xfrm>
              <a:off x="10182860" y="3975100"/>
              <a:ext cx="177800" cy="369332"/>
            </a:xfrm>
            <a:prstGeom prst="rect">
              <a:avLst/>
            </a:prstGeom>
            <a:noFill/>
          </p:spPr>
          <p:txBody>
            <a:bodyPr vert="horz" wrap="square" lIns="0" tIns="0" rIns="0" bIns="0" rtlCol="0">
              <a:noAutofit/>
            </a:bodyPr>
            <a:lstStyle/>
            <a:p>
              <a:r>
                <a:rPr lang="en-US" altLang="zh-CN" sz="90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90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4" name="椭圆 203"/>
            <p:cNvSpPr/>
            <p:nvPr/>
          </p:nvSpPr>
          <p:spPr>
            <a:xfrm>
              <a:off x="10436860" y="3822700"/>
              <a:ext cx="711200" cy="508000"/>
            </a:xfrm>
            <a:prstGeom prst="ellipse">
              <a:avLst/>
            </a:prstGeom>
            <a:solidFill>
              <a:srgbClr val="FFFFFF"/>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05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cos </a:t>
              </a:r>
              <a:r>
                <a:rPr lang="el-GR" altLang="zh-CN" sz="1050" b="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θ</a:t>
              </a:r>
              <a:endParaRPr lang="zh-CN" altLang="en-US" sz="1050" b="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5" name="文本框 204"/>
            <p:cNvSpPr txBox="1"/>
            <p:nvPr/>
          </p:nvSpPr>
          <p:spPr>
            <a:xfrm>
              <a:off x="8938260" y="4432300"/>
              <a:ext cx="2362200" cy="369332"/>
            </a:xfrm>
            <a:prstGeom prst="rect">
              <a:avLst/>
            </a:prstGeom>
            <a:noFill/>
          </p:spPr>
          <p:txBody>
            <a:bodyPr vert="horz" wrap="square" lIns="0" tIns="0" rIns="0" bIns="0" rtlCol="0">
              <a:noAutofit/>
            </a:bodyPr>
            <a:lstStyle/>
            <a:p>
              <a:r>
                <a:rPr lang="en-US" altLang="zh-CN"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Cosine similarity → </a:t>
              </a:r>
              <a:r>
                <a:rPr lang="zh-CN" altLang="en-US" sz="900" dirty="0" smtClean="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rPr>
                <a:t>阈值比较 → 判定</a:t>
              </a:r>
              <a:endParaRPr lang="zh-CN" altLang="en-US" sz="900" dirty="0">
                <a:solidFill>
                  <a:srgbClr val="595959"/>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6" name="圆角矩形 205"/>
            <p:cNvSpPr/>
            <p:nvPr/>
          </p:nvSpPr>
          <p:spPr>
            <a:xfrm>
              <a:off x="8938260" y="4660900"/>
              <a:ext cx="1117600" cy="254000"/>
            </a:xfrm>
            <a:prstGeom prst="roundRect">
              <a:avLst>
                <a:gd name="adj" fmla="val 50000"/>
              </a:avLst>
            </a:prstGeom>
            <a:solidFill>
              <a:srgbClr val="E8F1E4"/>
            </a:solidFill>
            <a:ln w="12700">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50" b="1" smtClean="0">
                  <a:solidFill>
                    <a:srgbClr val="4E7B3A"/>
                  </a:solidFill>
                  <a:latin typeface="Times New Roman" panose="02020603050405020304" pitchFamily="18" charset="0"/>
                  <a:ea typeface="微软雅黑" panose="020B0503020204020204" pitchFamily="34" charset="-122"/>
                  <a:cs typeface="Times New Roman" panose="02020603050405020304" pitchFamily="18" charset="0"/>
                </a:rPr>
                <a:t>√ Accept</a:t>
              </a:r>
              <a:endParaRPr lang="zh-CN" altLang="en-US" sz="850" b="1">
                <a:solidFill>
                  <a:srgbClr val="4E7B3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7" name="圆角矩形 206"/>
            <p:cNvSpPr/>
            <p:nvPr/>
          </p:nvSpPr>
          <p:spPr>
            <a:xfrm>
              <a:off x="10233660" y="4660900"/>
              <a:ext cx="1117600" cy="254000"/>
            </a:xfrm>
            <a:prstGeom prst="roundRect">
              <a:avLst>
                <a:gd name="adj" fmla="val 50000"/>
              </a:avLst>
            </a:prstGeom>
            <a:solidFill>
              <a:srgbClr val="FBE9E7"/>
            </a:solid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850" b="1"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 Reject</a:t>
              </a:r>
              <a:endParaRPr lang="zh-CN" altLang="en-US" sz="850" b="1">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08" name="圆角矩形 207"/>
          <p:cNvSpPr/>
          <p:nvPr/>
        </p:nvSpPr>
        <p:spPr>
          <a:xfrm>
            <a:off x="695960" y="5689600"/>
            <a:ext cx="10800080" cy="355600"/>
          </a:xfrm>
          <a:prstGeom prst="roundRect">
            <a:avLst>
              <a:gd name="adj" fmla="val 6000"/>
            </a:avLst>
          </a:prstGeom>
          <a:solidFill>
            <a:srgbClr val="F2F2F2"/>
          </a:solidFill>
          <a:ln w="12700">
            <a:solidFill>
              <a:srgbClr val="D9D9D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可训练</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部分：</a:t>
            </a:r>
            <a:r>
              <a:rPr lang="en-US" altLang="zh-CN" sz="1450" dirty="0" err="1"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FullSubNet</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145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SpeakerFiLM</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 9.20M </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后端全程冻结，推理时条件提取与打分复用同一后端。</a:t>
            </a:r>
          </a:p>
        </p:txBody>
      </p:sp>
      <p:sp>
        <p:nvSpPr>
          <p:cNvPr id="209" name="圆角矩形 208"/>
          <p:cNvSpPr/>
          <p:nvPr/>
        </p:nvSpPr>
        <p:spPr>
          <a:xfrm>
            <a:off x="695960" y="6121400"/>
            <a:ext cx="10800080" cy="345440"/>
          </a:xfrm>
          <a:prstGeom prst="roundRect">
            <a:avLst>
              <a:gd name="adj" fmla="val 6000"/>
            </a:avLst>
          </a:prstGeom>
          <a:solidFill>
            <a:srgbClr val="FFF7DE"/>
          </a:solidFill>
          <a:ln w="12700">
            <a:solidFill>
              <a:srgbClr val="E8C8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50" b="1" dirty="0" smtClean="0">
                <a:solidFill>
                  <a:srgbClr val="7F6000"/>
                </a:solidFill>
                <a:latin typeface="Times New Roman" panose="02020603050405020304" pitchFamily="18" charset="0"/>
                <a:ea typeface="微软雅黑" panose="020B0503020204020204" pitchFamily="34" charset="-122"/>
                <a:cs typeface="Times New Roman" panose="02020603050405020304" pitchFamily="18" charset="0"/>
              </a:rPr>
              <a:t>特点：</a:t>
            </a:r>
            <a:r>
              <a:rPr lang="zh-CN" altLang="en-US" sz="1450" dirty="0" smtClean="0">
                <a:solidFill>
                  <a:srgbClr val="7F6000"/>
                </a:solidFill>
                <a:latin typeface="Times New Roman" panose="02020603050405020304" pitchFamily="18" charset="0"/>
                <a:ea typeface="微软雅黑" panose="020B0503020204020204" pitchFamily="34" charset="-122"/>
                <a:cs typeface="Times New Roman" panose="02020603050405020304" pitchFamily="18" charset="0"/>
              </a:rPr>
              <a:t>注册语音提供“提取谁”的条件</a:t>
            </a:r>
            <a:r>
              <a:rPr lang="zh-CN" altLang="en-US" sz="1450" dirty="0">
                <a:solidFill>
                  <a:srgbClr val="7F6000"/>
                </a:solidFill>
                <a:latin typeface="Times New Roman" panose="02020603050405020304" pitchFamily="18" charset="0"/>
                <a:ea typeface="微软雅黑" panose="020B0503020204020204" pitchFamily="34" charset="-122"/>
                <a:cs typeface="Times New Roman" panose="02020603050405020304" pitchFamily="18" charset="0"/>
              </a:rPr>
              <a:t>，前端只增强目标身份相关语音特征，而不是保留所有语音。</a:t>
            </a:r>
          </a:p>
        </p:txBody>
      </p:sp>
      <p:sp>
        <p:nvSpPr>
          <p:cNvPr id="210" name="文本框 209"/>
          <p:cNvSpPr txBox="1"/>
          <p:nvPr/>
        </p:nvSpPr>
        <p:spPr>
          <a:xfrm>
            <a:off x="791210" y="6522464"/>
            <a:ext cx="11176000" cy="315471"/>
          </a:xfrm>
          <a:prstGeom prst="rect">
            <a:avLst/>
          </a:prstGeom>
          <a:noFill/>
        </p:spPr>
        <p:txBody>
          <a:bodyPr vert="horz" rtlCol="0">
            <a:spAutoFit/>
          </a:bodyPr>
          <a:lstStyle/>
          <a:p>
            <a:pPr algn="ct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部署栈 ≈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31.7M </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约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127MB fp32) · </a:t>
            </a:r>
            <a:r>
              <a:rPr lang="en-US" altLang="zh-CN" sz="1450" dirty="0" err="1"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末层采用零初始化：训练起点等价原版通用前端</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已有能力不被破坏</a:t>
            </a:r>
            <a:endParaRPr lang="zh-CN" altLang="en-US" sz="145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1" name="灯片编号占位符 220"/>
          <p:cNvSpPr>
            <a:spLocks noGrp="1"/>
          </p:cNvSpPr>
          <p:nvPr>
            <p:ph type="sldNum" sz="quarter" idx="12"/>
          </p:nvPr>
        </p:nvSpPr>
        <p:spPr>
          <a:xfrm>
            <a:off x="9268460" y="6457712"/>
            <a:ext cx="2743200" cy="365125"/>
          </a:xfrm>
        </p:spPr>
        <p:txBody>
          <a:bodyPr/>
          <a:lstStyle/>
          <a:p>
            <a:fld id="{7BF2EA3F-D088-4729-88F9-9D4FADF26323}" type="slidenum">
              <a:rPr lang="zh-CN" altLang="en-US" smtClean="0"/>
              <a:t>13</a:t>
            </a:fld>
            <a:endParaRPr lang="zh-CN" altLang="en-US" dirty="0"/>
          </a:p>
        </p:txBody>
      </p:sp>
      <p:sp>
        <p:nvSpPr>
          <p:cNvPr id="222" name="矩形 221"/>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86839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 </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2/3 ·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损失函数：四项加权和</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092200"/>
            <a:ext cx="11303000" cy="660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7" name="文本框 6"/>
          <p:cNvSpPr txBox="1"/>
          <p:nvPr/>
        </p:nvSpPr>
        <p:spPr>
          <a:xfrm>
            <a:off x="635000" y="1193800"/>
            <a:ext cx="8128000" cy="400110"/>
          </a:xfrm>
          <a:prstGeom prst="rect">
            <a:avLst/>
          </a:prstGeom>
          <a:noFill/>
        </p:spPr>
        <p:txBody>
          <a:bodyPr vert="horz" rtlCol="0">
            <a:spAutoFit/>
          </a:bodyPr>
          <a:lstStyle/>
          <a:p>
            <a:pPr algn="ctr"/>
            <a:r>
              <a:rPr lang="en-US"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se</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+ 0.3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spk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+ 0.5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ns</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+ 1.0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ce</a:t>
            </a:r>
            <a:endParaRPr lang="zh-CN" altLang="en-US" sz="200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文本框 7"/>
          <p:cNvSpPr txBox="1"/>
          <p:nvPr/>
        </p:nvSpPr>
        <p:spPr>
          <a:xfrm>
            <a:off x="8890000" y="1168400"/>
            <a:ext cx="2794000" cy="538609"/>
          </a:xfrm>
          <a:prstGeom prst="rect">
            <a:avLst/>
          </a:prstGeom>
          <a:noFill/>
        </p:spPr>
        <p:txBody>
          <a:bodyPr vert="horz" rtlCol="0">
            <a:spAutoFit/>
          </a:bodyPr>
          <a:lstStyle/>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λ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系数由代理验证集消融确定</a:t>
            </a:r>
            <a:endPar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0.3 / 0.5 / 1.0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为最优点）</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482600" y="1843215"/>
            <a:ext cx="11303000" cy="761747"/>
          </a:xfrm>
          <a:prstGeom prst="rect">
            <a:avLst/>
          </a:prstGeom>
          <a:noFill/>
        </p:spPr>
        <p:txBody>
          <a:bodyPr vert="horz" rtlCol="0">
            <a:spAutoFit/>
          </a:bodyPr>
          <a:lstStyle/>
          <a:p>
            <a:pPr>
              <a:lnSpc>
                <a:spcPct val="150000"/>
              </a:lnSpc>
            </a:pP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四项损失分别约束</a:t>
            </a:r>
            <a:r>
              <a:rPr lang="zh-CN" altLang="en-US" sz="1450"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信号恢复、身份保持、干扰抑制和判别能力</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增强语音经冻结 </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后端提取嵌入参与监督；梯度仅更新前端，</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SV </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后端与原型库全程冻结。</a:t>
            </a:r>
          </a:p>
        </p:txBody>
      </p:sp>
      <p:sp>
        <p:nvSpPr>
          <p:cNvPr id="10" name="矩形 9"/>
          <p:cNvSpPr/>
          <p:nvPr/>
        </p:nvSpPr>
        <p:spPr>
          <a:xfrm>
            <a:off x="508000" y="27178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1" name="矩形 10"/>
          <p:cNvSpPr/>
          <p:nvPr/>
        </p:nvSpPr>
        <p:spPr>
          <a:xfrm>
            <a:off x="508000" y="2717800"/>
            <a:ext cx="76200" cy="7620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2" name="文本框 11"/>
          <p:cNvSpPr txBox="1"/>
          <p:nvPr/>
        </p:nvSpPr>
        <p:spPr>
          <a:xfrm>
            <a:off x="736600" y="2946400"/>
            <a:ext cx="24130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信号重建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se</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3175000" y="2870200"/>
            <a:ext cx="5715000" cy="400110"/>
          </a:xfrm>
          <a:prstGeom prst="rect">
            <a:avLst/>
          </a:prstGeom>
          <a:noFill/>
        </p:spPr>
        <p:txBody>
          <a:bodyPr vert="horz" rtlCol="0">
            <a:spAutoFit/>
          </a:bodyPr>
          <a:lstStyle/>
          <a:p>
            <a:pPr algn="ct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se</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 </a:t>
            </a:r>
            <a:r>
              <a:rPr lang="en-US"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M</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cIRM</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baseline="30000" dirty="0" smtClean="0">
                <a:latin typeface="Times New Roman" panose="02020603050405020304" pitchFamily="18" charset="0"/>
                <a:ea typeface="微软雅黑" panose="020B0503020204020204" pitchFamily="34" charset="-122"/>
                <a:cs typeface="Times New Roman" panose="02020603050405020304" pitchFamily="18" charset="0"/>
              </a:rPr>
              <a:t>2</a:t>
            </a:r>
            <a:endParaRPr lang="zh-CN" altLang="en-US" sz="2000" baseline="30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文本框 13"/>
          <p:cNvSpPr txBox="1"/>
          <p:nvPr/>
        </p:nvSpPr>
        <p:spPr>
          <a:xfrm>
            <a:off x="8807450" y="2815062"/>
            <a:ext cx="29019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防退化锚：</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维持增强语音基本可恢复性</a:t>
            </a:r>
          </a:p>
        </p:txBody>
      </p:sp>
      <p:sp>
        <p:nvSpPr>
          <p:cNvPr id="15" name="矩形 14"/>
          <p:cNvSpPr/>
          <p:nvPr/>
        </p:nvSpPr>
        <p:spPr>
          <a:xfrm>
            <a:off x="508000" y="35814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6" name="矩形 15"/>
          <p:cNvSpPr/>
          <p:nvPr/>
        </p:nvSpPr>
        <p:spPr>
          <a:xfrm>
            <a:off x="508000" y="3581400"/>
            <a:ext cx="76200" cy="7620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17" name="文本框 16"/>
          <p:cNvSpPr txBox="1"/>
          <p:nvPr/>
        </p:nvSpPr>
        <p:spPr>
          <a:xfrm>
            <a:off x="736600" y="3810000"/>
            <a:ext cx="24130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说话人保持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spk</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文本框 17"/>
          <p:cNvSpPr txBox="1"/>
          <p:nvPr/>
        </p:nvSpPr>
        <p:spPr>
          <a:xfrm>
            <a:off x="3175000" y="3733800"/>
            <a:ext cx="5715000" cy="400110"/>
          </a:xfrm>
          <a:prstGeom prst="rect">
            <a:avLst/>
          </a:prstGeom>
          <a:noFill/>
        </p:spPr>
        <p:txBody>
          <a:bodyPr vert="horz" rtlCol="0">
            <a:spAutoFit/>
          </a:bodyPr>
          <a:lstStyle/>
          <a:p>
            <a:pPr algn="ct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spk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1 − cos(</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enh</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enr</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8836025" y="3679195"/>
            <a:ext cx="29019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增强嵌入向注册嵌入对齐</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（贡献约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4–5%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的相对降幅）</a:t>
            </a:r>
          </a:p>
        </p:txBody>
      </p:sp>
      <p:sp>
        <p:nvSpPr>
          <p:cNvPr id="20" name="矩形 19"/>
          <p:cNvSpPr/>
          <p:nvPr/>
        </p:nvSpPr>
        <p:spPr>
          <a:xfrm>
            <a:off x="508000" y="44450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1" name="矩形 20"/>
          <p:cNvSpPr/>
          <p:nvPr/>
        </p:nvSpPr>
        <p:spPr>
          <a:xfrm>
            <a:off x="508000" y="4445000"/>
            <a:ext cx="76200" cy="762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2" name="文本框 21"/>
          <p:cNvSpPr txBox="1"/>
          <p:nvPr/>
        </p:nvSpPr>
        <p:spPr>
          <a:xfrm>
            <a:off x="736600" y="4673600"/>
            <a:ext cx="2413000" cy="315471"/>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难负原型</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抑制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ns</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文本框 22"/>
          <p:cNvSpPr txBox="1"/>
          <p:nvPr/>
        </p:nvSpPr>
        <p:spPr>
          <a:xfrm>
            <a:off x="3175000" y="4597400"/>
            <a:ext cx="5715000" cy="400110"/>
          </a:xfrm>
          <a:prstGeom prst="rect">
            <a:avLst/>
          </a:prstGeom>
          <a:noFill/>
        </p:spPr>
        <p:txBody>
          <a:bodyPr vert="horz" rtlCol="0">
            <a:spAutoFit/>
          </a:bodyPr>
          <a:lstStyle/>
          <a:p>
            <a:pPr algn="ct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ns</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(1/</a:t>
            </a:r>
            <a:r>
              <a:rPr lang="en-US"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l-GR"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Σ</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k∈TopK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max(0, cos(</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enh</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2000" i="1" dirty="0" err="1" smtClean="0">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200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k</a:t>
            </a:r>
            <a:r>
              <a:rPr lang="en-US"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t>
            </a:r>
            <a:r>
              <a:rPr lang="el-GR"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τ</a:t>
            </a:r>
            <a:r>
              <a:rPr lang="en-US" altLang="zh-CN" sz="20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文本框 23"/>
          <p:cNvSpPr txBox="1"/>
          <p:nvPr/>
        </p:nvSpPr>
        <p:spPr>
          <a:xfrm>
            <a:off x="8807450" y="4546600"/>
            <a:ext cx="30035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拉远干扰说话人与目标身份</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（贡献约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10%–11%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的相对降幅）</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矩形 24"/>
          <p:cNvSpPr/>
          <p:nvPr/>
        </p:nvSpPr>
        <p:spPr>
          <a:xfrm>
            <a:off x="508000" y="5308600"/>
            <a:ext cx="11303000" cy="76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6" name="矩形 25"/>
          <p:cNvSpPr/>
          <p:nvPr/>
        </p:nvSpPr>
        <p:spPr>
          <a:xfrm>
            <a:off x="508000" y="5308600"/>
            <a:ext cx="76200" cy="7620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Times New Roman" panose="02020603050405020304" pitchFamily="18" charset="0"/>
              <a:cs typeface="Times New Roman" panose="02020603050405020304" pitchFamily="18" charset="0"/>
            </a:endParaRPr>
          </a:p>
        </p:txBody>
      </p:sp>
      <p:sp>
        <p:nvSpPr>
          <p:cNvPr id="27" name="文本框 26"/>
          <p:cNvSpPr txBox="1"/>
          <p:nvPr/>
        </p:nvSpPr>
        <p:spPr>
          <a:xfrm>
            <a:off x="736600" y="5537200"/>
            <a:ext cx="24130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判别分类  </a:t>
            </a:r>
            <a:r>
              <a:rPr lang="en-US" altLang="zh-CN" sz="1450" i="1" dirty="0" err="1" smtClean="0">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450" baseline="-25000" dirty="0" err="1" smtClean="0">
                <a:latin typeface="Times New Roman" panose="02020603050405020304" pitchFamily="18" charset="0"/>
                <a:ea typeface="微软雅黑" panose="020B0503020204020204" pitchFamily="34" charset="-122"/>
                <a:cs typeface="Times New Roman" panose="02020603050405020304" pitchFamily="18" charset="0"/>
              </a:rPr>
              <a:t>ce</a:t>
            </a:r>
            <a:endParaRPr lang="zh-CN" altLang="en-US" sz="145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文本框 27"/>
          <p:cNvSpPr txBox="1"/>
          <p:nvPr/>
        </p:nvSpPr>
        <p:spPr>
          <a:xfrm>
            <a:off x="3175000" y="5461000"/>
            <a:ext cx="5715000" cy="400110"/>
          </a:xfrm>
          <a:prstGeom prst="rect">
            <a:avLst/>
          </a:prstGeom>
          <a:noFill/>
        </p:spPr>
        <p:txBody>
          <a:bodyPr vert="horz" rtlCol="0">
            <a:spAutoFit/>
          </a:bodyPr>
          <a:lstStyle/>
          <a:p>
            <a:pPr algn="ctr"/>
            <a:r>
              <a:rPr lang="nl-NL"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L</a:t>
            </a:r>
            <a:r>
              <a:rPr lang="nl-NL"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ce</a:t>
            </a:r>
            <a:r>
              <a:rPr lang="nl-NL"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 AAM-CE(</a:t>
            </a:r>
            <a:r>
              <a:rPr lang="nl-NL" altLang="zh-CN" sz="2000" i="1" dirty="0" smtClean="0">
                <a:latin typeface="Times New Roman" panose="02020603050405020304" pitchFamily="18" charset="0"/>
                <a:ea typeface="微软雅黑" panose="020B0503020204020204" pitchFamily="34" charset="-122"/>
                <a:cs typeface="Times New Roman" panose="02020603050405020304" pitchFamily="18" charset="0"/>
              </a:rPr>
              <a:t>e</a:t>
            </a:r>
            <a:r>
              <a:rPr lang="nl-NL" altLang="zh-CN" sz="2000" baseline="-25000" dirty="0" smtClean="0">
                <a:latin typeface="Times New Roman" panose="02020603050405020304" pitchFamily="18" charset="0"/>
                <a:ea typeface="微软雅黑" panose="020B0503020204020204" pitchFamily="34" charset="-122"/>
                <a:cs typeface="Times New Roman" panose="02020603050405020304" pitchFamily="18" charset="0"/>
              </a:rPr>
              <a:t>enh</a:t>
            </a:r>
            <a:r>
              <a:rPr lang="nl-NL" altLang="zh-CN" sz="2000" dirty="0" smtClean="0">
                <a:latin typeface="Times New Roman" panose="02020603050405020304" pitchFamily="18" charset="0"/>
                <a:ea typeface="微软雅黑" panose="020B0503020204020204" pitchFamily="34" charset="-122"/>
                <a:cs typeface="Times New Roman" panose="02020603050405020304" pitchFamily="18" charset="0"/>
              </a:rPr>
              <a:t>; s = 32, m = 0.2)</a:t>
            </a:r>
            <a:endParaRPr lang="zh-CN" altLang="en-US" sz="2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文本框 28"/>
          <p:cNvSpPr txBox="1"/>
          <p:nvPr/>
        </p:nvSpPr>
        <p:spPr>
          <a:xfrm>
            <a:off x="8807450" y="5410200"/>
            <a:ext cx="2978150" cy="538609"/>
          </a:xfrm>
          <a:prstGeom prst="rect">
            <a:avLst/>
          </a:prstGeom>
          <a:noFill/>
        </p:spPr>
        <p:txBody>
          <a:bodyPr vert="horz" wrap="square"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判别梯度回传前端</a:t>
            </a:r>
          </a:p>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分类头由冻结原型初始化</a:t>
            </a:r>
          </a:p>
        </p:txBody>
      </p:sp>
      <p:sp>
        <p:nvSpPr>
          <p:cNvPr id="30" name="矩形 29"/>
          <p:cNvSpPr/>
          <p:nvPr/>
        </p:nvSpPr>
        <p:spPr>
          <a:xfrm>
            <a:off x="508000" y="6223000"/>
            <a:ext cx="11303000" cy="4318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 name="文本框 30"/>
          <p:cNvSpPr txBox="1"/>
          <p:nvPr/>
        </p:nvSpPr>
        <p:spPr>
          <a:xfrm>
            <a:off x="508000" y="6324600"/>
            <a:ext cx="11303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仅</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更新前端</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9.20M</a:t>
            </a: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参数，</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SV</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后端与</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9900</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类原型全程冻结。训练与推理共享同一冻结验证器，避免训练</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测试不一致。</a:t>
            </a:r>
          </a:p>
        </p:txBody>
      </p:sp>
      <p:sp>
        <p:nvSpPr>
          <p:cNvPr id="32" name="灯片编号占位符 31"/>
          <p:cNvSpPr>
            <a:spLocks noGrp="1"/>
          </p:cNvSpPr>
          <p:nvPr>
            <p:ph type="sldNum" sz="quarter" idx="12"/>
          </p:nvPr>
        </p:nvSpPr>
        <p:spPr>
          <a:xfrm>
            <a:off x="9448800" y="6492875"/>
            <a:ext cx="2743200" cy="365125"/>
          </a:xfrm>
        </p:spPr>
        <p:txBody>
          <a:bodyPr/>
          <a:lstStyle/>
          <a:p>
            <a:fld id="{7BF2EA3F-D088-4729-88F9-9D4FADF26323}" type="slidenum">
              <a:rPr lang="zh-CN" altLang="en-US" smtClean="0"/>
              <a:t>14</a:t>
            </a:fld>
            <a:endParaRPr lang="zh-CN" altLang="en-US" dirty="0"/>
          </a:p>
        </p:txBody>
      </p:sp>
      <p:sp>
        <p:nvSpPr>
          <p:cNvPr id="34" name="矩形 33"/>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615193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交付方法 </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3/3 ·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训练策略：四级加码迭代与每一步的理由</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508000" y="1270000"/>
            <a:ext cx="2006600" cy="50800"/>
          </a:xfrm>
          <a:prstGeom prst="rect">
            <a:avLst/>
          </a:prstGeom>
          <a:solidFill>
            <a:srgbClr val="7F7F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文本框 7"/>
          <p:cNvSpPr txBox="1"/>
          <p:nvPr/>
        </p:nvSpPr>
        <p:spPr>
          <a:xfrm>
            <a:off x="558800" y="1397000"/>
            <a:ext cx="1917700" cy="284693"/>
          </a:xfrm>
          <a:prstGeom prst="rect">
            <a:avLst/>
          </a:prstGeom>
          <a:noFill/>
        </p:spPr>
        <p:txBody>
          <a:bodyPr vert="horz" wrap="square" rtlCol="0">
            <a:spAutoFit/>
          </a:bodyPr>
          <a:lstStyle/>
          <a:p>
            <a:pPr algn="ctr"/>
            <a:r>
              <a:rPr lang="zh-CN" altLang="en-US" sz="12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① 条件</a:t>
            </a:r>
            <a:r>
              <a:rPr lang="zh-CN" altLang="en-US" sz="1250" b="1"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化前端接入</a:t>
            </a:r>
          </a:p>
        </p:txBody>
      </p:sp>
      <p:sp>
        <p:nvSpPr>
          <p:cNvPr id="9" name="文本框 8"/>
          <p:cNvSpPr txBox="1"/>
          <p:nvPr/>
        </p:nvSpPr>
        <p:spPr>
          <a:xfrm>
            <a:off x="463550" y="1659555"/>
            <a:ext cx="2095500" cy="392415"/>
          </a:xfrm>
          <a:prstGeom prst="rect">
            <a:avLst/>
          </a:prstGeom>
          <a:noFill/>
        </p:spPr>
        <p:txBody>
          <a:bodyPr vert="horz" wrap="square" rtlCol="0">
            <a:spAutoFit/>
          </a:bodyPr>
          <a:lstStyle/>
          <a:p>
            <a:pPr algn="ctr">
              <a:lnSpc>
                <a:spcPct val="150000"/>
              </a:lnSpc>
            </a:pPr>
            <a:r>
              <a:rPr lang="en-US" altLang="zh-CN" sz="1300" dirty="0" err="1" smtClean="0">
                <a:latin typeface="Times New Roman" panose="02020603050405020304" pitchFamily="18" charset="0"/>
                <a:ea typeface="微软雅黑" panose="020B0503020204020204" pitchFamily="34" charset="-122"/>
                <a:cs typeface="Times New Roman" panose="02020603050405020304" pitchFamily="18" charset="0"/>
              </a:rPr>
              <a:t>FiLM</a:t>
            </a:r>
            <a:r>
              <a:rPr lang="en-US" altLang="zh-CN" sz="130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300" dirty="0">
                <a:latin typeface="Times New Roman" panose="02020603050405020304" pitchFamily="18" charset="0"/>
                <a:ea typeface="微软雅黑" panose="020B0503020204020204" pitchFamily="34" charset="-122"/>
                <a:cs typeface="Times New Roman" panose="02020603050405020304" pitchFamily="18" charset="0"/>
              </a:rPr>
              <a:t>调制</a:t>
            </a:r>
            <a:r>
              <a:rPr lang="en-US" altLang="zh-CN" sz="130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重建</a:t>
            </a:r>
            <a:r>
              <a:rPr lang="en-US" altLang="zh-CN" sz="1300" dirty="0" smtClean="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分类损失</a:t>
            </a:r>
            <a:endParaRPr lang="zh-CN" altLang="en-US" sz="13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文本框 9"/>
          <p:cNvSpPr txBox="1"/>
          <p:nvPr/>
        </p:nvSpPr>
        <p:spPr>
          <a:xfrm>
            <a:off x="508000" y="2184400"/>
            <a:ext cx="2006600" cy="300082"/>
          </a:xfrm>
          <a:prstGeom prst="rect">
            <a:avLst/>
          </a:prstGeom>
          <a:noFill/>
        </p:spPr>
        <p:txBody>
          <a:bodyPr vert="horz" rtlCol="0">
            <a:spAutoFit/>
          </a:bodyPr>
          <a:lstStyle/>
          <a:p>
            <a:pPr algn="ctr"/>
            <a:r>
              <a:rPr lang="en-US" altLang="zh-CN" sz="13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7.38 / 9.32</a:t>
            </a:r>
            <a:endParaRPr lang="zh-CN" altLang="en-US" sz="1350" b="1"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右箭头 10"/>
          <p:cNvSpPr/>
          <p:nvPr/>
        </p:nvSpPr>
        <p:spPr>
          <a:xfrm>
            <a:off x="25400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 name="矩形 11"/>
          <p:cNvSpPr/>
          <p:nvPr/>
        </p:nvSpPr>
        <p:spPr>
          <a:xfrm>
            <a:off x="27686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2768600" y="1270000"/>
            <a:ext cx="2006600" cy="50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文本框 13"/>
          <p:cNvSpPr txBox="1"/>
          <p:nvPr/>
        </p:nvSpPr>
        <p:spPr>
          <a:xfrm>
            <a:off x="2743200" y="1397000"/>
            <a:ext cx="2057400" cy="284693"/>
          </a:xfrm>
          <a:prstGeom prst="rect">
            <a:avLst/>
          </a:prstGeom>
          <a:noFill/>
        </p:spPr>
        <p:txBody>
          <a:bodyPr vert="horz" wrap="square" rtlCol="0">
            <a:spAutoFit/>
          </a:bodyPr>
          <a:lstStyle/>
          <a:p>
            <a:pPr algn="ctr"/>
            <a:r>
              <a:rPr lang="zh-CN" altLang="en-US" sz="1250" b="1" dirty="0" smtClean="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② </a:t>
            </a:r>
            <a:r>
              <a:rPr lang="zh-CN" altLang="en-US" sz="12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说话</a:t>
            </a:r>
            <a:r>
              <a:rPr lang="zh-CN" altLang="en-US" sz="1250" b="1" dirty="0" smtClean="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人保持损失</a:t>
            </a:r>
            <a:endParaRPr lang="zh-CN" altLang="en-US" sz="12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768600" y="1705754"/>
            <a:ext cx="2006600" cy="307777"/>
          </a:xfrm>
          <a:prstGeom prst="rect">
            <a:avLst/>
          </a:prstGeom>
          <a:noFill/>
        </p:spPr>
        <p:txBody>
          <a:bodyPr vert="horz" wrap="square" rtlCol="0">
            <a:spAutoFit/>
          </a:bodyPr>
          <a:lstStyle/>
          <a:p>
            <a:pPr algn="ctr"/>
            <a:r>
              <a:rPr lang="zh-CN" altLang="en-US" sz="1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保持增强前后</a:t>
            </a:r>
            <a:r>
              <a:rPr lang="zh-CN" altLang="en-US" sz="14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身份一致</a:t>
            </a:r>
            <a:endParaRPr lang="zh-CN" altLang="en-US" sz="14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2768600" y="2184400"/>
            <a:ext cx="2006600" cy="300082"/>
          </a:xfrm>
          <a:prstGeom prst="rect">
            <a:avLst/>
          </a:prstGeom>
          <a:noFill/>
        </p:spPr>
        <p:txBody>
          <a:bodyPr vert="horz" rtlCol="0">
            <a:spAutoFit/>
          </a:bodyPr>
          <a:lstStyle/>
          <a:p>
            <a:pPr algn="ctr"/>
            <a:r>
              <a:rPr lang="en-US" altLang="zh-CN" sz="13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rPr>
              <a:t>7.29 / 9.20</a:t>
            </a:r>
            <a:endParaRPr lang="zh-CN" altLang="en-US" sz="1350" b="1" dirty="0">
              <a:solidFill>
                <a:srgbClr val="4472C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右箭头 16"/>
          <p:cNvSpPr/>
          <p:nvPr/>
        </p:nvSpPr>
        <p:spPr>
          <a:xfrm>
            <a:off x="48006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矩形 17"/>
          <p:cNvSpPr/>
          <p:nvPr/>
        </p:nvSpPr>
        <p:spPr>
          <a:xfrm>
            <a:off x="50292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5029200" y="1270000"/>
            <a:ext cx="20066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文本框 19"/>
          <p:cNvSpPr txBox="1"/>
          <p:nvPr/>
        </p:nvSpPr>
        <p:spPr>
          <a:xfrm>
            <a:off x="4942840" y="1390503"/>
            <a:ext cx="2255520" cy="284693"/>
          </a:xfrm>
          <a:prstGeom prst="rect">
            <a:avLst/>
          </a:prstGeom>
          <a:noFill/>
        </p:spPr>
        <p:txBody>
          <a:bodyPr vert="horz" wrap="square" rtlCol="0">
            <a:spAutoFit/>
          </a:bodyPr>
          <a:lstStyle/>
          <a:p>
            <a:r>
              <a:rPr lang="zh-CN" altLang="en-US"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③ 难</a:t>
            </a:r>
            <a:r>
              <a:rPr lang="zh-CN" altLang="en-US" sz="12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负原型</a:t>
            </a:r>
            <a:r>
              <a:rPr lang="zh-CN" altLang="en-US"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抑制 </a:t>
            </a:r>
            <a:r>
              <a:rPr lang="en-US" altLang="zh-CN"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&amp; </a:t>
            </a:r>
            <a:r>
              <a:rPr lang="zh-CN" altLang="en-US" sz="12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分类判别</a:t>
            </a:r>
            <a:endParaRPr lang="zh-CN" altLang="en-US" sz="12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p:cNvSpPr txBox="1"/>
          <p:nvPr/>
        </p:nvSpPr>
        <p:spPr>
          <a:xfrm>
            <a:off x="4935220" y="1726475"/>
            <a:ext cx="2194560" cy="292388"/>
          </a:xfrm>
          <a:prstGeom prst="rect">
            <a:avLst/>
          </a:prstGeom>
          <a:noFill/>
        </p:spPr>
        <p:txBody>
          <a:bodyPr vert="horz" wrap="square" rtlCol="0">
            <a:spAutoFit/>
          </a:bodyPr>
          <a:lstStyle/>
          <a:p>
            <a:pPr algn="ct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难负原型抑制拉大判别间隔</a:t>
            </a:r>
            <a:endParaRPr lang="zh-CN" altLang="en-US" sz="13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p:cNvSpPr txBox="1"/>
          <p:nvPr/>
        </p:nvSpPr>
        <p:spPr>
          <a:xfrm>
            <a:off x="5029200" y="2184400"/>
            <a:ext cx="2006600" cy="300082"/>
          </a:xfrm>
          <a:prstGeom prst="rect">
            <a:avLst/>
          </a:prstGeom>
          <a:noFill/>
        </p:spPr>
        <p:txBody>
          <a:bodyPr vert="horz" rtlCol="0">
            <a:spAutoFit/>
          </a:bodyPr>
          <a:lstStyle/>
          <a:p>
            <a:pPr algn="ctr"/>
            <a:r>
              <a:rPr lang="en-US" altLang="zh-CN" sz="13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5.24 / 6.10</a:t>
            </a:r>
            <a:endParaRPr lang="zh-CN" altLang="en-US" sz="13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右箭头 22"/>
          <p:cNvSpPr/>
          <p:nvPr/>
        </p:nvSpPr>
        <p:spPr>
          <a:xfrm>
            <a:off x="70612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矩形 23"/>
          <p:cNvSpPr/>
          <p:nvPr/>
        </p:nvSpPr>
        <p:spPr>
          <a:xfrm>
            <a:off x="72898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矩形 24"/>
          <p:cNvSpPr/>
          <p:nvPr/>
        </p:nvSpPr>
        <p:spPr>
          <a:xfrm>
            <a:off x="7289800" y="1270000"/>
            <a:ext cx="2006600" cy="508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文本框 25"/>
          <p:cNvSpPr txBox="1"/>
          <p:nvPr/>
        </p:nvSpPr>
        <p:spPr>
          <a:xfrm>
            <a:off x="7302500" y="1397000"/>
            <a:ext cx="1993900" cy="284693"/>
          </a:xfrm>
          <a:prstGeom prst="rect">
            <a:avLst/>
          </a:prstGeom>
          <a:noFill/>
        </p:spPr>
        <p:txBody>
          <a:bodyPr vert="horz" wrap="square" rtlCol="0">
            <a:spAutoFit/>
          </a:bodyPr>
          <a:lstStyle/>
          <a:p>
            <a:pPr algn="ctr"/>
            <a:r>
              <a:rPr lang="zh-CN" altLang="en-US" sz="12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④ 训练止损</a:t>
            </a:r>
            <a:endParaRPr lang="zh-CN" altLang="en-US" sz="12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文本框 26"/>
          <p:cNvSpPr txBox="1"/>
          <p:nvPr/>
        </p:nvSpPr>
        <p:spPr>
          <a:xfrm>
            <a:off x="7289800" y="1652162"/>
            <a:ext cx="2006600" cy="356893"/>
          </a:xfrm>
          <a:prstGeom prst="rect">
            <a:avLst/>
          </a:prstGeom>
          <a:noFill/>
        </p:spPr>
        <p:txBody>
          <a:bodyPr vert="horz" wrap="square" rtlCol="0">
            <a:spAutoFit/>
          </a:bodyPr>
          <a:lstStyle/>
          <a:p>
            <a:pPr algn="ctr">
              <a:lnSpc>
                <a:spcPct val="150000"/>
              </a:lnSpc>
            </a:pP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按</a:t>
            </a:r>
            <a:r>
              <a:rPr lang="zh-CN" altLang="en-US" sz="1300" dirty="0">
                <a:latin typeface="Times New Roman" panose="02020603050405020304" pitchFamily="18" charset="0"/>
                <a:ea typeface="微软雅黑" panose="020B0503020204020204" pitchFamily="34" charset="-122"/>
                <a:cs typeface="Times New Roman" panose="02020603050405020304" pitchFamily="18" charset="0"/>
              </a:rPr>
              <a:t>预声明止</a:t>
            </a:r>
            <a:r>
              <a:rPr lang="zh-CN" altLang="en-US" sz="1300" dirty="0" smtClean="0">
                <a:latin typeface="Times New Roman" panose="02020603050405020304" pitchFamily="18" charset="0"/>
                <a:ea typeface="微软雅黑" panose="020B0503020204020204" pitchFamily="34" charset="-122"/>
                <a:cs typeface="Times New Roman" panose="02020603050405020304" pitchFamily="18" charset="0"/>
              </a:rPr>
              <a:t>损线停机</a:t>
            </a:r>
            <a:endParaRPr lang="zh-CN" altLang="en-US" sz="13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文本框 27"/>
          <p:cNvSpPr txBox="1"/>
          <p:nvPr/>
        </p:nvSpPr>
        <p:spPr>
          <a:xfrm>
            <a:off x="7289800" y="2184400"/>
            <a:ext cx="2006600" cy="300082"/>
          </a:xfrm>
          <a:prstGeom prst="rect">
            <a:avLst/>
          </a:prstGeom>
          <a:noFill/>
        </p:spPr>
        <p:txBody>
          <a:bodyPr vert="horz" rtlCol="0">
            <a:spAutoFit/>
          </a:bodyPr>
          <a:lstStyle/>
          <a:p>
            <a:pPr algn="ctr"/>
            <a:r>
              <a:rPr lang="zh-CN" altLang="en-US" sz="13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回归 → 止损</a:t>
            </a:r>
            <a:endParaRPr lang="zh-CN" altLang="en-US" sz="13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9" name="右箭头 28"/>
          <p:cNvSpPr/>
          <p:nvPr/>
        </p:nvSpPr>
        <p:spPr>
          <a:xfrm>
            <a:off x="9321800" y="1752600"/>
            <a:ext cx="203200" cy="254000"/>
          </a:xfrm>
          <a:prstGeom prst="rightArrow">
            <a:avLst/>
          </a:prstGeom>
          <a:solidFill>
            <a:srgbClr val="44546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 name="矩形 29"/>
          <p:cNvSpPr/>
          <p:nvPr/>
        </p:nvSpPr>
        <p:spPr>
          <a:xfrm>
            <a:off x="9550400" y="1270000"/>
            <a:ext cx="2006600" cy="1219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1" name="矩形 30"/>
          <p:cNvSpPr/>
          <p:nvPr/>
        </p:nvSpPr>
        <p:spPr>
          <a:xfrm>
            <a:off x="9550400" y="1270000"/>
            <a:ext cx="20066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2" name="文本框 31"/>
          <p:cNvSpPr txBox="1"/>
          <p:nvPr/>
        </p:nvSpPr>
        <p:spPr>
          <a:xfrm>
            <a:off x="9550400" y="1397000"/>
            <a:ext cx="2006600" cy="284693"/>
          </a:xfrm>
          <a:prstGeom prst="rect">
            <a:avLst/>
          </a:prstGeom>
          <a:noFill/>
        </p:spPr>
        <p:txBody>
          <a:bodyPr vert="horz" wrap="square" rtlCol="0">
            <a:spAutoFit/>
          </a:bodyPr>
          <a:lstStyle/>
          <a:p>
            <a:pPr algn="ctr"/>
            <a:r>
              <a:rPr lang="zh-CN" altLang="en-US" sz="125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⑤ 随机时长增强</a:t>
            </a:r>
            <a:endParaRPr lang="zh-CN" altLang="en-US" sz="125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文本框 32"/>
          <p:cNvSpPr txBox="1"/>
          <p:nvPr/>
        </p:nvSpPr>
        <p:spPr>
          <a:xfrm>
            <a:off x="9550400" y="1675983"/>
            <a:ext cx="2006600" cy="356893"/>
          </a:xfrm>
          <a:prstGeom prst="rect">
            <a:avLst/>
          </a:prstGeom>
          <a:noFill/>
        </p:spPr>
        <p:txBody>
          <a:bodyPr vert="horz" wrap="square" rtlCol="0">
            <a:spAutoFit/>
          </a:bodyPr>
          <a:lstStyle/>
          <a:p>
            <a:pPr algn="ctr">
              <a:lnSpc>
                <a:spcPct val="150000"/>
              </a:lnSpc>
            </a:pPr>
            <a:r>
              <a:rPr lang="en-US" altLang="zh-CN" sz="1300" dirty="0">
                <a:latin typeface="Times New Roman" panose="02020603050405020304" pitchFamily="18" charset="0"/>
                <a:ea typeface="微软雅黑" panose="020B0503020204020204" pitchFamily="34" charset="-122"/>
                <a:cs typeface="Times New Roman" panose="02020603050405020304" pitchFamily="18" charset="0"/>
              </a:rPr>
              <a:t>1s / 2s / 3s </a:t>
            </a:r>
            <a:r>
              <a:rPr lang="zh-CN" altLang="en-US" sz="1300" dirty="0">
                <a:latin typeface="Times New Roman" panose="02020603050405020304" pitchFamily="18" charset="0"/>
                <a:ea typeface="微软雅黑" panose="020B0503020204020204" pitchFamily="34" charset="-122"/>
                <a:cs typeface="Times New Roman" panose="02020603050405020304" pitchFamily="18" charset="0"/>
              </a:rPr>
              <a:t>随机裁切</a:t>
            </a:r>
          </a:p>
        </p:txBody>
      </p:sp>
      <p:sp>
        <p:nvSpPr>
          <p:cNvPr id="34" name="文本框 33"/>
          <p:cNvSpPr txBox="1"/>
          <p:nvPr/>
        </p:nvSpPr>
        <p:spPr>
          <a:xfrm>
            <a:off x="9550400" y="2184400"/>
            <a:ext cx="2006600" cy="300082"/>
          </a:xfrm>
          <a:prstGeom prst="rect">
            <a:avLst/>
          </a:prstGeom>
          <a:noFill/>
        </p:spPr>
        <p:txBody>
          <a:bodyPr vert="horz" rtlCol="0">
            <a:spAutoFit/>
          </a:bodyPr>
          <a:lstStyle/>
          <a:p>
            <a:pPr algn="ctr"/>
            <a:r>
              <a:rPr lang="en-US" altLang="zh-CN" sz="135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4.89 / 5.56</a:t>
            </a:r>
            <a:endParaRPr lang="zh-CN" altLang="en-US" sz="135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文本框 34"/>
          <p:cNvSpPr txBox="1"/>
          <p:nvPr/>
        </p:nvSpPr>
        <p:spPr>
          <a:xfrm>
            <a:off x="508000" y="2565400"/>
            <a:ext cx="11303000" cy="261610"/>
          </a:xfrm>
          <a:prstGeom prst="rect">
            <a:avLst/>
          </a:prstGeom>
          <a:noFill/>
        </p:spPr>
        <p:txBody>
          <a:bodyPr vert="horz" rtlCol="0">
            <a:spAutoFit/>
          </a:bodyPr>
          <a:lstStyle/>
          <a:p>
            <a:pPr algn="ct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数值为 </a:t>
            </a:r>
            <a:r>
              <a:rPr lang="en-US" altLang="zh-CN"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EER(%)</a:t>
            </a: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，顺序为 </a:t>
            </a:r>
            <a:r>
              <a:rPr lang="en-US" altLang="zh-CN"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0 dB / −5 dB</a:t>
            </a: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；①</a:t>
            </a:r>
            <a:r>
              <a:rPr lang="en-US" altLang="zh-CN"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–④</a:t>
            </a:r>
            <a:r>
              <a:rPr lang="zh-CN" altLang="en-US" sz="11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为冻结验证器口径，⑤为最终交付口径。</a:t>
            </a:r>
          </a:p>
        </p:txBody>
      </p:sp>
      <p:sp>
        <p:nvSpPr>
          <p:cNvPr id="36" name="矩形 35"/>
          <p:cNvSpPr/>
          <p:nvPr/>
        </p:nvSpPr>
        <p:spPr>
          <a:xfrm>
            <a:off x="508000" y="28956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7" name="矩形 36"/>
          <p:cNvSpPr/>
          <p:nvPr/>
        </p:nvSpPr>
        <p:spPr>
          <a:xfrm>
            <a:off x="685800" y="3048000"/>
            <a:ext cx="279400" cy="279400"/>
          </a:xfrm>
          <a:prstGeom prst="rect">
            <a:avLst/>
          </a:prstGeom>
          <a:solidFill>
            <a:srgbClr val="2F54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1</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38" name="文本框 37"/>
          <p:cNvSpPr txBox="1"/>
          <p:nvPr/>
        </p:nvSpPr>
        <p:spPr>
          <a:xfrm>
            <a:off x="1066800" y="3025921"/>
            <a:ext cx="4826000" cy="315471"/>
          </a:xfrm>
          <a:prstGeom prst="rect">
            <a:avLst/>
          </a:prstGeom>
          <a:noFill/>
        </p:spPr>
        <p:txBody>
          <a:bodyPr vert="horz" rtlCol="0">
            <a:spAutoFit/>
          </a:bodyPr>
          <a:lstStyle/>
          <a:p>
            <a:r>
              <a:rPr lang="zh-CN" altLang="en-US"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为什么逐级加码</a:t>
            </a:r>
            <a:endParaRPr lang="zh-CN" altLang="en-US" sz="1450" b="1" dirty="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文本框 38"/>
          <p:cNvSpPr txBox="1"/>
          <p:nvPr/>
        </p:nvSpPr>
        <p:spPr>
          <a:xfrm>
            <a:off x="685800" y="3429000"/>
            <a:ext cx="5207000" cy="538609"/>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每阶段只引入一个核心变化，使收益来源可归因；避免多个策略同时加入后无法判断真正有效因素。</a:t>
            </a:r>
          </a:p>
        </p:txBody>
      </p:sp>
      <p:sp>
        <p:nvSpPr>
          <p:cNvPr id="40" name="矩形 39"/>
          <p:cNvSpPr/>
          <p:nvPr/>
        </p:nvSpPr>
        <p:spPr>
          <a:xfrm>
            <a:off x="6248400" y="28956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1" name="矩形 40"/>
          <p:cNvSpPr/>
          <p:nvPr/>
        </p:nvSpPr>
        <p:spPr>
          <a:xfrm>
            <a:off x="6426200" y="3048000"/>
            <a:ext cx="279400" cy="2794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2</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42" name="文本框 41"/>
          <p:cNvSpPr txBox="1"/>
          <p:nvPr/>
        </p:nvSpPr>
        <p:spPr>
          <a:xfrm>
            <a:off x="6832600" y="3032211"/>
            <a:ext cx="4826000" cy="315471"/>
          </a:xfrm>
          <a:prstGeom prst="rect">
            <a:avLst/>
          </a:prstGeom>
          <a:noFill/>
        </p:spPr>
        <p:txBody>
          <a:bodyPr vert="horz" rtlCol="0">
            <a:spAutoFit/>
          </a:bodyPr>
          <a:lstStyle/>
          <a:p>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为什么</a:t>
            </a:r>
            <a:r>
              <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引入难负原型抑制</a:t>
            </a:r>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和分类判别</a:t>
            </a:r>
            <a:endPar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文本框 42"/>
          <p:cNvSpPr txBox="1"/>
          <p:nvPr/>
        </p:nvSpPr>
        <p:spPr>
          <a:xfrm>
            <a:off x="6426200" y="3429000"/>
            <a:ext cx="5207000" cy="761747"/>
          </a:xfrm>
          <a:prstGeom prst="rect">
            <a:avLst/>
          </a:prstGeom>
          <a:noFill/>
        </p:spPr>
        <p:txBody>
          <a:bodyPr vert="horz" rtlCol="0">
            <a:spAutoFit/>
          </a:bodyPr>
          <a:lstStyle/>
          <a:p>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说话人保持只能解决“像不像目标”，还需要显式解决“是否远离非目标”。因此进一步压低增强嵌入与困难非目标原型的相似度，持续扩大目标</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非目标判别间隔</a:t>
            </a:r>
          </a:p>
        </p:txBody>
      </p:sp>
      <p:sp>
        <p:nvSpPr>
          <p:cNvPr id="44" name="矩形 43"/>
          <p:cNvSpPr/>
          <p:nvPr/>
        </p:nvSpPr>
        <p:spPr>
          <a:xfrm>
            <a:off x="508000" y="44450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5" name="矩形 44"/>
          <p:cNvSpPr/>
          <p:nvPr/>
        </p:nvSpPr>
        <p:spPr>
          <a:xfrm>
            <a:off x="685800" y="4597400"/>
            <a:ext cx="279400" cy="2794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3</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46" name="文本框 45"/>
          <p:cNvSpPr txBox="1"/>
          <p:nvPr/>
        </p:nvSpPr>
        <p:spPr>
          <a:xfrm>
            <a:off x="1092200" y="4592064"/>
            <a:ext cx="4826000" cy="315471"/>
          </a:xfrm>
          <a:prstGeom prst="rect">
            <a:avLst/>
          </a:prstGeom>
          <a:noFill/>
        </p:spPr>
        <p:txBody>
          <a:bodyPr vert="horz" rtlCol="0">
            <a:spAutoFit/>
          </a:bodyPr>
          <a:lstStyle/>
          <a:p>
            <a:r>
              <a:rPr lang="zh-CN" altLang="en-US" sz="145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为什么随机时长增强</a:t>
            </a:r>
            <a:endParaRPr lang="zh-CN" altLang="en-US" sz="145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7" name="文本框 46"/>
          <p:cNvSpPr txBox="1"/>
          <p:nvPr/>
        </p:nvSpPr>
        <p:spPr>
          <a:xfrm>
            <a:off x="685800" y="4978400"/>
            <a:ext cx="5207000" cy="761747"/>
          </a:xfrm>
          <a:prstGeom prst="rect">
            <a:avLst/>
          </a:prstGeom>
          <a:noFill/>
        </p:spPr>
        <p:txBody>
          <a:bodyPr vert="horz" rtlCol="0">
            <a:spAutoFit/>
          </a:bodyPr>
          <a:lstStyle/>
          <a:p>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固定 </a:t>
            </a:r>
            <a:r>
              <a:rPr lang="en-US" altLang="zh-CN"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 s </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容易形成对固定上下文长度的依赖。随机</a:t>
            </a:r>
            <a:r>
              <a:rPr lang="en-US" altLang="zh-CN"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1/2/3 s</a:t>
            </a:r>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裁切既补足短语音训练分布，又通过多时长视图约束增强前端学习时长不变的说话人表征，从而起到数据增强与正则化作</a:t>
            </a:r>
            <a:r>
              <a:rPr lang="zh-CN" altLang="en-US" sz="145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用。</a:t>
            </a:r>
            <a:endPar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矩形 47"/>
          <p:cNvSpPr/>
          <p:nvPr/>
        </p:nvSpPr>
        <p:spPr>
          <a:xfrm>
            <a:off x="6248400" y="4445000"/>
            <a:ext cx="5562600" cy="1422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9" name="矩形 48"/>
          <p:cNvSpPr/>
          <p:nvPr/>
        </p:nvSpPr>
        <p:spPr>
          <a:xfrm>
            <a:off x="6426200" y="4597400"/>
            <a:ext cx="279400" cy="279400"/>
          </a:xfrm>
          <a:prstGeom prst="rect">
            <a:avLst/>
          </a:prstGeom>
          <a:solidFill>
            <a:srgbClr val="C0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smtClean="0">
                <a:solidFill>
                  <a:srgbClr val="FFFFFF"/>
                </a:solidFill>
                <a:latin typeface="Times New Roman" panose="02020603050405020304" pitchFamily="18" charset="0"/>
                <a:cs typeface="Times New Roman" panose="02020603050405020304" pitchFamily="18" charset="0"/>
              </a:rPr>
              <a:t>4</a:t>
            </a:r>
            <a:endParaRPr lang="zh-CN" altLang="en-US" sz="1200" b="1">
              <a:solidFill>
                <a:srgbClr val="FFFFFF"/>
              </a:solidFill>
              <a:latin typeface="Times New Roman" panose="02020603050405020304" pitchFamily="18" charset="0"/>
              <a:cs typeface="Times New Roman" panose="02020603050405020304" pitchFamily="18" charset="0"/>
            </a:endParaRPr>
          </a:p>
        </p:txBody>
      </p:sp>
      <p:sp>
        <p:nvSpPr>
          <p:cNvPr id="50" name="文本框 49"/>
          <p:cNvSpPr txBox="1"/>
          <p:nvPr/>
        </p:nvSpPr>
        <p:spPr>
          <a:xfrm>
            <a:off x="6781800" y="4592064"/>
            <a:ext cx="4826000" cy="315471"/>
          </a:xfrm>
          <a:prstGeom prst="rect">
            <a:avLst/>
          </a:prstGeom>
          <a:noFill/>
        </p:spPr>
        <p:txBody>
          <a:bodyPr vert="horz" rtlCol="0">
            <a:spAutoFit/>
          </a:bodyPr>
          <a:lstStyle/>
          <a:p>
            <a:r>
              <a:rPr lang="zh-CN" altLang="en-US" sz="1450" b="1" dirty="0" smtClean="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rPr>
              <a:t>为什么敢于止损</a:t>
            </a:r>
            <a:endParaRPr lang="zh-CN" altLang="en-US" sz="1450" b="1" dirty="0">
              <a:solidFill>
                <a:srgbClr val="C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1" name="文本框 50"/>
          <p:cNvSpPr txBox="1"/>
          <p:nvPr/>
        </p:nvSpPr>
        <p:spPr>
          <a:xfrm>
            <a:off x="6426200" y="4978400"/>
            <a:ext cx="5207000" cy="761747"/>
          </a:xfrm>
          <a:prstGeom prst="rect">
            <a:avLst/>
          </a:prstGeom>
          <a:noFill/>
        </p:spPr>
        <p:txBody>
          <a:bodyPr vert="horz" rtlCol="0">
            <a:spAutoFit/>
          </a:bodyPr>
          <a:lstStyle/>
          <a:p>
            <a:r>
              <a:rPr lang="zh-CN" altLang="en-US" sz="145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继续训练并非越久越好。指标出现明显回归后立即停止，避免过拟合；模型选择始终依据代理验证集，不利用官方测试集反复调参。</a:t>
            </a:r>
          </a:p>
        </p:txBody>
      </p:sp>
      <p:sp>
        <p:nvSpPr>
          <p:cNvPr id="52" name="矩形 51"/>
          <p:cNvSpPr/>
          <p:nvPr/>
        </p:nvSpPr>
        <p:spPr>
          <a:xfrm>
            <a:off x="508000" y="5994400"/>
            <a:ext cx="11303000" cy="4572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3" name="文本框 52"/>
          <p:cNvSpPr txBox="1"/>
          <p:nvPr/>
        </p:nvSpPr>
        <p:spPr>
          <a:xfrm>
            <a:off x="508000" y="6065264"/>
            <a:ext cx="11303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训练配置：</a:t>
            </a:r>
            <a:r>
              <a:rPr lang="en-US" altLang="zh-CN" sz="1450" b="1" dirty="0" err="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lr</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 1e</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−5 · </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batch = 2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每级</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轮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seed = 2026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 4×Tesla P100</a:t>
            </a:r>
            <a:endPar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4" name="灯片编号占位符 53"/>
          <p:cNvSpPr>
            <a:spLocks noGrp="1"/>
          </p:cNvSpPr>
          <p:nvPr>
            <p:ph type="sldNum" sz="quarter" idx="12"/>
          </p:nvPr>
        </p:nvSpPr>
        <p:spPr>
          <a:xfrm>
            <a:off x="9423400" y="6492875"/>
            <a:ext cx="2743200" cy="365125"/>
          </a:xfrm>
        </p:spPr>
        <p:txBody>
          <a:bodyPr/>
          <a:lstStyle/>
          <a:p>
            <a:fld id="{7BF2EA3F-D088-4729-88F9-9D4FADF26323}" type="slidenum">
              <a:rPr lang="zh-CN" altLang="en-US" smtClean="0"/>
              <a:t>15</a:t>
            </a:fld>
            <a:endParaRPr lang="zh-CN" altLang="en-US" dirty="0"/>
          </a:p>
        </p:txBody>
      </p:sp>
      <p:sp>
        <p:nvSpPr>
          <p:cNvPr id="55" name="矩形 54"/>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316676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415498"/>
          </a:xfrm>
          <a:prstGeom prst="rect">
            <a:avLst/>
          </a:prstGeom>
          <a:noFill/>
        </p:spPr>
        <p:txBody>
          <a:bodyPr vert="horz" rtlCol="0">
            <a:spAutoFit/>
          </a:bodyPr>
          <a:lstStyle/>
          <a:p>
            <a:r>
              <a:rPr lang="zh-CN" altLang="en-US" sz="2100" b="1"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2100" b="1">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局限与展望</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08779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主结果</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三后端交付性能</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 s EER </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验收档</a:t>
            </a:r>
            <a:r>
              <a:rPr lang="en-US" altLang="zh-CN"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aphicFrame>
        <p:nvGraphicFramePr>
          <p:cNvPr id="6" name="表格 5"/>
          <p:cNvGraphicFramePr>
            <a:graphicFrameLocks noGrp="1"/>
          </p:cNvGraphicFramePr>
          <p:nvPr>
            <p:extLst>
              <p:ext uri="{D42A27DB-BD31-4B8C-83A1-F6EECF244321}">
                <p14:modId xmlns:p14="http://schemas.microsoft.com/office/powerpoint/2010/main" val="90746653"/>
              </p:ext>
            </p:extLst>
          </p:nvPr>
        </p:nvGraphicFramePr>
        <p:xfrm>
          <a:off x="508000" y="990600"/>
          <a:ext cx="11302998" cy="1219200"/>
        </p:xfrm>
        <a:graphic>
          <a:graphicData uri="http://schemas.openxmlformats.org/drawingml/2006/table">
            <a:tbl>
              <a:tblPr firstRow="1" bandRow="1">
                <a:tableStyleId>{5C22544A-7EE6-4342-B048-85BDC9FD1C3A}</a:tableStyleId>
              </a:tblPr>
              <a:tblGrid>
                <a:gridCol w="1883833">
                  <a:extLst>
                    <a:ext uri="{9D8B030D-6E8A-4147-A177-3AD203B41FA5}">
                      <a16:colId xmlns:a16="http://schemas.microsoft.com/office/drawing/2014/main" val="353885945"/>
                    </a:ext>
                  </a:extLst>
                </a:gridCol>
                <a:gridCol w="1883833">
                  <a:extLst>
                    <a:ext uri="{9D8B030D-6E8A-4147-A177-3AD203B41FA5}">
                      <a16:colId xmlns:a16="http://schemas.microsoft.com/office/drawing/2014/main" val="518618098"/>
                    </a:ext>
                  </a:extLst>
                </a:gridCol>
                <a:gridCol w="1883833">
                  <a:extLst>
                    <a:ext uri="{9D8B030D-6E8A-4147-A177-3AD203B41FA5}">
                      <a16:colId xmlns:a16="http://schemas.microsoft.com/office/drawing/2014/main" val="418081240"/>
                    </a:ext>
                  </a:extLst>
                </a:gridCol>
                <a:gridCol w="1883833">
                  <a:extLst>
                    <a:ext uri="{9D8B030D-6E8A-4147-A177-3AD203B41FA5}">
                      <a16:colId xmlns:a16="http://schemas.microsoft.com/office/drawing/2014/main" val="768937280"/>
                    </a:ext>
                  </a:extLst>
                </a:gridCol>
                <a:gridCol w="1883833">
                  <a:extLst>
                    <a:ext uri="{9D8B030D-6E8A-4147-A177-3AD203B41FA5}">
                      <a16:colId xmlns:a16="http://schemas.microsoft.com/office/drawing/2014/main" val="68794977"/>
                    </a:ext>
                  </a:extLst>
                </a:gridCol>
                <a:gridCol w="1883833">
                  <a:extLst>
                    <a:ext uri="{9D8B030D-6E8A-4147-A177-3AD203B41FA5}">
                      <a16:colId xmlns:a16="http://schemas.microsoft.com/office/drawing/2014/main" val="1062038068"/>
                    </a:ext>
                  </a:extLst>
                </a:gridCol>
              </a:tblGrid>
              <a:tr h="304800">
                <a:tc>
                  <a:txBody>
                    <a:bodyPr/>
                    <a:lstStyle/>
                    <a:p>
                      <a:pPr algn="ct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后端</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 dB EER(raw →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前端</a:t>
                      </a: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dB EER(raw →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前端</a:t>
                      </a: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 dB EER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相对降幅</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en-US" altLang="zh-CN"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-5 dB EER </a:t>
                      </a: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相对降幅</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tc>
                  <a:txBody>
                    <a:bodyPr/>
                    <a:lstStyle/>
                    <a:p>
                      <a:pPr algn="ctr"/>
                      <a:r>
                        <a:rPr lang="zh-CN" altLang="en-US" sz="12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是否达标</a:t>
                      </a:r>
                      <a:endParaRPr lang="zh-CN" altLang="en-US" sz="12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2F5496"/>
                    </a:solidFill>
                  </a:tcPr>
                </a:tc>
                <a:extLst>
                  <a:ext uri="{0D108BD9-81ED-4DB2-BD59-A6C34878D82A}">
                    <a16:rowId xmlns:a16="http://schemas.microsoft.com/office/drawing/2014/main" val="926233933"/>
                  </a:ext>
                </a:extLst>
              </a:tr>
              <a:tr h="304800">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ERes2Net-large (</a:t>
                      </a: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主力</a:t>
                      </a: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8.39 → 4.89</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11.06 → 5.56</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-41.7%</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-49.7%</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达标</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1271587839"/>
                  </a:ext>
                </a:extLst>
              </a:tr>
              <a:tr h="304800">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ECAPA-TDNN (</a:t>
                      </a: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经典</a:t>
                      </a: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11.15 → 6.32</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14.36 → 7.13</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-43.3%</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-50.3%</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tc>
                  <a:txBody>
                    <a:bodyPr/>
                    <a:lstStyle/>
                    <a:p>
                      <a:pPr algn="ct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达标</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2F6FC"/>
                    </a:solidFill>
                  </a:tcPr>
                </a:tc>
                <a:extLst>
                  <a:ext uri="{0D108BD9-81ED-4DB2-BD59-A6C34878D82A}">
                    <a16:rowId xmlns:a16="http://schemas.microsoft.com/office/drawing/2014/main" val="384435077"/>
                  </a:ext>
                </a:extLst>
              </a:tr>
              <a:tr h="304800">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ReDimNet2-B6 (</a:t>
                      </a: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轻量</a:t>
                      </a: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9.94 → 7.58</a:t>
                      </a:r>
                      <a:endParaRPr lang="zh-CN" altLang="en-US" sz="120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13.03 → 9.35</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-23.7%</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en-US" altLang="zh-CN"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-28.2%</a:t>
                      </a:r>
                      <a:endParaRPr lang="zh-CN" altLang="en-US" sz="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tc>
                  <a:txBody>
                    <a:bodyPr/>
                    <a:lstStyle/>
                    <a:p>
                      <a:pPr algn="ctr"/>
                      <a:r>
                        <a:rPr lang="zh-CN" altLang="en-US" sz="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未达到 </a:t>
                      </a:r>
                      <a:r>
                        <a:rPr lang="en-US" altLang="zh-CN" sz="12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30% </a:t>
                      </a:r>
                      <a:r>
                        <a:rPr lang="zh-CN" altLang="en-US" sz="1200" kern="12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验收线</a:t>
                      </a:r>
                      <a:endParaRPr lang="zh-CN" altLang="en-US" sz="1200" kern="12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rgbClr val="FFFFFF"/>
                    </a:solidFill>
                  </a:tcPr>
                </a:tc>
                <a:extLst>
                  <a:ext uri="{0D108BD9-81ED-4DB2-BD59-A6C34878D82A}">
                    <a16:rowId xmlns:a16="http://schemas.microsoft.com/office/drawing/2014/main" val="2405893269"/>
                  </a:ext>
                </a:extLst>
              </a:tr>
            </a:tbl>
          </a:graphicData>
        </a:graphic>
      </p:graphicFrame>
      <p:pic>
        <p:nvPicPr>
          <p:cNvPr id="7" name="图片 6"/>
          <p:cNvPicPr>
            <a:picLocks/>
          </p:cNvPicPr>
          <p:nvPr/>
        </p:nvPicPr>
        <p:blipFill rotWithShape="1">
          <a:blip r:embed="rId3">
            <a:extLst>
              <a:ext uri="{28A0092B-C50C-407E-A947-70E740481C1C}">
                <a14:useLocalDpi xmlns:a14="http://schemas.microsoft.com/office/drawing/2010/main" val="0"/>
              </a:ext>
            </a:extLst>
          </a:blip>
          <a:srcRect t="9411"/>
          <a:stretch/>
        </p:blipFill>
        <p:spPr>
          <a:xfrm>
            <a:off x="508000" y="2702010"/>
            <a:ext cx="11156950" cy="2887705"/>
          </a:xfrm>
          <a:prstGeom prst="rect">
            <a:avLst/>
          </a:prstGeom>
        </p:spPr>
      </p:pic>
      <p:sp>
        <p:nvSpPr>
          <p:cNvPr id="8" name="矩形 7"/>
          <p:cNvSpPr/>
          <p:nvPr/>
        </p:nvSpPr>
        <p:spPr>
          <a:xfrm>
            <a:off x="508000" y="5943600"/>
            <a:ext cx="11303000" cy="4064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文本框 8"/>
          <p:cNvSpPr txBox="1"/>
          <p:nvPr/>
        </p:nvSpPr>
        <p:spPr>
          <a:xfrm>
            <a:off x="508000" y="6000606"/>
            <a:ext cx="11303000" cy="292388"/>
          </a:xfrm>
          <a:prstGeom prst="rect">
            <a:avLst/>
          </a:prstGeom>
          <a:noFill/>
        </p:spPr>
        <p:txBody>
          <a:bodyPr vert="horz" rtlCol="0">
            <a:spAutoFit/>
          </a:bodyPr>
          <a:lstStyle/>
          <a:p>
            <a:pPr algn="ctr"/>
            <a:r>
              <a:rPr lang="zh-CN" altLang="en-US" sz="13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结论</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：主力后端（</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ERes2Net</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ECAPA</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）均超过</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验收线，轻量后端（</a:t>
            </a:r>
            <a:r>
              <a:rPr lang="en-US" altLang="zh-CN"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ReDimNet-B6</a:t>
            </a:r>
            <a:r>
              <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）接近验收</a:t>
            </a:r>
            <a:r>
              <a:rPr lang="zh-CN" altLang="en-US" sz="13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目标。</a:t>
            </a:r>
            <a:endParaRPr lang="zh-CN" altLang="en-US" sz="13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fld id="{7BF2EA3F-D088-4729-88F9-9D4FADF26323}" type="slidenum">
              <a:rPr lang="zh-CN" altLang="en-US" smtClean="0"/>
              <a:t>17</a:t>
            </a:fld>
            <a:endParaRPr lang="zh-CN" altLang="en-US"/>
          </a:p>
        </p:txBody>
      </p:sp>
    </p:spTree>
    <p:extLst>
      <p:ext uri="{BB962C8B-B14F-4D97-AF65-F5344CB8AC3E}">
        <p14:creationId xmlns:p14="http://schemas.microsoft.com/office/powerpoint/2010/main" val="16601116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听</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感演示：主验收样例（</a:t>
            </a:r>
            <a:r>
              <a:rPr lang="en-US" altLang="zh-CN"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 dB</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3 s</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Speaker 06154</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524000"/>
            <a:ext cx="3556000" cy="317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508000" y="1524000"/>
            <a:ext cx="3556000" cy="63500"/>
          </a:xfrm>
          <a:prstGeom prst="rect">
            <a:avLst/>
          </a:prstGeom>
          <a:solidFill>
            <a:srgbClr val="7F7F7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文本框 7"/>
          <p:cNvSpPr txBox="1"/>
          <p:nvPr/>
        </p:nvSpPr>
        <p:spPr>
          <a:xfrm>
            <a:off x="711200" y="1778000"/>
            <a:ext cx="3149600" cy="315471"/>
          </a:xfrm>
          <a:prstGeom prst="rect">
            <a:avLst/>
          </a:prstGeom>
          <a:noFill/>
        </p:spPr>
        <p:txBody>
          <a:bodyPr vert="horz" rtlCol="0">
            <a:spAutoFit/>
          </a:bodyPr>
          <a:lstStyle/>
          <a:p>
            <a:r>
              <a:rPr lang="zh-CN" altLang="en-US"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① 增强前 </a:t>
            </a:r>
            <a:r>
              <a:rPr lang="en-US" altLang="zh-CN"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0 dB </a:t>
            </a:r>
            <a:r>
              <a:rPr lang="zh-CN" altLang="en-US"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带噪输入 </a:t>
            </a:r>
            <a:r>
              <a:rPr lang="en-US" altLang="zh-CN" sz="1450" b="1"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Noisy</a:t>
            </a:r>
            <a:endParaRPr lang="zh-CN" altLang="en-US" sz="1450" b="1"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711200" y="2184400"/>
            <a:ext cx="31496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目标语音与干扰</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噪声</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等强混合</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0" name="noise_0db_01_3D_SPK_06154_1原始带噪">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924908" y="2783250"/>
            <a:ext cx="720000" cy="720000"/>
          </a:xfrm>
          <a:prstGeom prst="rect">
            <a:avLst/>
          </a:prstGeom>
        </p:spPr>
      </p:pic>
      <p:sp>
        <p:nvSpPr>
          <p:cNvPr id="11" name="文本框 10"/>
          <p:cNvSpPr txBox="1"/>
          <p:nvPr/>
        </p:nvSpPr>
        <p:spPr>
          <a:xfrm>
            <a:off x="710108" y="3731934"/>
            <a:ext cx="31496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点击喇叭图标试听</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(3 s)</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4318000" y="1524000"/>
            <a:ext cx="3556000" cy="317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4318000" y="1524000"/>
            <a:ext cx="3556000" cy="63500"/>
          </a:xfrm>
          <a:prstGeom prst="rect">
            <a:avLst/>
          </a:prstGeom>
          <a:solidFill>
            <a:srgbClr val="2F549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文本框 13"/>
          <p:cNvSpPr txBox="1"/>
          <p:nvPr/>
        </p:nvSpPr>
        <p:spPr>
          <a:xfrm>
            <a:off x="4521200" y="1778000"/>
            <a:ext cx="3149600" cy="315471"/>
          </a:xfrm>
          <a:prstGeom prst="rect">
            <a:avLst/>
          </a:prstGeom>
          <a:noFill/>
        </p:spPr>
        <p:txBody>
          <a:bodyPr vert="horz" rtlCol="0">
            <a:spAutoFit/>
          </a:bodyPr>
          <a:lstStyle/>
          <a:p>
            <a:r>
              <a:rPr lang="zh-CN" altLang="en-US"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② 增强后 </a:t>
            </a:r>
            <a:r>
              <a:rPr lang="en-US" altLang="zh-CN"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交付前端输出 </a:t>
            </a:r>
            <a:r>
              <a:rPr lang="en-US" altLang="zh-CN" sz="1450" b="1" dirty="0" err="1" smtClean="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rPr>
              <a:t>Denoise</a:t>
            </a:r>
            <a:endParaRPr lang="zh-CN" altLang="en-US" sz="1450" b="1" dirty="0">
              <a:solidFill>
                <a:srgbClr val="2F5496"/>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4521200" y="2184400"/>
            <a:ext cx="3149600" cy="315471"/>
          </a:xfrm>
          <a:prstGeom prst="rect">
            <a:avLst/>
          </a:prstGeom>
          <a:noFill/>
        </p:spPr>
        <p:txBody>
          <a:bodyPr vert="horz" rtlCol="0">
            <a:spAutoFit/>
          </a:bodyPr>
          <a:lstStyle/>
          <a:p>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前端只保留目标说话人的语音</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16" name="noise_0db_01_3D_SPK_06154_2增强后">
            <a:hlinkClick r:id="" action="ppaction://media"/>
          </p:cNvPr>
          <p:cNvPicPr>
            <a:picLocks noChangeAspect="1"/>
          </p:cNvPicPr>
          <p:nvPr>
            <a:audioFile r:link="rId4"/>
            <p:extLst>
              <p:ext uri="{DAA4B4D4-6D71-4841-9C94-3DE7FCFB9230}">
                <p14:media xmlns:p14="http://schemas.microsoft.com/office/powerpoint/2010/main" r:embed="rId3"/>
              </p:ext>
            </p:extLst>
          </p:nvPr>
        </p:nvPicPr>
        <p:blipFill>
          <a:blip r:embed="rId9"/>
          <a:stretch>
            <a:fillRect/>
          </a:stretch>
        </p:blipFill>
        <p:spPr>
          <a:xfrm>
            <a:off x="5734908" y="2783250"/>
            <a:ext cx="720000" cy="720000"/>
          </a:xfrm>
          <a:prstGeom prst="rect">
            <a:avLst/>
          </a:prstGeom>
        </p:spPr>
      </p:pic>
      <p:sp>
        <p:nvSpPr>
          <p:cNvPr id="17" name="文本框 16"/>
          <p:cNvSpPr txBox="1"/>
          <p:nvPr/>
        </p:nvSpPr>
        <p:spPr>
          <a:xfrm>
            <a:off x="4520108" y="3731934"/>
            <a:ext cx="3149600" cy="315471"/>
          </a:xfrm>
          <a:prstGeom prst="rect">
            <a:avLst/>
          </a:prstGeom>
          <a:noFill/>
        </p:spPr>
        <p:txBody>
          <a:bodyPr vert="horz" rtlCol="0">
            <a:spAutoFit/>
          </a:bodyPr>
          <a:lstStyle/>
          <a:p>
            <a:r>
              <a:rPr lang="zh-CN" altLang="en-US" sz="1450" smtClean="0">
                <a:latin typeface="Times New Roman" panose="02020603050405020304" pitchFamily="18" charset="0"/>
                <a:ea typeface="微软雅黑" panose="020B0503020204020204" pitchFamily="34" charset="-122"/>
                <a:cs typeface="Times New Roman" panose="02020603050405020304" pitchFamily="18" charset="0"/>
              </a:rPr>
              <a:t>点击喇叭图标试听</a:t>
            </a:r>
            <a:r>
              <a:rPr lang="en-US" altLang="zh-CN" sz="1450" smtClean="0">
                <a:latin typeface="Times New Roman" panose="02020603050405020304" pitchFamily="18" charset="0"/>
                <a:ea typeface="微软雅黑" panose="020B0503020204020204" pitchFamily="34" charset="-122"/>
                <a:cs typeface="Times New Roman" panose="02020603050405020304" pitchFamily="18" charset="0"/>
              </a:rPr>
              <a:t>(3 s)</a:t>
            </a:r>
            <a:endParaRPr lang="zh-CN" altLang="en-US" sz="145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8128000" y="1524000"/>
            <a:ext cx="3556000" cy="317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8128000" y="1524000"/>
            <a:ext cx="3556000" cy="635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文本框 19"/>
          <p:cNvSpPr txBox="1"/>
          <p:nvPr/>
        </p:nvSpPr>
        <p:spPr>
          <a:xfrm>
            <a:off x="8331200" y="1778000"/>
            <a:ext cx="3149600" cy="315471"/>
          </a:xfrm>
          <a:prstGeom prst="rect">
            <a:avLst/>
          </a:prstGeom>
          <a:noFill/>
        </p:spPr>
        <p:txBody>
          <a:bodyPr vert="horz" rtlCol="0">
            <a:spAutoFit/>
          </a:bodyPr>
          <a:lstStyle/>
          <a:p>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③ 参考</a:t>
            </a:r>
            <a:r>
              <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语音</a:t>
            </a:r>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同一说话人 </a:t>
            </a:r>
            <a:r>
              <a:rPr lang="en-US" altLang="zh-CN"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450" b="1" dirty="0"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lean</a:t>
            </a:r>
            <a:endParaRPr lang="zh-CN" altLang="en-US" sz="1450" b="1" dirty="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p:cNvSpPr txBox="1"/>
          <p:nvPr/>
        </p:nvSpPr>
        <p:spPr>
          <a:xfrm>
            <a:off x="8331200" y="2184400"/>
            <a:ext cx="3149600" cy="315471"/>
          </a:xfrm>
          <a:prstGeom prst="rect">
            <a:avLst/>
          </a:prstGeom>
          <a:noFill/>
        </p:spPr>
        <p:txBody>
          <a:bodyPr vert="horz" rtlCol="0">
            <a:spAutoFit/>
          </a:bodyPr>
          <a:lstStyle/>
          <a:p>
            <a:r>
              <a:rPr lang="zh-CN" altLang="en-US" sz="1450" smtClean="0">
                <a:latin typeface="Times New Roman" panose="02020603050405020304" pitchFamily="18" charset="0"/>
                <a:ea typeface="微软雅黑" panose="020B0503020204020204" pitchFamily="34" charset="-122"/>
                <a:cs typeface="Times New Roman" panose="02020603050405020304" pitchFamily="18" charset="0"/>
              </a:rPr>
              <a:t>增强后音质的对齐目标</a:t>
            </a:r>
            <a:endParaRPr lang="zh-CN" altLang="en-US" sz="1450">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2" name="clean_01_3D_SPK_06154_1原始带噪">
            <a:hlinkClick r:id="" action="ppaction://media"/>
          </p:cNvPr>
          <p:cNvPicPr>
            <a:picLocks noChangeAspect="1"/>
          </p:cNvPicPr>
          <p:nvPr>
            <a:audioFile r:link="rId6"/>
            <p:extLst>
              <p:ext uri="{DAA4B4D4-6D71-4841-9C94-3DE7FCFB9230}">
                <p14:media xmlns:p14="http://schemas.microsoft.com/office/powerpoint/2010/main" r:embed="rId5"/>
              </p:ext>
            </p:extLst>
          </p:nvPr>
        </p:nvPicPr>
        <p:blipFill>
          <a:blip r:embed="rId9"/>
          <a:stretch>
            <a:fillRect/>
          </a:stretch>
        </p:blipFill>
        <p:spPr>
          <a:xfrm>
            <a:off x="9544908" y="2783250"/>
            <a:ext cx="720000" cy="720000"/>
          </a:xfrm>
          <a:prstGeom prst="rect">
            <a:avLst/>
          </a:prstGeom>
        </p:spPr>
      </p:pic>
      <p:sp>
        <p:nvSpPr>
          <p:cNvPr id="23" name="文本框 22"/>
          <p:cNvSpPr txBox="1"/>
          <p:nvPr/>
        </p:nvSpPr>
        <p:spPr>
          <a:xfrm>
            <a:off x="8330108" y="3731934"/>
            <a:ext cx="3149600" cy="315471"/>
          </a:xfrm>
          <a:prstGeom prst="rect">
            <a:avLst/>
          </a:prstGeom>
          <a:noFill/>
        </p:spPr>
        <p:txBody>
          <a:bodyPr vert="horz" rtlCol="0">
            <a:spAutoFit/>
          </a:bodyPr>
          <a:lstStyle/>
          <a:p>
            <a:r>
              <a:rPr lang="zh-CN" altLang="en-US" sz="1450" smtClean="0">
                <a:latin typeface="Times New Roman" panose="02020603050405020304" pitchFamily="18" charset="0"/>
                <a:ea typeface="微软雅黑" panose="020B0503020204020204" pitchFamily="34" charset="-122"/>
                <a:cs typeface="Times New Roman" panose="02020603050405020304" pitchFamily="18" charset="0"/>
              </a:rPr>
              <a:t>点击喇叭图标试听</a:t>
            </a:r>
            <a:r>
              <a:rPr lang="en-US" altLang="zh-CN" sz="1450" smtClean="0">
                <a:latin typeface="Times New Roman" panose="02020603050405020304" pitchFamily="18" charset="0"/>
                <a:ea typeface="微软雅黑" panose="020B0503020204020204" pitchFamily="34" charset="-122"/>
                <a:cs typeface="Times New Roman" panose="02020603050405020304" pitchFamily="18" charset="0"/>
              </a:rPr>
              <a:t>(3 s)</a:t>
            </a:r>
            <a:endParaRPr lang="zh-CN" altLang="en-US" sz="145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4" name="矩形 23"/>
          <p:cNvSpPr/>
          <p:nvPr/>
        </p:nvSpPr>
        <p:spPr>
          <a:xfrm>
            <a:off x="508000" y="5181600"/>
            <a:ext cx="11303000" cy="508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文本框 24"/>
          <p:cNvSpPr txBox="1"/>
          <p:nvPr/>
        </p:nvSpPr>
        <p:spPr>
          <a:xfrm>
            <a:off x="508000" y="5289448"/>
            <a:ext cx="11303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试</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听关注：✓ </a:t>
            </a: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干扰被</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抑制 ✓ 目标说话人完整保留 ✓增强音质接近 </a:t>
            </a: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clean reference</a:t>
            </a:r>
          </a:p>
        </p:txBody>
      </p:sp>
      <p:sp>
        <p:nvSpPr>
          <p:cNvPr id="26" name="矩形 25"/>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灯片编号占位符 26"/>
          <p:cNvSpPr>
            <a:spLocks noGrp="1"/>
          </p:cNvSpPr>
          <p:nvPr>
            <p:ph type="sldNum" sz="quarter" idx="12"/>
          </p:nvPr>
        </p:nvSpPr>
        <p:spPr/>
        <p:txBody>
          <a:bodyPr/>
          <a:lstStyle/>
          <a:p>
            <a:fld id="{7BF2EA3F-D088-4729-88F9-9D4FADF26323}" type="slidenum">
              <a:rPr lang="zh-CN" altLang="en-US" smtClean="0"/>
              <a:t>18</a:t>
            </a:fld>
            <a:endParaRPr lang="zh-CN" altLang="en-US"/>
          </a:p>
        </p:txBody>
      </p:sp>
    </p:spTree>
    <p:extLst>
      <p:ext uri="{BB962C8B-B14F-4D97-AF65-F5344CB8AC3E}">
        <p14:creationId xmlns:p14="http://schemas.microsoft.com/office/powerpoint/2010/main" val="69652530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0"/>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3000" fill="hold"/>
                                        <p:tgtEl>
                                          <p:spTgt spid="10"/>
                                        </p:tgtEl>
                                      </p:cBhvr>
                                    </p:cmd>
                                  </p:childTnLst>
                                </p:cTn>
                              </p:par>
                            </p:childTnLst>
                          </p:cTn>
                        </p:par>
                      </p:childTnLst>
                    </p:cTn>
                  </p:par>
                </p:childTnLst>
              </p:cTn>
              <p:nextCondLst>
                <p:cond evt="onClick" delay="0">
                  <p:tgtEl>
                    <p:spTgt spid="10"/>
                  </p:tgtEl>
                </p:cond>
              </p:nextCondLst>
            </p:seq>
            <p:audio>
              <p:cMediaNode vol="80000">
                <p:cTn id="7" fill="hold" display="0">
                  <p:stCondLst>
                    <p:cond delay="indefinite"/>
                  </p:stCondLst>
                  <p:endCondLst>
                    <p:cond evt="onStopAudio" delay="0">
                      <p:tgtEl>
                        <p:sldTgt/>
                      </p:tgtEl>
                    </p:cond>
                  </p:endCondLst>
                </p:cTn>
                <p:tgtEl>
                  <p:spTgt spid="10"/>
                </p:tgtEl>
              </p:cMediaNode>
            </p:audi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1" presetClass="mediacall" presetSubtype="0" fill="hold" nodeType="clickEffect">
                                  <p:stCondLst>
                                    <p:cond delay="0"/>
                                  </p:stCondLst>
                                  <p:childTnLst>
                                    <p:cmd type="call" cmd="playFrom(0.0)">
                                      <p:cBhvr>
                                        <p:cTn id="12" dur="3000" fill="hold"/>
                                        <p:tgtEl>
                                          <p:spTgt spid="16"/>
                                        </p:tgtEl>
                                      </p:cBhvr>
                                    </p:cmd>
                                  </p:childTnLst>
                                </p:cTn>
                              </p:par>
                            </p:childTnLst>
                          </p:cTn>
                        </p:par>
                      </p:childTnLst>
                    </p:cTn>
                  </p:par>
                </p:childTnLst>
              </p:cTn>
              <p:nextCondLst>
                <p:cond evt="onClick" delay="0">
                  <p:tgtEl>
                    <p:spTgt spid="16"/>
                  </p:tgtEl>
                </p:cond>
              </p:nextCondLst>
            </p:seq>
            <p:audio>
              <p:cMediaNode vol="80000">
                <p:cTn id="13" fill="hold" display="0">
                  <p:stCondLst>
                    <p:cond delay="indefinite"/>
                  </p:stCondLst>
                  <p:endCondLst>
                    <p:cond evt="onStopAudio" delay="0">
                      <p:tgtEl>
                        <p:sldTgt/>
                      </p:tgtEl>
                    </p:cond>
                  </p:endCondLst>
                </p:cTn>
                <p:tgtEl>
                  <p:spTgt spid="16"/>
                </p:tgtEl>
              </p:cMediaNode>
            </p:audio>
            <p:seq concurrent="1" nextAc="seek">
              <p:cTn id="14" restart="whenNotActive" fill="hold" evtFilter="cancelBubble" nodeType="interactiveSeq">
                <p:stCondLst>
                  <p:cond evt="onClick" delay="0">
                    <p:tgtEl>
                      <p:spTgt spid="22"/>
                    </p:tgtEl>
                  </p:cond>
                </p:stCondLst>
                <p:endSync evt="end" delay="0">
                  <p:rtn val="all"/>
                </p:endSync>
                <p:childTnLst>
                  <p:par>
                    <p:cTn id="15" fill="hold">
                      <p:stCondLst>
                        <p:cond delay="0"/>
                      </p:stCondLst>
                      <p:childTnLst>
                        <p:par>
                          <p:cTn id="16" fill="hold">
                            <p:stCondLst>
                              <p:cond delay="0"/>
                            </p:stCondLst>
                            <p:childTnLst>
                              <p:par>
                                <p:cTn id="17" presetID="1" presetClass="mediacall" presetSubtype="0" fill="hold" nodeType="clickEffect">
                                  <p:stCondLst>
                                    <p:cond delay="0"/>
                                  </p:stCondLst>
                                  <p:childTnLst>
                                    <p:cmd type="call" cmd="playFrom(0.0)">
                                      <p:cBhvr>
                                        <p:cTn id="18" dur="3000" fill="hold"/>
                                        <p:tgtEl>
                                          <p:spTgt spid="22"/>
                                        </p:tgtEl>
                                      </p:cBhvr>
                                    </p:cmd>
                                  </p:childTnLst>
                                </p:cTn>
                              </p:par>
                            </p:childTnLst>
                          </p:cTn>
                        </p:par>
                      </p:childTnLst>
                    </p:cTn>
                  </p:par>
                </p:childTnLst>
              </p:cTn>
              <p:nextCondLst>
                <p:cond evt="onClick" delay="0">
                  <p:tgtEl>
                    <p:spTgt spid="22"/>
                  </p:tgtEl>
                </p:cond>
              </p:nextCondLst>
            </p:seq>
            <p:audio>
              <p:cMediaNode vol="80000">
                <p:cTn id="19" fill="hold" display="0">
                  <p:stCondLst>
                    <p:cond delay="indefinite"/>
                  </p:stCondLst>
                  <p:endCondLst>
                    <p:cond evt="onStopAudio" delay="0">
                      <p:tgtEl>
                        <p:sldTgt/>
                      </p:tgtEl>
                    </p:cond>
                  </p:endCondLst>
                </p:cTn>
                <p:tgtEl>
                  <p:spTgt spid="22"/>
                </p:tgtEl>
              </p:cMediaNode>
            </p:audi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噪声域泛化：非人声噪声稳定迁移，人声干扰仍是瓶颈</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pic>
        <p:nvPicPr>
          <p:cNvPr id="6" name="图片 5"/>
          <p:cNvPicPr>
            <a:picLocks/>
          </p:cNvPicPr>
          <p:nvPr/>
        </p:nvPicPr>
        <p:blipFill>
          <a:blip r:embed="rId3">
            <a:extLst>
              <a:ext uri="{28A0092B-C50C-407E-A947-70E740481C1C}">
                <a14:useLocalDpi xmlns:a14="http://schemas.microsoft.com/office/drawing/2010/main" val="0"/>
              </a:ext>
            </a:extLst>
          </a:blip>
          <a:stretch>
            <a:fillRect/>
          </a:stretch>
        </p:blipFill>
        <p:spPr>
          <a:xfrm>
            <a:off x="762000" y="1094317"/>
            <a:ext cx="10668000" cy="3678767"/>
          </a:xfrm>
          <a:prstGeom prst="rect">
            <a:avLst/>
          </a:prstGeom>
        </p:spPr>
      </p:pic>
      <p:sp>
        <p:nvSpPr>
          <p:cNvPr id="7" name="文本框 6"/>
          <p:cNvSpPr txBox="1"/>
          <p:nvPr/>
        </p:nvSpPr>
        <p:spPr>
          <a:xfrm>
            <a:off x="762000" y="4902200"/>
            <a:ext cx="10668000" cy="820994"/>
          </a:xfrm>
          <a:prstGeom prst="rect">
            <a:avLst/>
          </a:prstGeom>
          <a:noFill/>
        </p:spPr>
        <p:txBody>
          <a:bodyPr vert="horz" rtlCol="0">
            <a:spAutoFit/>
          </a:bodyPr>
          <a:lstStyle/>
          <a:p>
            <a:pPr marL="285750" indent="-285750">
              <a:lnSpc>
                <a:spcPct val="150000"/>
              </a:lnSpc>
              <a:spcAft>
                <a:spcPts val="600"/>
              </a:spcAft>
              <a:buFont typeface="Wingdings" panose="05000000000000000000" pitchFamily="2" charset="2"/>
              <a:buChar char="Ø"/>
            </a:pP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训练</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未见的 </a:t>
            </a:r>
            <a:r>
              <a:rPr lang="en-US" altLang="zh-CN"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music </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与 </a:t>
            </a:r>
            <a:r>
              <a:rPr lang="en-US" altLang="zh-CN" sz="1500" dirty="0" err="1">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soundbible</a:t>
            </a:r>
            <a:r>
              <a:rPr lang="en-US" altLang="zh-CN"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噪声域仍保持约</a:t>
            </a:r>
            <a:r>
              <a:rPr lang="en-US" altLang="zh-CN"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40%</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相对提升，说明方法未过拟合主验收</a:t>
            </a: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池</a:t>
            </a:r>
            <a:endParaRPr lang="en-US" altLang="zh-CN"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spcAft>
                <a:spcPts val="600"/>
              </a:spcAft>
              <a:buFont typeface="Wingdings" panose="05000000000000000000" pitchFamily="2" charset="2"/>
              <a:buChar char="Ø"/>
            </a:pP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竞争</a:t>
            </a:r>
            <a:r>
              <a:rPr lang="zh-CN" altLang="en-US" sz="1500" dirty="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说话人域提升明显下降，与重叠语音结果一致，说明人声干扰仍是当前主要瓶颈</a:t>
            </a:r>
            <a:r>
              <a:rPr lang="zh-CN" altLang="en-US" sz="1500" dirty="0" smtClean="0">
                <a:solidFill>
                  <a:srgbClr val="333333"/>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8" name="矩形 7"/>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矩形 8"/>
          <p:cNvSpPr/>
          <p:nvPr/>
        </p:nvSpPr>
        <p:spPr>
          <a:xfrm>
            <a:off x="3921210" y="1680518"/>
            <a:ext cx="2001795" cy="51898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灯片编号占位符 9"/>
          <p:cNvSpPr>
            <a:spLocks noGrp="1"/>
          </p:cNvSpPr>
          <p:nvPr>
            <p:ph type="sldNum" sz="quarter" idx="12"/>
          </p:nvPr>
        </p:nvSpPr>
        <p:spPr/>
        <p:txBody>
          <a:bodyPr/>
          <a:lstStyle/>
          <a:p>
            <a:fld id="{7BF2EA3F-D088-4729-88F9-9D4FADF26323}" type="slidenum">
              <a:rPr lang="zh-CN" altLang="en-US" smtClean="0"/>
              <a:t>19</a:t>
            </a:fld>
            <a:endParaRPr lang="zh-CN" altLang="en-US"/>
          </a:p>
        </p:txBody>
      </p:sp>
    </p:spTree>
    <p:extLst>
      <p:ext uri="{BB962C8B-B14F-4D97-AF65-F5344CB8AC3E}">
        <p14:creationId xmlns:p14="http://schemas.microsoft.com/office/powerpoint/2010/main" val="7417074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扩展验证</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不同场景下的泛化能力</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pic>
        <p:nvPicPr>
          <p:cNvPr id="6" name="图片 5"/>
          <p:cNvPicPr>
            <a:picLocks/>
          </p:cNvPicPr>
          <p:nvPr/>
        </p:nvPicPr>
        <p:blipFill>
          <a:blip r:embed="rId3">
            <a:extLst>
              <a:ext uri="{28A0092B-C50C-407E-A947-70E740481C1C}">
                <a14:useLocalDpi xmlns:a14="http://schemas.microsoft.com/office/drawing/2010/main" val="0"/>
              </a:ext>
            </a:extLst>
          </a:blip>
          <a:stretch>
            <a:fillRect/>
          </a:stretch>
        </p:blipFill>
        <p:spPr>
          <a:xfrm>
            <a:off x="508000" y="1067671"/>
            <a:ext cx="5334000" cy="4062257"/>
          </a:xfrm>
          <a:prstGeom prst="rect">
            <a:avLst/>
          </a:prstGeom>
        </p:spPr>
      </p:pic>
      <p:sp>
        <p:nvSpPr>
          <p:cNvPr id="7" name="矩形 6"/>
          <p:cNvSpPr/>
          <p:nvPr/>
        </p:nvSpPr>
        <p:spPr>
          <a:xfrm>
            <a:off x="508000" y="5257800"/>
            <a:ext cx="5334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文本框 7"/>
          <p:cNvSpPr txBox="1"/>
          <p:nvPr/>
        </p:nvSpPr>
        <p:spPr>
          <a:xfrm>
            <a:off x="584200" y="5383109"/>
            <a:ext cx="5664201" cy="284693"/>
          </a:xfrm>
          <a:prstGeom prst="rect">
            <a:avLst/>
          </a:prstGeom>
          <a:noFill/>
        </p:spPr>
        <p:txBody>
          <a:bodyPr vert="horz" wrap="square" rtlCol="0">
            <a:spAutoFit/>
          </a:bodyPr>
          <a:lstStyle/>
          <a:p>
            <a:r>
              <a:rPr lang="zh-CN" altLang="en-US" sz="1250" b="1" dirty="0">
                <a:latin typeface="Times New Roman" panose="02020603050405020304" pitchFamily="18" charset="0"/>
                <a:ea typeface="微软雅黑" panose="020B0503020204020204" pitchFamily="34" charset="-122"/>
                <a:cs typeface="Times New Roman" panose="02020603050405020304" pitchFamily="18" charset="0"/>
              </a:rPr>
              <a:t>时长泛化</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3 s</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5 s</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均满足验收线；</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1 s</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提升</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26.9%</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，仍存在约</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3 pp</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提升空间。</a:t>
            </a:r>
          </a:p>
        </p:txBody>
      </p:sp>
      <p:pic>
        <p:nvPicPr>
          <p:cNvPr id="9" name="图片 8"/>
          <p:cNvPicPr>
            <a:picLocks/>
          </p:cNvPicPr>
          <p:nvPr/>
        </p:nvPicPr>
        <p:blipFill>
          <a:blip r:embed="rId4">
            <a:extLst>
              <a:ext uri="{28A0092B-C50C-407E-A947-70E740481C1C}">
                <a14:useLocalDpi xmlns:a14="http://schemas.microsoft.com/office/drawing/2010/main" val="0"/>
              </a:ext>
            </a:extLst>
          </a:blip>
          <a:stretch>
            <a:fillRect/>
          </a:stretch>
        </p:blipFill>
        <p:spPr>
          <a:xfrm>
            <a:off x="6096000" y="1068130"/>
            <a:ext cx="5588000" cy="2130940"/>
          </a:xfrm>
          <a:prstGeom prst="rect">
            <a:avLst/>
          </a:prstGeom>
        </p:spPr>
      </p:pic>
      <p:sp>
        <p:nvSpPr>
          <p:cNvPr id="10" name="矩形 9"/>
          <p:cNvSpPr/>
          <p:nvPr/>
        </p:nvSpPr>
        <p:spPr>
          <a:xfrm>
            <a:off x="6096000" y="3276600"/>
            <a:ext cx="5588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文本框 10"/>
          <p:cNvSpPr txBox="1"/>
          <p:nvPr/>
        </p:nvSpPr>
        <p:spPr>
          <a:xfrm>
            <a:off x="6096000" y="3403600"/>
            <a:ext cx="5715000" cy="284693"/>
          </a:xfrm>
          <a:prstGeom prst="rect">
            <a:avLst/>
          </a:prstGeom>
          <a:noFill/>
        </p:spPr>
        <p:txBody>
          <a:bodyPr vert="horz" wrap="square" rtlCol="0">
            <a:spAutoFit/>
          </a:bodyPr>
          <a:lstStyle/>
          <a:p>
            <a:r>
              <a:rPr lang="zh-CN" altLang="en-US" sz="1250" b="1" dirty="0" smtClean="0">
                <a:latin typeface="Times New Roman" panose="02020603050405020304" pitchFamily="18" charset="0"/>
                <a:ea typeface="微软雅黑" panose="020B0503020204020204" pitchFamily="34" charset="-122"/>
                <a:cs typeface="Times New Roman" panose="02020603050405020304" pitchFamily="18" charset="0"/>
              </a:rPr>
              <a:t>复杂场景泛化</a:t>
            </a:r>
            <a:r>
              <a:rPr lang="zh-CN" altLang="en-US" sz="1250" dirty="0" smtClean="0">
                <a:latin typeface="Times New Roman" panose="02020603050405020304" pitchFamily="18" charset="0"/>
                <a:ea typeface="微软雅黑" panose="020B0503020204020204" pitchFamily="34" charset="-122"/>
                <a:cs typeface="Times New Roman" panose="02020603050405020304" pitchFamily="18" charset="0"/>
              </a:rPr>
              <a:t>：非人</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声场景可稳定迁移，多说话人重叠仍是当前主要瓶颈。</a:t>
            </a:r>
          </a:p>
        </p:txBody>
      </p:sp>
      <p:pic>
        <p:nvPicPr>
          <p:cNvPr id="12" name="图片 11"/>
          <p:cNvPicPr>
            <a:picLocks/>
          </p:cNvPicPr>
          <p:nvPr/>
        </p:nvPicPr>
        <p:blipFill>
          <a:blip r:embed="rId5">
            <a:extLst>
              <a:ext uri="{28A0092B-C50C-407E-A947-70E740481C1C}">
                <a14:useLocalDpi xmlns:a14="http://schemas.microsoft.com/office/drawing/2010/main" val="0"/>
              </a:ext>
            </a:extLst>
          </a:blip>
          <a:stretch>
            <a:fillRect/>
          </a:stretch>
        </p:blipFill>
        <p:spPr>
          <a:xfrm>
            <a:off x="6096000" y="3785930"/>
            <a:ext cx="5588000" cy="2130940"/>
          </a:xfrm>
          <a:prstGeom prst="rect">
            <a:avLst/>
          </a:prstGeom>
        </p:spPr>
      </p:pic>
      <p:sp>
        <p:nvSpPr>
          <p:cNvPr id="13" name="矩形 12"/>
          <p:cNvSpPr/>
          <p:nvPr/>
        </p:nvSpPr>
        <p:spPr>
          <a:xfrm>
            <a:off x="6096000" y="5994400"/>
            <a:ext cx="5588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文本框 13"/>
          <p:cNvSpPr txBox="1"/>
          <p:nvPr/>
        </p:nvSpPr>
        <p:spPr>
          <a:xfrm>
            <a:off x="6096000" y="6110030"/>
            <a:ext cx="5715001" cy="477054"/>
          </a:xfrm>
          <a:prstGeom prst="rect">
            <a:avLst/>
          </a:prstGeom>
          <a:noFill/>
        </p:spPr>
        <p:txBody>
          <a:bodyPr vert="horz" wrap="square" rtlCol="0">
            <a:spAutoFit/>
          </a:bodyPr>
          <a:lstStyle/>
          <a:p>
            <a:r>
              <a:rPr lang="zh-CN" altLang="en-US" sz="1250" b="1" dirty="0">
                <a:latin typeface="Times New Roman" panose="02020603050405020304" pitchFamily="18" charset="0"/>
                <a:ea typeface="微软雅黑" panose="020B0503020204020204" pitchFamily="34" charset="-122"/>
                <a:cs typeface="Times New Roman" panose="02020603050405020304" pitchFamily="18" charset="0"/>
              </a:rPr>
              <a:t>注册退化泛化</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：注册语音降至 </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0 dB </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仍保持约 </a:t>
            </a:r>
            <a:r>
              <a:rPr lang="en-US" altLang="zh-CN" sz="1250" dirty="0">
                <a:latin typeface="Times New Roman" panose="02020603050405020304" pitchFamily="18" charset="0"/>
                <a:ea typeface="微软雅黑" panose="020B0503020204020204" pitchFamily="34" charset="-122"/>
                <a:cs typeface="Times New Roman" panose="02020603050405020304" pitchFamily="18" charset="0"/>
              </a:rPr>
              <a:t>50% </a:t>
            </a:r>
            <a:r>
              <a:rPr lang="zh-CN" altLang="en-US" sz="1250" dirty="0" smtClean="0">
                <a:latin typeface="Times New Roman" panose="02020603050405020304" pitchFamily="18" charset="0"/>
                <a:ea typeface="微软雅黑" panose="020B0503020204020204" pitchFamily="34" charset="-122"/>
                <a:cs typeface="Times New Roman" panose="02020603050405020304" pitchFamily="18" charset="0"/>
              </a:rPr>
              <a:t>提升</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250" dirty="0" smtClean="0">
                <a:latin typeface="Times New Roman" panose="02020603050405020304" pitchFamily="18" charset="0"/>
                <a:ea typeface="微软雅黑" panose="020B0503020204020204" pitchFamily="34" charset="-122"/>
                <a:cs typeface="Times New Roman" panose="02020603050405020304" pitchFamily="18" charset="0"/>
              </a:rPr>
              <a:t>对</a:t>
            </a:r>
            <a:r>
              <a:rPr lang="zh-CN" altLang="en-US" sz="1250" dirty="0">
                <a:latin typeface="Times New Roman" panose="02020603050405020304" pitchFamily="18" charset="0"/>
                <a:ea typeface="微软雅黑" panose="020B0503020204020204" pitchFamily="34" charset="-122"/>
                <a:cs typeface="Times New Roman" panose="02020603050405020304" pitchFamily="18" charset="0"/>
              </a:rPr>
              <a:t>注册端噪声具有一定鲁棒性</a:t>
            </a:r>
          </a:p>
        </p:txBody>
      </p:sp>
      <p:sp>
        <p:nvSpPr>
          <p:cNvPr id="15" name="矩形 14"/>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6" name="灯片编号占位符 15"/>
          <p:cNvSpPr>
            <a:spLocks noGrp="1"/>
          </p:cNvSpPr>
          <p:nvPr>
            <p:ph type="sldNum" sz="quarter" idx="12"/>
          </p:nvPr>
        </p:nvSpPr>
        <p:spPr/>
        <p:txBody>
          <a:bodyPr/>
          <a:lstStyle/>
          <a:p>
            <a:fld id="{7BF2EA3F-D088-4729-88F9-9D4FADF26323}" type="slidenum">
              <a:rPr lang="zh-CN" altLang="en-US" smtClean="0"/>
              <a:t>20</a:t>
            </a:fld>
            <a:endParaRPr lang="zh-CN" altLang="en-US"/>
          </a:p>
        </p:txBody>
      </p:sp>
    </p:spTree>
    <p:extLst>
      <p:ext uri="{BB962C8B-B14F-4D97-AF65-F5344CB8AC3E}">
        <p14:creationId xmlns:p14="http://schemas.microsoft.com/office/powerpoint/2010/main" val="2080816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a:solidFill>
                  <a:srgbClr val="1F3864"/>
                </a:solidFill>
                <a:latin typeface="微软雅黑" panose="020B0503020204020204" pitchFamily="34" charset="-122"/>
                <a:ea typeface="微软雅黑" panose="020B0503020204020204" pitchFamily="34" charset="-122"/>
              </a:rPr>
              <a:t>工程工作点验证与失败样本分析</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p:cNvPicPr>
          <p:nvPr/>
        </p:nvPicPr>
        <p:blipFill>
          <a:blip r:embed="rId3">
            <a:extLst>
              <a:ext uri="{28A0092B-C50C-407E-A947-70E740481C1C}">
                <a14:useLocalDpi xmlns:a14="http://schemas.microsoft.com/office/drawing/2010/main" val="0"/>
              </a:ext>
            </a:extLst>
          </a:blip>
          <a:stretch>
            <a:fillRect/>
          </a:stretch>
        </p:blipFill>
        <p:spPr>
          <a:xfrm>
            <a:off x="508000" y="1118010"/>
            <a:ext cx="11303000" cy="5104581"/>
          </a:xfrm>
          <a:prstGeom prst="rect">
            <a:avLst/>
          </a:prstGeom>
        </p:spPr>
      </p:pic>
      <p:sp>
        <p:nvSpPr>
          <p:cNvPr id="7" name="矩形 6"/>
          <p:cNvSpPr/>
          <p:nvPr/>
        </p:nvSpPr>
        <p:spPr>
          <a:xfrm>
            <a:off x="508000" y="6350000"/>
            <a:ext cx="11303000" cy="381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p:cNvSpPr txBox="1"/>
          <p:nvPr/>
        </p:nvSpPr>
        <p:spPr>
          <a:xfrm>
            <a:off x="584200" y="6382764"/>
            <a:ext cx="11303000" cy="315471"/>
          </a:xfrm>
          <a:prstGeom prst="rect">
            <a:avLst/>
          </a:prstGeom>
          <a:noFill/>
        </p:spPr>
        <p:txBody>
          <a:bodyPr vert="horz" rtlCol="0">
            <a:spAutoFit/>
          </a:bodyPr>
          <a:lstStyle/>
          <a:p>
            <a:pPr algn="ctr"/>
            <a:r>
              <a:rPr lang="zh-CN" altLang="en-US" sz="1450" b="1" dirty="0">
                <a:solidFill>
                  <a:srgbClr val="1F3864"/>
                </a:solidFill>
                <a:latin typeface="微软雅黑" panose="020B0503020204020204" pitchFamily="34" charset="-122"/>
                <a:ea typeface="微软雅黑" panose="020B0503020204020204" pitchFamily="34" charset="-122"/>
              </a:rPr>
              <a:t>工程指标：</a:t>
            </a:r>
            <a:r>
              <a:rPr lang="en-US" altLang="zh-CN" sz="1450" b="1" dirty="0" err="1">
                <a:solidFill>
                  <a:srgbClr val="1F3864"/>
                </a:solidFill>
                <a:latin typeface="微软雅黑" panose="020B0503020204020204" pitchFamily="34" charset="-122"/>
                <a:ea typeface="微软雅黑" panose="020B0503020204020204" pitchFamily="34" charset="-122"/>
              </a:rPr>
              <a:t>minDCF</a:t>
            </a:r>
            <a:r>
              <a:rPr lang="en-US" altLang="zh-CN" sz="1450" b="1" dirty="0">
                <a:solidFill>
                  <a:srgbClr val="1F3864"/>
                </a:solidFill>
                <a:latin typeface="微软雅黑" panose="020B0503020204020204" pitchFamily="34" charset="-122"/>
                <a:ea typeface="微软雅黑" panose="020B0503020204020204" pitchFamily="34" charset="-122"/>
              </a:rPr>
              <a:t> </a:t>
            </a:r>
            <a:r>
              <a:rPr lang="zh-CN" altLang="en-US" sz="1450" b="1" dirty="0">
                <a:solidFill>
                  <a:srgbClr val="1F3864"/>
                </a:solidFill>
                <a:latin typeface="微软雅黑" panose="020B0503020204020204" pitchFamily="34" charset="-122"/>
                <a:ea typeface="微软雅黑" panose="020B0503020204020204" pitchFamily="34" charset="-122"/>
              </a:rPr>
              <a:t>与固定阈值工作点均与 </a:t>
            </a:r>
            <a:r>
              <a:rPr lang="en-US" altLang="zh-CN" sz="1450" b="1" dirty="0">
                <a:solidFill>
                  <a:srgbClr val="1F3864"/>
                </a:solidFill>
                <a:latin typeface="微软雅黑" panose="020B0503020204020204" pitchFamily="34" charset="-122"/>
                <a:ea typeface="微软雅黑" panose="020B0503020204020204" pitchFamily="34" charset="-122"/>
              </a:rPr>
              <a:t>EER </a:t>
            </a:r>
            <a:r>
              <a:rPr lang="zh-CN" altLang="en-US" sz="1450" b="1" dirty="0">
                <a:solidFill>
                  <a:srgbClr val="1F3864"/>
                </a:solidFill>
                <a:latin typeface="微软雅黑" panose="020B0503020204020204" pitchFamily="34" charset="-122"/>
                <a:ea typeface="微软雅黑" panose="020B0503020204020204" pitchFamily="34" charset="-122"/>
              </a:rPr>
              <a:t>同向改善</a:t>
            </a:r>
            <a:r>
              <a:rPr lang="zh-CN" altLang="en-US" sz="1450" b="1" dirty="0" smtClean="0">
                <a:solidFill>
                  <a:srgbClr val="1F3864"/>
                </a:solidFill>
                <a:latin typeface="微软雅黑" panose="020B0503020204020204" pitchFamily="34" charset="-122"/>
                <a:ea typeface="微软雅黑" panose="020B0503020204020204" pitchFamily="34" charset="-122"/>
              </a:rPr>
              <a:t>。      训练</a:t>
            </a:r>
            <a:r>
              <a:rPr lang="zh-CN" altLang="en-US" sz="1450" b="1" dirty="0">
                <a:solidFill>
                  <a:srgbClr val="1F3864"/>
                </a:solidFill>
                <a:latin typeface="微软雅黑" panose="020B0503020204020204" pitchFamily="34" charset="-122"/>
                <a:ea typeface="微软雅黑" panose="020B0503020204020204" pitchFamily="34" charset="-122"/>
              </a:rPr>
              <a:t>闭环：失败样本</a:t>
            </a:r>
            <a:r>
              <a:rPr lang="zh-CN" altLang="en-US" sz="1450" b="1" dirty="0" smtClean="0">
                <a:solidFill>
                  <a:srgbClr val="1F3864"/>
                </a:solidFill>
                <a:latin typeface="微软雅黑" panose="020B0503020204020204" pitchFamily="34" charset="-122"/>
                <a:ea typeface="微软雅黑" panose="020B0503020204020204" pitchFamily="34" charset="-122"/>
              </a:rPr>
              <a:t>统计用于困难说话人定位。</a:t>
            </a:r>
            <a:endParaRPr lang="zh-CN" altLang="en-US" sz="1450" b="1" dirty="0">
              <a:solidFill>
                <a:srgbClr val="1F3864"/>
              </a:solidFill>
              <a:latin typeface="微软雅黑" panose="020B0503020204020204" pitchFamily="34" charset="-122"/>
              <a:ea typeface="微软雅黑" panose="020B0503020204020204" pitchFamily="34" charset="-122"/>
            </a:endParaRPr>
          </a:p>
        </p:txBody>
      </p:sp>
      <p:sp>
        <p:nvSpPr>
          <p:cNvPr id="9" name="矩形 8"/>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矩形 9"/>
          <p:cNvSpPr/>
          <p:nvPr/>
        </p:nvSpPr>
        <p:spPr>
          <a:xfrm>
            <a:off x="1186249" y="1598141"/>
            <a:ext cx="1919415"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1" name="灯片编号占位符 10"/>
          <p:cNvSpPr>
            <a:spLocks noGrp="1"/>
          </p:cNvSpPr>
          <p:nvPr>
            <p:ph type="sldNum" sz="quarter" idx="12"/>
          </p:nvPr>
        </p:nvSpPr>
        <p:spPr>
          <a:xfrm>
            <a:off x="9448800" y="6514041"/>
            <a:ext cx="2743200" cy="365125"/>
          </a:xfrm>
        </p:spPr>
        <p:txBody>
          <a:bodyPr/>
          <a:lstStyle/>
          <a:p>
            <a:fld id="{7BF2EA3F-D088-4729-88F9-9D4FADF26323}" type="slidenum">
              <a:rPr lang="zh-CN" altLang="en-US" smtClean="0"/>
              <a:t>21</a:t>
            </a:fld>
            <a:endParaRPr lang="zh-CN" altLang="en-US" dirty="0"/>
          </a:p>
        </p:txBody>
      </p:sp>
    </p:spTree>
    <p:extLst>
      <p:ext uri="{BB962C8B-B14F-4D97-AF65-F5344CB8AC3E}">
        <p14:creationId xmlns:p14="http://schemas.microsoft.com/office/powerpoint/2010/main" val="403264386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提  纲</a:t>
            </a:r>
            <a:endParaRPr lang="zh-CN" altLang="en-US" sz="30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 name="矩形 3"/>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文本框 4"/>
          <p:cNvSpPr txBox="1"/>
          <p:nvPr/>
        </p:nvSpPr>
        <p:spPr>
          <a:xfrm>
            <a:off x="2235200" y="18288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任务背景与要求</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研究思路</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实验条件与评测协议</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04</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交付方法</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05</a:t>
            </a:r>
            <a:endParaRPr lang="zh-CN" altLang="en-US"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smtClean="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实验结果与消融</a:t>
            </a:r>
            <a:endParaRPr lang="zh-CN" altLang="en-US" sz="190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1143000" y="57150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2235200" y="5765800"/>
            <a:ext cx="5334000" cy="415498"/>
          </a:xfrm>
          <a:prstGeom prst="rect">
            <a:avLst/>
          </a:prstGeom>
          <a:noFill/>
        </p:spPr>
        <p:txBody>
          <a:bodyPr vert="horz" rtlCol="0">
            <a:spAutoFit/>
          </a:bodyPr>
          <a:lstStyle/>
          <a:p>
            <a:r>
              <a:rPr lang="zh-CN" altLang="en-US" sz="210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讨论</a:t>
            </a:r>
            <a:r>
              <a:rPr lang="zh-CN" altLang="en-US" sz="2100" b="1" dirty="0" smtClean="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rPr>
              <a:t>与展望</a:t>
            </a:r>
            <a:endParaRPr lang="zh-CN" altLang="en-US" sz="2100" b="1" dirty="0">
              <a:solidFill>
                <a:srgbClr val="ED7D31"/>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smtClean="0">
                <a:solidFill>
                  <a:srgbClr val="E2E8F5"/>
                </a:solidFill>
                <a:latin typeface="Times New Roman" panose="02020603050405020304" pitchFamily="18" charset="0"/>
                <a:ea typeface="微软雅黑" panose="020B0503020204020204" pitchFamily="34" charset="-122"/>
                <a:cs typeface="Times New Roman" panose="02020603050405020304" pitchFamily="18" charset="0"/>
              </a:rPr>
              <a:t>06</a:t>
            </a:r>
            <a:endParaRPr lang="zh-CN" altLang="en-US" sz="11000" b="1">
              <a:solidFill>
                <a:srgbClr val="E2E8F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讨论</a:t>
            </a:r>
            <a:r>
              <a:rPr lang="zh-CN" altLang="en-US" sz="30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与展望</a:t>
            </a:r>
            <a:endParaRPr lang="zh-CN" altLang="en-US" sz="30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7973607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局限性</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分析：当前方法的四个主要局限</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1684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矩形 6"/>
          <p:cNvSpPr/>
          <p:nvPr/>
        </p:nvSpPr>
        <p:spPr>
          <a:xfrm>
            <a:off x="508000" y="1168400"/>
            <a:ext cx="5524500" cy="762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8" name="矩形 7"/>
          <p:cNvSpPr/>
          <p:nvPr/>
        </p:nvSpPr>
        <p:spPr>
          <a:xfrm>
            <a:off x="812800" y="1498600"/>
            <a:ext cx="558800" cy="558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a:t>
            </a:r>
          </a:p>
        </p:txBody>
      </p:sp>
      <p:sp>
        <p:nvSpPr>
          <p:cNvPr id="9" name="文本框 8"/>
          <p:cNvSpPr txBox="1"/>
          <p:nvPr/>
        </p:nvSpPr>
        <p:spPr>
          <a:xfrm>
            <a:off x="1574800" y="1549400"/>
            <a:ext cx="4191000" cy="353943"/>
          </a:xfrm>
          <a:prstGeom prst="rect">
            <a:avLst/>
          </a:prstGeom>
          <a:noFill/>
        </p:spPr>
        <p:txBody>
          <a:bodyPr vert="horz" rtlCol="0">
            <a:spAutoFit/>
          </a:bodyPr>
          <a:lstStyle/>
          <a:p>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人声干扰</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 name="文本框 9"/>
          <p:cNvSpPr txBox="1"/>
          <p:nvPr/>
        </p:nvSpPr>
        <p:spPr>
          <a:xfrm>
            <a:off x="812800" y="2286000"/>
            <a:ext cx="4978400" cy="315471"/>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多人重叠与竞争说话人场景仍存在身份混淆</a:t>
            </a:r>
          </a:p>
        </p:txBody>
      </p:sp>
      <p:sp>
        <p:nvSpPr>
          <p:cNvPr id="11" name="矩形 10"/>
          <p:cNvSpPr/>
          <p:nvPr/>
        </p:nvSpPr>
        <p:spPr>
          <a:xfrm>
            <a:off x="6286500" y="11684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2" name="矩形 11"/>
          <p:cNvSpPr/>
          <p:nvPr/>
        </p:nvSpPr>
        <p:spPr>
          <a:xfrm>
            <a:off x="6286500" y="1168400"/>
            <a:ext cx="5524500" cy="762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3" name="矩形 12"/>
          <p:cNvSpPr/>
          <p:nvPr/>
        </p:nvSpPr>
        <p:spPr>
          <a:xfrm>
            <a:off x="6591300" y="1498600"/>
            <a:ext cx="558800" cy="5588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4" name="文本框 13"/>
          <p:cNvSpPr txBox="1"/>
          <p:nvPr/>
        </p:nvSpPr>
        <p:spPr>
          <a:xfrm>
            <a:off x="7353300" y="1549400"/>
            <a:ext cx="4191000" cy="353943"/>
          </a:xfrm>
          <a:prstGeom prst="rect">
            <a:avLst/>
          </a:prstGeom>
          <a:noFill/>
        </p:spPr>
        <p:txBody>
          <a:bodyPr vert="horz" rtlCol="0">
            <a:spAutoFit/>
          </a:bodyPr>
          <a:lstStyle/>
          <a:p>
            <a:r>
              <a:rPr lang="en-US" altLang="zh-CN"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1 s </a:t>
            </a:r>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短语音</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文本框 14"/>
          <p:cNvSpPr txBox="1"/>
          <p:nvPr/>
        </p:nvSpPr>
        <p:spPr>
          <a:xfrm>
            <a:off x="6591300" y="2286000"/>
            <a:ext cx="4978400" cy="315471"/>
          </a:xfrm>
          <a:prstGeom prst="rect">
            <a:avLst/>
          </a:prstGeom>
          <a:noFill/>
        </p:spPr>
        <p:txBody>
          <a:bodyPr vert="horz" rtlCol="0">
            <a:spAutoFit/>
          </a:bodyPr>
          <a:lstStyle/>
          <a:p>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0 dB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验收档距离</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30%</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达标线仍差约</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个百分点</a:t>
            </a:r>
          </a:p>
        </p:txBody>
      </p:sp>
      <p:sp>
        <p:nvSpPr>
          <p:cNvPr id="16" name="矩形 15"/>
          <p:cNvSpPr/>
          <p:nvPr/>
        </p:nvSpPr>
        <p:spPr>
          <a:xfrm>
            <a:off x="508000" y="33782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7" name="矩形 16"/>
          <p:cNvSpPr/>
          <p:nvPr/>
        </p:nvSpPr>
        <p:spPr>
          <a:xfrm>
            <a:off x="508000" y="3378200"/>
            <a:ext cx="5524500" cy="762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矩形 17"/>
          <p:cNvSpPr/>
          <p:nvPr/>
        </p:nvSpPr>
        <p:spPr>
          <a:xfrm>
            <a:off x="812800" y="3708400"/>
            <a:ext cx="558800" cy="558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9" name="文本框 18"/>
          <p:cNvSpPr txBox="1"/>
          <p:nvPr/>
        </p:nvSpPr>
        <p:spPr>
          <a:xfrm>
            <a:off x="1574800" y="3759200"/>
            <a:ext cx="4191000" cy="353943"/>
          </a:xfrm>
          <a:prstGeom prst="rect">
            <a:avLst/>
          </a:prstGeom>
          <a:noFill/>
        </p:spPr>
        <p:txBody>
          <a:bodyPr vert="horz" rtlCol="0">
            <a:spAutoFit/>
          </a:bodyPr>
          <a:lstStyle/>
          <a:p>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轻量后端迁移</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文本框 19"/>
          <p:cNvSpPr txBox="1"/>
          <p:nvPr/>
        </p:nvSpPr>
        <p:spPr>
          <a:xfrm>
            <a:off x="812800" y="4495800"/>
            <a:ext cx="4978400" cy="315471"/>
          </a:xfrm>
          <a:prstGeom prst="rect">
            <a:avLst/>
          </a:prstGeom>
          <a:noFill/>
        </p:spPr>
        <p:txBody>
          <a:bodyPr vert="horz" rtlCol="0">
            <a:spAutoFit/>
          </a:bodyPr>
          <a:lstStyle/>
          <a:p>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ReDimNet2-B6</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轻量后端嵌入空间兼容性不足</a:t>
            </a:r>
          </a:p>
        </p:txBody>
      </p:sp>
      <p:sp>
        <p:nvSpPr>
          <p:cNvPr id="21" name="矩形 20"/>
          <p:cNvSpPr/>
          <p:nvPr/>
        </p:nvSpPr>
        <p:spPr>
          <a:xfrm>
            <a:off x="6286500" y="3378200"/>
            <a:ext cx="5524500" cy="2032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2" name="矩形 21"/>
          <p:cNvSpPr/>
          <p:nvPr/>
        </p:nvSpPr>
        <p:spPr>
          <a:xfrm>
            <a:off x="6286500" y="3378200"/>
            <a:ext cx="5524500" cy="762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3" name="矩形 22"/>
          <p:cNvSpPr/>
          <p:nvPr/>
        </p:nvSpPr>
        <p:spPr>
          <a:xfrm>
            <a:off x="6591300" y="3708400"/>
            <a:ext cx="558800" cy="558800"/>
          </a:xfrm>
          <a:prstGeom prst="rect">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a:t>
            </a:r>
          </a:p>
        </p:txBody>
      </p:sp>
      <p:sp>
        <p:nvSpPr>
          <p:cNvPr id="24" name="文本框 23"/>
          <p:cNvSpPr txBox="1"/>
          <p:nvPr/>
        </p:nvSpPr>
        <p:spPr>
          <a:xfrm>
            <a:off x="7353300" y="3759200"/>
            <a:ext cx="4191000" cy="353943"/>
          </a:xfrm>
          <a:prstGeom prst="rect">
            <a:avLst/>
          </a:prstGeom>
          <a:noFill/>
        </p:spPr>
        <p:txBody>
          <a:bodyPr vert="horz" rtlCol="0">
            <a:spAutoFit/>
          </a:bodyPr>
          <a:lstStyle/>
          <a:p>
            <a:r>
              <a:rPr lang="zh-CN" altLang="en-US" sz="17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挑战目标差距</a:t>
            </a:r>
            <a:endParaRPr lang="zh-CN" altLang="en-US" sz="17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5" name="文本框 24"/>
          <p:cNvSpPr txBox="1"/>
          <p:nvPr/>
        </p:nvSpPr>
        <p:spPr>
          <a:xfrm>
            <a:off x="6591300" y="4495800"/>
            <a:ext cx="4978400" cy="315471"/>
          </a:xfrm>
          <a:prstGeom prst="rect">
            <a:avLst/>
          </a:prstGeom>
          <a:noFill/>
        </p:spPr>
        <p:txBody>
          <a:bodyPr vert="horz" rtlCol="0">
            <a:spAutoFit/>
          </a:bodyPr>
          <a:lstStyle/>
          <a:p>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距离挑战目标</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(EER≤0.5%)</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仍有数量级差距</a:t>
            </a:r>
          </a:p>
        </p:txBody>
      </p:sp>
      <p:sp>
        <p:nvSpPr>
          <p:cNvPr id="26" name="矩形 25"/>
          <p:cNvSpPr/>
          <p:nvPr/>
        </p:nvSpPr>
        <p:spPr>
          <a:xfrm>
            <a:off x="508000" y="5664200"/>
            <a:ext cx="11303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文本框 26"/>
          <p:cNvSpPr txBox="1"/>
          <p:nvPr/>
        </p:nvSpPr>
        <p:spPr>
          <a:xfrm>
            <a:off x="508000" y="5816600"/>
            <a:ext cx="11303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前三项对应下一页路线前三步。</a:t>
            </a:r>
          </a:p>
        </p:txBody>
      </p:sp>
      <p:sp>
        <p:nvSpPr>
          <p:cNvPr id="38" name="矩形 37"/>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9" name="灯片编号占位符 38"/>
          <p:cNvSpPr>
            <a:spLocks noGrp="1"/>
          </p:cNvSpPr>
          <p:nvPr>
            <p:ph type="sldNum" sz="quarter" idx="12"/>
          </p:nvPr>
        </p:nvSpPr>
        <p:spPr/>
        <p:txBody>
          <a:bodyPr/>
          <a:lstStyle/>
          <a:p>
            <a:fld id="{7BF2EA3F-D088-4729-88F9-9D4FADF26323}" type="slidenum">
              <a:rPr lang="zh-CN" altLang="en-US" smtClean="0"/>
              <a:t>23</a:t>
            </a:fld>
            <a:endParaRPr lang="zh-CN" altLang="en-US"/>
          </a:p>
        </p:txBody>
      </p:sp>
    </p:spTree>
    <p:extLst>
      <p:ext uri="{BB962C8B-B14F-4D97-AF65-F5344CB8AC3E}">
        <p14:creationId xmlns:p14="http://schemas.microsoft.com/office/powerpoint/2010/main" val="55500928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课题总结与后续研发路线</a:t>
            </a: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矩形 5"/>
          <p:cNvSpPr/>
          <p:nvPr/>
        </p:nvSpPr>
        <p:spPr>
          <a:xfrm>
            <a:off x="508000" y="1060450"/>
            <a:ext cx="50800" cy="2540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7" name="文本框 6"/>
          <p:cNvSpPr txBox="1"/>
          <p:nvPr/>
        </p:nvSpPr>
        <p:spPr>
          <a:xfrm>
            <a:off x="685800" y="1016000"/>
            <a:ext cx="2794000" cy="338554"/>
          </a:xfrm>
          <a:prstGeom prst="rect">
            <a:avLst/>
          </a:prstGeom>
          <a:noFill/>
        </p:spPr>
        <p:txBody>
          <a:bodyPr vert="horz" rtlCol="0">
            <a:spAutoFit/>
          </a:bodyPr>
          <a:lstStyle/>
          <a:p>
            <a:r>
              <a:rPr lang="zh-CN" altLang="en-US" sz="160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课题成果</a:t>
            </a:r>
            <a:endParaRPr lang="zh-CN" altLang="en-US" sz="160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 name="矩形 7"/>
          <p:cNvSpPr/>
          <p:nvPr/>
        </p:nvSpPr>
        <p:spPr>
          <a:xfrm>
            <a:off x="5080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9" name="矩形 8"/>
          <p:cNvSpPr/>
          <p:nvPr/>
        </p:nvSpPr>
        <p:spPr>
          <a:xfrm>
            <a:off x="5080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0" name="文本框 9"/>
          <p:cNvSpPr txBox="1"/>
          <p:nvPr/>
        </p:nvSpPr>
        <p:spPr>
          <a:xfrm>
            <a:off x="5080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文本框 10"/>
          <p:cNvSpPr txBox="1"/>
          <p:nvPr/>
        </p:nvSpPr>
        <p:spPr>
          <a:xfrm>
            <a:off x="609600" y="1930400"/>
            <a:ext cx="1905000" cy="315471"/>
          </a:xfrm>
          <a:prstGeom prst="rect">
            <a:avLst/>
          </a:prstGeom>
          <a:noFill/>
        </p:spPr>
        <p:txBody>
          <a:bodyPr vert="horz" rtlCol="0">
            <a:spAutoFit/>
          </a:bodyPr>
          <a:lstStyle/>
          <a:p>
            <a:pPr algn="ctr"/>
            <a:r>
              <a:rPr lang="zh-CN" altLang="en-US" sz="145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统一评测体系</a:t>
            </a:r>
            <a:endPar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 name="文本框 11"/>
          <p:cNvSpPr txBox="1"/>
          <p:nvPr/>
        </p:nvSpPr>
        <p:spPr>
          <a:xfrm>
            <a:off x="558800" y="2356991"/>
            <a:ext cx="19558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官方校准偏差</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&lt; 0.6 pp</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矩形 12"/>
          <p:cNvSpPr/>
          <p:nvPr/>
        </p:nvSpPr>
        <p:spPr>
          <a:xfrm>
            <a:off x="28067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矩形 13"/>
          <p:cNvSpPr/>
          <p:nvPr/>
        </p:nvSpPr>
        <p:spPr>
          <a:xfrm>
            <a:off x="28067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5" name="文本框 14"/>
          <p:cNvSpPr txBox="1"/>
          <p:nvPr/>
        </p:nvSpPr>
        <p:spPr>
          <a:xfrm>
            <a:off x="28067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文本框 15"/>
          <p:cNvSpPr txBox="1"/>
          <p:nvPr/>
        </p:nvSpPr>
        <p:spPr>
          <a:xfrm>
            <a:off x="2908300" y="1930400"/>
            <a:ext cx="1905000" cy="315471"/>
          </a:xfrm>
          <a:prstGeom prst="rect">
            <a:avLst/>
          </a:prstGeom>
          <a:noFill/>
        </p:spPr>
        <p:txBody>
          <a:bodyPr vert="horz" rtlCol="0">
            <a:spAutoFit/>
          </a:bodyPr>
          <a:lstStyle/>
          <a:p>
            <a:pPr algn="ctr"/>
            <a:r>
              <a:rPr lang="en-US" altLang="zh-CN"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9.2M </a:t>
            </a: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可训练前端</a:t>
            </a:r>
          </a:p>
        </p:txBody>
      </p:sp>
      <p:sp>
        <p:nvSpPr>
          <p:cNvPr id="17" name="文本框 16"/>
          <p:cNvSpPr txBox="1"/>
          <p:nvPr/>
        </p:nvSpPr>
        <p:spPr>
          <a:xfrm>
            <a:off x="2857500" y="2356991"/>
            <a:ext cx="1955800" cy="538609"/>
          </a:xfrm>
          <a:prstGeom prst="rect">
            <a:avLst/>
          </a:prstGeom>
          <a:noFill/>
        </p:spPr>
        <p:txBody>
          <a:bodyPr vert="horz"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注册条件</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化</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目标</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说话人提取</a:t>
            </a:r>
          </a:p>
        </p:txBody>
      </p:sp>
      <p:sp>
        <p:nvSpPr>
          <p:cNvPr id="18" name="矩形 17"/>
          <p:cNvSpPr/>
          <p:nvPr/>
        </p:nvSpPr>
        <p:spPr>
          <a:xfrm>
            <a:off x="51054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9" name="矩形 18"/>
          <p:cNvSpPr/>
          <p:nvPr/>
        </p:nvSpPr>
        <p:spPr>
          <a:xfrm>
            <a:off x="51054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0" name="文本框 19"/>
          <p:cNvSpPr txBox="1"/>
          <p:nvPr/>
        </p:nvSpPr>
        <p:spPr>
          <a:xfrm>
            <a:off x="51054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1" name="文本框 20"/>
          <p:cNvSpPr txBox="1"/>
          <p:nvPr/>
        </p:nvSpPr>
        <p:spPr>
          <a:xfrm>
            <a:off x="5207000" y="1930400"/>
            <a:ext cx="1905000" cy="315471"/>
          </a:xfrm>
          <a:prstGeom prst="rect">
            <a:avLst/>
          </a:prstGeom>
          <a:noFill/>
        </p:spPr>
        <p:txBody>
          <a:bodyPr vert="horz" rtlCol="0">
            <a:spAutoFit/>
          </a:bodyPr>
          <a:lstStyle/>
          <a:p>
            <a:pPr algn="ctr"/>
            <a:r>
              <a:rPr lang="zh-CN" altLang="en-US" sz="145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主力后端大幅提升</a:t>
            </a:r>
            <a:endParaRPr lang="zh-CN" altLang="en-US" sz="145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文本框 21"/>
          <p:cNvSpPr txBox="1"/>
          <p:nvPr/>
        </p:nvSpPr>
        <p:spPr>
          <a:xfrm>
            <a:off x="5156200" y="2356991"/>
            <a:ext cx="1955800" cy="538609"/>
          </a:xfrm>
          <a:prstGeom prst="rect">
            <a:avLst/>
          </a:prstGeom>
          <a:noFill/>
        </p:spPr>
        <p:txBody>
          <a:bodyPr vert="horz" rtlCol="0">
            <a:spAutoFit/>
          </a:bodyPr>
          <a:lstStyle/>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相对 </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-5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dB -49.7%</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矩形 22"/>
          <p:cNvSpPr/>
          <p:nvPr/>
        </p:nvSpPr>
        <p:spPr>
          <a:xfrm>
            <a:off x="74041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矩形 23"/>
          <p:cNvSpPr/>
          <p:nvPr/>
        </p:nvSpPr>
        <p:spPr>
          <a:xfrm>
            <a:off x="74041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文本框 24"/>
          <p:cNvSpPr txBox="1"/>
          <p:nvPr/>
        </p:nvSpPr>
        <p:spPr>
          <a:xfrm>
            <a:off x="74041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6" name="文本框 25"/>
          <p:cNvSpPr txBox="1"/>
          <p:nvPr/>
        </p:nvSpPr>
        <p:spPr>
          <a:xfrm>
            <a:off x="7505700" y="1930400"/>
            <a:ext cx="1905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增强不伤干净语音</a:t>
            </a:r>
          </a:p>
        </p:txBody>
      </p:sp>
      <p:sp>
        <p:nvSpPr>
          <p:cNvPr id="27" name="文本框 26"/>
          <p:cNvSpPr txBox="1"/>
          <p:nvPr/>
        </p:nvSpPr>
        <p:spPr>
          <a:xfrm>
            <a:off x="7454900" y="2356991"/>
            <a:ext cx="1955800" cy="538609"/>
          </a:xfrm>
          <a:prstGeom prst="rect">
            <a:avLst/>
          </a:prstGeom>
          <a:noFill/>
        </p:spPr>
        <p:txBody>
          <a:bodyPr vert="horz" rtlCol="0">
            <a:spAutoFit/>
          </a:bodyPr>
          <a:lstStyle/>
          <a:p>
            <a:pPr algn="ct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EER </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改善</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21%</a:t>
            </a:r>
          </a:p>
          <a:p>
            <a:pPr algn="ct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5.29→4.17</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8" name="矩形 27"/>
          <p:cNvSpPr/>
          <p:nvPr/>
        </p:nvSpPr>
        <p:spPr>
          <a:xfrm>
            <a:off x="9702800" y="1447800"/>
            <a:ext cx="2108200" cy="15494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 name="矩形 28"/>
          <p:cNvSpPr/>
          <p:nvPr/>
        </p:nvSpPr>
        <p:spPr>
          <a:xfrm>
            <a:off x="9702800" y="1447800"/>
            <a:ext cx="2108200" cy="50800"/>
          </a:xfrm>
          <a:prstGeom prst="rect">
            <a:avLst/>
          </a:prstGeom>
          <a:solidFill>
            <a:srgbClr val="54823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0" name="文本框 29"/>
          <p:cNvSpPr txBox="1"/>
          <p:nvPr/>
        </p:nvSpPr>
        <p:spPr>
          <a:xfrm>
            <a:off x="9702800" y="1524000"/>
            <a:ext cx="2108200" cy="400110"/>
          </a:xfrm>
          <a:prstGeom prst="rect">
            <a:avLst/>
          </a:prstGeom>
          <a:noFill/>
        </p:spPr>
        <p:txBody>
          <a:bodyPr vert="horz" rtlCol="0">
            <a:spAutoFit/>
          </a:bodyPr>
          <a:lstStyle/>
          <a:p>
            <a:pPr algn="ctr"/>
            <a:r>
              <a:rPr lang="zh-CN" altLang="en-US" sz="2000" b="1" smtClean="0">
                <a:solidFill>
                  <a:srgbClr val="548235"/>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2000" b="1">
              <a:solidFill>
                <a:srgbClr val="548235"/>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1" name="文本框 30"/>
          <p:cNvSpPr txBox="1"/>
          <p:nvPr/>
        </p:nvSpPr>
        <p:spPr>
          <a:xfrm>
            <a:off x="9804400" y="1930400"/>
            <a:ext cx="1905000" cy="315471"/>
          </a:xfrm>
          <a:prstGeom prst="rect">
            <a:avLst/>
          </a:prstGeom>
          <a:noFill/>
        </p:spPr>
        <p:txBody>
          <a:bodyPr vert="horz" rtlCol="0">
            <a:spAutoFit/>
          </a:bodyPr>
          <a:lstStyle/>
          <a:p>
            <a:pPr algn="ctr"/>
            <a:r>
              <a:rPr lang="zh-CN" altLang="en-US" sz="1450" b="1"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多场景验证有效</a:t>
            </a:r>
            <a:endParaRPr lang="zh-CN" altLang="en-US" sz="1450" b="1">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2" name="文本框 31"/>
          <p:cNvSpPr txBox="1"/>
          <p:nvPr/>
        </p:nvSpPr>
        <p:spPr>
          <a:xfrm>
            <a:off x="9753600" y="2471135"/>
            <a:ext cx="1955800" cy="315471"/>
          </a:xfrm>
          <a:prstGeom prst="rect">
            <a:avLst/>
          </a:prstGeom>
          <a:noFill/>
        </p:spPr>
        <p:txBody>
          <a:bodyPr vert="horz" rtlCol="0">
            <a:spAutoFit/>
          </a:bodyPr>
          <a:lstStyle/>
          <a:p>
            <a:pPr algn="ct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短</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语音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混响 </a:t>
            </a:r>
            <a:r>
              <a:rPr lang="en-US" altLang="zh-CN" sz="145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重叠</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3" name="矩形 32"/>
          <p:cNvSpPr/>
          <p:nvPr/>
        </p:nvSpPr>
        <p:spPr>
          <a:xfrm>
            <a:off x="508000" y="3213100"/>
            <a:ext cx="50800" cy="254000"/>
          </a:xfrm>
          <a:prstGeom prst="rect">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4" name="文本框 33"/>
          <p:cNvSpPr txBox="1"/>
          <p:nvPr/>
        </p:nvSpPr>
        <p:spPr>
          <a:xfrm>
            <a:off x="685800" y="3175000"/>
            <a:ext cx="2794000" cy="338554"/>
          </a:xfrm>
          <a:prstGeom prst="rect">
            <a:avLst/>
          </a:prstGeom>
          <a:noFill/>
        </p:spPr>
        <p:txBody>
          <a:bodyPr vert="horz" rtlCol="0">
            <a:spAutoFit/>
          </a:bodyPr>
          <a:lstStyle/>
          <a:p>
            <a:r>
              <a:rPr lang="zh-CN" altLang="en-US" sz="16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下一步研发路线</a:t>
            </a:r>
            <a:endParaRPr lang="zh-CN" altLang="en-US" sz="16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5" name="矩形 34"/>
          <p:cNvSpPr/>
          <p:nvPr/>
        </p:nvSpPr>
        <p:spPr>
          <a:xfrm>
            <a:off x="508000" y="3708400"/>
            <a:ext cx="1905000" cy="7366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复杂人声干扰</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6" name="文本框 35"/>
          <p:cNvSpPr txBox="1"/>
          <p:nvPr/>
        </p:nvSpPr>
        <p:spPr>
          <a:xfrm>
            <a:off x="406400" y="4546600"/>
            <a:ext cx="21082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重叠训练</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 </a:t>
            </a: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分离前端级联</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7" name="右箭头 36"/>
          <p:cNvSpPr/>
          <p:nvPr/>
        </p:nvSpPr>
        <p:spPr>
          <a:xfrm>
            <a:off x="2463800" y="3949700"/>
            <a:ext cx="342900" cy="254000"/>
          </a:xfrm>
          <a:prstGeom prst="rightArrow">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38" name="矩形 37"/>
          <p:cNvSpPr/>
          <p:nvPr/>
        </p:nvSpPr>
        <p:spPr>
          <a:xfrm>
            <a:off x="2857500" y="3708400"/>
            <a:ext cx="1905000" cy="7366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短语音增强</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39" name="文本框 38"/>
          <p:cNvSpPr txBox="1"/>
          <p:nvPr/>
        </p:nvSpPr>
        <p:spPr>
          <a:xfrm>
            <a:off x="2755900" y="4546600"/>
            <a:ext cx="21082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注册多句模板</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置信度加权</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0" name="右箭头 39"/>
          <p:cNvSpPr/>
          <p:nvPr/>
        </p:nvSpPr>
        <p:spPr>
          <a:xfrm>
            <a:off x="4813300" y="3949700"/>
            <a:ext cx="342900" cy="254000"/>
          </a:xfrm>
          <a:prstGeom prst="rightArrow">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1" name="矩形 40"/>
          <p:cNvSpPr/>
          <p:nvPr/>
        </p:nvSpPr>
        <p:spPr>
          <a:xfrm>
            <a:off x="5207000" y="3708400"/>
            <a:ext cx="1905000" cy="736600"/>
          </a:xfrm>
          <a:prstGeom prst="rect">
            <a:avLst/>
          </a:prstGeom>
          <a:solidFill>
            <a:schemeClr val="accent5"/>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轻量化</a:t>
            </a:r>
            <a:r>
              <a:rPr lang="zh-CN" altLang="en-US" sz="13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迁移</a:t>
            </a:r>
            <a:r>
              <a:rPr lang="zh-CN" altLang="en-US" sz="13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部署</a:t>
            </a:r>
            <a:endParaRPr lang="zh-CN" altLang="en-US" sz="13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文本框 41"/>
          <p:cNvSpPr txBox="1"/>
          <p:nvPr/>
        </p:nvSpPr>
        <p:spPr>
          <a:xfrm>
            <a:off x="5105400" y="4546600"/>
            <a:ext cx="2108200" cy="538609"/>
          </a:xfrm>
          <a:prstGeom prst="rect">
            <a:avLst/>
          </a:prstGeom>
          <a:noFill/>
        </p:spPr>
        <p:txBody>
          <a:bodyPr vert="horz" rtlCol="0">
            <a:spAutoFit/>
          </a:bodyPr>
          <a:lstStyle/>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以 </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B6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重训前端 </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量化蒸馏</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3" name="右箭头 42"/>
          <p:cNvSpPr/>
          <p:nvPr/>
        </p:nvSpPr>
        <p:spPr>
          <a:xfrm>
            <a:off x="7162800" y="3949700"/>
            <a:ext cx="342900" cy="254000"/>
          </a:xfrm>
          <a:prstGeom prst="rightArrow">
            <a:avLst/>
          </a:prstGeom>
          <a:solidFill>
            <a:schemeClr val="accent1"/>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4" name="矩形 43"/>
          <p:cNvSpPr/>
          <p:nvPr/>
        </p:nvSpPr>
        <p:spPr>
          <a:xfrm>
            <a:off x="7556500" y="3708400"/>
            <a:ext cx="1905000" cy="736600"/>
          </a:xfrm>
          <a:prstGeom prst="rect">
            <a:avLst/>
          </a:prstGeom>
          <a:solidFill>
            <a:schemeClr val="accent1"/>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语音大模型融合</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5" name="文本框 44"/>
          <p:cNvSpPr txBox="1"/>
          <p:nvPr/>
        </p:nvSpPr>
        <p:spPr>
          <a:xfrm>
            <a:off x="7454900" y="4546600"/>
            <a:ext cx="2108200" cy="538609"/>
          </a:xfrm>
          <a:prstGeom prst="rect">
            <a:avLst/>
          </a:prstGeom>
          <a:noFill/>
        </p:spPr>
        <p:txBody>
          <a:bodyPr vert="horz" rtlCol="0">
            <a:spAutoFit/>
          </a:bodyPr>
          <a:lstStyle/>
          <a:p>
            <a:pPr algn="ct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SSL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多模态</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algn="ct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流式先验</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6" name="右箭头 45"/>
          <p:cNvSpPr/>
          <p:nvPr/>
        </p:nvSpPr>
        <p:spPr>
          <a:xfrm>
            <a:off x="9512300" y="3949700"/>
            <a:ext cx="342900" cy="254000"/>
          </a:xfrm>
          <a:prstGeom prst="rightArrow">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47" name="矩形 46"/>
          <p:cNvSpPr/>
          <p:nvPr/>
        </p:nvSpPr>
        <p:spPr>
          <a:xfrm>
            <a:off x="9906000" y="3708400"/>
            <a:ext cx="1905000" cy="7366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3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真实终端应用</a:t>
            </a:r>
            <a:endParaRPr lang="zh-CN" altLang="en-US" sz="13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8" name="文本框 47"/>
          <p:cNvSpPr txBox="1"/>
          <p:nvPr/>
        </p:nvSpPr>
        <p:spPr>
          <a:xfrm>
            <a:off x="9804400" y="4546600"/>
            <a:ext cx="2108200" cy="538609"/>
          </a:xfrm>
          <a:prstGeom prst="rect">
            <a:avLst/>
          </a:prstGeom>
          <a:noFill/>
        </p:spPr>
        <p:txBody>
          <a:bodyPr vert="horz" rtlCol="0">
            <a:spAutoFit/>
          </a:bodyPr>
          <a:lstStyle/>
          <a:p>
            <a:pPr algn="ctr"/>
            <a:r>
              <a:rPr lang="zh-CN" altLang="en-US" sz="1450" dirty="0" smtClean="0">
                <a:latin typeface="微软雅黑" panose="020B0503020204020204" pitchFamily="34" charset="-122"/>
                <a:ea typeface="微软雅黑" panose="020B0503020204020204" pitchFamily="34" charset="-122"/>
              </a:rPr>
              <a:t>手机 </a:t>
            </a:r>
            <a:r>
              <a:rPr lang="en-US" altLang="zh-CN" sz="1450" dirty="0" smtClean="0">
                <a:latin typeface="微软雅黑" panose="020B0503020204020204" pitchFamily="34" charset="-122"/>
                <a:ea typeface="微软雅黑" panose="020B0503020204020204" pitchFamily="34" charset="-122"/>
              </a:rPr>
              <a:t>· </a:t>
            </a:r>
            <a:r>
              <a:rPr lang="zh-CN" altLang="en-US" sz="1450" dirty="0" smtClean="0">
                <a:latin typeface="微软雅黑" panose="020B0503020204020204" pitchFamily="34" charset="-122"/>
                <a:ea typeface="微软雅黑" panose="020B0503020204020204" pitchFamily="34" charset="-122"/>
              </a:rPr>
              <a:t>车载 </a:t>
            </a:r>
            <a:r>
              <a:rPr lang="en-US" altLang="zh-CN" sz="1450" dirty="0" smtClean="0">
                <a:latin typeface="微软雅黑" panose="020B0503020204020204" pitchFamily="34" charset="-122"/>
                <a:ea typeface="微软雅黑" panose="020B0503020204020204" pitchFamily="34" charset="-122"/>
              </a:rPr>
              <a:t>· </a:t>
            </a:r>
          </a:p>
          <a:p>
            <a:pPr algn="ctr"/>
            <a:r>
              <a:rPr lang="zh-CN" altLang="en-US" sz="1450" dirty="0" smtClean="0">
                <a:latin typeface="微软雅黑" panose="020B0503020204020204" pitchFamily="34" charset="-122"/>
                <a:ea typeface="微软雅黑" panose="020B0503020204020204" pitchFamily="34" charset="-122"/>
              </a:rPr>
              <a:t>会议场景落地</a:t>
            </a:r>
            <a:endParaRPr lang="zh-CN" altLang="en-US" sz="1450" dirty="0">
              <a:latin typeface="微软雅黑" panose="020B0503020204020204" pitchFamily="34" charset="-122"/>
              <a:ea typeface="微软雅黑" panose="020B0503020204020204" pitchFamily="34" charset="-122"/>
            </a:endParaRPr>
          </a:p>
        </p:txBody>
      </p:sp>
      <p:sp>
        <p:nvSpPr>
          <p:cNvPr id="49" name="矩形 48"/>
          <p:cNvSpPr/>
          <p:nvPr/>
        </p:nvSpPr>
        <p:spPr>
          <a:xfrm>
            <a:off x="508000" y="5384800"/>
            <a:ext cx="11303000" cy="635000"/>
          </a:xfrm>
          <a:prstGeom prst="rect">
            <a:avLst/>
          </a:prstGeom>
          <a:solidFill>
            <a:srgbClr val="EAF0F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0" name="文本框 49"/>
          <p:cNvSpPr txBox="1"/>
          <p:nvPr/>
        </p:nvSpPr>
        <p:spPr>
          <a:xfrm>
            <a:off x="508000" y="5549900"/>
            <a:ext cx="11303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前三步对应上一页局限，后两步面向真实部署。</a:t>
            </a:r>
          </a:p>
        </p:txBody>
      </p:sp>
      <p:sp>
        <p:nvSpPr>
          <p:cNvPr id="51" name="矩形 50"/>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52" name="灯片编号占位符 51"/>
          <p:cNvSpPr>
            <a:spLocks noGrp="1"/>
          </p:cNvSpPr>
          <p:nvPr>
            <p:ph type="sldNum" sz="quarter" idx="12"/>
          </p:nvPr>
        </p:nvSpPr>
        <p:spPr/>
        <p:txBody>
          <a:bodyPr/>
          <a:lstStyle/>
          <a:p>
            <a:fld id="{7BF2EA3F-D088-4729-88F9-9D4FADF26323}" type="slidenum">
              <a:rPr lang="zh-CN" altLang="en-US" smtClean="0"/>
              <a:t>24</a:t>
            </a:fld>
            <a:endParaRPr lang="zh-CN" altLang="en-US"/>
          </a:p>
        </p:txBody>
      </p:sp>
    </p:spTree>
    <p:extLst>
      <p:ext uri="{BB962C8B-B14F-4D97-AF65-F5344CB8AC3E}">
        <p14:creationId xmlns:p14="http://schemas.microsoft.com/office/powerpoint/2010/main" val="111871453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未来职业规划</a:t>
            </a:r>
            <a:r>
              <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2400" b="1" dirty="0" smtClean="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围绕本课题方向的能力成长路线</a:t>
            </a:r>
            <a:endParaRPr lang="zh-CN" altLang="en-US" sz="240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文本框 5"/>
          <p:cNvSpPr txBox="1"/>
          <p:nvPr/>
        </p:nvSpPr>
        <p:spPr>
          <a:xfrm>
            <a:off x="508000" y="1041400"/>
            <a:ext cx="11303000" cy="338554"/>
          </a:xfrm>
          <a:prstGeom prst="rect">
            <a:avLst/>
          </a:prstGeom>
          <a:noFill/>
        </p:spPr>
        <p:txBody>
          <a:bodyPr vert="horz" rtlCol="0">
            <a:spAutoFit/>
          </a:bodyPr>
          <a:lstStyle/>
          <a:p>
            <a:r>
              <a:rPr lang="zh-CN" altLang="en-US" sz="1600" b="1" dirty="0">
                <a:solidFill>
                  <a:srgbClr val="44546A"/>
                </a:solidFill>
                <a:latin typeface="Times New Roman" panose="02020603050405020304" pitchFamily="18" charset="0"/>
                <a:ea typeface="微软雅黑" panose="020B0503020204020204" pitchFamily="34" charset="-122"/>
                <a:cs typeface="Times New Roman" panose="02020603050405020304" pitchFamily="18" charset="0"/>
              </a:rPr>
              <a:t>职业规划围绕本课题方向持续深入：研究 → 工业研发 → 工程落地</a:t>
            </a:r>
          </a:p>
        </p:txBody>
      </p:sp>
      <p:sp>
        <p:nvSpPr>
          <p:cNvPr id="8" name="椭圆 7"/>
          <p:cNvSpPr/>
          <p:nvPr/>
        </p:nvSpPr>
        <p:spPr>
          <a:xfrm>
            <a:off x="2019300" y="1905000"/>
            <a:ext cx="584200" cy="584200"/>
          </a:xfrm>
          <a:prstGeom prst="ellipse">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01</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 name="椭圆 10"/>
          <p:cNvSpPr/>
          <p:nvPr/>
        </p:nvSpPr>
        <p:spPr>
          <a:xfrm>
            <a:off x="5867400" y="1905000"/>
            <a:ext cx="584200" cy="584200"/>
          </a:xfrm>
          <a:prstGeom prst="ellipse">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02</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3" name="右箭头 12"/>
          <p:cNvSpPr/>
          <p:nvPr/>
        </p:nvSpPr>
        <p:spPr>
          <a:xfrm>
            <a:off x="7003550" y="2078911"/>
            <a:ext cx="2160000" cy="228600"/>
          </a:xfrm>
          <a:prstGeom prst="rightArrow">
            <a:avLst/>
          </a:prstGeom>
          <a:solidFill>
            <a:srgbClr val="0070C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4" name="椭圆 13"/>
          <p:cNvSpPr/>
          <p:nvPr/>
        </p:nvSpPr>
        <p:spPr>
          <a:xfrm>
            <a:off x="9715500" y="1905000"/>
            <a:ext cx="584200" cy="584200"/>
          </a:xfrm>
          <a:prstGeom prst="ellipse">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03</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 name="矩形 15"/>
          <p:cNvSpPr/>
          <p:nvPr/>
        </p:nvSpPr>
        <p:spPr>
          <a:xfrm>
            <a:off x="508000" y="2768600"/>
            <a:ext cx="3606800" cy="5588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dirty="0"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研究生阶段</a:t>
            </a:r>
            <a:endParaRPr lang="zh-CN" altLang="en-US" sz="1500" b="1" dirty="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矩形 16"/>
          <p:cNvSpPr/>
          <p:nvPr/>
        </p:nvSpPr>
        <p:spPr>
          <a:xfrm>
            <a:off x="508000" y="3327400"/>
            <a:ext cx="3606800" cy="18796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18" name="文本框 17"/>
          <p:cNvSpPr txBox="1"/>
          <p:nvPr/>
        </p:nvSpPr>
        <p:spPr>
          <a:xfrm>
            <a:off x="482600" y="3556000"/>
            <a:ext cx="3632200" cy="1057021"/>
          </a:xfrm>
          <a:prstGeom prst="rect">
            <a:avLst/>
          </a:prstGeom>
          <a:noFill/>
        </p:spPr>
        <p:txBody>
          <a:bodyPr vert="horz" wrap="square" rtlCol="0">
            <a:spAutoFit/>
          </a:bodyPr>
          <a:lstStyle/>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深入</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学习声纹识别与语音增强</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技术</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学习</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语音大模型（</a:t>
            </a: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SSL</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相关方法</a:t>
            </a:r>
            <a:endParaRPr lang="en-US" altLang="zh-CN" sz="1450" dirty="0" smtClean="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提升</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算法研发与工程部署能力</a:t>
            </a:r>
          </a:p>
        </p:txBody>
      </p:sp>
      <p:sp>
        <p:nvSpPr>
          <p:cNvPr id="19" name="矩形 18"/>
          <p:cNvSpPr/>
          <p:nvPr/>
        </p:nvSpPr>
        <p:spPr>
          <a:xfrm>
            <a:off x="4356100" y="2768600"/>
            <a:ext cx="3606800" cy="55880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工业界成长</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0" name="矩形 19"/>
          <p:cNvSpPr/>
          <p:nvPr/>
        </p:nvSpPr>
        <p:spPr>
          <a:xfrm>
            <a:off x="4356100" y="3327400"/>
            <a:ext cx="3606800" cy="18796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1" name="文本框 20"/>
          <p:cNvSpPr txBox="1"/>
          <p:nvPr/>
        </p:nvSpPr>
        <p:spPr>
          <a:xfrm>
            <a:off x="4508500" y="3556000"/>
            <a:ext cx="3302000" cy="1096454"/>
          </a:xfrm>
          <a:prstGeom prst="rect">
            <a:avLst/>
          </a:prstGeom>
          <a:noFill/>
        </p:spPr>
        <p:txBody>
          <a:bodyPr vert="horz" rtlCol="0">
            <a:spAutoFit/>
          </a:bodyPr>
          <a:lstStyle/>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从事智能</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语音算法研发</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深耕声纹</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识别与目标说话人提取</a:t>
            </a:r>
            <a:endParaRPr lang="en-US" altLang="zh-CN" sz="1450"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推动语音</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大</a:t>
            </a: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模型产品应用</a:t>
            </a:r>
            <a:endParaRPr lang="zh-CN" altLang="en-US" sz="145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2" name="矩形 21"/>
          <p:cNvSpPr/>
          <p:nvPr/>
        </p:nvSpPr>
        <p:spPr>
          <a:xfrm>
            <a:off x="8204200" y="2768600"/>
            <a:ext cx="3606800" cy="558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500" b="1" smtClean="0">
                <a:solidFill>
                  <a:srgbClr val="FFFFFF"/>
                </a:solidFill>
                <a:latin typeface="Times New Roman" panose="02020603050405020304" pitchFamily="18" charset="0"/>
                <a:ea typeface="微软雅黑" panose="020B0503020204020204" pitchFamily="34" charset="-122"/>
                <a:cs typeface="Times New Roman" panose="02020603050405020304" pitchFamily="18" charset="0"/>
              </a:rPr>
              <a:t>长期目标</a:t>
            </a:r>
            <a:endParaRPr lang="zh-CN" altLang="en-US" sz="1500" b="1">
              <a:solidFill>
                <a:srgbClr val="FFFF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3" name="矩形 22"/>
          <p:cNvSpPr/>
          <p:nvPr/>
        </p:nvSpPr>
        <p:spPr>
          <a:xfrm>
            <a:off x="8204200" y="3327400"/>
            <a:ext cx="3606800" cy="1879600"/>
          </a:xfrm>
          <a:prstGeom prst="rect">
            <a:avLst/>
          </a:prstGeom>
          <a:solidFill>
            <a:srgbClr val="F2F6F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文本框 23"/>
          <p:cNvSpPr txBox="1"/>
          <p:nvPr/>
        </p:nvSpPr>
        <p:spPr>
          <a:xfrm>
            <a:off x="8356600" y="3556000"/>
            <a:ext cx="3302000" cy="761747"/>
          </a:xfrm>
          <a:prstGeom prst="rect">
            <a:avLst/>
          </a:prstGeom>
          <a:noFill/>
        </p:spPr>
        <p:txBody>
          <a:bodyPr vert="horz" rtlCol="0">
            <a:spAutoFit/>
          </a:bodyPr>
          <a:lstStyle/>
          <a:p>
            <a:pPr marL="285750" indent="-285750">
              <a:lnSpc>
                <a:spcPct val="150000"/>
              </a:lnSpc>
              <a:buFont typeface="Wingdings" panose="05000000000000000000" pitchFamily="2" charset="2"/>
              <a:buChar char="Ø"/>
            </a:pPr>
            <a:r>
              <a:rPr lang="zh-CN" altLang="en-US" sz="1450" dirty="0" smtClean="0">
                <a:latin typeface="Times New Roman" panose="02020603050405020304" pitchFamily="18" charset="0"/>
                <a:ea typeface="微软雅黑" panose="020B0503020204020204" pitchFamily="34" charset="-122"/>
                <a:cs typeface="Times New Roman" panose="02020603050405020304" pitchFamily="18" charset="0"/>
              </a:rPr>
              <a:t>参与</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智能终端语音能力建设</a:t>
            </a:r>
          </a:p>
          <a:p>
            <a:pPr marL="285750" indent="-285750">
              <a:lnSpc>
                <a:spcPct val="150000"/>
              </a:lnSpc>
              <a:buFont typeface="Wingdings" panose="05000000000000000000" pitchFamily="2" charset="2"/>
              <a:buChar char="Ø"/>
            </a:pPr>
            <a:r>
              <a:rPr lang="en-US" altLang="zh-CN" sz="1450" dirty="0">
                <a:latin typeface="Times New Roman" panose="02020603050405020304" pitchFamily="18" charset="0"/>
                <a:ea typeface="微软雅黑" panose="020B0503020204020204" pitchFamily="34" charset="-122"/>
                <a:cs typeface="Times New Roman" panose="02020603050405020304" pitchFamily="18" charset="0"/>
              </a:rPr>
              <a:t>·</a:t>
            </a:r>
            <a:r>
              <a:rPr lang="zh-CN" altLang="en-US" sz="1450" dirty="0">
                <a:latin typeface="Times New Roman" panose="02020603050405020304" pitchFamily="18" charset="0"/>
                <a:ea typeface="微软雅黑" panose="020B0503020204020204" pitchFamily="34" charset="-122"/>
                <a:cs typeface="Times New Roman" panose="02020603050405020304" pitchFamily="18" charset="0"/>
              </a:rPr>
              <a:t>推动语音算法工程化落地</a:t>
            </a:r>
          </a:p>
        </p:txBody>
      </p:sp>
      <p:sp>
        <p:nvSpPr>
          <p:cNvPr id="25" name="矩形 24"/>
          <p:cNvSpPr/>
          <p:nvPr/>
        </p:nvSpPr>
        <p:spPr>
          <a:xfrm>
            <a:off x="508000" y="5664200"/>
            <a:ext cx="11303000" cy="38100"/>
          </a:xfrm>
          <a:prstGeom prst="rect">
            <a:avLst/>
          </a:prstGeom>
          <a:solidFill>
            <a:srgbClr val="E2E8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文本框 25"/>
          <p:cNvSpPr txBox="1"/>
          <p:nvPr/>
        </p:nvSpPr>
        <p:spPr>
          <a:xfrm>
            <a:off x="508000" y="5816600"/>
            <a:ext cx="11303000" cy="315471"/>
          </a:xfrm>
          <a:prstGeom prst="rect">
            <a:avLst/>
          </a:prstGeom>
          <a:noFill/>
        </p:spPr>
        <p:txBody>
          <a:bodyPr vert="horz" rtlCol="0">
            <a:spAutoFit/>
          </a:bodyPr>
          <a:lstStyle/>
          <a:p>
            <a:pPr algn="ctr"/>
            <a:r>
              <a:rPr lang="zh-CN" altLang="en-US" sz="1450" b="1" dirty="0">
                <a:solidFill>
                  <a:srgbClr val="1F3864"/>
                </a:solidFill>
                <a:latin typeface="Times New Roman" panose="02020603050405020304" pitchFamily="18" charset="0"/>
                <a:ea typeface="微软雅黑" panose="020B0503020204020204" pitchFamily="34" charset="-122"/>
                <a:cs typeface="Times New Roman" panose="02020603050405020304" pitchFamily="18" charset="0"/>
              </a:rPr>
              <a:t>持续围绕声纹识别、目标说话人提取与语音大模型方向开展研究和工程实践。</a:t>
            </a:r>
          </a:p>
        </p:txBody>
      </p:sp>
      <p:sp>
        <p:nvSpPr>
          <p:cNvPr id="27" name="右箭头 26"/>
          <p:cNvSpPr/>
          <p:nvPr/>
        </p:nvSpPr>
        <p:spPr>
          <a:xfrm>
            <a:off x="3155450" y="2078911"/>
            <a:ext cx="2160000" cy="228600"/>
          </a:xfrm>
          <a:prstGeom prst="rightArrow">
            <a:avLst/>
          </a:prstGeom>
          <a:solidFill>
            <a:srgbClr val="002060"/>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矩形 27"/>
          <p:cNvSpPr/>
          <p:nvPr/>
        </p:nvSpPr>
        <p:spPr>
          <a:xfrm>
            <a:off x="419100" y="240980"/>
            <a:ext cx="101600" cy="431800"/>
          </a:xfrm>
          <a:prstGeom prst="rect">
            <a:avLst/>
          </a:prstGeom>
          <a:solidFill>
            <a:schemeClr val="accent1">
              <a:lumMod val="50000"/>
            </a:schemeClr>
          </a:solidFill>
          <a:ln w="12700" cap="flat" cmpd="sng" algn="ctr">
            <a:noFill/>
            <a:prstDash val="solid"/>
            <a:miter lim="800000"/>
          </a:ln>
          <a:effectLs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9" name="灯片编号占位符 28"/>
          <p:cNvSpPr>
            <a:spLocks noGrp="1"/>
          </p:cNvSpPr>
          <p:nvPr>
            <p:ph type="sldNum" sz="quarter" idx="12"/>
          </p:nvPr>
        </p:nvSpPr>
        <p:spPr/>
        <p:txBody>
          <a:bodyPr/>
          <a:lstStyle/>
          <a:p>
            <a:fld id="{7BF2EA3F-D088-4729-88F9-9D4FADF26323}" type="slidenum">
              <a:rPr lang="zh-CN" altLang="en-US" smtClean="0"/>
              <a:t>25</a:t>
            </a:fld>
            <a:endParaRPr lang="zh-CN" altLang="en-US"/>
          </a:p>
        </p:txBody>
      </p:sp>
    </p:spTree>
    <p:extLst>
      <p:ext uri="{BB962C8B-B14F-4D97-AF65-F5344CB8AC3E}">
        <p14:creationId xmlns:p14="http://schemas.microsoft.com/office/powerpoint/2010/main" val="26106160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0"/>
            <a:ext cx="12192000" cy="101600"/>
          </a:xfrm>
          <a:prstGeom prst="rect">
            <a:avLst/>
          </a:prstGeom>
          <a:solidFill>
            <a:srgbClr val="1F386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0" y="2413000"/>
            <a:ext cx="12192000" cy="769441"/>
          </a:xfrm>
          <a:prstGeom prst="rect">
            <a:avLst/>
          </a:prstGeom>
          <a:noFill/>
        </p:spPr>
        <p:txBody>
          <a:bodyPr vert="horz" rtlCol="0">
            <a:spAutoFit/>
          </a:bodyPr>
          <a:lstStyle/>
          <a:p>
            <a:pPr algn="ctr"/>
            <a:r>
              <a:rPr lang="zh-CN" altLang="en-US" sz="4400" b="1" smtClean="0">
                <a:solidFill>
                  <a:srgbClr val="1F3864"/>
                </a:solidFill>
                <a:latin typeface="微软雅黑" panose="020B0503020204020204" pitchFamily="34" charset="-122"/>
                <a:ea typeface="微软雅黑" panose="020B0503020204020204" pitchFamily="34" charset="-122"/>
              </a:rPr>
              <a:t>谢  谢</a:t>
            </a:r>
            <a:r>
              <a:rPr lang="en-US" altLang="zh-CN" sz="4400" b="1" smtClean="0">
                <a:solidFill>
                  <a:srgbClr val="1F3864"/>
                </a:solidFill>
                <a:latin typeface="微软雅黑" panose="020B0503020204020204" pitchFamily="34" charset="-122"/>
                <a:ea typeface="微软雅黑" panose="020B0503020204020204" pitchFamily="34" charset="-122"/>
              </a:rPr>
              <a:t>!</a:t>
            </a:r>
            <a:endParaRPr lang="zh-CN" altLang="en-US" sz="4400" b="1">
              <a:solidFill>
                <a:srgbClr val="1F3864"/>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0" y="3556000"/>
            <a:ext cx="12192000" cy="369332"/>
          </a:xfrm>
          <a:prstGeom prst="rect">
            <a:avLst/>
          </a:prstGeom>
          <a:noFill/>
        </p:spPr>
        <p:txBody>
          <a:bodyPr vert="horz" rtlCol="0">
            <a:spAutoFit/>
          </a:bodyPr>
          <a:lstStyle/>
          <a:p>
            <a:pPr algn="ctr"/>
            <a:r>
              <a:rPr lang="zh-CN" altLang="en-US" smtClean="0">
                <a:solidFill>
                  <a:srgbClr val="7F7F7F"/>
                </a:solidFill>
                <a:latin typeface="微软雅黑" panose="020B0503020204020204" pitchFamily="34" charset="-122"/>
                <a:ea typeface="微软雅黑" panose="020B0503020204020204" pitchFamily="34" charset="-122"/>
              </a:rPr>
              <a:t>恳请各位老师批评指正</a:t>
            </a:r>
            <a:endParaRPr lang="zh-CN" altLang="en-US">
              <a:solidFill>
                <a:srgbClr val="7F7F7F"/>
              </a:solidFill>
              <a:latin typeface="微软雅黑" panose="020B0503020204020204" pitchFamily="34" charset="-122"/>
              <a:ea typeface="微软雅黑" panose="020B0503020204020204" pitchFamily="34" charset="-122"/>
            </a:endParaRPr>
          </a:p>
        </p:txBody>
      </p:sp>
      <p:sp>
        <p:nvSpPr>
          <p:cNvPr id="5" name="矩形 4"/>
          <p:cNvSpPr/>
          <p:nvPr/>
        </p:nvSpPr>
        <p:spPr>
          <a:xfrm>
            <a:off x="5334000" y="4318000"/>
            <a:ext cx="15240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6" name="文本框 5"/>
          <p:cNvSpPr txBox="1"/>
          <p:nvPr/>
        </p:nvSpPr>
        <p:spPr>
          <a:xfrm>
            <a:off x="0" y="4572000"/>
            <a:ext cx="12192000" cy="307777"/>
          </a:xfrm>
          <a:prstGeom prst="rect">
            <a:avLst/>
          </a:prstGeom>
          <a:noFill/>
        </p:spPr>
        <p:txBody>
          <a:bodyPr vert="horz" rtlCol="0">
            <a:spAutoFit/>
          </a:bodyPr>
          <a:lstStyle/>
          <a:p>
            <a:pPr algn="ctr"/>
            <a:r>
              <a:rPr lang="zh-CN" altLang="en-US"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张启元 </a:t>
            </a:r>
            <a:r>
              <a:rPr lang="en-US" altLang="zh-CN"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中国科学院大学 </a:t>
            </a:r>
            <a:r>
              <a:rPr lang="en-US" altLang="zh-CN" sz="1400" dirty="0" smtClean="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rPr>
              <a:t>· 2026.9.8</a:t>
            </a:r>
            <a:endParaRPr lang="zh-CN" altLang="en-US" sz="1400" dirty="0">
              <a:solidFill>
                <a:srgbClr val="7F7F7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426429964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9383584" cy="461665"/>
          </a:xfrm>
          <a:prstGeom prst="rect">
            <a:avLst/>
          </a:prstGeom>
          <a:noFill/>
        </p:spPr>
        <p:txBody>
          <a:bodyPr vert="horz" wrap="square"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备用页：指标口径速查</a:t>
            </a:r>
            <a:r>
              <a:rPr lang="en-US" altLang="zh-CN" sz="2400" b="1" dirty="0" smtClean="0">
                <a:solidFill>
                  <a:srgbClr val="1F3864"/>
                </a:solidFill>
                <a:latin typeface="微软雅黑" panose="020B0503020204020204" pitchFamily="34" charset="-122"/>
                <a:ea typeface="微软雅黑" panose="020B0503020204020204" pitchFamily="34" charset="-122"/>
              </a:rPr>
              <a:t>(EER · </a:t>
            </a:r>
            <a:r>
              <a:rPr lang="en-US" altLang="zh-CN" sz="2400" b="1" dirty="0" err="1" smtClean="0">
                <a:solidFill>
                  <a:srgbClr val="1F3864"/>
                </a:solidFill>
                <a:latin typeface="微软雅黑" panose="020B0503020204020204" pitchFamily="34" charset="-122"/>
                <a:ea typeface="微软雅黑" panose="020B0503020204020204" pitchFamily="34" charset="-122"/>
              </a:rPr>
              <a:t>minDCF</a:t>
            </a:r>
            <a:r>
              <a:rPr lang="en-US" altLang="zh-CN" sz="2400" b="1" dirty="0" smtClean="0">
                <a:solidFill>
                  <a:srgbClr val="1F3864"/>
                </a:solidFill>
                <a:latin typeface="微软雅黑" panose="020B0503020204020204" pitchFamily="34" charset="-122"/>
                <a:ea typeface="微软雅黑" panose="020B0503020204020204" pitchFamily="34" charset="-122"/>
              </a:rPr>
              <a:t> · ROC/DET · </a:t>
            </a:r>
            <a:r>
              <a:rPr lang="zh-CN" altLang="en-US" sz="2400" b="1" dirty="0" smtClean="0">
                <a:solidFill>
                  <a:srgbClr val="1F3864"/>
                </a:solidFill>
                <a:latin typeface="微软雅黑" panose="020B0503020204020204" pitchFamily="34" charset="-122"/>
                <a:ea typeface="微软雅黑" panose="020B0503020204020204" pitchFamily="34" charset="-122"/>
              </a:rPr>
              <a:t>固定工作点</a:t>
            </a:r>
            <a:r>
              <a:rPr lang="en-US" altLang="zh-CN" sz="2400" b="1" dirty="0" smtClean="0">
                <a:solidFill>
                  <a:srgbClr val="1F3864"/>
                </a:solidFill>
                <a:latin typeface="微软雅黑" panose="020B0503020204020204" pitchFamily="34" charset="-122"/>
                <a:ea typeface="微软雅黑" panose="020B0503020204020204" pitchFamily="34" charset="-122"/>
              </a:rPr>
              <a:t>)</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1902915276"/>
              </p:ext>
            </p:extLst>
          </p:nvPr>
        </p:nvGraphicFramePr>
        <p:xfrm>
          <a:off x="508000" y="1117600"/>
          <a:ext cx="11175999" cy="2820852"/>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146599064"/>
                    </a:ext>
                  </a:extLst>
                </a:gridCol>
                <a:gridCol w="3725333">
                  <a:extLst>
                    <a:ext uri="{9D8B030D-6E8A-4147-A177-3AD203B41FA5}">
                      <a16:colId xmlns:a16="http://schemas.microsoft.com/office/drawing/2014/main" val="443219494"/>
                    </a:ext>
                  </a:extLst>
                </a:gridCol>
                <a:gridCol w="3725333">
                  <a:extLst>
                    <a:ext uri="{9D8B030D-6E8A-4147-A177-3AD203B41FA5}">
                      <a16:colId xmlns:a16="http://schemas.microsoft.com/office/drawing/2014/main" val="893930845"/>
                    </a:ext>
                  </a:extLst>
                </a:gridCol>
              </a:tblGrid>
              <a:tr h="373743">
                <a:tc>
                  <a:txBody>
                    <a:bodyPr/>
                    <a:lstStyle/>
                    <a:p>
                      <a:r>
                        <a:rPr lang="zh-CN" altLang="en-US" sz="1150" b="1" dirty="0" smtClean="0">
                          <a:solidFill>
                            <a:srgbClr val="FFFFFF"/>
                          </a:solidFill>
                          <a:latin typeface="微软雅黑" panose="020B0503020204020204" pitchFamily="34" charset="-122"/>
                          <a:ea typeface="微软雅黑" panose="020B0503020204020204" pitchFamily="34" charset="-122"/>
                        </a:rPr>
                        <a:t>指标</a:t>
                      </a:r>
                      <a:endParaRPr lang="zh-CN" altLang="en-US" sz="1150" b="1" dirty="0">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一句话定义</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怎么读我们的数字</a:t>
                      </a:r>
                      <a:r>
                        <a:rPr lang="en-US" altLang="zh-CN" sz="1150" b="1" smtClean="0">
                          <a:solidFill>
                            <a:srgbClr val="FFFFFF"/>
                          </a:solidFill>
                          <a:latin typeface="微软雅黑" panose="020B0503020204020204" pitchFamily="34" charset="-122"/>
                          <a:ea typeface="微软雅黑" panose="020B0503020204020204" pitchFamily="34" charset="-122"/>
                        </a:rPr>
                        <a:t>(</a:t>
                      </a:r>
                      <a:r>
                        <a:rPr lang="zh-CN" altLang="en-US" sz="1150" b="1" smtClean="0">
                          <a:solidFill>
                            <a:srgbClr val="FFFFFF"/>
                          </a:solidFill>
                          <a:latin typeface="微软雅黑" panose="020B0503020204020204" pitchFamily="34" charset="-122"/>
                          <a:ea typeface="微软雅黑" panose="020B0503020204020204" pitchFamily="34" charset="-122"/>
                        </a:rPr>
                        <a:t>主力 </a:t>
                      </a:r>
                      <a:r>
                        <a:rPr lang="en-US" altLang="zh-CN" sz="1150" b="1" smtClean="0">
                          <a:solidFill>
                            <a:srgbClr val="FFFFFF"/>
                          </a:solidFill>
                          <a:latin typeface="微软雅黑" panose="020B0503020204020204" pitchFamily="34" charset="-122"/>
                          <a:ea typeface="微软雅黑" panose="020B0503020204020204" pitchFamily="34" charset="-122"/>
                        </a:rPr>
                        <a:t>0dB,raw → </a:t>
                      </a:r>
                      <a:r>
                        <a:rPr lang="zh-CN" altLang="en-US" sz="1150" b="1" smtClean="0">
                          <a:solidFill>
                            <a:srgbClr val="FFFFFF"/>
                          </a:solidFill>
                          <a:latin typeface="微软雅黑" panose="020B0503020204020204" pitchFamily="34" charset="-122"/>
                          <a:ea typeface="微软雅黑" panose="020B0503020204020204" pitchFamily="34" charset="-122"/>
                        </a:rPr>
                        <a:t>前端</a:t>
                      </a:r>
                      <a:r>
                        <a:rPr lang="en-US" altLang="zh-CN" sz="1150" b="1" smtClean="0">
                          <a:solidFill>
                            <a:srgbClr val="FFFFFF"/>
                          </a:solidFill>
                          <a:latin typeface="微软雅黑" panose="020B0503020204020204" pitchFamily="34" charset="-122"/>
                          <a:ea typeface="微软雅黑" panose="020B0503020204020204" pitchFamily="34" charset="-122"/>
                        </a:rPr>
                        <a:t>)</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1314150115"/>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FAR / FRR</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冒认被放进来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本人被拒之门外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一切指标都是这对错误的权衡</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137.8 </a:t>
                      </a:r>
                      <a:r>
                        <a:rPr lang="zh-CN" altLang="en-US" sz="1150" dirty="0" smtClean="0">
                          <a:solidFill>
                            <a:srgbClr val="333333"/>
                          </a:solidFill>
                          <a:latin typeface="微软雅黑" panose="020B0503020204020204" pitchFamily="34" charset="-122"/>
                          <a:ea typeface="微软雅黑" panose="020B0503020204020204" pitchFamily="34" charset="-122"/>
                        </a:rPr>
                        <a:t>万条 </a:t>
                      </a:r>
                      <a:r>
                        <a:rPr lang="en-US" altLang="zh-CN" sz="1150" dirty="0" smtClean="0">
                          <a:solidFill>
                            <a:srgbClr val="333333"/>
                          </a:solidFill>
                          <a:latin typeface="微软雅黑" panose="020B0503020204020204" pitchFamily="34" charset="-122"/>
                          <a:ea typeface="微软雅黑" panose="020B0503020204020204" pitchFamily="34" charset="-122"/>
                        </a:rPr>
                        <a:t>trial</a:t>
                      </a:r>
                      <a:r>
                        <a:rPr lang="zh-CN" altLang="en-US" sz="1150" dirty="0" smtClean="0">
                          <a:solidFill>
                            <a:srgbClr val="333333"/>
                          </a:solidFill>
                          <a:latin typeface="微软雅黑" panose="020B0503020204020204" pitchFamily="34" charset="-122"/>
                          <a:ea typeface="微软雅黑" panose="020B0503020204020204" pitchFamily="34" charset="-122"/>
                        </a:rPr>
                        <a:t>：非目标 </a:t>
                      </a:r>
                      <a:r>
                        <a:rPr lang="en-US" altLang="zh-CN" sz="1150" dirty="0" smtClean="0">
                          <a:solidFill>
                            <a:srgbClr val="333333"/>
                          </a:solidFill>
                          <a:latin typeface="微软雅黑" panose="020B0503020204020204" pitchFamily="34" charset="-122"/>
                          <a:ea typeface="微软雅黑" panose="020B0503020204020204" pitchFamily="34" charset="-122"/>
                        </a:rPr>
                        <a:t>116.7 </a:t>
                      </a:r>
                      <a:r>
                        <a:rPr lang="zh-CN" altLang="en-US" sz="1150" dirty="0" smtClean="0">
                          <a:solidFill>
                            <a:srgbClr val="333333"/>
                          </a:solidFill>
                          <a:latin typeface="微软雅黑" panose="020B0503020204020204" pitchFamily="34" charset="-122"/>
                          <a:ea typeface="微软雅黑" panose="020B0503020204020204" pitchFamily="34" charset="-122"/>
                        </a:rPr>
                        <a:t>万 </a:t>
                      </a:r>
                      <a:r>
                        <a:rPr lang="en-US" altLang="zh-CN" sz="1150" dirty="0" smtClean="0">
                          <a:solidFill>
                            <a:srgbClr val="333333"/>
                          </a:solidFill>
                          <a:latin typeface="微软雅黑" panose="020B0503020204020204" pitchFamily="34" charset="-122"/>
                          <a:ea typeface="微软雅黑" panose="020B0503020204020204" pitchFamily="34" charset="-122"/>
                        </a:rPr>
                        <a:t>/ </a:t>
                      </a:r>
                      <a:r>
                        <a:rPr lang="zh-CN" altLang="en-US" sz="1150" dirty="0" smtClean="0">
                          <a:solidFill>
                            <a:srgbClr val="333333"/>
                          </a:solidFill>
                          <a:latin typeface="微软雅黑" panose="020B0503020204020204" pitchFamily="34" charset="-122"/>
                          <a:ea typeface="微软雅黑" panose="020B0503020204020204" pitchFamily="34" charset="-122"/>
                        </a:rPr>
                        <a:t>目标 </a:t>
                      </a:r>
                      <a:r>
                        <a:rPr lang="en-US" altLang="zh-CN" sz="1150" dirty="0" smtClean="0">
                          <a:solidFill>
                            <a:srgbClr val="333333"/>
                          </a:solidFill>
                          <a:latin typeface="微软雅黑" panose="020B0503020204020204" pitchFamily="34" charset="-122"/>
                          <a:ea typeface="微软雅黑" panose="020B0503020204020204" pitchFamily="34" charset="-122"/>
                        </a:rPr>
                        <a:t>21.1 </a:t>
                      </a:r>
                      <a:r>
                        <a:rPr lang="zh-CN" altLang="en-US" sz="1150" dirty="0" smtClean="0">
                          <a:solidFill>
                            <a:srgbClr val="333333"/>
                          </a:solidFill>
                          <a:latin typeface="微软雅黑" panose="020B0503020204020204" pitchFamily="34" charset="-122"/>
                          <a:ea typeface="微软雅黑" panose="020B0503020204020204" pitchFamily="34" charset="-122"/>
                        </a:rPr>
                        <a:t>万</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971384128"/>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EER</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FAR = FRR </a:t>
                      </a:r>
                      <a:r>
                        <a:rPr lang="zh-CN" altLang="en-US" sz="1150" smtClean="0">
                          <a:solidFill>
                            <a:srgbClr val="333333"/>
                          </a:solidFill>
                          <a:latin typeface="微软雅黑" panose="020B0503020204020204" pitchFamily="34" charset="-122"/>
                          <a:ea typeface="微软雅黑" panose="020B0503020204020204" pitchFamily="34" charset="-122"/>
                        </a:rPr>
                        <a:t>的那一点</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阈值无关的「可分性」单点</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8.39 → 4.89(-41.7%,</a:t>
                      </a:r>
                      <a:r>
                        <a:rPr lang="zh-CN" altLang="en-US" sz="1150" smtClean="0">
                          <a:solidFill>
                            <a:srgbClr val="333333"/>
                          </a:solidFill>
                          <a:latin typeface="微软雅黑" panose="020B0503020204020204" pitchFamily="34" charset="-122"/>
                          <a:ea typeface="微软雅黑" panose="020B0503020204020204" pitchFamily="34" charset="-122"/>
                        </a:rPr>
                        <a:t>大幅过 ≥</a:t>
                      </a:r>
                      <a:r>
                        <a:rPr lang="en-US" altLang="zh-CN" sz="1150" smtClean="0">
                          <a:solidFill>
                            <a:srgbClr val="333333"/>
                          </a:solidFill>
                          <a:latin typeface="微软雅黑" panose="020B0503020204020204" pitchFamily="34" charset="-122"/>
                          <a:ea typeface="微软雅黑" panose="020B0503020204020204" pitchFamily="34" charset="-122"/>
                        </a:rPr>
                        <a:t>30% </a:t>
                      </a:r>
                      <a:r>
                        <a:rPr lang="zh-CN" altLang="en-US" sz="1150" smtClean="0">
                          <a:solidFill>
                            <a:srgbClr val="333333"/>
                          </a:solidFill>
                          <a:latin typeface="微软雅黑" panose="020B0503020204020204" pitchFamily="34" charset="-122"/>
                          <a:ea typeface="微软雅黑" panose="020B0503020204020204" pitchFamily="34" charset="-122"/>
                        </a:rPr>
                        <a:t>线</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2824510844"/>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ROC / DET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全阈值段权衡曲线；</a:t>
                      </a:r>
                      <a:r>
                        <a:rPr lang="en-US" altLang="zh-CN" sz="1150" dirty="0" smtClean="0">
                          <a:solidFill>
                            <a:srgbClr val="333333"/>
                          </a:solidFill>
                          <a:latin typeface="微软雅黑" panose="020B0503020204020204" pitchFamily="34" charset="-122"/>
                          <a:ea typeface="微软雅黑" panose="020B0503020204020204" pitchFamily="34" charset="-122"/>
                        </a:rPr>
                        <a:t>DET </a:t>
                      </a:r>
                      <a:r>
                        <a:rPr lang="zh-CN" altLang="en-US" sz="1150" dirty="0" smtClean="0">
                          <a:solidFill>
                            <a:srgbClr val="333333"/>
                          </a:solidFill>
                          <a:latin typeface="微软雅黑" panose="020B0503020204020204" pitchFamily="34" charset="-122"/>
                          <a:ea typeface="微软雅黑" panose="020B0503020204020204" pitchFamily="34" charset="-122"/>
                        </a:rPr>
                        <a:t>用正态概率刻度</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把尾部细节拉开看</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前端曲线全程在 </a:t>
                      </a:r>
                      <a:r>
                        <a:rPr lang="en-US" altLang="zh-CN" sz="1150" smtClean="0">
                          <a:solidFill>
                            <a:srgbClr val="333333"/>
                          </a:solidFill>
                          <a:latin typeface="微软雅黑" panose="020B0503020204020204" pitchFamily="34" charset="-122"/>
                          <a:ea typeface="微软雅黑" panose="020B0503020204020204" pitchFamily="34" charset="-122"/>
                        </a:rPr>
                        <a:t>raw </a:t>
                      </a:r>
                      <a:r>
                        <a:rPr lang="zh-CN" altLang="en-US" sz="1150" smtClean="0">
                          <a:solidFill>
                            <a:srgbClr val="333333"/>
                          </a:solidFill>
                          <a:latin typeface="微软雅黑" panose="020B0503020204020204" pitchFamily="34" charset="-122"/>
                          <a:ea typeface="微软雅黑" panose="020B0503020204020204" pitchFamily="34" charset="-122"/>
                        </a:rPr>
                        <a:t>曲线的优侧</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报告图 </a:t>
                      </a:r>
                      <a:r>
                        <a:rPr lang="en-US" altLang="zh-CN" sz="1150" smtClean="0">
                          <a:solidFill>
                            <a:srgbClr val="333333"/>
                          </a:solidFill>
                          <a:latin typeface="微软雅黑" panose="020B0503020204020204" pitchFamily="34" charset="-122"/>
                          <a:ea typeface="微软雅黑" panose="020B0503020204020204" pitchFamily="34" charset="-122"/>
                        </a:rPr>
                        <a:t>5/6)</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23803563"/>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minDCF</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p_tar=1% </a:t>
                      </a:r>
                      <a:r>
                        <a:rPr lang="zh-CN" altLang="en-US" sz="1150" smtClean="0">
                          <a:solidFill>
                            <a:srgbClr val="333333"/>
                          </a:solidFill>
                          <a:latin typeface="微软雅黑" panose="020B0503020204020204" pitchFamily="34" charset="-122"/>
                          <a:ea typeface="微软雅黑" panose="020B0503020204020204" pitchFamily="34" charset="-122"/>
                        </a:rPr>
                        <a:t>先验下挑最优阈值的加权错误代价</a:t>
                      </a:r>
                      <a:r>
                        <a:rPr lang="en-US" altLang="zh-CN" sz="1150" smtClean="0">
                          <a:solidFill>
                            <a:srgbClr val="333333"/>
                          </a:solidFill>
                          <a:latin typeface="微软雅黑" panose="020B0503020204020204" pitchFamily="34" charset="-122"/>
                          <a:ea typeface="微软雅黑" panose="020B0503020204020204" pitchFamily="34" charset="-122"/>
                        </a:rPr>
                        <a:t>(1.0 = </a:t>
                      </a:r>
                      <a:r>
                        <a:rPr lang="zh-CN" altLang="en-US" sz="1150" smtClean="0">
                          <a:solidFill>
                            <a:srgbClr val="333333"/>
                          </a:solidFill>
                          <a:latin typeface="微软雅黑" panose="020B0503020204020204" pitchFamily="34" charset="-122"/>
                          <a:ea typeface="微软雅黑" panose="020B0503020204020204" pitchFamily="34" charset="-122"/>
                        </a:rPr>
                        <a:t>全拒绝摆烂线</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0.628 → 0.515(</a:t>
                      </a:r>
                      <a:r>
                        <a:rPr lang="zh-CN" altLang="en-US" sz="1150" smtClean="0">
                          <a:solidFill>
                            <a:srgbClr val="333333"/>
                          </a:solidFill>
                          <a:latin typeface="微软雅黑" panose="020B0503020204020204" pitchFamily="34" charset="-122"/>
                          <a:ea typeface="微软雅黑" panose="020B0503020204020204" pitchFamily="34" charset="-122"/>
                        </a:rPr>
                        <a:t>低误报区</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改善温和但同向</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7628076"/>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FRR@FAR=5%</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安全档：容忍 </a:t>
                      </a:r>
                      <a:r>
                        <a:rPr lang="en-US" altLang="zh-CN" sz="1150" dirty="0" smtClean="0">
                          <a:solidFill>
                            <a:srgbClr val="333333"/>
                          </a:solidFill>
                          <a:latin typeface="微软雅黑" panose="020B0503020204020204" pitchFamily="34" charset="-122"/>
                          <a:ea typeface="微软雅黑" panose="020B0503020204020204" pitchFamily="34" charset="-122"/>
                        </a:rPr>
                        <a:t>5% </a:t>
                      </a:r>
                      <a:r>
                        <a:rPr lang="zh-CN" altLang="en-US" sz="1150" dirty="0" smtClean="0">
                          <a:solidFill>
                            <a:srgbClr val="333333"/>
                          </a:solidFill>
                          <a:latin typeface="微软雅黑" panose="020B0503020204020204" pitchFamily="34" charset="-122"/>
                          <a:ea typeface="微软雅黑" panose="020B0503020204020204" pitchFamily="34" charset="-122"/>
                        </a:rPr>
                        <a:t>冒认漏进时</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本人被拒多少</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12.46 → 4.77(</a:t>
                      </a:r>
                      <a:r>
                        <a:rPr lang="zh-CN" altLang="en-US" sz="1150" smtClean="0">
                          <a:solidFill>
                            <a:srgbClr val="333333"/>
                          </a:solidFill>
                          <a:latin typeface="微软雅黑" panose="020B0503020204020204" pitchFamily="34" charset="-122"/>
                          <a:ea typeface="微软雅黑" panose="020B0503020204020204" pitchFamily="34" charset="-122"/>
                        </a:rPr>
                        <a:t>约每 </a:t>
                      </a:r>
                      <a:r>
                        <a:rPr lang="en-US" altLang="zh-CN" sz="1150" smtClean="0">
                          <a:solidFill>
                            <a:srgbClr val="333333"/>
                          </a:solidFill>
                          <a:latin typeface="微软雅黑" panose="020B0503020204020204" pitchFamily="34" charset="-122"/>
                          <a:ea typeface="微软雅黑" panose="020B0503020204020204" pitchFamily="34" charset="-122"/>
                        </a:rPr>
                        <a:t>100 </a:t>
                      </a:r>
                      <a:r>
                        <a:rPr lang="zh-CN" altLang="en-US" sz="1150" smtClean="0">
                          <a:solidFill>
                            <a:srgbClr val="333333"/>
                          </a:solidFill>
                          <a:latin typeface="微软雅黑" panose="020B0503020204020204" pitchFamily="34" charset="-122"/>
                          <a:ea typeface="微软雅黑" panose="020B0503020204020204" pitchFamily="34" charset="-122"/>
                        </a:rPr>
                        <a:t>次解锁失败 </a:t>
                      </a:r>
                      <a:r>
                        <a:rPr lang="en-US" altLang="zh-CN" sz="1150" smtClean="0">
                          <a:solidFill>
                            <a:srgbClr val="333333"/>
                          </a:solidFill>
                          <a:latin typeface="微软雅黑" panose="020B0503020204020204" pitchFamily="34" charset="-122"/>
                          <a:ea typeface="微软雅黑" panose="020B0503020204020204" pitchFamily="34" charset="-122"/>
                        </a:rPr>
                        <a:t>5 </a:t>
                      </a:r>
                      <a:r>
                        <a:rPr lang="zh-CN" altLang="en-US" sz="1150" smtClean="0">
                          <a:solidFill>
                            <a:srgbClr val="333333"/>
                          </a:solidFill>
                          <a:latin typeface="微软雅黑" panose="020B0503020204020204" pitchFamily="34" charset="-122"/>
                          <a:ea typeface="微软雅黑" panose="020B0503020204020204" pitchFamily="34" charset="-122"/>
                        </a:rPr>
                        <a:t>次</a:t>
                      </a:r>
                      <a:r>
                        <a:rPr lang="en-US" altLang="zh-CN" sz="1150" smtClean="0">
                          <a:solidFill>
                            <a:srgbClr val="333333"/>
                          </a:solidFill>
                          <a:latin typeface="微软雅黑" panose="020B0503020204020204" pitchFamily="34" charset="-122"/>
                          <a:ea typeface="微软雅黑" panose="020B0503020204020204" pitchFamily="34" charset="-122"/>
                        </a:rPr>
                        <a:t>)</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966866143"/>
                  </a:ext>
                </a:extLst>
              </a:tr>
              <a:tr h="373743">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FAR@FRR=5%</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体验档：保证 </a:t>
                      </a:r>
                      <a:r>
                        <a:rPr lang="en-US" altLang="zh-CN" sz="1150" dirty="0" smtClean="0">
                          <a:solidFill>
                            <a:srgbClr val="333333"/>
                          </a:solidFill>
                          <a:latin typeface="微软雅黑" panose="020B0503020204020204" pitchFamily="34" charset="-122"/>
                          <a:ea typeface="微软雅黑" panose="020B0503020204020204" pitchFamily="34" charset="-122"/>
                        </a:rPr>
                        <a:t>95% </a:t>
                      </a:r>
                      <a:r>
                        <a:rPr lang="zh-CN" altLang="en-US" sz="1150" dirty="0" smtClean="0">
                          <a:solidFill>
                            <a:srgbClr val="333333"/>
                          </a:solidFill>
                          <a:latin typeface="微软雅黑" panose="020B0503020204020204" pitchFamily="34" charset="-122"/>
                          <a:ea typeface="微软雅黑" panose="020B0503020204020204" pitchFamily="34" charset="-122"/>
                        </a:rPr>
                        <a:t>本人通过时</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冒认漏进多少</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14.98 → 4.77</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3804838366"/>
                  </a:ext>
                </a:extLst>
              </a:tr>
            </a:tbl>
          </a:graphicData>
        </a:graphic>
      </p:graphicFrame>
      <p:sp>
        <p:nvSpPr>
          <p:cNvPr id="7" name="文本框 6"/>
          <p:cNvSpPr txBox="1"/>
          <p:nvPr/>
        </p:nvSpPr>
        <p:spPr>
          <a:xfrm>
            <a:off x="508000" y="3886200"/>
            <a:ext cx="11176000" cy="669414"/>
          </a:xfrm>
          <a:prstGeom prst="rect">
            <a:avLst/>
          </a:prstGeom>
          <a:noFill/>
        </p:spPr>
        <p:txBody>
          <a:bodyPr vert="horz" rtlCol="0">
            <a:spAutoFit/>
          </a:bodyPr>
          <a:lstStyle/>
          <a:p>
            <a:r>
              <a:rPr lang="zh-CN" altLang="en-US" sz="1250" b="1" dirty="0" smtClean="0">
                <a:solidFill>
                  <a:srgbClr val="7F6000"/>
                </a:solidFill>
                <a:latin typeface="微软雅黑" panose="020B0503020204020204" pitchFamily="34" charset="-122"/>
                <a:ea typeface="微软雅黑" panose="020B0503020204020204" pitchFamily="34" charset="-122"/>
              </a:rPr>
              <a:t>常见追问：为什么两个 </a:t>
            </a:r>
            <a:r>
              <a:rPr lang="en-US" altLang="zh-CN" sz="1250" b="1" dirty="0" smtClean="0">
                <a:solidFill>
                  <a:srgbClr val="7F6000"/>
                </a:solidFill>
                <a:latin typeface="微软雅黑" panose="020B0503020204020204" pitchFamily="34" charset="-122"/>
                <a:ea typeface="微软雅黑" panose="020B0503020204020204" pitchFamily="34" charset="-122"/>
              </a:rPr>
              <a:t>5% </a:t>
            </a:r>
            <a:r>
              <a:rPr lang="zh-CN" altLang="en-US" sz="1250" b="1" dirty="0" smtClean="0">
                <a:solidFill>
                  <a:srgbClr val="7F6000"/>
                </a:solidFill>
                <a:latin typeface="微软雅黑" panose="020B0503020204020204" pitchFamily="34" charset="-122"/>
                <a:ea typeface="微软雅黑" panose="020B0503020204020204" pitchFamily="34" charset="-122"/>
              </a:rPr>
              <a:t>工作点都是 </a:t>
            </a:r>
            <a:r>
              <a:rPr lang="en-US" altLang="zh-CN" sz="1250" b="1" dirty="0" smtClean="0">
                <a:solidFill>
                  <a:srgbClr val="7F6000"/>
                </a:solidFill>
                <a:latin typeface="微软雅黑" panose="020B0503020204020204" pitchFamily="34" charset="-122"/>
                <a:ea typeface="微软雅黑" panose="020B0503020204020204" pitchFamily="34" charset="-122"/>
              </a:rPr>
              <a:t>4.77?—— </a:t>
            </a:r>
            <a:r>
              <a:rPr lang="zh-CN" altLang="en-US" sz="1250" b="1" dirty="0" smtClean="0">
                <a:solidFill>
                  <a:srgbClr val="7F6000"/>
                </a:solidFill>
                <a:latin typeface="微软雅黑" panose="020B0503020204020204" pitchFamily="34" charset="-122"/>
                <a:ea typeface="微软雅黑" panose="020B0503020204020204" pitchFamily="34" charset="-122"/>
              </a:rPr>
              <a:t>该格 </a:t>
            </a:r>
            <a:r>
              <a:rPr lang="en-US" altLang="zh-CN" sz="1250" b="1" dirty="0" smtClean="0">
                <a:solidFill>
                  <a:srgbClr val="7F6000"/>
                </a:solidFill>
                <a:latin typeface="微软雅黑" panose="020B0503020204020204" pitchFamily="34" charset="-122"/>
                <a:ea typeface="微软雅黑" panose="020B0503020204020204" pitchFamily="34" charset="-122"/>
              </a:rPr>
              <a:t>EER≈4.89 </a:t>
            </a:r>
            <a:r>
              <a:rPr lang="zh-CN" altLang="en-US" sz="1250" b="1" dirty="0" smtClean="0">
                <a:solidFill>
                  <a:srgbClr val="7F6000"/>
                </a:solidFill>
                <a:latin typeface="微软雅黑" panose="020B0503020204020204" pitchFamily="34" charset="-122"/>
                <a:ea typeface="微软雅黑" panose="020B0503020204020204" pitchFamily="34" charset="-122"/>
              </a:rPr>
              <a:t>恰贴着 </a:t>
            </a:r>
            <a:r>
              <a:rPr lang="en-US" altLang="zh-CN" sz="1250" b="1" dirty="0" smtClean="0">
                <a:solidFill>
                  <a:srgbClr val="7F6000"/>
                </a:solidFill>
                <a:latin typeface="微软雅黑" panose="020B0503020204020204" pitchFamily="34" charset="-122"/>
                <a:ea typeface="微软雅黑" panose="020B0503020204020204" pitchFamily="34" charset="-122"/>
              </a:rPr>
              <a:t>5%,</a:t>
            </a:r>
            <a:r>
              <a:rPr lang="zh-CN" altLang="en-US" sz="1250" b="1" dirty="0" smtClean="0">
                <a:solidFill>
                  <a:srgbClr val="7F6000"/>
                </a:solidFill>
                <a:latin typeface="微软雅黑" panose="020B0503020204020204" pitchFamily="34" charset="-122"/>
                <a:ea typeface="微软雅黑" panose="020B0503020204020204" pitchFamily="34" charset="-122"/>
              </a:rPr>
              <a:t>两个交点 </a:t>
            </a:r>
            <a:r>
              <a:rPr lang="en-US" altLang="zh-CN" sz="1250" b="1" dirty="0" smtClean="0">
                <a:solidFill>
                  <a:srgbClr val="7F6000"/>
                </a:solidFill>
                <a:latin typeface="微软雅黑" panose="020B0503020204020204" pitchFamily="34" charset="-122"/>
                <a:ea typeface="微软雅黑" panose="020B0503020204020204" pitchFamily="34" charset="-122"/>
              </a:rPr>
              <a:t>(5%,4.77) </a:t>
            </a:r>
            <a:r>
              <a:rPr lang="zh-CN" altLang="en-US" sz="1250" b="1" dirty="0" smtClean="0">
                <a:solidFill>
                  <a:srgbClr val="7F6000"/>
                </a:solidFill>
                <a:latin typeface="微软雅黑" panose="020B0503020204020204" pitchFamily="34" charset="-122"/>
                <a:ea typeface="微软雅黑" panose="020B0503020204020204" pitchFamily="34" charset="-122"/>
              </a:rPr>
              <a:t>与 </a:t>
            </a:r>
            <a:r>
              <a:rPr lang="en-US" altLang="zh-CN" sz="1250" b="1" dirty="0" smtClean="0">
                <a:solidFill>
                  <a:srgbClr val="7F6000"/>
                </a:solidFill>
                <a:latin typeface="微软雅黑" panose="020B0503020204020204" pitchFamily="34" charset="-122"/>
                <a:ea typeface="微软雅黑" panose="020B0503020204020204" pitchFamily="34" charset="-122"/>
              </a:rPr>
              <a:t>(4.77,5%) </a:t>
            </a:r>
            <a:r>
              <a:rPr lang="zh-CN" altLang="en-US" sz="1250" b="1" dirty="0" smtClean="0">
                <a:solidFill>
                  <a:srgbClr val="7F6000"/>
                </a:solidFill>
                <a:latin typeface="微软雅黑" panose="020B0503020204020204" pitchFamily="34" charset="-122"/>
                <a:ea typeface="微软雅黑" panose="020B0503020204020204" pitchFamily="34" charset="-122"/>
              </a:rPr>
              <a:t>关于对角线近似镜像</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读数几乎重合；但并非逐位相等</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精确值 </a:t>
            </a:r>
            <a:r>
              <a:rPr lang="en-US" altLang="zh-CN" sz="1250" b="1" dirty="0" smtClean="0">
                <a:solidFill>
                  <a:srgbClr val="7F6000"/>
                </a:solidFill>
                <a:latin typeface="微软雅黑" panose="020B0503020204020204" pitchFamily="34" charset="-122"/>
                <a:ea typeface="微软雅黑" panose="020B0503020204020204" pitchFamily="34" charset="-122"/>
              </a:rPr>
              <a:t>4.771 / 4.769,</a:t>
            </a:r>
            <a:r>
              <a:rPr lang="zh-CN" altLang="en-US" sz="1250" b="1" dirty="0" smtClean="0">
                <a:solidFill>
                  <a:srgbClr val="7F6000"/>
                </a:solidFill>
                <a:latin typeface="微软雅黑" panose="020B0503020204020204" pitchFamily="34" charset="-122"/>
                <a:ea typeface="微软雅黑" panose="020B0503020204020204" pitchFamily="34" charset="-122"/>
              </a:rPr>
              <a:t>千分位分开</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若真逐位相等</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曲线就恰好过 </a:t>
            </a:r>
            <a:r>
              <a:rPr lang="en-US" altLang="zh-CN" sz="1250" b="1" dirty="0" smtClean="0">
                <a:solidFill>
                  <a:srgbClr val="7F6000"/>
                </a:solidFill>
                <a:latin typeface="微软雅黑" panose="020B0503020204020204" pitchFamily="34" charset="-122"/>
                <a:ea typeface="微软雅黑" panose="020B0503020204020204" pitchFamily="34" charset="-122"/>
              </a:rPr>
              <a:t>(5%,5%),EER </a:t>
            </a:r>
            <a:r>
              <a:rPr lang="zh-CN" altLang="en-US" sz="1250" b="1" dirty="0" smtClean="0">
                <a:solidFill>
                  <a:srgbClr val="7F6000"/>
                </a:solidFill>
                <a:latin typeface="微软雅黑" panose="020B0503020204020204" pitchFamily="34" charset="-122"/>
                <a:ea typeface="微软雅黑" panose="020B0503020204020204" pitchFamily="34" charset="-122"/>
              </a:rPr>
              <a:t>应为整 </a:t>
            </a:r>
            <a:r>
              <a:rPr lang="en-US" altLang="zh-CN" sz="1250" b="1" dirty="0" smtClean="0">
                <a:solidFill>
                  <a:srgbClr val="7F6000"/>
                </a:solidFill>
                <a:latin typeface="微软雅黑" panose="020B0503020204020204" pitchFamily="34" charset="-122"/>
                <a:ea typeface="微软雅黑" panose="020B0503020204020204" pitchFamily="34" charset="-122"/>
              </a:rPr>
              <a:t>5.00%,</a:t>
            </a:r>
            <a:r>
              <a:rPr lang="zh-CN" altLang="en-US" sz="1250" b="1" dirty="0" smtClean="0">
                <a:solidFill>
                  <a:srgbClr val="7F6000"/>
                </a:solidFill>
                <a:latin typeface="微软雅黑" panose="020B0503020204020204" pitchFamily="34" charset="-122"/>
                <a:ea typeface="微软雅黑" panose="020B0503020204020204" pitchFamily="34" charset="-122"/>
              </a:rPr>
              <a:t>而实际 </a:t>
            </a:r>
            <a:r>
              <a:rPr lang="en-US" altLang="zh-CN" sz="1250" b="1" dirty="0" smtClean="0">
                <a:solidFill>
                  <a:srgbClr val="7F6000"/>
                </a:solidFill>
                <a:latin typeface="微软雅黑" panose="020B0503020204020204" pitchFamily="34" charset="-122"/>
                <a:ea typeface="微软雅黑" panose="020B0503020204020204" pitchFamily="34" charset="-122"/>
              </a:rPr>
              <a:t>4.89</a:t>
            </a:r>
            <a:r>
              <a:rPr lang="zh-CN" altLang="en-US" sz="1250" b="1" dirty="0" smtClean="0">
                <a:solidFill>
                  <a:srgbClr val="7F6000"/>
                </a:solidFill>
                <a:latin typeface="微软雅黑" panose="020B0503020204020204" pitchFamily="34" charset="-122"/>
                <a:ea typeface="微软雅黑" panose="020B0503020204020204" pitchFamily="34" charset="-122"/>
              </a:rPr>
              <a:t>。</a:t>
            </a:r>
            <a:r>
              <a:rPr lang="en-US" altLang="zh-CN" sz="1250" b="1" dirty="0" smtClean="0">
                <a:solidFill>
                  <a:srgbClr val="7F6000"/>
                </a:solidFill>
                <a:latin typeface="微软雅黑" panose="020B0503020204020204" pitchFamily="34" charset="-122"/>
                <a:ea typeface="微软雅黑" panose="020B0503020204020204" pitchFamily="34" charset="-122"/>
              </a:rPr>
              <a:t>raw </a:t>
            </a:r>
            <a:r>
              <a:rPr lang="zh-CN" altLang="en-US" sz="1250" b="1" dirty="0" smtClean="0">
                <a:solidFill>
                  <a:srgbClr val="7F6000"/>
                </a:solidFill>
                <a:latin typeface="微软雅黑" panose="020B0503020204020204" pitchFamily="34" charset="-122"/>
                <a:ea typeface="微软雅黑" panose="020B0503020204020204" pitchFamily="34" charset="-122"/>
              </a:rPr>
              <a:t>曲线 </a:t>
            </a:r>
            <a:r>
              <a:rPr lang="en-US" altLang="zh-CN" sz="1250" b="1" dirty="0" smtClean="0">
                <a:solidFill>
                  <a:srgbClr val="7F6000"/>
                </a:solidFill>
                <a:latin typeface="微软雅黑" panose="020B0503020204020204" pitchFamily="34" charset="-122"/>
                <a:ea typeface="微软雅黑" panose="020B0503020204020204" pitchFamily="34" charset="-122"/>
              </a:rPr>
              <a:t>EER 8.39 </a:t>
            </a:r>
            <a:r>
              <a:rPr lang="zh-CN" altLang="en-US" sz="1250" b="1" dirty="0" smtClean="0">
                <a:solidFill>
                  <a:srgbClr val="7F6000"/>
                </a:solidFill>
                <a:latin typeface="微软雅黑" panose="020B0503020204020204" pitchFamily="34" charset="-122"/>
                <a:ea typeface="微软雅黑" panose="020B0503020204020204" pitchFamily="34" charset="-122"/>
              </a:rPr>
              <a:t>远离 </a:t>
            </a:r>
            <a:r>
              <a:rPr lang="en-US" altLang="zh-CN" sz="1250" b="1" dirty="0" smtClean="0">
                <a:solidFill>
                  <a:srgbClr val="7F6000"/>
                </a:solidFill>
                <a:latin typeface="微软雅黑" panose="020B0503020204020204" pitchFamily="34" charset="-122"/>
                <a:ea typeface="微软雅黑" panose="020B0503020204020204" pitchFamily="34" charset="-122"/>
              </a:rPr>
              <a:t>5%,</a:t>
            </a:r>
            <a:r>
              <a:rPr lang="zh-CN" altLang="en-US" sz="1250" b="1" dirty="0" smtClean="0">
                <a:solidFill>
                  <a:srgbClr val="7F6000"/>
                </a:solidFill>
                <a:latin typeface="微软雅黑" panose="020B0503020204020204" pitchFamily="34" charset="-122"/>
                <a:ea typeface="微软雅黑" panose="020B0503020204020204" pitchFamily="34" charset="-122"/>
              </a:rPr>
              <a:t>两个读数即分开</a:t>
            </a:r>
            <a:r>
              <a:rPr lang="en-US" altLang="zh-CN" sz="1250" b="1" dirty="0" smtClean="0">
                <a:solidFill>
                  <a:srgbClr val="7F6000"/>
                </a:solidFill>
                <a:latin typeface="微软雅黑" panose="020B0503020204020204" pitchFamily="34" charset="-122"/>
                <a:ea typeface="微软雅黑" panose="020B0503020204020204" pitchFamily="34" charset="-122"/>
              </a:rPr>
              <a:t>(12.46 vs 14.98)</a:t>
            </a:r>
            <a:r>
              <a:rPr lang="zh-CN" altLang="en-US" sz="1250" b="1" dirty="0" smtClean="0">
                <a:solidFill>
                  <a:srgbClr val="7F6000"/>
                </a:solidFill>
                <a:latin typeface="微软雅黑" panose="020B0503020204020204" pitchFamily="34" charset="-122"/>
                <a:ea typeface="微软雅黑" panose="020B0503020204020204" pitchFamily="34" charset="-122"/>
              </a:rPr>
              <a:t>。全量 </a:t>
            </a:r>
            <a:r>
              <a:rPr lang="en-US" altLang="zh-CN" sz="1250" b="1" dirty="0" smtClean="0">
                <a:solidFill>
                  <a:srgbClr val="7F6000"/>
                </a:solidFill>
                <a:latin typeface="微软雅黑" panose="020B0503020204020204" pitchFamily="34" charset="-122"/>
                <a:ea typeface="微软雅黑" panose="020B0503020204020204" pitchFamily="34" charset="-122"/>
              </a:rPr>
              <a:t>1,378,206 </a:t>
            </a:r>
            <a:r>
              <a:rPr lang="zh-CN" altLang="en-US" sz="1250" b="1" dirty="0" smtClean="0">
                <a:solidFill>
                  <a:srgbClr val="7F6000"/>
                </a:solidFill>
                <a:latin typeface="微软雅黑" panose="020B0503020204020204" pitchFamily="34" charset="-122"/>
                <a:ea typeface="微软雅黑" panose="020B0503020204020204" pitchFamily="34" charset="-122"/>
              </a:rPr>
              <a:t>条 </a:t>
            </a:r>
            <a:r>
              <a:rPr lang="en-US" altLang="zh-CN" sz="1250" b="1" dirty="0" smtClean="0">
                <a:solidFill>
                  <a:srgbClr val="7F6000"/>
                </a:solidFill>
                <a:latin typeface="微软雅黑" panose="020B0503020204020204" pitchFamily="34" charset="-122"/>
                <a:ea typeface="微软雅黑" panose="020B0503020204020204" pitchFamily="34" charset="-122"/>
              </a:rPr>
              <a:t>trial </a:t>
            </a:r>
            <a:r>
              <a:rPr lang="zh-CN" altLang="en-US" sz="1250" b="1" dirty="0" smtClean="0">
                <a:solidFill>
                  <a:srgbClr val="7F6000"/>
                </a:solidFill>
                <a:latin typeface="微软雅黑" panose="020B0503020204020204" pitchFamily="34" charset="-122"/>
                <a:ea typeface="微软雅黑" panose="020B0503020204020204" pitchFamily="34" charset="-122"/>
              </a:rPr>
              <a:t>独立复算核实。</a:t>
            </a:r>
            <a:endParaRPr lang="zh-CN" altLang="en-US" sz="1250" b="1" dirty="0">
              <a:solidFill>
                <a:srgbClr val="7F6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08000" y="5130800"/>
            <a:ext cx="11176000" cy="292388"/>
          </a:xfrm>
          <a:prstGeom prst="rect">
            <a:avLst/>
          </a:prstGeom>
          <a:noFill/>
        </p:spPr>
        <p:txBody>
          <a:bodyPr vert="horz" rtlCol="0">
            <a:spAutoFit/>
          </a:bodyPr>
          <a:lstStyle/>
          <a:p>
            <a:r>
              <a:rPr lang="zh-CN" altLang="en-US" sz="1300" b="1" dirty="0" smtClean="0">
                <a:solidFill>
                  <a:srgbClr val="1F3864"/>
                </a:solidFill>
                <a:latin typeface="微软雅黑" panose="020B0503020204020204" pitchFamily="34" charset="-122"/>
                <a:ea typeface="微软雅黑" panose="020B0503020204020204" pitchFamily="34" charset="-122"/>
              </a:rPr>
              <a:t>阈值纪律</a:t>
            </a:r>
            <a:r>
              <a:rPr lang="en-US" altLang="zh-CN" sz="1300" b="1" dirty="0" smtClean="0">
                <a:solidFill>
                  <a:srgbClr val="1F3864"/>
                </a:solidFill>
                <a:latin typeface="微软雅黑" panose="020B0503020204020204" pitchFamily="34" charset="-122"/>
                <a:ea typeface="微软雅黑" panose="020B0503020204020204" pitchFamily="34" charset="-122"/>
              </a:rPr>
              <a:t>(</a:t>
            </a:r>
            <a:r>
              <a:rPr lang="zh-CN" altLang="en-US" sz="1300" b="1" dirty="0" smtClean="0">
                <a:solidFill>
                  <a:srgbClr val="1F3864"/>
                </a:solidFill>
                <a:latin typeface="微软雅黑" panose="020B0503020204020204" pitchFamily="34" charset="-122"/>
                <a:ea typeface="微软雅黑" panose="020B0503020204020204" pitchFamily="34" charset="-122"/>
              </a:rPr>
              <a:t>任务书</a:t>
            </a:r>
            <a:r>
              <a:rPr lang="en-US" altLang="zh-CN" sz="1300" b="1" dirty="0" smtClean="0">
                <a:solidFill>
                  <a:srgbClr val="1F3864"/>
                </a:solidFill>
                <a:latin typeface="微软雅黑" panose="020B0503020204020204" pitchFamily="34" charset="-122"/>
                <a:ea typeface="微软雅黑" panose="020B0503020204020204" pitchFamily="34" charset="-122"/>
              </a:rPr>
              <a:t>)</a:t>
            </a:r>
            <a:r>
              <a:rPr lang="zh-CN" altLang="en-US" sz="1300" b="1" dirty="0" smtClean="0">
                <a:solidFill>
                  <a:srgbClr val="1F3864"/>
                </a:solidFill>
                <a:latin typeface="微软雅黑" panose="020B0503020204020204" pitchFamily="34" charset="-122"/>
                <a:ea typeface="微软雅黑" panose="020B0503020204020204" pitchFamily="34" charset="-122"/>
              </a:rPr>
              <a:t>：判定阈值只能在验证集确定、测试集冻结 </a:t>
            </a:r>
            <a:r>
              <a:rPr lang="en-US" altLang="zh-CN" sz="1300" b="1" dirty="0" smtClean="0">
                <a:solidFill>
                  <a:srgbClr val="1F3864"/>
                </a:solidFill>
                <a:latin typeface="微软雅黑" panose="020B0503020204020204" pitchFamily="34" charset="-122"/>
                <a:ea typeface="微软雅黑" panose="020B0503020204020204" pitchFamily="34" charset="-122"/>
              </a:rPr>
              <a:t>—— </a:t>
            </a:r>
            <a:r>
              <a:rPr lang="zh-CN" altLang="en-US" sz="1300" b="1" dirty="0" smtClean="0">
                <a:solidFill>
                  <a:srgbClr val="1F3864"/>
                </a:solidFill>
                <a:latin typeface="微软雅黑" panose="020B0503020204020204" pitchFamily="34" charset="-122"/>
                <a:ea typeface="微软雅黑" panose="020B0503020204020204" pitchFamily="34" charset="-122"/>
              </a:rPr>
              <a:t>全部工作点数字按冻结阈值口径报告</a:t>
            </a:r>
            <a:r>
              <a:rPr lang="en-US" altLang="zh-CN" sz="1300" b="1" dirty="0" smtClean="0">
                <a:solidFill>
                  <a:srgbClr val="1F3864"/>
                </a:solidFill>
                <a:latin typeface="微软雅黑" panose="020B0503020204020204" pitchFamily="34" charset="-122"/>
                <a:ea typeface="微软雅黑" panose="020B0503020204020204" pitchFamily="34" charset="-122"/>
              </a:rPr>
              <a:t>,</a:t>
            </a:r>
            <a:r>
              <a:rPr lang="zh-CN" altLang="en-US" sz="1300" b="1" dirty="0" smtClean="0">
                <a:solidFill>
                  <a:srgbClr val="1F3864"/>
                </a:solidFill>
                <a:latin typeface="微软雅黑" panose="020B0503020204020204" pitchFamily="34" charset="-122"/>
                <a:ea typeface="微软雅黑" panose="020B0503020204020204" pitchFamily="34" charset="-122"/>
              </a:rPr>
              <a:t>测后不调阈</a:t>
            </a:r>
            <a:endParaRPr lang="zh-CN" altLang="en-US" sz="1300" b="1" dirty="0">
              <a:solidFill>
                <a:srgbClr val="1F3864"/>
              </a:solidFill>
              <a:latin typeface="微软雅黑" panose="020B0503020204020204" pitchFamily="34" charset="-122"/>
              <a:ea typeface="微软雅黑" panose="020B0503020204020204" pitchFamily="34" charset="-122"/>
            </a:endParaRPr>
          </a:p>
        </p:txBody>
      </p:sp>
      <p:sp>
        <p:nvSpPr>
          <p:cNvPr id="9" name="灯片编号占位符 8"/>
          <p:cNvSpPr>
            <a:spLocks noGrp="1"/>
          </p:cNvSpPr>
          <p:nvPr>
            <p:ph type="sldNum" sz="quarter" idx="12"/>
          </p:nvPr>
        </p:nvSpPr>
        <p:spPr/>
        <p:txBody>
          <a:bodyPr/>
          <a:lstStyle/>
          <a:p>
            <a:fld id="{7BF2EA3F-D088-4729-88F9-9D4FADF26323}" type="slidenum">
              <a:rPr lang="zh-CN" altLang="en-US" smtClean="0"/>
              <a:t>27</a:t>
            </a:fld>
            <a:endParaRPr lang="zh-CN" altLang="en-US"/>
          </a:p>
        </p:txBody>
      </p:sp>
    </p:spTree>
    <p:extLst>
      <p:ext uri="{BB962C8B-B14F-4D97-AF65-F5344CB8AC3E}">
        <p14:creationId xmlns:p14="http://schemas.microsoft.com/office/powerpoint/2010/main" val="140446176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备用页：部署真实口径</a:t>
            </a:r>
            <a:r>
              <a:rPr lang="en-US" altLang="zh-CN" sz="2400" b="1" dirty="0" smtClean="0">
                <a:solidFill>
                  <a:srgbClr val="1F3864"/>
                </a:solidFill>
                <a:latin typeface="微软雅黑" panose="020B0503020204020204" pitchFamily="34" charset="-122"/>
                <a:ea typeface="微软雅黑" panose="020B0503020204020204" pitchFamily="34" charset="-122"/>
              </a:rPr>
              <a:t>(claim)</a:t>
            </a:r>
            <a:r>
              <a:rPr lang="zh-CN" altLang="en-US" sz="2400" b="1" dirty="0" smtClean="0">
                <a:solidFill>
                  <a:srgbClr val="1F3864"/>
                </a:solidFill>
                <a:latin typeface="微软雅黑" panose="020B0503020204020204" pitchFamily="34" charset="-122"/>
                <a:ea typeface="微软雅黑" panose="020B0503020204020204" pitchFamily="34" charset="-122"/>
              </a:rPr>
              <a:t>的检验</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表格 5"/>
          <p:cNvGraphicFramePr>
            <a:graphicFrameLocks noGrp="1"/>
          </p:cNvGraphicFramePr>
          <p:nvPr>
            <p:extLst>
              <p:ext uri="{D42A27DB-BD31-4B8C-83A1-F6EECF244321}">
                <p14:modId xmlns:p14="http://schemas.microsoft.com/office/powerpoint/2010/main" val="3059591466"/>
              </p:ext>
            </p:extLst>
          </p:nvPr>
        </p:nvGraphicFramePr>
        <p:xfrm>
          <a:off x="508000" y="1143000"/>
          <a:ext cx="5842000" cy="1770380"/>
        </p:xfrm>
        <a:graphic>
          <a:graphicData uri="http://schemas.openxmlformats.org/drawingml/2006/table">
            <a:tbl>
              <a:tblPr firstRow="1" bandRow="1">
                <a:tableStyleId>{5C22544A-7EE6-4342-B048-85BDC9FD1C3A}</a:tableStyleId>
              </a:tblPr>
              <a:tblGrid>
                <a:gridCol w="1460500">
                  <a:extLst>
                    <a:ext uri="{9D8B030D-6E8A-4147-A177-3AD203B41FA5}">
                      <a16:colId xmlns:a16="http://schemas.microsoft.com/office/drawing/2014/main" val="3974944994"/>
                    </a:ext>
                  </a:extLst>
                </a:gridCol>
                <a:gridCol w="1460500">
                  <a:extLst>
                    <a:ext uri="{9D8B030D-6E8A-4147-A177-3AD203B41FA5}">
                      <a16:colId xmlns:a16="http://schemas.microsoft.com/office/drawing/2014/main" val="436448786"/>
                    </a:ext>
                  </a:extLst>
                </a:gridCol>
                <a:gridCol w="1460500">
                  <a:extLst>
                    <a:ext uri="{9D8B030D-6E8A-4147-A177-3AD203B41FA5}">
                      <a16:colId xmlns:a16="http://schemas.microsoft.com/office/drawing/2014/main" val="4143187746"/>
                    </a:ext>
                  </a:extLst>
                </a:gridCol>
                <a:gridCol w="1460500">
                  <a:extLst>
                    <a:ext uri="{9D8B030D-6E8A-4147-A177-3AD203B41FA5}">
                      <a16:colId xmlns:a16="http://schemas.microsoft.com/office/drawing/2014/main" val="3305518912"/>
                    </a:ext>
                  </a:extLst>
                </a:gridCol>
              </a:tblGrid>
              <a:tr h="412750">
                <a:tc>
                  <a:txBody>
                    <a:bodyPr/>
                    <a:lstStyle/>
                    <a:p>
                      <a:r>
                        <a:rPr lang="zh-CN" altLang="en-US" sz="1250" b="1" smtClean="0">
                          <a:solidFill>
                            <a:srgbClr val="FFFFFF"/>
                          </a:solidFill>
                          <a:latin typeface="微软雅黑" panose="020B0503020204020204" pitchFamily="34" charset="-122"/>
                          <a:ea typeface="微软雅黑" panose="020B0503020204020204" pitchFamily="34" charset="-122"/>
                        </a:rPr>
                        <a:t>口径</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en-US" altLang="zh-CN" sz="1250" b="1" smtClean="0">
                          <a:solidFill>
                            <a:srgbClr val="FFFFFF"/>
                          </a:solidFill>
                          <a:latin typeface="微软雅黑" panose="020B0503020204020204" pitchFamily="34" charset="-122"/>
                          <a:ea typeface="微软雅黑" panose="020B0503020204020204" pitchFamily="34" charset="-122"/>
                        </a:rPr>
                        <a:t>0 dB</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en-US" altLang="zh-CN" sz="1250" b="1" smtClean="0">
                          <a:solidFill>
                            <a:srgbClr val="FFFFFF"/>
                          </a:solidFill>
                          <a:latin typeface="微软雅黑" panose="020B0503020204020204" pitchFamily="34" charset="-122"/>
                          <a:ea typeface="微软雅黑" panose="020B0503020204020204" pitchFamily="34" charset="-122"/>
                        </a:rPr>
                        <a:t>-5 dB</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250" b="1" smtClean="0">
                          <a:solidFill>
                            <a:srgbClr val="FFFFFF"/>
                          </a:solidFill>
                          <a:latin typeface="微软雅黑" panose="020B0503020204020204" pitchFamily="34" charset="-122"/>
                          <a:ea typeface="微软雅黑" panose="020B0503020204020204" pitchFamily="34" charset="-122"/>
                        </a:rPr>
                        <a:t>说明</a:t>
                      </a:r>
                      <a:endParaRPr lang="zh-CN" altLang="en-US" sz="12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1920340840"/>
                  </a:ext>
                </a:extLst>
              </a:tr>
              <a:tr h="412750">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raw(</a:t>
                      </a:r>
                      <a:r>
                        <a:rPr lang="zh-CN" altLang="en-US" sz="1250" smtClean="0">
                          <a:solidFill>
                            <a:srgbClr val="333333"/>
                          </a:solidFill>
                          <a:latin typeface="微软雅黑" panose="020B0503020204020204" pitchFamily="34" charset="-122"/>
                          <a:ea typeface="微软雅黑" panose="020B0503020204020204" pitchFamily="34" charset="-122"/>
                        </a:rPr>
                        <a:t>基线</a:t>
                      </a:r>
                      <a:r>
                        <a:rPr lang="en-US" altLang="zh-CN" sz="1250" smtClean="0">
                          <a:solidFill>
                            <a:srgbClr val="333333"/>
                          </a:solidFill>
                          <a:latin typeface="微软雅黑" panose="020B0503020204020204" pitchFamily="34" charset="-122"/>
                          <a:ea typeface="微软雅黑" panose="020B0503020204020204" pitchFamily="34" charset="-122"/>
                        </a:rPr>
                        <a:t>)</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8.37</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11.09</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250" smtClean="0">
                          <a:solidFill>
                            <a:srgbClr val="333333"/>
                          </a:solidFill>
                          <a:latin typeface="微软雅黑" panose="020B0503020204020204" pitchFamily="34" charset="-122"/>
                          <a:ea typeface="微软雅黑" panose="020B0503020204020204" pitchFamily="34" charset="-122"/>
                        </a:rPr>
                        <a:t>不增强</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2696085170"/>
                  </a:ext>
                </a:extLst>
              </a:tr>
              <a:tr h="412750">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oracle(</a:t>
                      </a:r>
                      <a:r>
                        <a:rPr lang="zh-CN" altLang="en-US" sz="1250" smtClean="0">
                          <a:solidFill>
                            <a:srgbClr val="333333"/>
                          </a:solidFill>
                          <a:latin typeface="微软雅黑" panose="020B0503020204020204" pitchFamily="34" charset="-122"/>
                          <a:ea typeface="微软雅黑" panose="020B0503020204020204" pitchFamily="34" charset="-122"/>
                        </a:rPr>
                        <a:t>交付口径</a:t>
                      </a:r>
                      <a:r>
                        <a:rPr lang="en-US" altLang="zh-CN" sz="1250" smtClean="0">
                          <a:solidFill>
                            <a:srgbClr val="333333"/>
                          </a:solidFill>
                          <a:latin typeface="微软雅黑" panose="020B0503020204020204" pitchFamily="34" charset="-122"/>
                          <a:ea typeface="微软雅黑" panose="020B0503020204020204" pitchFamily="34" charset="-122"/>
                        </a:rPr>
                        <a:t>)</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4.88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5.53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250" smtClean="0">
                          <a:solidFill>
                            <a:srgbClr val="333333"/>
                          </a:solidFill>
                          <a:latin typeface="微软雅黑" panose="020B0503020204020204" pitchFamily="34" charset="-122"/>
                          <a:ea typeface="微软雅黑" panose="020B0503020204020204" pitchFamily="34" charset="-122"/>
                        </a:rPr>
                        <a:t>按真实说话人条件化</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1807241727"/>
                  </a:ext>
                </a:extLst>
              </a:tr>
              <a:tr h="412750">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claim(</a:t>
                      </a:r>
                      <a:r>
                        <a:rPr lang="zh-CN" altLang="en-US" sz="1250" smtClean="0">
                          <a:solidFill>
                            <a:srgbClr val="333333"/>
                          </a:solidFill>
                          <a:latin typeface="微软雅黑" panose="020B0503020204020204" pitchFamily="34" charset="-122"/>
                          <a:ea typeface="微软雅黑" panose="020B0503020204020204" pitchFamily="34" charset="-122"/>
                        </a:rPr>
                        <a:t>部署口径</a:t>
                      </a:r>
                      <a:r>
                        <a:rPr lang="en-US" altLang="zh-CN" sz="1250" smtClean="0">
                          <a:solidFill>
                            <a:srgbClr val="333333"/>
                          </a:solidFill>
                          <a:latin typeface="微软雅黑" panose="020B0503020204020204" pitchFamily="34" charset="-122"/>
                          <a:ea typeface="微软雅黑" panose="020B0503020204020204" pitchFamily="34" charset="-122"/>
                        </a:rPr>
                        <a:t>)</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10.72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250" smtClean="0">
                          <a:solidFill>
                            <a:srgbClr val="333333"/>
                          </a:solidFill>
                          <a:latin typeface="微软雅黑" panose="020B0503020204020204" pitchFamily="34" charset="-122"/>
                          <a:ea typeface="微软雅黑" panose="020B0503020204020204" pitchFamily="34" charset="-122"/>
                        </a:rPr>
                        <a:t>12.85 ❌</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250" smtClean="0">
                          <a:solidFill>
                            <a:srgbClr val="333333"/>
                          </a:solidFill>
                          <a:latin typeface="微软雅黑" panose="020B0503020204020204" pitchFamily="34" charset="-122"/>
                          <a:ea typeface="微软雅黑" panose="020B0503020204020204" pitchFamily="34" charset="-122"/>
                        </a:rPr>
                        <a:t>冒认侧按「声称者」条件化</a:t>
                      </a:r>
                      <a:endParaRPr lang="zh-CN" altLang="en-US" sz="12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3987751285"/>
                  </a:ext>
                </a:extLst>
              </a:tr>
            </a:tbl>
          </a:graphicData>
        </a:graphic>
      </p:graphicFrame>
      <p:sp>
        <p:nvSpPr>
          <p:cNvPr id="7" name="文本框 6"/>
          <p:cNvSpPr txBox="1"/>
          <p:nvPr/>
        </p:nvSpPr>
        <p:spPr>
          <a:xfrm>
            <a:off x="508000" y="2997200"/>
            <a:ext cx="5842000" cy="923330"/>
          </a:xfrm>
          <a:prstGeom prst="rect">
            <a:avLst/>
          </a:prstGeom>
          <a:noFill/>
        </p:spPr>
        <p:txBody>
          <a:bodyPr vert="horz" rtlCol="0">
            <a:spAutoFit/>
          </a:bodyPr>
          <a:lstStyle/>
          <a:p>
            <a:r>
              <a:rPr lang="zh-CN" altLang="en-US" sz="1350" b="1" dirty="0" smtClean="0">
                <a:solidFill>
                  <a:srgbClr val="7F6000"/>
                </a:solidFill>
                <a:latin typeface="微软雅黑" panose="020B0503020204020204" pitchFamily="34" charset="-122"/>
                <a:ea typeface="微软雅黑" panose="020B0503020204020204" pitchFamily="34" charset="-122"/>
              </a:rPr>
              <a:t>机理：冒认者语音被「往声称者拉」</a:t>
            </a:r>
            <a:r>
              <a:rPr lang="en-US" altLang="zh-CN" sz="1350" b="1" dirty="0" smtClean="0">
                <a:solidFill>
                  <a:srgbClr val="7F6000"/>
                </a:solidFill>
                <a:latin typeface="微软雅黑" panose="020B0503020204020204" pitchFamily="34" charset="-122"/>
                <a:ea typeface="微软雅黑" panose="020B0503020204020204" pitchFamily="34" charset="-122"/>
              </a:rPr>
              <a:t>——</a:t>
            </a:r>
          </a:p>
          <a:p>
            <a:r>
              <a:rPr lang="zh-CN" altLang="en-US" sz="1350" b="1" dirty="0" smtClean="0">
                <a:solidFill>
                  <a:srgbClr val="7F6000"/>
                </a:solidFill>
                <a:latin typeface="微软雅黑" panose="020B0503020204020204" pitchFamily="34" charset="-122"/>
                <a:ea typeface="微软雅黑" panose="020B0503020204020204" pitchFamily="34" charset="-122"/>
              </a:rPr>
              <a:t>冒认分数中位数 </a:t>
            </a:r>
            <a:r>
              <a:rPr lang="en-US" altLang="zh-CN" sz="1350" b="1" dirty="0" smtClean="0">
                <a:solidFill>
                  <a:srgbClr val="7F6000"/>
                </a:solidFill>
                <a:latin typeface="微软雅黑" panose="020B0503020204020204" pitchFamily="34" charset="-122"/>
                <a:ea typeface="微软雅黑" panose="020B0503020204020204" pitchFamily="34" charset="-122"/>
              </a:rPr>
              <a:t>0.044 → 0.129(</a:t>
            </a:r>
            <a:r>
              <a:rPr lang="zh-CN" altLang="en-US" sz="1350" b="1" dirty="0" smtClean="0">
                <a:solidFill>
                  <a:srgbClr val="7F6000"/>
                </a:solidFill>
                <a:latin typeface="微软雅黑" panose="020B0503020204020204" pitchFamily="34" charset="-122"/>
                <a:ea typeface="微软雅黑" panose="020B0503020204020204" pitchFamily="34" charset="-122"/>
              </a:rPr>
              <a:t>约 </a:t>
            </a:r>
            <a:r>
              <a:rPr lang="en-US" altLang="zh-CN" sz="1350" b="1" dirty="0" smtClean="0">
                <a:solidFill>
                  <a:srgbClr val="7F6000"/>
                </a:solidFill>
                <a:latin typeface="微软雅黑" panose="020B0503020204020204" pitchFamily="34" charset="-122"/>
                <a:ea typeface="微软雅黑" panose="020B0503020204020204" pitchFamily="34" charset="-122"/>
              </a:rPr>
              <a:t>3 </a:t>
            </a:r>
            <a:r>
              <a:rPr lang="zh-CN" altLang="en-US" sz="1350" b="1" dirty="0" smtClean="0">
                <a:solidFill>
                  <a:srgbClr val="7F6000"/>
                </a:solidFill>
                <a:latin typeface="微软雅黑" panose="020B0503020204020204" pitchFamily="34" charset="-122"/>
                <a:ea typeface="微软雅黑" panose="020B0503020204020204" pitchFamily="34" charset="-122"/>
              </a:rPr>
              <a:t>倍</a:t>
            </a:r>
            <a:r>
              <a:rPr lang="en-US" altLang="zh-CN" sz="1350" b="1" dirty="0" smtClean="0">
                <a:solidFill>
                  <a:srgbClr val="7F6000"/>
                </a:solidFill>
                <a:latin typeface="微软雅黑" panose="020B0503020204020204" pitchFamily="34" charset="-122"/>
                <a:ea typeface="微软雅黑" panose="020B0503020204020204" pitchFamily="34" charset="-122"/>
              </a:rPr>
              <a:t>)</a:t>
            </a:r>
          </a:p>
          <a:p>
            <a:r>
              <a:rPr lang="zh-CN" altLang="en-US" sz="1350" b="1" dirty="0" smtClean="0">
                <a:solidFill>
                  <a:srgbClr val="7F6000"/>
                </a:solidFill>
                <a:latin typeface="微软雅黑" panose="020B0503020204020204" pitchFamily="34" charset="-122"/>
                <a:ea typeface="微软雅黑" panose="020B0503020204020204" pitchFamily="34" charset="-122"/>
              </a:rPr>
              <a:t>注册身份经条件化增强「泄漏」进输出语音：</a:t>
            </a:r>
            <a:endParaRPr lang="en-US" altLang="zh-CN" sz="1350" b="1" dirty="0" smtClean="0">
              <a:solidFill>
                <a:srgbClr val="7F6000"/>
              </a:solidFill>
              <a:latin typeface="微软雅黑" panose="020B0503020204020204" pitchFamily="34" charset="-122"/>
              <a:ea typeface="微软雅黑" panose="020B0503020204020204" pitchFamily="34" charset="-122"/>
            </a:endParaRPr>
          </a:p>
          <a:p>
            <a:r>
              <a:rPr lang="zh-CN" altLang="en-US" sz="1350" b="1" dirty="0" smtClean="0">
                <a:solidFill>
                  <a:srgbClr val="7F6000"/>
                </a:solidFill>
                <a:latin typeface="微软雅黑" panose="020B0503020204020204" pitchFamily="34" charset="-122"/>
                <a:ea typeface="微软雅黑" panose="020B0503020204020204" pitchFamily="34" charset="-122"/>
              </a:rPr>
              <a:t>去噪越成功</a:t>
            </a:r>
            <a:r>
              <a:rPr lang="en-US" altLang="zh-CN" sz="1350" b="1" dirty="0" smtClean="0">
                <a:solidFill>
                  <a:srgbClr val="7F6000"/>
                </a:solidFill>
                <a:latin typeface="微软雅黑" panose="020B0503020204020204" pitchFamily="34" charset="-122"/>
                <a:ea typeface="微软雅黑" panose="020B0503020204020204" pitchFamily="34" charset="-122"/>
              </a:rPr>
              <a:t>,</a:t>
            </a:r>
            <a:r>
              <a:rPr lang="zh-CN" altLang="en-US" sz="1350" b="1" dirty="0" smtClean="0">
                <a:solidFill>
                  <a:srgbClr val="7F6000"/>
                </a:solidFill>
                <a:latin typeface="微软雅黑" panose="020B0503020204020204" pitchFamily="34" charset="-122"/>
                <a:ea typeface="微软雅黑" panose="020B0503020204020204" pitchFamily="34" charset="-122"/>
              </a:rPr>
              <a:t>冒认语音越像声称者</a:t>
            </a:r>
            <a:r>
              <a:rPr lang="en-US" altLang="zh-CN" sz="1350" b="1" dirty="0" smtClean="0">
                <a:solidFill>
                  <a:srgbClr val="7F6000"/>
                </a:solidFill>
                <a:latin typeface="微软雅黑" panose="020B0503020204020204" pitchFamily="34" charset="-122"/>
                <a:ea typeface="微软雅黑" panose="020B0503020204020204" pitchFamily="34" charset="-122"/>
              </a:rPr>
              <a:t>(</a:t>
            </a:r>
            <a:r>
              <a:rPr lang="zh-CN" altLang="en-US" sz="1350" b="1" dirty="0" smtClean="0">
                <a:solidFill>
                  <a:srgbClr val="7F6000"/>
                </a:solidFill>
                <a:latin typeface="微软雅黑" panose="020B0503020204020204" pitchFamily="34" charset="-122"/>
                <a:ea typeface="微软雅黑" panose="020B0503020204020204" pitchFamily="34" charset="-122"/>
              </a:rPr>
              <a:t>结构性</a:t>
            </a:r>
            <a:r>
              <a:rPr lang="en-US" altLang="zh-CN" sz="1350" b="1" dirty="0" smtClean="0">
                <a:solidFill>
                  <a:srgbClr val="7F6000"/>
                </a:solidFill>
                <a:latin typeface="微软雅黑" panose="020B0503020204020204" pitchFamily="34" charset="-122"/>
                <a:ea typeface="微软雅黑" panose="020B0503020204020204" pitchFamily="34" charset="-122"/>
              </a:rPr>
              <a:t>)</a:t>
            </a:r>
            <a:endParaRPr lang="zh-CN" altLang="en-US" sz="1350" b="1" dirty="0">
              <a:solidFill>
                <a:srgbClr val="7F6000"/>
              </a:solidFill>
              <a:latin typeface="微软雅黑" panose="020B0503020204020204" pitchFamily="34" charset="-122"/>
              <a:ea typeface="微软雅黑" panose="020B0503020204020204" pitchFamily="34" charset="-122"/>
            </a:endParaRPr>
          </a:p>
        </p:txBody>
      </p:sp>
      <p:sp>
        <p:nvSpPr>
          <p:cNvPr id="8" name="文本框 7"/>
          <p:cNvSpPr txBox="1"/>
          <p:nvPr/>
        </p:nvSpPr>
        <p:spPr>
          <a:xfrm>
            <a:off x="508000" y="4648200"/>
            <a:ext cx="5842000" cy="923330"/>
          </a:xfrm>
          <a:prstGeom prst="rect">
            <a:avLst/>
          </a:prstGeom>
          <a:noFill/>
        </p:spPr>
        <p:txBody>
          <a:bodyPr vert="horz" rtlCol="0">
            <a:spAutoFit/>
          </a:bodyPr>
          <a:lstStyle/>
          <a:p>
            <a:r>
              <a:rPr lang="en-US" altLang="zh-CN" sz="1350" b="1" dirty="0" smtClean="0">
                <a:solidFill>
                  <a:srgbClr val="C00000"/>
                </a:solidFill>
                <a:latin typeface="微软雅黑" panose="020B0503020204020204" pitchFamily="34" charset="-122"/>
                <a:ea typeface="微软雅黑" panose="020B0503020204020204" pitchFamily="34" charset="-122"/>
              </a:rPr>
              <a:t>claim </a:t>
            </a:r>
            <a:r>
              <a:rPr lang="zh-CN" altLang="en-US" sz="1350" b="1" dirty="0" smtClean="0">
                <a:solidFill>
                  <a:srgbClr val="C00000"/>
                </a:solidFill>
                <a:latin typeface="微软雅黑" panose="020B0503020204020204" pitchFamily="34" charset="-122"/>
                <a:ea typeface="微软雅黑" panose="020B0503020204020204" pitchFamily="34" charset="-122"/>
              </a:rPr>
              <a:t>最好臂 </a:t>
            </a:r>
            <a:r>
              <a:rPr lang="en-US" altLang="zh-CN" sz="1350" b="1" dirty="0" smtClean="0">
                <a:solidFill>
                  <a:srgbClr val="C00000"/>
                </a:solidFill>
                <a:latin typeface="微软雅黑" panose="020B0503020204020204" pitchFamily="34" charset="-122"/>
                <a:ea typeface="微软雅黑" panose="020B0503020204020204" pitchFamily="34" charset="-122"/>
              </a:rPr>
              <a:t>= </a:t>
            </a:r>
            <a:r>
              <a:rPr lang="zh-CN" altLang="en-US" sz="1350" b="1" dirty="0" smtClean="0">
                <a:solidFill>
                  <a:srgbClr val="C00000"/>
                </a:solidFill>
                <a:latin typeface="微软雅黑" panose="020B0503020204020204" pitchFamily="34" charset="-122"/>
                <a:ea typeface="微软雅黑" panose="020B0503020204020204" pitchFamily="34" charset="-122"/>
              </a:rPr>
              <a:t>非目标抑制 </a:t>
            </a:r>
            <a:r>
              <a:rPr lang="en-US" altLang="zh-CN" sz="1350" b="1" dirty="0" smtClean="0">
                <a:solidFill>
                  <a:srgbClr val="C00000"/>
                </a:solidFill>
                <a:latin typeface="微软雅黑" panose="020B0503020204020204" pitchFamily="34" charset="-122"/>
                <a:ea typeface="微软雅黑" panose="020B0503020204020204" pitchFamily="34" charset="-122"/>
              </a:rPr>
              <a:t>+70%</a:t>
            </a:r>
            <a:r>
              <a:rPr lang="zh-CN" altLang="en-US" sz="1350" b="1" dirty="0" smtClean="0">
                <a:solidFill>
                  <a:srgbClr val="C00000"/>
                </a:solidFill>
                <a:latin typeface="微软雅黑" panose="020B0503020204020204" pitchFamily="34" charset="-122"/>
                <a:ea typeface="微软雅黑" panose="020B0503020204020204" pitchFamily="34" charset="-122"/>
              </a:rPr>
              <a:t>：</a:t>
            </a:r>
            <a:endParaRPr lang="en-US" altLang="zh-CN" sz="1350" b="1" dirty="0" smtClean="0">
              <a:solidFill>
                <a:srgbClr val="C00000"/>
              </a:solidFill>
              <a:latin typeface="微软雅黑" panose="020B0503020204020204" pitchFamily="34" charset="-122"/>
              <a:ea typeface="微软雅黑" panose="020B0503020204020204" pitchFamily="34" charset="-122"/>
            </a:endParaRPr>
          </a:p>
          <a:p>
            <a:r>
              <a:rPr lang="en-US" altLang="zh-CN" sz="1350" b="1" dirty="0" smtClean="0">
                <a:solidFill>
                  <a:srgbClr val="C00000"/>
                </a:solidFill>
                <a:latin typeface="微软雅黑" panose="020B0503020204020204" pitchFamily="34" charset="-122"/>
                <a:ea typeface="微软雅黑" panose="020B0503020204020204" pitchFamily="34" charset="-122"/>
              </a:rPr>
              <a:t>claim 8.11 </a:t>
            </a:r>
            <a:r>
              <a:rPr lang="zh-CN" altLang="en-US" sz="1350" b="1" dirty="0" smtClean="0">
                <a:solidFill>
                  <a:srgbClr val="C00000"/>
                </a:solidFill>
                <a:latin typeface="微软雅黑" panose="020B0503020204020204" pitchFamily="34" charset="-122"/>
                <a:ea typeface="微软雅黑" panose="020B0503020204020204" pitchFamily="34" charset="-122"/>
              </a:rPr>
              <a:t>已低于 </a:t>
            </a:r>
            <a:r>
              <a:rPr lang="en-US" altLang="zh-CN" sz="1350" b="1" dirty="0" smtClean="0">
                <a:solidFill>
                  <a:srgbClr val="C00000"/>
                </a:solidFill>
                <a:latin typeface="微软雅黑" panose="020B0503020204020204" pitchFamily="34" charset="-122"/>
                <a:ea typeface="微软雅黑" panose="020B0503020204020204" pitchFamily="34" charset="-122"/>
              </a:rPr>
              <a:t>raw 8.37,</a:t>
            </a:r>
          </a:p>
          <a:p>
            <a:r>
              <a:rPr lang="zh-CN" altLang="en-US" sz="1350" b="1" dirty="0" smtClean="0">
                <a:solidFill>
                  <a:srgbClr val="C00000"/>
                </a:solidFill>
                <a:latin typeface="微软雅黑" panose="020B0503020204020204" pitchFamily="34" charset="-122"/>
                <a:ea typeface="微软雅黑" panose="020B0503020204020204" pitchFamily="34" charset="-122"/>
              </a:rPr>
              <a:t>但 </a:t>
            </a:r>
            <a:r>
              <a:rPr lang="en-US" altLang="zh-CN" sz="1350" b="1" dirty="0" smtClean="0">
                <a:solidFill>
                  <a:srgbClr val="C00000"/>
                </a:solidFill>
                <a:latin typeface="微软雅黑" panose="020B0503020204020204" pitchFamily="34" charset="-122"/>
                <a:ea typeface="微软雅黑" panose="020B0503020204020204" pitchFamily="34" charset="-122"/>
              </a:rPr>
              <a:t>oracle </a:t>
            </a:r>
            <a:r>
              <a:rPr lang="zh-CN" altLang="en-US" sz="1350" b="1" dirty="0" smtClean="0">
                <a:solidFill>
                  <a:srgbClr val="C00000"/>
                </a:solidFill>
                <a:latin typeface="微软雅黑" panose="020B0503020204020204" pitchFamily="34" charset="-122"/>
                <a:ea typeface="微软雅黑" panose="020B0503020204020204" pitchFamily="34" charset="-122"/>
              </a:rPr>
              <a:t>退到 </a:t>
            </a:r>
            <a:r>
              <a:rPr lang="en-US" altLang="zh-CN" sz="1350" b="1" dirty="0" smtClean="0">
                <a:solidFill>
                  <a:srgbClr val="C00000"/>
                </a:solidFill>
                <a:latin typeface="微软雅黑" panose="020B0503020204020204" pitchFamily="34" charset="-122"/>
                <a:ea typeface="微软雅黑" panose="020B0503020204020204" pitchFamily="34" charset="-122"/>
              </a:rPr>
              <a:t>6.69,</a:t>
            </a:r>
            <a:r>
              <a:rPr lang="zh-CN" altLang="en-US" sz="1350" b="1" dirty="0" smtClean="0">
                <a:solidFill>
                  <a:srgbClr val="C00000"/>
                </a:solidFill>
                <a:latin typeface="微软雅黑" panose="020B0503020204020204" pitchFamily="34" charset="-122"/>
                <a:ea typeface="微软雅黑" panose="020B0503020204020204" pitchFamily="34" charset="-122"/>
              </a:rPr>
              <a:t>距达标线 </a:t>
            </a:r>
            <a:r>
              <a:rPr lang="en-US" altLang="zh-CN" sz="1350" b="1" dirty="0" smtClean="0">
                <a:solidFill>
                  <a:srgbClr val="C00000"/>
                </a:solidFill>
                <a:latin typeface="微软雅黑" panose="020B0503020204020204" pitchFamily="34" charset="-122"/>
                <a:ea typeface="微软雅黑" panose="020B0503020204020204" pitchFamily="34" charset="-122"/>
              </a:rPr>
              <a:t>5.87 </a:t>
            </a:r>
            <a:r>
              <a:rPr lang="zh-CN" altLang="en-US" sz="1350" b="1" dirty="0" smtClean="0">
                <a:solidFill>
                  <a:srgbClr val="C00000"/>
                </a:solidFill>
                <a:latin typeface="微软雅黑" panose="020B0503020204020204" pitchFamily="34" charset="-122"/>
                <a:ea typeface="微软雅黑" panose="020B0503020204020204" pitchFamily="34" charset="-122"/>
              </a:rPr>
              <a:t>差 </a:t>
            </a:r>
            <a:r>
              <a:rPr lang="en-US" altLang="zh-CN" sz="1350" b="1" dirty="0" smtClean="0">
                <a:solidFill>
                  <a:srgbClr val="C00000"/>
                </a:solidFill>
                <a:latin typeface="微软雅黑" panose="020B0503020204020204" pitchFamily="34" charset="-122"/>
                <a:ea typeface="微软雅黑" panose="020B0503020204020204" pitchFamily="34" charset="-122"/>
              </a:rPr>
              <a:t>0.8pp</a:t>
            </a:r>
          </a:p>
          <a:p>
            <a:r>
              <a:rPr lang="en-US" altLang="zh-CN" sz="1350" b="1" dirty="0" smtClean="0">
                <a:solidFill>
                  <a:srgbClr val="C00000"/>
                </a:solidFill>
                <a:latin typeface="微软雅黑" panose="020B0503020204020204" pitchFamily="34" charset="-122"/>
                <a:ea typeface="微软雅黑" panose="020B0503020204020204" pitchFamily="34" charset="-122"/>
              </a:rPr>
              <a:t>→ 15 </a:t>
            </a:r>
            <a:r>
              <a:rPr lang="zh-CN" altLang="en-US" sz="1350" b="1" dirty="0" smtClean="0">
                <a:solidFill>
                  <a:srgbClr val="C00000"/>
                </a:solidFill>
                <a:latin typeface="微软雅黑" panose="020B0503020204020204" pitchFamily="34" charset="-122"/>
                <a:ea typeface="微软雅黑" panose="020B0503020204020204" pitchFamily="34" charset="-122"/>
              </a:rPr>
              <a:t>臂无一进入「双达标区」</a:t>
            </a:r>
            <a:r>
              <a:rPr lang="en-US" altLang="zh-CN" sz="1350" b="1" dirty="0" smtClean="0">
                <a:solidFill>
                  <a:srgbClr val="C00000"/>
                </a:solidFill>
                <a:latin typeface="微软雅黑" panose="020B0503020204020204" pitchFamily="34" charset="-122"/>
                <a:ea typeface="微软雅黑" panose="020B0503020204020204" pitchFamily="34" charset="-122"/>
              </a:rPr>
              <a:t>(</a:t>
            </a:r>
            <a:r>
              <a:rPr lang="zh-CN" altLang="en-US" sz="1350" b="1" dirty="0" smtClean="0">
                <a:solidFill>
                  <a:srgbClr val="C00000"/>
                </a:solidFill>
                <a:latin typeface="微软雅黑" panose="020B0503020204020204" pitchFamily="34" charset="-122"/>
                <a:ea typeface="微软雅黑" panose="020B0503020204020204" pitchFamily="34" charset="-122"/>
              </a:rPr>
              <a:t>右图绿区</a:t>
            </a:r>
            <a:r>
              <a:rPr lang="en-US" altLang="zh-CN" sz="1350" b="1" dirty="0" smtClean="0">
                <a:solidFill>
                  <a:srgbClr val="C00000"/>
                </a:solidFill>
                <a:latin typeface="微软雅黑" panose="020B0503020204020204" pitchFamily="34" charset="-122"/>
                <a:ea typeface="微软雅黑" panose="020B0503020204020204" pitchFamily="34" charset="-122"/>
              </a:rPr>
              <a:t>)</a:t>
            </a:r>
            <a:endParaRPr lang="zh-CN" altLang="en-US" sz="1350" b="1" dirty="0">
              <a:solidFill>
                <a:srgbClr val="C00000"/>
              </a:solidFill>
              <a:latin typeface="微软雅黑" panose="020B0503020204020204" pitchFamily="34" charset="-122"/>
              <a:ea typeface="微软雅黑" panose="020B0503020204020204" pitchFamily="34" charset="-122"/>
            </a:endParaRPr>
          </a:p>
        </p:txBody>
      </p:sp>
      <p:pic>
        <p:nvPicPr>
          <p:cNvPr id="9" name="图片 8"/>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6626109" y="1168400"/>
            <a:ext cx="5188183" cy="2819400"/>
          </a:xfrm>
          <a:prstGeom prst="rect">
            <a:avLst/>
          </a:prstGeom>
        </p:spPr>
      </p:pic>
      <p:sp>
        <p:nvSpPr>
          <p:cNvPr id="12" name="灯片编号占位符 11"/>
          <p:cNvSpPr>
            <a:spLocks noGrp="1"/>
          </p:cNvSpPr>
          <p:nvPr>
            <p:ph type="sldNum" sz="quarter" idx="12"/>
          </p:nvPr>
        </p:nvSpPr>
        <p:spPr/>
        <p:txBody>
          <a:bodyPr/>
          <a:lstStyle/>
          <a:p>
            <a:fld id="{7BF2EA3F-D088-4729-88F9-9D4FADF26323}" type="slidenum">
              <a:rPr lang="zh-CN" altLang="en-US" smtClean="0"/>
              <a:t>28</a:t>
            </a:fld>
            <a:endParaRPr lang="zh-CN" altLang="en-US"/>
          </a:p>
        </p:txBody>
      </p:sp>
    </p:spTree>
    <p:extLst>
      <p:ext uri="{BB962C8B-B14F-4D97-AF65-F5344CB8AC3E}">
        <p14:creationId xmlns:p14="http://schemas.microsoft.com/office/powerpoint/2010/main" val="19073405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81000" y="304800"/>
            <a:ext cx="101600" cy="431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584200" y="228600"/>
            <a:ext cx="8890000" cy="461665"/>
          </a:xfrm>
          <a:prstGeom prst="rect">
            <a:avLst/>
          </a:prstGeom>
          <a:noFill/>
        </p:spPr>
        <p:txBody>
          <a:bodyPr vert="horz" rtlCol="0">
            <a:spAutoFit/>
          </a:bodyPr>
          <a:lstStyle/>
          <a:p>
            <a:r>
              <a:rPr lang="zh-CN" altLang="en-US" sz="2400" b="1" dirty="0" smtClean="0">
                <a:solidFill>
                  <a:srgbClr val="1F3864"/>
                </a:solidFill>
                <a:latin typeface="微软雅黑" panose="020B0503020204020204" pitchFamily="34" charset="-122"/>
                <a:ea typeface="微软雅黑" panose="020B0503020204020204" pitchFamily="34" charset="-122"/>
              </a:rPr>
              <a:t>备用页：</a:t>
            </a:r>
            <a:r>
              <a:rPr lang="en-US" altLang="zh-CN" sz="2400" b="1" dirty="0" smtClean="0">
                <a:solidFill>
                  <a:srgbClr val="1F3864"/>
                </a:solidFill>
                <a:latin typeface="微软雅黑" panose="020B0503020204020204" pitchFamily="34" charset="-122"/>
                <a:ea typeface="微软雅黑" panose="020B0503020204020204" pitchFamily="34" charset="-122"/>
              </a:rPr>
              <a:t>claim </a:t>
            </a:r>
            <a:r>
              <a:rPr lang="zh-CN" altLang="en-US" sz="2400" b="1" dirty="0" smtClean="0">
                <a:solidFill>
                  <a:srgbClr val="1F3864"/>
                </a:solidFill>
                <a:latin typeface="微软雅黑" panose="020B0503020204020204" pitchFamily="34" charset="-122"/>
                <a:ea typeface="微软雅黑" panose="020B0503020204020204" pitchFamily="34" charset="-122"/>
              </a:rPr>
              <a:t>修复努力全景</a:t>
            </a:r>
            <a:r>
              <a:rPr lang="en-US" altLang="zh-CN" sz="2400" b="1" dirty="0" smtClean="0">
                <a:solidFill>
                  <a:srgbClr val="1F3864"/>
                </a:solidFill>
                <a:latin typeface="微软雅黑" panose="020B0503020204020204" pitchFamily="34" charset="-122"/>
                <a:ea typeface="微软雅黑" panose="020B0503020204020204" pitchFamily="34" charset="-122"/>
              </a:rPr>
              <a:t>(13 </a:t>
            </a:r>
            <a:r>
              <a:rPr lang="zh-CN" altLang="en-US" sz="2400" b="1" dirty="0" smtClean="0">
                <a:solidFill>
                  <a:srgbClr val="1F3864"/>
                </a:solidFill>
                <a:latin typeface="微软雅黑" panose="020B0503020204020204" pitchFamily="34" charset="-122"/>
                <a:ea typeface="微软雅黑" panose="020B0503020204020204" pitchFamily="34" charset="-122"/>
              </a:rPr>
              <a:t>训练侧 </a:t>
            </a:r>
            <a:r>
              <a:rPr lang="en-US" altLang="zh-CN" sz="2400" b="1" dirty="0" smtClean="0">
                <a:solidFill>
                  <a:srgbClr val="1F3864"/>
                </a:solidFill>
                <a:latin typeface="微软雅黑" panose="020B0503020204020204" pitchFamily="34" charset="-122"/>
                <a:ea typeface="微软雅黑" panose="020B0503020204020204" pitchFamily="34" charset="-122"/>
              </a:rPr>
              <a:t>+ 2 </a:t>
            </a:r>
            <a:r>
              <a:rPr lang="zh-CN" altLang="en-US" sz="2400" b="1" dirty="0" smtClean="0">
                <a:solidFill>
                  <a:srgbClr val="1F3864"/>
                </a:solidFill>
                <a:latin typeface="微软雅黑" panose="020B0503020204020204" pitchFamily="34" charset="-122"/>
                <a:ea typeface="微软雅黑" panose="020B0503020204020204" pitchFamily="34" charset="-122"/>
              </a:rPr>
              <a:t>推理侧</a:t>
            </a:r>
            <a:r>
              <a:rPr lang="en-US" altLang="zh-CN" sz="2400" b="1" dirty="0" smtClean="0">
                <a:solidFill>
                  <a:srgbClr val="1F3864"/>
                </a:solidFill>
                <a:latin typeface="微软雅黑" panose="020B0503020204020204" pitchFamily="34" charset="-122"/>
                <a:ea typeface="微软雅黑" panose="020B0503020204020204" pitchFamily="34" charset="-122"/>
              </a:rPr>
              <a:t>)</a:t>
            </a:r>
            <a:endParaRPr lang="zh-CN" altLang="en-US" sz="2400" b="1" dirty="0">
              <a:solidFill>
                <a:srgbClr val="1F3864"/>
              </a:solidFill>
              <a:latin typeface="微软雅黑" panose="020B0503020204020204" pitchFamily="34" charset="-122"/>
              <a:ea typeface="微软雅黑" panose="020B0503020204020204" pitchFamily="34" charset="-122"/>
            </a:endParaRPr>
          </a:p>
        </p:txBody>
      </p:sp>
      <p:sp>
        <p:nvSpPr>
          <p:cNvPr id="5" name="矩形 4"/>
          <p:cNvSpPr/>
          <p:nvPr/>
        </p:nvSpPr>
        <p:spPr>
          <a:xfrm>
            <a:off x="381000" y="838200"/>
            <a:ext cx="11430000" cy="20320"/>
          </a:xfrm>
          <a:prstGeom prst="rect">
            <a:avLst/>
          </a:prstGeom>
          <a:solidFill>
            <a:srgbClr val="4472C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08000" y="1066800"/>
            <a:ext cx="11176000" cy="323165"/>
          </a:xfrm>
          <a:prstGeom prst="rect">
            <a:avLst/>
          </a:prstGeom>
          <a:noFill/>
        </p:spPr>
        <p:txBody>
          <a:bodyPr vert="horz" rtlCol="0">
            <a:spAutoFit/>
          </a:bodyPr>
          <a:lstStyle/>
          <a:p>
            <a:r>
              <a:rPr lang="zh-CN" altLang="en-US" sz="1500" b="1" smtClean="0">
                <a:solidFill>
                  <a:srgbClr val="1F3864"/>
                </a:solidFill>
                <a:latin typeface="微软雅黑" panose="020B0503020204020204" pitchFamily="34" charset="-122"/>
                <a:ea typeface="微软雅黑" panose="020B0503020204020204" pitchFamily="34" charset="-122"/>
              </a:rPr>
              <a:t>训练侧四族</a:t>
            </a:r>
            <a:r>
              <a:rPr lang="en-US" altLang="zh-CN" sz="1500" b="1" smtClean="0">
                <a:solidFill>
                  <a:srgbClr val="1F3864"/>
                </a:solidFill>
                <a:latin typeface="微软雅黑" panose="020B0503020204020204" pitchFamily="34" charset="-122"/>
                <a:ea typeface="微软雅黑" panose="020B0503020204020204" pitchFamily="34" charset="-122"/>
              </a:rPr>
              <a:t>(</a:t>
            </a:r>
            <a:r>
              <a:rPr lang="zh-CN" altLang="en-US" sz="1500" b="1" smtClean="0">
                <a:solidFill>
                  <a:srgbClr val="1F3864"/>
                </a:solidFill>
                <a:latin typeface="微软雅黑" panose="020B0503020204020204" pitchFamily="34" charset="-122"/>
                <a:ea typeface="微软雅黑" panose="020B0503020204020204" pitchFamily="34" charset="-122"/>
              </a:rPr>
              <a:t>在交付前端基础上改训练</a:t>
            </a:r>
            <a:r>
              <a:rPr lang="en-US" altLang="zh-CN" sz="1500" b="1" smtClean="0">
                <a:solidFill>
                  <a:srgbClr val="1F3864"/>
                </a:solidFill>
                <a:latin typeface="微软雅黑" panose="020B0503020204020204" pitchFamily="34" charset="-122"/>
                <a:ea typeface="微软雅黑" panose="020B0503020204020204" pitchFamily="34" charset="-122"/>
              </a:rPr>
              <a:t>)</a:t>
            </a:r>
            <a:endParaRPr lang="zh-CN" altLang="en-US" sz="1500" b="1">
              <a:solidFill>
                <a:srgbClr val="1F3864"/>
              </a:solidFill>
              <a:latin typeface="微软雅黑" panose="020B0503020204020204" pitchFamily="34" charset="-122"/>
              <a:ea typeface="微软雅黑" panose="020B0503020204020204" pitchFamily="34" charset="-122"/>
            </a:endParaRPr>
          </a:p>
        </p:txBody>
      </p:sp>
      <p:graphicFrame>
        <p:nvGraphicFramePr>
          <p:cNvPr id="7" name="表格 6"/>
          <p:cNvGraphicFramePr>
            <a:graphicFrameLocks noGrp="1"/>
          </p:cNvGraphicFramePr>
          <p:nvPr>
            <p:extLst>
              <p:ext uri="{D42A27DB-BD31-4B8C-83A1-F6EECF244321}">
                <p14:modId xmlns:p14="http://schemas.microsoft.com/office/powerpoint/2010/main" val="2071452220"/>
              </p:ext>
            </p:extLst>
          </p:nvPr>
        </p:nvGraphicFramePr>
        <p:xfrm>
          <a:off x="508000" y="1473200"/>
          <a:ext cx="11176000" cy="2179320"/>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1150738807"/>
                    </a:ext>
                  </a:extLst>
                </a:gridCol>
                <a:gridCol w="2794000">
                  <a:extLst>
                    <a:ext uri="{9D8B030D-6E8A-4147-A177-3AD203B41FA5}">
                      <a16:colId xmlns:a16="http://schemas.microsoft.com/office/drawing/2014/main" val="2194984380"/>
                    </a:ext>
                  </a:extLst>
                </a:gridCol>
                <a:gridCol w="2794000">
                  <a:extLst>
                    <a:ext uri="{9D8B030D-6E8A-4147-A177-3AD203B41FA5}">
                      <a16:colId xmlns:a16="http://schemas.microsoft.com/office/drawing/2014/main" val="796534337"/>
                    </a:ext>
                  </a:extLst>
                </a:gridCol>
                <a:gridCol w="2794000">
                  <a:extLst>
                    <a:ext uri="{9D8B030D-6E8A-4147-A177-3AD203B41FA5}">
                      <a16:colId xmlns:a16="http://schemas.microsoft.com/office/drawing/2014/main" val="1616004314"/>
                    </a:ext>
                  </a:extLst>
                </a:gridCol>
              </a:tblGrid>
              <a:tr h="426720">
                <a:tc>
                  <a:txBody>
                    <a:bodyPr/>
                    <a:lstStyle/>
                    <a:p>
                      <a:r>
                        <a:rPr lang="zh-CN" altLang="en-US" sz="1150" b="1" dirty="0" smtClean="0">
                          <a:solidFill>
                            <a:srgbClr val="FFFFFF"/>
                          </a:solidFill>
                          <a:latin typeface="微软雅黑" panose="020B0503020204020204" pitchFamily="34" charset="-122"/>
                          <a:ea typeface="微软雅黑" panose="020B0503020204020204" pitchFamily="34" charset="-122"/>
                        </a:rPr>
                        <a:t>族</a:t>
                      </a:r>
                      <a:endParaRPr lang="zh-CN" altLang="en-US" sz="1150" b="1" dirty="0">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做法</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最好结果</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判决</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2552281197"/>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A </a:t>
                      </a:r>
                      <a:r>
                        <a:rPr lang="zh-CN" altLang="en-US" sz="1150" smtClean="0">
                          <a:solidFill>
                            <a:srgbClr val="333333"/>
                          </a:solidFill>
                          <a:latin typeface="微软雅黑" panose="020B0503020204020204" pitchFamily="34" charset="-122"/>
                          <a:ea typeface="微软雅黑" panose="020B0503020204020204" pitchFamily="34" charset="-122"/>
                        </a:rPr>
                        <a:t>非目标抑制加码</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占比 </a:t>
                      </a:r>
                      <a:r>
                        <a:rPr lang="en-US" altLang="zh-CN" sz="1150" smtClean="0">
                          <a:solidFill>
                            <a:srgbClr val="333333"/>
                          </a:solidFill>
                          <a:latin typeface="微软雅黑" panose="020B0503020204020204" pitchFamily="34" charset="-122"/>
                          <a:ea typeface="微软雅黑" panose="020B0503020204020204" pitchFamily="34" charset="-122"/>
                        </a:rPr>
                        <a:t>+30/50/70%,</a:t>
                      </a:r>
                      <a:r>
                        <a:rPr lang="zh-CN" altLang="en-US" sz="1150" smtClean="0">
                          <a:solidFill>
                            <a:srgbClr val="333333"/>
                          </a:solidFill>
                          <a:latin typeface="微软雅黑" panose="020B0503020204020204" pitchFamily="34" charset="-122"/>
                          <a:ea typeface="微软雅黑" panose="020B0503020204020204" pitchFamily="34" charset="-122"/>
                        </a:rPr>
                        <a:t>再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反拉项</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claim 8.11(+70%,</a:t>
                      </a:r>
                      <a:r>
                        <a:rPr lang="zh-CN" altLang="en-US" sz="1150" dirty="0" smtClean="0">
                          <a:solidFill>
                            <a:srgbClr val="333333"/>
                          </a:solidFill>
                          <a:latin typeface="微软雅黑" panose="020B0503020204020204" pitchFamily="34" charset="-122"/>
                          <a:ea typeface="微软雅黑" panose="020B0503020204020204" pitchFamily="34" charset="-122"/>
                        </a:rPr>
                        <a:t>首次</a:t>
                      </a:r>
                      <a:r>
                        <a:rPr lang="en-US" altLang="zh-CN" sz="1150" dirty="0" smtClean="0">
                          <a:solidFill>
                            <a:srgbClr val="333333"/>
                          </a:solidFill>
                          <a:latin typeface="微软雅黑" panose="020B0503020204020204" pitchFamily="34" charset="-122"/>
                          <a:ea typeface="微软雅黑" panose="020B0503020204020204" pitchFamily="34" charset="-122"/>
                        </a:rPr>
                        <a:t>&lt; raw)</a:t>
                      </a:r>
                      <a:r>
                        <a:rPr lang="zh-CN" altLang="en-US" sz="1150" dirty="0" smtClean="0">
                          <a:solidFill>
                            <a:srgbClr val="333333"/>
                          </a:solidFill>
                          <a:latin typeface="微软雅黑" panose="020B0503020204020204" pitchFamily="34" charset="-122"/>
                          <a:ea typeface="微软雅黑" panose="020B0503020204020204" pitchFamily="34" charset="-122"/>
                        </a:rPr>
                        <a:t>；</a:t>
                      </a:r>
                      <a:r>
                        <a:rPr lang="en-US" altLang="zh-CN" sz="1150" dirty="0" smtClean="0">
                          <a:solidFill>
                            <a:srgbClr val="333333"/>
                          </a:solidFill>
                          <a:latin typeface="微软雅黑" panose="020B0503020204020204" pitchFamily="34" charset="-122"/>
                          <a:ea typeface="微软雅黑" panose="020B0503020204020204" pitchFamily="34" charset="-122"/>
                        </a:rPr>
                        <a:t>oracle </a:t>
                      </a:r>
                      <a:r>
                        <a:rPr lang="zh-CN" altLang="en-US" sz="1150" dirty="0" smtClean="0">
                          <a:solidFill>
                            <a:srgbClr val="333333"/>
                          </a:solidFill>
                          <a:latin typeface="微软雅黑" panose="020B0503020204020204" pitchFamily="34" charset="-122"/>
                          <a:ea typeface="微软雅黑" panose="020B0503020204020204" pitchFamily="34" charset="-122"/>
                        </a:rPr>
                        <a:t>退到 </a:t>
                      </a:r>
                      <a:r>
                        <a:rPr lang="en-US" altLang="zh-CN" sz="1150" dirty="0" smtClean="0">
                          <a:solidFill>
                            <a:srgbClr val="333333"/>
                          </a:solidFill>
                          <a:latin typeface="微软雅黑" panose="020B0503020204020204" pitchFamily="34" charset="-122"/>
                          <a:ea typeface="微软雅黑" panose="020B0503020204020204" pitchFamily="34" charset="-122"/>
                        </a:rPr>
                        <a:t>6.69</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沿前沿滑动</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差 </a:t>
                      </a:r>
                      <a:r>
                        <a:rPr lang="en-US" altLang="zh-CN" sz="1150" smtClean="0">
                          <a:solidFill>
                            <a:srgbClr val="333333"/>
                          </a:solidFill>
                          <a:latin typeface="微软雅黑" panose="020B0503020204020204" pitchFamily="34" charset="-122"/>
                          <a:ea typeface="微软雅黑" panose="020B0503020204020204" pitchFamily="34" charset="-122"/>
                        </a:rPr>
                        <a:t>0.8pp</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1867452013"/>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B </a:t>
                      </a:r>
                      <a:r>
                        <a:rPr lang="zh-CN" altLang="en-US" sz="1150" smtClean="0">
                          <a:solidFill>
                            <a:srgbClr val="333333"/>
                          </a:solidFill>
                          <a:latin typeface="微软雅黑" panose="020B0503020204020204" pitchFamily="34" charset="-122"/>
                          <a:ea typeface="微软雅黑" panose="020B0503020204020204" pitchFamily="34" charset="-122"/>
                        </a:rPr>
                        <a:t>判别损失中性化</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CE </a:t>
                      </a:r>
                      <a:r>
                        <a:rPr lang="zh-CN" altLang="en-US" sz="1150" smtClean="0">
                          <a:solidFill>
                            <a:srgbClr val="333333"/>
                          </a:solidFill>
                          <a:latin typeface="微软雅黑" panose="020B0503020204020204" pitchFamily="34" charset="-122"/>
                          <a:ea typeface="微软雅黑" panose="020B0503020204020204" pitchFamily="34" charset="-122"/>
                        </a:rPr>
                        <a:t>清零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减半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配方强化</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claim 7.79</a:t>
                      </a:r>
                      <a:r>
                        <a:rPr lang="zh-CN" altLang="en-US" sz="1150" dirty="0" smtClean="0">
                          <a:solidFill>
                            <a:srgbClr val="333333"/>
                          </a:solidFill>
                          <a:latin typeface="微软雅黑" panose="020B0503020204020204" pitchFamily="34" charset="-122"/>
                          <a:ea typeface="微软雅黑" panose="020B0503020204020204" pitchFamily="34" charset="-122"/>
                        </a:rPr>
                        <a:t>；</a:t>
                      </a:r>
                      <a:r>
                        <a:rPr lang="en-US" altLang="zh-CN" sz="1150" dirty="0" smtClean="0">
                          <a:solidFill>
                            <a:srgbClr val="333333"/>
                          </a:solidFill>
                          <a:latin typeface="微软雅黑" panose="020B0503020204020204" pitchFamily="34" charset="-122"/>
                          <a:ea typeface="微软雅黑" panose="020B0503020204020204" pitchFamily="34" charset="-122"/>
                        </a:rPr>
                        <a:t>oracle 7.78 —— </a:t>
                      </a:r>
                      <a:r>
                        <a:rPr lang="zh-CN" altLang="en-US" sz="1150" dirty="0" smtClean="0">
                          <a:solidFill>
                            <a:srgbClr val="333333"/>
                          </a:solidFill>
                          <a:latin typeface="微软雅黑" panose="020B0503020204020204" pitchFamily="34" charset="-122"/>
                          <a:ea typeface="微软雅黑" panose="020B0503020204020204" pitchFamily="34" charset="-122"/>
                        </a:rPr>
                        <a:t>前端增益归零</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前沿另一端点</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2885956980"/>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 </a:t>
                      </a:r>
                      <a:r>
                        <a:rPr lang="zh-CN" altLang="en-US" sz="1150" smtClean="0">
                          <a:solidFill>
                            <a:srgbClr val="333333"/>
                          </a:solidFill>
                          <a:latin typeface="微软雅黑" panose="020B0503020204020204" pitchFamily="34" charset="-122"/>
                          <a:ea typeface="微软雅黑" panose="020B0503020204020204" pitchFamily="34" charset="-122"/>
                        </a:rPr>
                        <a:t>冒认条件混合训练</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混样强度 </a:t>
                      </a:r>
                      <a:r>
                        <a:rPr lang="en-US" altLang="zh-CN" sz="1150" smtClean="0">
                          <a:solidFill>
                            <a:srgbClr val="333333"/>
                          </a:solidFill>
                          <a:latin typeface="微软雅黑" panose="020B0503020204020204" pitchFamily="34" charset="-122"/>
                          <a:ea typeface="微软雅黑" panose="020B0503020204020204" pitchFamily="34" charset="-122"/>
                        </a:rPr>
                        <a:t>0.3/0.5</a:t>
                      </a:r>
                      <a:r>
                        <a:rPr lang="zh-CN" altLang="en-US" sz="1150" smtClean="0">
                          <a:solidFill>
                            <a:srgbClr val="333333"/>
                          </a:solidFill>
                          <a:latin typeface="微软雅黑" panose="020B0503020204020204" pitchFamily="34" charset="-122"/>
                          <a:ea typeface="微软雅黑" panose="020B0503020204020204" pitchFamily="34" charset="-122"/>
                        </a:rPr>
                        <a:t>、</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排序损失、强化版</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claim 9.33 ~ 11.42</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泄漏未堵住</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无效</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699254315"/>
                  </a:ext>
                </a:extLst>
              </a:tr>
              <a:tr h="426720">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D </a:t>
                      </a:r>
                      <a:r>
                        <a:rPr lang="zh-CN" altLang="en-US" sz="1150" smtClean="0">
                          <a:solidFill>
                            <a:srgbClr val="333333"/>
                          </a:solidFill>
                          <a:latin typeface="微软雅黑" panose="020B0503020204020204" pitchFamily="34" charset="-122"/>
                          <a:ea typeface="微软雅黑" panose="020B0503020204020204" pitchFamily="34" charset="-122"/>
                        </a:rPr>
                        <a:t>冒认静音掩蔽 </a:t>
                      </a:r>
                      <a:r>
                        <a:rPr lang="en-US" altLang="zh-CN" sz="1150" smtClean="0">
                          <a:solidFill>
                            <a:srgbClr val="333333"/>
                          </a:solidFill>
                          <a:latin typeface="微软雅黑" panose="020B0503020204020204" pitchFamily="34" charset="-122"/>
                          <a:ea typeface="微软雅黑" panose="020B0503020204020204" pitchFamily="34" charset="-122"/>
                        </a:rPr>
                        <a:t>+ </a:t>
                      </a:r>
                      <a:r>
                        <a:rPr lang="zh-CN" altLang="en-US" sz="1150" smtClean="0">
                          <a:solidFill>
                            <a:srgbClr val="333333"/>
                          </a:solidFill>
                          <a:latin typeface="微软雅黑" panose="020B0503020204020204" pitchFamily="34" charset="-122"/>
                          <a:ea typeface="微软雅黑" panose="020B0503020204020204" pitchFamily="34" charset="-122"/>
                        </a:rPr>
                        <a:t>排序</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掩掉冒认段再排序</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oracle 4.73 </a:t>
                      </a:r>
                      <a:r>
                        <a:rPr lang="zh-CN" altLang="en-US" sz="1150" dirty="0" smtClean="0">
                          <a:solidFill>
                            <a:srgbClr val="333333"/>
                          </a:solidFill>
                          <a:latin typeface="微软雅黑" panose="020B0503020204020204" pitchFamily="34" charset="-122"/>
                          <a:ea typeface="微软雅黑" panose="020B0503020204020204" pitchFamily="34" charset="-122"/>
                        </a:rPr>
                        <a:t>全场最优；</a:t>
                      </a:r>
                      <a:r>
                        <a:rPr lang="en-US" altLang="zh-CN" sz="1150" dirty="0" smtClean="0">
                          <a:solidFill>
                            <a:srgbClr val="333333"/>
                          </a:solidFill>
                          <a:latin typeface="微软雅黑" panose="020B0503020204020204" pitchFamily="34" charset="-122"/>
                          <a:ea typeface="微软雅黑" panose="020B0503020204020204" pitchFamily="34" charset="-122"/>
                        </a:rPr>
                        <a:t>claim 12.60 </a:t>
                      </a:r>
                      <a:r>
                        <a:rPr lang="zh-CN" altLang="en-US" sz="1150" dirty="0" smtClean="0">
                          <a:solidFill>
                            <a:srgbClr val="333333"/>
                          </a:solidFill>
                          <a:latin typeface="微软雅黑" panose="020B0503020204020204" pitchFamily="34" charset="-122"/>
                          <a:ea typeface="微软雅黑" panose="020B0503020204020204" pitchFamily="34" charset="-122"/>
                        </a:rPr>
                        <a:t>全场最差</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反噬最重：越保 </a:t>
                      </a:r>
                      <a:r>
                        <a:rPr lang="en-US" altLang="zh-CN" sz="1150" dirty="0" smtClean="0">
                          <a:solidFill>
                            <a:srgbClr val="333333"/>
                          </a:solidFill>
                          <a:latin typeface="微软雅黑" panose="020B0503020204020204" pitchFamily="34" charset="-122"/>
                          <a:ea typeface="微软雅黑" panose="020B0503020204020204" pitchFamily="34" charset="-122"/>
                        </a:rPr>
                        <a:t>oracle </a:t>
                      </a:r>
                      <a:r>
                        <a:rPr lang="zh-CN" altLang="en-US" sz="1150" dirty="0" smtClean="0">
                          <a:solidFill>
                            <a:srgbClr val="333333"/>
                          </a:solidFill>
                          <a:latin typeface="微软雅黑" panose="020B0503020204020204" pitchFamily="34" charset="-122"/>
                          <a:ea typeface="微软雅黑" panose="020B0503020204020204" pitchFamily="34" charset="-122"/>
                        </a:rPr>
                        <a:t>越泄漏</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1154745906"/>
                  </a:ext>
                </a:extLst>
              </a:tr>
            </a:tbl>
          </a:graphicData>
        </a:graphic>
      </p:graphicFrame>
      <p:sp>
        <p:nvSpPr>
          <p:cNvPr id="8" name="文本框 7"/>
          <p:cNvSpPr txBox="1"/>
          <p:nvPr/>
        </p:nvSpPr>
        <p:spPr>
          <a:xfrm>
            <a:off x="508000" y="3810000"/>
            <a:ext cx="11176000" cy="323165"/>
          </a:xfrm>
          <a:prstGeom prst="rect">
            <a:avLst/>
          </a:prstGeom>
          <a:noFill/>
        </p:spPr>
        <p:txBody>
          <a:bodyPr vert="horz" rtlCol="0">
            <a:spAutoFit/>
          </a:bodyPr>
          <a:lstStyle/>
          <a:p>
            <a:r>
              <a:rPr lang="zh-CN" altLang="en-US" sz="1500" b="1" smtClean="0">
                <a:solidFill>
                  <a:srgbClr val="1F3864"/>
                </a:solidFill>
                <a:latin typeface="微软雅黑" panose="020B0503020204020204" pitchFamily="34" charset="-122"/>
                <a:ea typeface="微软雅黑" panose="020B0503020204020204" pitchFamily="34" charset="-122"/>
              </a:rPr>
              <a:t>推理侧两臂</a:t>
            </a:r>
            <a:endParaRPr lang="zh-CN" altLang="en-US" sz="1500" b="1">
              <a:solidFill>
                <a:srgbClr val="1F3864"/>
              </a:solidFill>
              <a:latin typeface="微软雅黑" panose="020B0503020204020204" pitchFamily="34" charset="-122"/>
              <a:ea typeface="微软雅黑" panose="020B0503020204020204" pitchFamily="34" charset="-122"/>
            </a:endParaRPr>
          </a:p>
        </p:txBody>
      </p:sp>
      <p:graphicFrame>
        <p:nvGraphicFramePr>
          <p:cNvPr id="9" name="表格 8"/>
          <p:cNvGraphicFramePr>
            <a:graphicFrameLocks noGrp="1"/>
          </p:cNvGraphicFramePr>
          <p:nvPr>
            <p:extLst>
              <p:ext uri="{D42A27DB-BD31-4B8C-83A1-F6EECF244321}">
                <p14:modId xmlns:p14="http://schemas.microsoft.com/office/powerpoint/2010/main" val="307703543"/>
              </p:ext>
            </p:extLst>
          </p:nvPr>
        </p:nvGraphicFramePr>
        <p:xfrm>
          <a:off x="508000" y="4216400"/>
          <a:ext cx="11175999" cy="1254760"/>
        </p:xfrm>
        <a:graphic>
          <a:graphicData uri="http://schemas.openxmlformats.org/drawingml/2006/table">
            <a:tbl>
              <a:tblPr firstRow="1" bandRow="1">
                <a:tableStyleId>{5C22544A-7EE6-4342-B048-85BDC9FD1C3A}</a:tableStyleId>
              </a:tblPr>
              <a:tblGrid>
                <a:gridCol w="3725333">
                  <a:extLst>
                    <a:ext uri="{9D8B030D-6E8A-4147-A177-3AD203B41FA5}">
                      <a16:colId xmlns:a16="http://schemas.microsoft.com/office/drawing/2014/main" val="4027783345"/>
                    </a:ext>
                  </a:extLst>
                </a:gridCol>
                <a:gridCol w="3725333">
                  <a:extLst>
                    <a:ext uri="{9D8B030D-6E8A-4147-A177-3AD203B41FA5}">
                      <a16:colId xmlns:a16="http://schemas.microsoft.com/office/drawing/2014/main" val="514431546"/>
                    </a:ext>
                  </a:extLst>
                </a:gridCol>
                <a:gridCol w="3725333">
                  <a:extLst>
                    <a:ext uri="{9D8B030D-6E8A-4147-A177-3AD203B41FA5}">
                      <a16:colId xmlns:a16="http://schemas.microsoft.com/office/drawing/2014/main" val="3326876524"/>
                    </a:ext>
                  </a:extLst>
                </a:gridCol>
              </a:tblGrid>
              <a:tr h="406400">
                <a:tc>
                  <a:txBody>
                    <a:bodyPr/>
                    <a:lstStyle/>
                    <a:p>
                      <a:r>
                        <a:rPr lang="zh-CN" altLang="en-US" sz="1150" b="1" dirty="0" smtClean="0">
                          <a:solidFill>
                            <a:srgbClr val="FFFFFF"/>
                          </a:solidFill>
                          <a:latin typeface="微软雅黑" panose="020B0503020204020204" pitchFamily="34" charset="-122"/>
                          <a:ea typeface="微软雅黑" panose="020B0503020204020204" pitchFamily="34" charset="-122"/>
                        </a:rPr>
                        <a:t>做法</a:t>
                      </a:r>
                      <a:endParaRPr lang="zh-CN" altLang="en-US" sz="1150" b="1" dirty="0">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最好结果</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tc>
                  <a:txBody>
                    <a:bodyPr/>
                    <a:lstStyle/>
                    <a:p>
                      <a:r>
                        <a:rPr lang="zh-CN" altLang="en-US" sz="1150" b="1" smtClean="0">
                          <a:solidFill>
                            <a:srgbClr val="FFFFFF"/>
                          </a:solidFill>
                          <a:latin typeface="微软雅黑" panose="020B0503020204020204" pitchFamily="34" charset="-122"/>
                          <a:ea typeface="微软雅黑" panose="020B0503020204020204" pitchFamily="34" charset="-122"/>
                        </a:rPr>
                        <a:t>判决</a:t>
                      </a:r>
                      <a:endParaRPr lang="zh-CN" altLang="en-US" sz="1150" b="1">
                        <a:solidFill>
                          <a:srgbClr val="FFFFFF"/>
                        </a:solidFill>
                        <a:latin typeface="微软雅黑" panose="020B0503020204020204" pitchFamily="34" charset="-122"/>
                        <a:ea typeface="微软雅黑" panose="020B0503020204020204" pitchFamily="34" charset="-122"/>
                      </a:endParaRPr>
                    </a:p>
                  </a:txBody>
                  <a:tcPr>
                    <a:solidFill>
                      <a:srgbClr val="2F5496"/>
                    </a:solidFill>
                  </a:tcPr>
                </a:tc>
                <a:extLst>
                  <a:ext uri="{0D108BD9-81ED-4DB2-BD59-A6C34878D82A}">
                    <a16:rowId xmlns:a16="http://schemas.microsoft.com/office/drawing/2014/main" val="2932989688"/>
                  </a:ext>
                </a:extLst>
              </a:tr>
              <a:tr h="406400">
                <a:tc>
                  <a:txBody>
                    <a:bodyPr/>
                    <a:lstStyle/>
                    <a:p>
                      <a:r>
                        <a:rPr lang="zh-CN" altLang="en-US" sz="1150" dirty="0" smtClean="0">
                          <a:solidFill>
                            <a:srgbClr val="333333"/>
                          </a:solidFill>
                          <a:latin typeface="微软雅黑" panose="020B0503020204020204" pitchFamily="34" charset="-122"/>
                          <a:ea typeface="微软雅黑" panose="020B0503020204020204" pitchFamily="34" charset="-122"/>
                        </a:rPr>
                        <a:t>能量门控：按增强语音能量静音可疑段</a:t>
                      </a:r>
                      <a:r>
                        <a:rPr lang="en-US" altLang="zh-CN" sz="1150" dirty="0" smtClean="0">
                          <a:solidFill>
                            <a:srgbClr val="333333"/>
                          </a:solidFill>
                          <a:latin typeface="微软雅黑" panose="020B0503020204020204" pitchFamily="34" charset="-122"/>
                          <a:ea typeface="微软雅黑" panose="020B0503020204020204" pitchFamily="34" charset="-122"/>
                        </a:rPr>
                        <a:t>,</a:t>
                      </a:r>
                      <a:r>
                        <a:rPr lang="zh-CN" altLang="en-US" sz="1150" dirty="0" smtClean="0">
                          <a:solidFill>
                            <a:srgbClr val="333333"/>
                          </a:solidFill>
                          <a:latin typeface="微软雅黑" panose="020B0503020204020204" pitchFamily="34" charset="-122"/>
                          <a:ea typeface="微软雅黑" panose="020B0503020204020204" pitchFamily="34" charset="-122"/>
                        </a:rPr>
                        <a:t>门限 </a:t>
                      </a:r>
                      <a:r>
                        <a:rPr lang="en-US" altLang="zh-CN" sz="1150" dirty="0" smtClean="0">
                          <a:solidFill>
                            <a:srgbClr val="333333"/>
                          </a:solidFill>
                          <a:latin typeface="微软雅黑" panose="020B0503020204020204" pitchFamily="34" charset="-122"/>
                          <a:ea typeface="微软雅黑" panose="020B0503020204020204" pitchFamily="34" charset="-122"/>
                        </a:rPr>
                        <a:t>-60…-10 dB </a:t>
                      </a:r>
                      <a:r>
                        <a:rPr lang="zh-CN" altLang="en-US" sz="1150" dirty="0" smtClean="0">
                          <a:solidFill>
                            <a:srgbClr val="333333"/>
                          </a:solidFill>
                          <a:latin typeface="微软雅黑" panose="020B0503020204020204" pitchFamily="34" charset="-122"/>
                          <a:ea typeface="微软雅黑" panose="020B0503020204020204" pitchFamily="34" charset="-122"/>
                        </a:rPr>
                        <a:t>全扫描</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fr-FR" altLang="zh-CN" sz="1150" smtClean="0">
                          <a:solidFill>
                            <a:srgbClr val="333333"/>
                          </a:solidFill>
                          <a:latin typeface="微软雅黑" panose="020B0503020204020204" pitchFamily="34" charset="-122"/>
                          <a:ea typeface="微软雅黑" panose="020B0503020204020204" pitchFamily="34" charset="-122"/>
                        </a:rPr>
                        <a:t>claim 14.69 vs oracle 8.28</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任何门限 </a:t>
                      </a:r>
                      <a:r>
                        <a:rPr lang="en-US" altLang="zh-CN" sz="1150" smtClean="0">
                          <a:solidFill>
                            <a:srgbClr val="333333"/>
                          </a:solidFill>
                          <a:latin typeface="微软雅黑" panose="020B0503020204020204" pitchFamily="34" charset="-122"/>
                          <a:ea typeface="微软雅黑" panose="020B0503020204020204" pitchFamily="34" charset="-122"/>
                        </a:rPr>
                        <a:t>claim </a:t>
                      </a:r>
                      <a:r>
                        <a:rPr lang="zh-CN" altLang="en-US" sz="1150" smtClean="0">
                          <a:solidFill>
                            <a:srgbClr val="333333"/>
                          </a:solidFill>
                          <a:latin typeface="微软雅黑" panose="020B0503020204020204" pitchFamily="34" charset="-122"/>
                          <a:ea typeface="微软雅黑" panose="020B0503020204020204" pitchFamily="34" charset="-122"/>
                        </a:rPr>
                        <a:t>恒劣于 </a:t>
                      </a:r>
                      <a:r>
                        <a:rPr lang="en-US" altLang="zh-CN" sz="1150" smtClean="0">
                          <a:solidFill>
                            <a:srgbClr val="333333"/>
                          </a:solidFill>
                          <a:latin typeface="微软雅黑" panose="020B0503020204020204" pitchFamily="34" charset="-122"/>
                          <a:ea typeface="微软雅黑" panose="020B0503020204020204" pitchFamily="34" charset="-122"/>
                        </a:rPr>
                        <a:t>oracle,</a:t>
                      </a:r>
                      <a:r>
                        <a:rPr lang="zh-CN" altLang="en-US" sz="1150" smtClean="0">
                          <a:solidFill>
                            <a:srgbClr val="333333"/>
                          </a:solidFill>
                          <a:latin typeface="微软雅黑" panose="020B0503020204020204" pitchFamily="34" charset="-122"/>
                          <a:ea typeface="微软雅黑" panose="020B0503020204020204" pitchFamily="34" charset="-122"/>
                        </a:rPr>
                        <a:t>救不回</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FFFFF"/>
                    </a:solidFill>
                  </a:tcPr>
                </a:tc>
                <a:extLst>
                  <a:ext uri="{0D108BD9-81ED-4DB2-BD59-A6C34878D82A}">
                    <a16:rowId xmlns:a16="http://schemas.microsoft.com/office/drawing/2014/main" val="694681273"/>
                  </a:ext>
                </a:extLst>
              </a:tr>
              <a:tr h="406400">
                <a:tc>
                  <a:txBody>
                    <a:bodyPr/>
                    <a:lstStyle/>
                    <a:p>
                      <a:r>
                        <a:rPr lang="en-US" altLang="zh-CN" sz="1150" dirty="0" smtClean="0">
                          <a:solidFill>
                            <a:srgbClr val="333333"/>
                          </a:solidFill>
                          <a:latin typeface="微软雅黑" panose="020B0503020204020204" pitchFamily="34" charset="-122"/>
                          <a:ea typeface="微软雅黑" panose="020B0503020204020204" pitchFamily="34" charset="-122"/>
                        </a:rPr>
                        <a:t>raw + claim </a:t>
                      </a:r>
                      <a:r>
                        <a:rPr lang="zh-CN" altLang="en-US" sz="1150" dirty="0" smtClean="0">
                          <a:solidFill>
                            <a:srgbClr val="333333"/>
                          </a:solidFill>
                          <a:latin typeface="微软雅黑" panose="020B0503020204020204" pitchFamily="34" charset="-122"/>
                          <a:ea typeface="微软雅黑" panose="020B0503020204020204" pitchFamily="34" charset="-122"/>
                        </a:rPr>
                        <a:t>分数融合：验证集网格搜融合权重</a:t>
                      </a:r>
                      <a:endParaRPr lang="zh-CN" altLang="en-US" sz="1150" dirty="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en-US" altLang="zh-CN" sz="1150" smtClean="0">
                          <a:solidFill>
                            <a:srgbClr val="333333"/>
                          </a:solidFill>
                          <a:latin typeface="微软雅黑" panose="020B0503020204020204" pitchFamily="34" charset="-122"/>
                          <a:ea typeface="微软雅黑" panose="020B0503020204020204" pitchFamily="34" charset="-122"/>
                        </a:rPr>
                        <a:t>claim 8.23</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tc>
                  <a:txBody>
                    <a:bodyPr/>
                    <a:lstStyle/>
                    <a:p>
                      <a:r>
                        <a:rPr lang="zh-CN" altLang="en-US" sz="1150" smtClean="0">
                          <a:solidFill>
                            <a:srgbClr val="333333"/>
                          </a:solidFill>
                          <a:latin typeface="微软雅黑" panose="020B0503020204020204" pitchFamily="34" charset="-122"/>
                          <a:ea typeface="微软雅黑" panose="020B0503020204020204" pitchFamily="34" charset="-122"/>
                        </a:rPr>
                        <a:t>仅回到 </a:t>
                      </a:r>
                      <a:r>
                        <a:rPr lang="en-US" altLang="zh-CN" sz="1150" smtClean="0">
                          <a:solidFill>
                            <a:srgbClr val="333333"/>
                          </a:solidFill>
                          <a:latin typeface="微软雅黑" panose="020B0503020204020204" pitchFamily="34" charset="-122"/>
                          <a:ea typeface="微软雅黑" panose="020B0503020204020204" pitchFamily="34" charset="-122"/>
                        </a:rPr>
                        <a:t>raw(8.37)</a:t>
                      </a:r>
                      <a:r>
                        <a:rPr lang="zh-CN" altLang="en-US" sz="1150" smtClean="0">
                          <a:solidFill>
                            <a:srgbClr val="333333"/>
                          </a:solidFill>
                          <a:latin typeface="微软雅黑" panose="020B0503020204020204" pitchFamily="34" charset="-122"/>
                          <a:ea typeface="微软雅黑" panose="020B0503020204020204" pitchFamily="34" charset="-122"/>
                        </a:rPr>
                        <a:t>附近</a:t>
                      </a:r>
                      <a:r>
                        <a:rPr lang="en-US" altLang="zh-CN" sz="1150" smtClean="0">
                          <a:solidFill>
                            <a:srgbClr val="333333"/>
                          </a:solidFill>
                          <a:latin typeface="微软雅黑" panose="020B0503020204020204" pitchFamily="34" charset="-122"/>
                          <a:ea typeface="微软雅黑" panose="020B0503020204020204" pitchFamily="34" charset="-122"/>
                        </a:rPr>
                        <a:t>,</a:t>
                      </a:r>
                      <a:r>
                        <a:rPr lang="zh-CN" altLang="en-US" sz="1150" smtClean="0">
                          <a:solidFill>
                            <a:srgbClr val="333333"/>
                          </a:solidFill>
                          <a:latin typeface="微软雅黑" panose="020B0503020204020204" pitchFamily="34" charset="-122"/>
                          <a:ea typeface="微软雅黑" panose="020B0503020204020204" pitchFamily="34" charset="-122"/>
                        </a:rPr>
                        <a:t>无净增益</a:t>
                      </a:r>
                      <a:endParaRPr lang="zh-CN" altLang="en-US" sz="1150">
                        <a:solidFill>
                          <a:srgbClr val="333333"/>
                        </a:solidFill>
                        <a:latin typeface="微软雅黑" panose="020B0503020204020204" pitchFamily="34" charset="-122"/>
                        <a:ea typeface="微软雅黑" panose="020B0503020204020204" pitchFamily="34" charset="-122"/>
                      </a:endParaRPr>
                    </a:p>
                  </a:txBody>
                  <a:tcPr>
                    <a:solidFill>
                      <a:srgbClr val="F2F6FC"/>
                    </a:solidFill>
                  </a:tcPr>
                </a:tc>
                <a:extLst>
                  <a:ext uri="{0D108BD9-81ED-4DB2-BD59-A6C34878D82A}">
                    <a16:rowId xmlns:a16="http://schemas.microsoft.com/office/drawing/2014/main" val="894487836"/>
                  </a:ext>
                </a:extLst>
              </a:tr>
            </a:tbl>
          </a:graphicData>
        </a:graphic>
      </p:graphicFrame>
      <p:sp>
        <p:nvSpPr>
          <p:cNvPr id="10" name="文本框 9"/>
          <p:cNvSpPr txBox="1"/>
          <p:nvPr/>
        </p:nvSpPr>
        <p:spPr>
          <a:xfrm>
            <a:off x="508000" y="5613400"/>
            <a:ext cx="11176000" cy="477054"/>
          </a:xfrm>
          <a:prstGeom prst="rect">
            <a:avLst/>
          </a:prstGeom>
          <a:noFill/>
        </p:spPr>
        <p:txBody>
          <a:bodyPr vert="horz" rtlCol="0">
            <a:spAutoFit/>
          </a:bodyPr>
          <a:lstStyle/>
          <a:p>
            <a:r>
              <a:rPr lang="zh-CN" altLang="en-US" sz="1250" b="1" dirty="0" smtClean="0">
                <a:solidFill>
                  <a:srgbClr val="7F6000"/>
                </a:solidFill>
                <a:latin typeface="微软雅黑" panose="020B0503020204020204" pitchFamily="34" charset="-122"/>
                <a:ea typeface="微软雅黑" panose="020B0503020204020204" pitchFamily="34" charset="-122"/>
              </a:rPr>
              <a:t>结论：</a:t>
            </a:r>
            <a:r>
              <a:rPr lang="en-US" altLang="zh-CN" sz="1250" b="1" dirty="0" smtClean="0">
                <a:solidFill>
                  <a:srgbClr val="7F6000"/>
                </a:solidFill>
                <a:latin typeface="微软雅黑" panose="020B0503020204020204" pitchFamily="34" charset="-122"/>
                <a:ea typeface="微软雅黑" panose="020B0503020204020204" pitchFamily="34" charset="-122"/>
              </a:rPr>
              <a:t>15 </a:t>
            </a:r>
            <a:r>
              <a:rPr lang="zh-CN" altLang="en-US" sz="1250" b="1" dirty="0" smtClean="0">
                <a:solidFill>
                  <a:srgbClr val="7F6000"/>
                </a:solidFill>
                <a:latin typeface="微软雅黑" panose="020B0503020204020204" pitchFamily="34" charset="-122"/>
                <a:ea typeface="微软雅黑" panose="020B0503020204020204" pitchFamily="34" charset="-122"/>
              </a:rPr>
              <a:t>臂全部只在前沿上滑动 </a:t>
            </a:r>
            <a:r>
              <a:rPr lang="en-US" altLang="zh-CN" sz="1250" b="1" dirty="0" smtClean="0">
                <a:solidFill>
                  <a:srgbClr val="7F6000"/>
                </a:solidFill>
                <a:latin typeface="微软雅黑" panose="020B0503020204020204" pitchFamily="34" charset="-122"/>
                <a:ea typeface="微软雅黑" panose="020B0503020204020204" pitchFamily="34" charset="-122"/>
              </a:rPr>
              <a:t>—— </a:t>
            </a:r>
            <a:r>
              <a:rPr lang="zh-CN" altLang="en-US" sz="1250" b="1" dirty="0" smtClean="0">
                <a:solidFill>
                  <a:srgbClr val="7F6000"/>
                </a:solidFill>
                <a:latin typeface="微软雅黑" panose="020B0503020204020204" pitchFamily="34" charset="-122"/>
                <a:ea typeface="微软雅黑" panose="020B0503020204020204" pitchFamily="34" charset="-122"/>
              </a:rPr>
              <a:t>「条件化增强把身份写进语音」是结构性机理</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非调参可解；下一步</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见展望</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a:t>
            </a:r>
            <a:r>
              <a:rPr lang="en-US" altLang="zh-CN" sz="1250" b="1" dirty="0" smtClean="0">
                <a:solidFill>
                  <a:srgbClr val="7F6000"/>
                </a:solidFill>
                <a:latin typeface="微软雅黑" panose="020B0503020204020204" pitchFamily="34" charset="-122"/>
                <a:ea typeface="微软雅黑" panose="020B0503020204020204" pitchFamily="34" charset="-122"/>
              </a:rPr>
              <a:t>① </a:t>
            </a:r>
            <a:r>
              <a:rPr lang="zh-CN" altLang="en-US" sz="1250" b="1" dirty="0" smtClean="0">
                <a:solidFill>
                  <a:srgbClr val="7F6000"/>
                </a:solidFill>
                <a:latin typeface="微软雅黑" panose="020B0503020204020204" pitchFamily="34" charset="-122"/>
                <a:ea typeface="微软雅黑" panose="020B0503020204020204" pitchFamily="34" charset="-122"/>
              </a:rPr>
              <a:t>条件扰动 </a:t>
            </a:r>
            <a:r>
              <a:rPr lang="en-US" altLang="zh-CN" sz="1250" b="1" dirty="0" smtClean="0">
                <a:solidFill>
                  <a:srgbClr val="7F6000"/>
                </a:solidFill>
                <a:latin typeface="微软雅黑" panose="020B0503020204020204" pitchFamily="34" charset="-122"/>
                <a:ea typeface="微软雅黑" panose="020B0503020204020204" pitchFamily="34" charset="-122"/>
              </a:rPr>
              <a:t>/ dropout </a:t>
            </a:r>
            <a:r>
              <a:rPr lang="zh-CN" altLang="en-US" sz="1250" b="1" dirty="0" smtClean="0">
                <a:solidFill>
                  <a:srgbClr val="7F6000"/>
                </a:solidFill>
                <a:latin typeface="微软雅黑" panose="020B0503020204020204" pitchFamily="34" charset="-122"/>
                <a:ea typeface="微软雅黑" panose="020B0503020204020204" pitchFamily="34" charset="-122"/>
              </a:rPr>
              <a:t>训练</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显式建模冒认条件 ② 冒认感知的分数域校准</a:t>
            </a:r>
            <a:r>
              <a:rPr lang="en-US" altLang="zh-CN" sz="1250" b="1" dirty="0" smtClean="0">
                <a:solidFill>
                  <a:srgbClr val="7F6000"/>
                </a:solidFill>
                <a:latin typeface="微软雅黑" panose="020B0503020204020204" pitchFamily="34" charset="-122"/>
                <a:ea typeface="微软雅黑" panose="020B0503020204020204" pitchFamily="34" charset="-122"/>
              </a:rPr>
              <a:t>,</a:t>
            </a:r>
            <a:r>
              <a:rPr lang="zh-CN" altLang="en-US" sz="1250" b="1" dirty="0" smtClean="0">
                <a:solidFill>
                  <a:srgbClr val="7F6000"/>
                </a:solidFill>
                <a:latin typeface="微软雅黑" panose="020B0503020204020204" pitchFamily="34" charset="-122"/>
                <a:ea typeface="微软雅黑" panose="020B0503020204020204" pitchFamily="34" charset="-122"/>
              </a:rPr>
              <a:t>替代分数融合 ③ 改条件注入位置：只在掩码估计端注入、输出端身份中和</a:t>
            </a:r>
            <a:endParaRPr lang="zh-CN" altLang="en-US" sz="1250" b="1" dirty="0">
              <a:solidFill>
                <a:srgbClr val="7F6000"/>
              </a:solidFill>
              <a:latin typeface="微软雅黑" panose="020B0503020204020204" pitchFamily="34" charset="-122"/>
              <a:ea typeface="微软雅黑" panose="020B0503020204020204" pitchFamily="34" charset="-122"/>
            </a:endParaRPr>
          </a:p>
        </p:txBody>
      </p:sp>
      <p:sp>
        <p:nvSpPr>
          <p:cNvPr id="11" name="灯片编号占位符 10"/>
          <p:cNvSpPr>
            <a:spLocks noGrp="1"/>
          </p:cNvSpPr>
          <p:nvPr>
            <p:ph type="sldNum" sz="quarter" idx="12"/>
          </p:nvPr>
        </p:nvSpPr>
        <p:spPr/>
        <p:txBody>
          <a:bodyPr/>
          <a:lstStyle/>
          <a:p>
            <a:fld id="{7BF2EA3F-D088-4729-88F9-9D4FADF26323}" type="slidenum">
              <a:rPr lang="zh-CN" altLang="en-US" smtClean="0"/>
              <a:t>29</a:t>
            </a:fld>
            <a:endParaRPr lang="zh-CN" altLang="en-US"/>
          </a:p>
        </p:txBody>
      </p:sp>
    </p:spTree>
    <p:extLst>
      <p:ext uri="{BB962C8B-B14F-4D97-AF65-F5344CB8AC3E}">
        <p14:creationId xmlns:p14="http://schemas.microsoft.com/office/powerpoint/2010/main" val="29007993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30B51AF-B7C2-497D-93E4-455B2DAD1B03}"/>
              </a:ext>
            </a:extLst>
          </p:cNvPr>
          <p:cNvSpPr>
            <a:spLocks noGrp="1"/>
          </p:cNvSpPr>
          <p:nvPr/>
        </p:nvSpPr>
        <p:spPr>
          <a:xfrm>
            <a:off x="0" y="0"/>
            <a:ext cx="12192000" cy="101600"/>
          </a:xfrm>
          <a:prstGeom prst="rect">
            <a:avLst/>
          </a:prstGeom>
          <a:solidFill>
            <a:srgbClr val="1F386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文本框 2">
            <a:extLst>
              <a:ext uri="{FF2B5EF4-FFF2-40B4-BE49-F238E27FC236}">
                <a16:creationId xmlns:a16="http://schemas.microsoft.com/office/drawing/2014/main" id="{68E12B6D-7863-4FB5-B73A-DA0059DDBDE2}"/>
              </a:ext>
            </a:extLst>
          </p:cNvPr>
          <p:cNvSpPr>
            <a:spLocks noGrp="1"/>
          </p:cNvSpPr>
          <p:nvPr/>
        </p:nvSpPr>
        <p:spPr>
          <a:xfrm>
            <a:off x="0" y="1168400"/>
            <a:ext cx="12192000" cy="338554"/>
          </a:xfrm>
          <a:prstGeom prst="rect">
            <a:avLst/>
          </a:prstGeom>
          <a:noFill/>
        </p:spPr>
        <p:txBody>
          <a:bodyPr vert="horz">
            <a:spAutoFit/>
          </a:bodyPr>
          <a:lstStyle/>
          <a:p>
            <a:pPr algn="ctr">
              <a:buNone/>
            </a:pPr>
            <a:r>
              <a:rPr sz="1600">
                <a:solidFill>
                  <a:srgbClr val="7F7F7F"/>
                </a:solidFill>
                <a:latin typeface="微软雅黑"/>
                <a:ea typeface="微软雅黑"/>
                <a:cs typeface="微软雅黑"/>
              </a:rPr>
              <a:t>中国移动研究项目 · 子课题一</a:t>
            </a:r>
          </a:p>
        </p:txBody>
      </p:sp>
      <p:sp>
        <p:nvSpPr>
          <p:cNvPr id="4" name="文本框 3">
            <a:extLst>
              <a:ext uri="{FF2B5EF4-FFF2-40B4-BE49-F238E27FC236}">
                <a16:creationId xmlns:a16="http://schemas.microsoft.com/office/drawing/2014/main" id="{C9B881E1-6B50-492F-940B-D66704C4B0B1}"/>
              </a:ext>
            </a:extLst>
          </p:cNvPr>
          <p:cNvSpPr>
            <a:spLocks noGrp="1"/>
          </p:cNvSpPr>
          <p:nvPr/>
        </p:nvSpPr>
        <p:spPr>
          <a:xfrm>
            <a:off x="0" y="1905002"/>
            <a:ext cx="12192000" cy="646331"/>
          </a:xfrm>
          <a:prstGeom prst="rect">
            <a:avLst/>
          </a:prstGeom>
          <a:noFill/>
        </p:spPr>
        <p:txBody>
          <a:bodyPr vert="horz">
            <a:spAutoFit/>
          </a:bodyPr>
          <a:lstStyle/>
          <a:p>
            <a:pPr algn="ctr">
              <a:buNone/>
            </a:pPr>
            <a:r>
              <a:rPr sz="3600" b="1">
                <a:solidFill>
                  <a:srgbClr val="1F3864"/>
                </a:solidFill>
                <a:latin typeface="微软雅黑"/>
                <a:ea typeface="微软雅黑"/>
                <a:cs typeface="微软雅黑"/>
              </a:rPr>
              <a:t>多条件中文声纹识别与噪声鲁棒性增强</a:t>
            </a:r>
          </a:p>
        </p:txBody>
      </p:sp>
      <p:sp>
        <p:nvSpPr>
          <p:cNvPr id="5" name="文本框 4">
            <a:extLst>
              <a:ext uri="{FF2B5EF4-FFF2-40B4-BE49-F238E27FC236}">
                <a16:creationId xmlns:a16="http://schemas.microsoft.com/office/drawing/2014/main" id="{9CA2034F-2E9B-4DA6-B398-0E7400430B78}"/>
              </a:ext>
            </a:extLst>
          </p:cNvPr>
          <p:cNvSpPr>
            <a:spLocks noGrp="1"/>
          </p:cNvSpPr>
          <p:nvPr/>
        </p:nvSpPr>
        <p:spPr>
          <a:xfrm>
            <a:off x="0" y="2997202"/>
            <a:ext cx="12192000" cy="615553"/>
          </a:xfrm>
          <a:prstGeom prst="rect">
            <a:avLst/>
          </a:prstGeom>
          <a:noFill/>
        </p:spPr>
        <p:txBody>
          <a:bodyPr vert="horz">
            <a:spAutoFit/>
          </a:bodyPr>
          <a:lstStyle/>
          <a:p>
            <a:pPr algn="ctr">
              <a:buNone/>
            </a:pPr>
            <a:r>
              <a:rPr sz="1700">
                <a:solidFill>
                  <a:srgbClr val="2F5496"/>
                </a:solidFill>
                <a:latin typeface="微软雅黑"/>
                <a:ea typeface="微软雅黑"/>
                <a:cs typeface="微软雅黑"/>
              </a:rPr>
              <a:t>—— 数据生产管线与评测基座验证 ——</a:t>
            </a:r>
          </a:p>
          <a:p>
            <a:pPr algn="ctr">
              <a:buNone/>
            </a:pPr>
            <a:r>
              <a:rPr sz="1700">
                <a:solidFill>
                  <a:srgbClr val="2F5496"/>
                </a:solidFill>
                <a:latin typeface="微软雅黑"/>
                <a:ea typeface="微软雅黑"/>
                <a:cs typeface="微软雅黑"/>
              </a:rPr>
              <a:t>个人汇报</a:t>
            </a:r>
          </a:p>
        </p:txBody>
      </p:sp>
      <p:sp>
        <p:nvSpPr>
          <p:cNvPr id="6" name="矩形 5">
            <a:extLst>
              <a:ext uri="{FF2B5EF4-FFF2-40B4-BE49-F238E27FC236}">
                <a16:creationId xmlns:a16="http://schemas.microsoft.com/office/drawing/2014/main" id="{FDABD8D1-F360-4749-8AAF-557FEF0A01AA}"/>
              </a:ext>
            </a:extLst>
          </p:cNvPr>
          <p:cNvSpPr>
            <a:spLocks noGrp="1"/>
          </p:cNvSpPr>
          <p:nvPr/>
        </p:nvSpPr>
        <p:spPr>
          <a:xfrm>
            <a:off x="4826000" y="4191000"/>
            <a:ext cx="2540000" cy="381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F14EC34C-2A1C-4F00-A886-91C7C1CE7EA8}"/>
              </a:ext>
            </a:extLst>
          </p:cNvPr>
          <p:cNvSpPr>
            <a:spLocks noGrp="1"/>
          </p:cNvSpPr>
          <p:nvPr/>
        </p:nvSpPr>
        <p:spPr>
          <a:xfrm>
            <a:off x="0" y="4572000"/>
            <a:ext cx="12192000" cy="553998"/>
          </a:xfrm>
          <a:prstGeom prst="rect">
            <a:avLst/>
          </a:prstGeom>
          <a:noFill/>
        </p:spPr>
        <p:txBody>
          <a:bodyPr vert="horz">
            <a:spAutoFit/>
          </a:bodyPr>
          <a:lstStyle/>
          <a:p>
            <a:pPr algn="ctr">
              <a:buNone/>
            </a:pPr>
            <a:r>
              <a:rPr sz="1500">
                <a:solidFill>
                  <a:srgbClr val="44546A"/>
                </a:solidFill>
                <a:latin typeface="微软雅黑"/>
                <a:ea typeface="微软雅黑"/>
                <a:cs typeface="微软雅黑"/>
              </a:rPr>
              <a:t>中国移动研究项目 · 子课题一</a:t>
            </a:r>
          </a:p>
          <a:p>
            <a:pPr algn="ctr">
              <a:buNone/>
            </a:pPr>
            <a:r>
              <a:rPr sz="1500">
                <a:solidFill>
                  <a:srgbClr val="44546A"/>
                </a:solidFill>
                <a:latin typeface="微软雅黑"/>
                <a:ea typeface="微软雅黑"/>
                <a:cs typeface="微软雅黑"/>
              </a:rPr>
              <a:t>2026 年 9 月 8 日</a:t>
            </a:r>
          </a:p>
        </p:txBody>
      </p:sp>
      <p:sp>
        <p:nvSpPr>
          <p:cNvPr id="9" name="文本框 8">
            <a:extLst>
              <a:ext uri="{FF2B5EF4-FFF2-40B4-BE49-F238E27FC236}">
                <a16:creationId xmlns:a16="http://schemas.microsoft.com/office/drawing/2014/main" id="{DB9C8012-3CF9-D26E-3133-1076AB07DB1F}"/>
              </a:ext>
            </a:extLst>
          </p:cNvPr>
          <p:cNvSpPr>
            <a:spLocks noGrp="1"/>
          </p:cNvSpPr>
          <p:nvPr/>
        </p:nvSpPr>
        <p:spPr>
          <a:xfrm>
            <a:off x="3048421" y="3848102"/>
            <a:ext cx="6095158" cy="323165"/>
          </a:xfrm>
          <a:prstGeom prst="rect">
            <a:avLst/>
          </a:prstGeom>
          <a:noFill/>
        </p:spPr>
        <p:txBody>
          <a:bodyPr wrap="square">
            <a:spAutoFit/>
          </a:bodyPr>
          <a:lstStyle/>
          <a:p>
            <a:pPr algn="ctr">
              <a:buNone/>
            </a:pPr>
            <a:r>
              <a:rPr sz="1500">
                <a:solidFill>
                  <a:srgbClr val="44546A"/>
                </a:solidFill>
                <a:latin typeface="微软雅黑"/>
                <a:ea typeface="微软雅黑"/>
                <a:cs typeface="微软雅黑"/>
              </a:rPr>
              <a:t>汇报人:邓姣姣</a:t>
            </a:r>
          </a:p>
        </p:txBody>
      </p:sp>
    </p:spTree>
    <p:extLst>
      <p:ext uri="{BB962C8B-B14F-4D97-AF65-F5344CB8AC3E}">
        <p14:creationId xmlns:p14="http://schemas.microsoft.com/office/powerpoint/2010/main" val="39633335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54DD56D-D220-4DEC-8506-F9111EF28406}"/>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小组成员与分工</a:t>
            </a:r>
          </a:p>
        </p:txBody>
      </p:sp>
      <p:sp>
        <p:nvSpPr>
          <p:cNvPr id="4" name="矩形 3">
            <a:extLst>
              <a:ext uri="{FF2B5EF4-FFF2-40B4-BE49-F238E27FC236}">
                <a16:creationId xmlns:a16="http://schemas.microsoft.com/office/drawing/2014/main" id="{C689A73B-EE69-45CE-B1AD-9D4113CE5991}"/>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 name="矩形 4">
            <a:extLst>
              <a:ext uri="{FF2B5EF4-FFF2-40B4-BE49-F238E27FC236}">
                <a16:creationId xmlns:a16="http://schemas.microsoft.com/office/drawing/2014/main" id="{F3D2A7C1-7ACD-4DDB-B519-99F4FC218127}"/>
              </a:ext>
            </a:extLst>
          </p:cNvPr>
          <p:cNvSpPr>
            <a:spLocks noGrp="1"/>
          </p:cNvSpPr>
          <p:nvPr/>
        </p:nvSpPr>
        <p:spPr>
          <a:xfrm>
            <a:off x="508000" y="1168400"/>
            <a:ext cx="5486400" cy="4191000"/>
          </a:xfrm>
          <a:prstGeom prst="rect">
            <a:avLst/>
          </a:prstGeom>
          <a:solidFill>
            <a:srgbClr val="EAF0FA"/>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矩形 5">
            <a:extLst>
              <a:ext uri="{FF2B5EF4-FFF2-40B4-BE49-F238E27FC236}">
                <a16:creationId xmlns:a16="http://schemas.microsoft.com/office/drawing/2014/main" id="{0B0976EC-E12F-491B-AE39-2AEDCE51369C}"/>
              </a:ext>
            </a:extLst>
          </p:cNvPr>
          <p:cNvSpPr>
            <a:spLocks noGrp="1"/>
          </p:cNvSpPr>
          <p:nvPr/>
        </p:nvSpPr>
        <p:spPr>
          <a:xfrm>
            <a:off x="508000" y="1168400"/>
            <a:ext cx="5486400" cy="76200"/>
          </a:xfrm>
          <a:prstGeom prst="rect">
            <a:avLst/>
          </a:prstGeom>
          <a:solidFill>
            <a:srgbClr val="1F386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CD1DD506-2B67-47B2-AF7E-5A18B2596580}"/>
              </a:ext>
            </a:extLst>
          </p:cNvPr>
          <p:cNvSpPr>
            <a:spLocks noGrp="1"/>
          </p:cNvSpPr>
          <p:nvPr/>
        </p:nvSpPr>
        <p:spPr>
          <a:xfrm>
            <a:off x="812800" y="1422402"/>
            <a:ext cx="4953000" cy="384721"/>
          </a:xfrm>
          <a:prstGeom prst="rect">
            <a:avLst/>
          </a:prstGeom>
          <a:noFill/>
        </p:spPr>
        <p:txBody>
          <a:bodyPr vert="horz">
            <a:spAutoFit/>
          </a:bodyPr>
          <a:lstStyle/>
          <a:p>
            <a:r>
              <a:rPr sz="1900" b="1">
                <a:solidFill>
                  <a:srgbClr val="1F3864"/>
                </a:solidFill>
                <a:latin typeface="微软雅黑"/>
                <a:ea typeface="微软雅黑"/>
                <a:cs typeface="微软雅黑"/>
              </a:rPr>
              <a:t>算法组已汇报-张启元</a:t>
            </a:r>
          </a:p>
        </p:txBody>
      </p:sp>
      <p:sp>
        <p:nvSpPr>
          <p:cNvPr id="8" name="文本框 7">
            <a:extLst>
              <a:ext uri="{FF2B5EF4-FFF2-40B4-BE49-F238E27FC236}">
                <a16:creationId xmlns:a16="http://schemas.microsoft.com/office/drawing/2014/main" id="{D01D686E-DCA0-4C83-807C-233735CC5FEB}"/>
              </a:ext>
            </a:extLst>
          </p:cNvPr>
          <p:cNvSpPr>
            <a:spLocks noGrp="1"/>
          </p:cNvSpPr>
          <p:nvPr/>
        </p:nvSpPr>
        <p:spPr>
          <a:xfrm>
            <a:off x="812800" y="1879602"/>
            <a:ext cx="4953000" cy="323165"/>
          </a:xfrm>
          <a:prstGeom prst="rect">
            <a:avLst/>
          </a:prstGeom>
          <a:noFill/>
        </p:spPr>
        <p:txBody>
          <a:bodyPr vert="horz">
            <a:spAutoFit/>
          </a:bodyPr>
          <a:lstStyle/>
          <a:p>
            <a:r>
              <a:rPr sz="1500" b="1">
                <a:solidFill>
                  <a:srgbClr val="ED7D31"/>
                </a:solidFill>
                <a:latin typeface="微软雅黑"/>
                <a:ea typeface="微软雅黑"/>
                <a:cs typeface="微软雅黑"/>
              </a:rPr>
              <a:t>算法与实验主线</a:t>
            </a:r>
          </a:p>
        </p:txBody>
      </p:sp>
      <p:sp>
        <p:nvSpPr>
          <p:cNvPr id="9" name="文本框 8">
            <a:extLst>
              <a:ext uri="{FF2B5EF4-FFF2-40B4-BE49-F238E27FC236}">
                <a16:creationId xmlns:a16="http://schemas.microsoft.com/office/drawing/2014/main" id="{66710A1B-0F04-43C5-9874-337EB66A32F4}"/>
              </a:ext>
            </a:extLst>
          </p:cNvPr>
          <p:cNvSpPr>
            <a:spLocks noGrp="1"/>
          </p:cNvSpPr>
          <p:nvPr/>
        </p:nvSpPr>
        <p:spPr>
          <a:xfrm>
            <a:off x="812800" y="2362202"/>
            <a:ext cx="4953000" cy="1705595"/>
          </a:xfrm>
          <a:prstGeom prst="rect">
            <a:avLst/>
          </a:prstGeom>
          <a:noFill/>
        </p:spPr>
        <p:txBody>
          <a:bodyPr vert="horz">
            <a:spAutoFit/>
          </a:bodyPr>
          <a:lstStyle/>
          <a:p>
            <a:pPr>
              <a:spcAft>
                <a:spcPts val="500"/>
              </a:spcAft>
            </a:pPr>
            <a:r>
              <a:rPr sz="1400">
                <a:solidFill>
                  <a:srgbClr val="333333"/>
                </a:solidFill>
                <a:latin typeface="微软雅黑"/>
                <a:ea typeface="微软雅黑"/>
                <a:cs typeface="微软雅黑"/>
              </a:rPr>
              <a:t>• 子课题需求分解与达标路线设计</a:t>
            </a:r>
          </a:p>
          <a:p>
            <a:pPr>
              <a:spcAft>
                <a:spcPts val="500"/>
              </a:spcAft>
            </a:pPr>
            <a:r>
              <a:rPr sz="1400">
                <a:solidFill>
                  <a:srgbClr val="333333"/>
                </a:solidFill>
                <a:latin typeface="微软雅黑"/>
                <a:ea typeface="微软雅黑"/>
                <a:cs typeface="微软雅黑"/>
              </a:rPr>
              <a:t>• 训练 / 评测环境与自动化管线搭建</a:t>
            </a:r>
          </a:p>
          <a:p>
            <a:pPr>
              <a:spcAft>
                <a:spcPts val="500"/>
              </a:spcAft>
            </a:pPr>
            <a:r>
              <a:rPr sz="1400">
                <a:solidFill>
                  <a:srgbClr val="333333"/>
                </a:solidFill>
                <a:latin typeface="微软雅黑"/>
                <a:ea typeface="微软雅黑"/>
                <a:cs typeface="微软雅黑"/>
              </a:rPr>
              <a:t>• 鲁棒方案设计与四轮迭代(交付前端)</a:t>
            </a:r>
          </a:p>
          <a:p>
            <a:pPr>
              <a:spcAft>
                <a:spcPts val="500"/>
              </a:spcAft>
            </a:pPr>
            <a:r>
              <a:rPr sz="1400">
                <a:solidFill>
                  <a:srgbClr val="333333"/>
                </a:solidFill>
                <a:latin typeface="微软雅黑"/>
                <a:ea typeface="微软雅黑"/>
                <a:cs typeface="微软雅黑"/>
              </a:rPr>
              <a:t>• 三后端全量实验与官方终评</a:t>
            </a:r>
          </a:p>
          <a:p>
            <a:pPr>
              <a:spcAft>
                <a:spcPts val="500"/>
              </a:spcAft>
            </a:pPr>
            <a:r>
              <a:rPr sz="1400">
                <a:solidFill>
                  <a:srgbClr val="333333"/>
                </a:solidFill>
                <a:latin typeface="微软雅黑"/>
                <a:ea typeface="微软雅黑"/>
                <a:cs typeface="微软雅黑"/>
              </a:rPr>
              <a:t>• 失败案例挖掘 · ROC/DET 分析</a:t>
            </a:r>
          </a:p>
          <a:p>
            <a:pPr>
              <a:spcAft>
                <a:spcPts val="500"/>
              </a:spcAft>
            </a:pPr>
            <a:r>
              <a:rPr sz="1400">
                <a:solidFill>
                  <a:srgbClr val="333333"/>
                </a:solidFill>
                <a:latin typeface="微软雅黑"/>
                <a:ea typeface="微软雅黑"/>
                <a:cs typeface="微软雅黑"/>
              </a:rPr>
              <a:t>• 技术报告与汇报材料</a:t>
            </a:r>
          </a:p>
        </p:txBody>
      </p:sp>
      <p:sp>
        <p:nvSpPr>
          <p:cNvPr id="10" name="矩形 9">
            <a:extLst>
              <a:ext uri="{FF2B5EF4-FFF2-40B4-BE49-F238E27FC236}">
                <a16:creationId xmlns:a16="http://schemas.microsoft.com/office/drawing/2014/main" id="{2AA06489-1F86-410C-8714-F3CDCD9A3F27}"/>
              </a:ext>
            </a:extLst>
          </p:cNvPr>
          <p:cNvSpPr>
            <a:spLocks noGrp="1"/>
          </p:cNvSpPr>
          <p:nvPr/>
        </p:nvSpPr>
        <p:spPr>
          <a:xfrm>
            <a:off x="6248400" y="1168400"/>
            <a:ext cx="5486400" cy="4191000"/>
          </a:xfrm>
          <a:prstGeom prst="rect">
            <a:avLst/>
          </a:prstGeom>
          <a:solidFill>
            <a:srgbClr val="EAF0FA"/>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矩形 10">
            <a:extLst>
              <a:ext uri="{FF2B5EF4-FFF2-40B4-BE49-F238E27FC236}">
                <a16:creationId xmlns:a16="http://schemas.microsoft.com/office/drawing/2014/main" id="{9FA6A1DE-53DB-4F72-A532-C10C6B8028C9}"/>
              </a:ext>
            </a:extLst>
          </p:cNvPr>
          <p:cNvSpPr>
            <a:spLocks noGrp="1"/>
          </p:cNvSpPr>
          <p:nvPr/>
        </p:nvSpPr>
        <p:spPr>
          <a:xfrm>
            <a:off x="6248400" y="1168400"/>
            <a:ext cx="5486400" cy="76200"/>
          </a:xfrm>
          <a:prstGeom prst="rect">
            <a:avLst/>
          </a:prstGeom>
          <a:solidFill>
            <a:srgbClr val="2F5496"/>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文本框 11">
            <a:extLst>
              <a:ext uri="{FF2B5EF4-FFF2-40B4-BE49-F238E27FC236}">
                <a16:creationId xmlns:a16="http://schemas.microsoft.com/office/drawing/2014/main" id="{9D262886-8D9F-486A-BD28-F4211E12A13E}"/>
              </a:ext>
            </a:extLst>
          </p:cNvPr>
          <p:cNvSpPr>
            <a:spLocks noGrp="1"/>
          </p:cNvSpPr>
          <p:nvPr/>
        </p:nvSpPr>
        <p:spPr>
          <a:xfrm>
            <a:off x="6553200" y="1422402"/>
            <a:ext cx="4953000" cy="384721"/>
          </a:xfrm>
          <a:prstGeom prst="rect">
            <a:avLst/>
          </a:prstGeom>
          <a:noFill/>
        </p:spPr>
        <p:txBody>
          <a:bodyPr vert="horz">
            <a:spAutoFit/>
          </a:bodyPr>
          <a:lstStyle/>
          <a:p>
            <a:r>
              <a:rPr sz="1900" b="1">
                <a:solidFill>
                  <a:srgbClr val="1F3864"/>
                </a:solidFill>
                <a:latin typeface="微软雅黑"/>
                <a:ea typeface="微软雅黑"/>
                <a:cs typeface="微软雅黑"/>
              </a:rPr>
              <a:t>邓姣姣</a:t>
            </a:r>
          </a:p>
        </p:txBody>
      </p:sp>
      <p:sp>
        <p:nvSpPr>
          <p:cNvPr id="13" name="文本框 12">
            <a:extLst>
              <a:ext uri="{FF2B5EF4-FFF2-40B4-BE49-F238E27FC236}">
                <a16:creationId xmlns:a16="http://schemas.microsoft.com/office/drawing/2014/main" id="{E1CD234D-4878-433E-90A8-458011B174D9}"/>
              </a:ext>
            </a:extLst>
          </p:cNvPr>
          <p:cNvSpPr>
            <a:spLocks noGrp="1"/>
          </p:cNvSpPr>
          <p:nvPr/>
        </p:nvSpPr>
        <p:spPr>
          <a:xfrm>
            <a:off x="6553200" y="1879602"/>
            <a:ext cx="4953000" cy="323165"/>
          </a:xfrm>
          <a:prstGeom prst="rect">
            <a:avLst/>
          </a:prstGeom>
          <a:noFill/>
        </p:spPr>
        <p:txBody>
          <a:bodyPr vert="horz">
            <a:spAutoFit/>
          </a:bodyPr>
          <a:lstStyle/>
          <a:p>
            <a:r>
              <a:rPr sz="1500" b="1">
                <a:solidFill>
                  <a:srgbClr val="ED7D31"/>
                </a:solidFill>
                <a:latin typeface="微软雅黑"/>
                <a:ea typeface="微软雅黑"/>
                <a:cs typeface="微软雅黑"/>
              </a:rPr>
              <a:t>数据与评测支撑</a:t>
            </a:r>
          </a:p>
        </p:txBody>
      </p:sp>
      <p:sp>
        <p:nvSpPr>
          <p:cNvPr id="14" name="文本框 13">
            <a:extLst>
              <a:ext uri="{FF2B5EF4-FFF2-40B4-BE49-F238E27FC236}">
                <a16:creationId xmlns:a16="http://schemas.microsoft.com/office/drawing/2014/main" id="{393CED24-85BB-4CA1-90DA-9BC5C8E3E6AC}"/>
              </a:ext>
            </a:extLst>
          </p:cNvPr>
          <p:cNvSpPr>
            <a:spLocks noGrp="1"/>
          </p:cNvSpPr>
          <p:nvPr/>
        </p:nvSpPr>
        <p:spPr>
          <a:xfrm>
            <a:off x="6553200" y="2362202"/>
            <a:ext cx="4953000" cy="1426031"/>
          </a:xfrm>
          <a:prstGeom prst="rect">
            <a:avLst/>
          </a:prstGeom>
          <a:noFill/>
        </p:spPr>
        <p:txBody>
          <a:bodyPr vert="horz">
            <a:spAutoFit/>
          </a:bodyPr>
          <a:lstStyle/>
          <a:p>
            <a:pPr>
              <a:spcAft>
                <a:spcPts val="500"/>
              </a:spcAft>
            </a:pPr>
            <a:r>
              <a:rPr sz="1400">
                <a:solidFill>
                  <a:srgbClr val="333333"/>
                </a:solidFill>
                <a:latin typeface="微软雅黑"/>
                <a:ea typeface="微软雅黑"/>
                <a:cs typeface="微软雅黑"/>
              </a:rPr>
              <a:t>• 8 种声学条件测试数据协议与构建</a:t>
            </a:r>
          </a:p>
          <a:p>
            <a:pPr>
              <a:spcAft>
                <a:spcPts val="500"/>
              </a:spcAft>
            </a:pPr>
            <a:r>
              <a:rPr sz="1400">
                <a:solidFill>
                  <a:srgbClr val="333333"/>
                </a:solidFill>
                <a:latin typeface="微软雅黑"/>
                <a:ea typeface="微软雅黑"/>
                <a:cs typeface="微软雅黑"/>
              </a:rPr>
              <a:t>• 噪声 / 多人重叠数据合成(SNR / TIR 记录)</a:t>
            </a:r>
          </a:p>
          <a:p>
            <a:pPr>
              <a:spcAft>
                <a:spcPts val="500"/>
              </a:spcAft>
            </a:pPr>
            <a:r>
              <a:rPr sz="1400">
                <a:solidFill>
                  <a:srgbClr val="333333"/>
                </a:solidFill>
                <a:latin typeface="微软雅黑"/>
                <a:ea typeface="微软雅黑"/>
                <a:cs typeface="微软雅黑"/>
              </a:rPr>
              <a:t>• 三重数据泄漏检查(说话人 / MD5 / 切片)</a:t>
            </a:r>
          </a:p>
          <a:p>
            <a:pPr>
              <a:spcAft>
                <a:spcPts val="500"/>
              </a:spcAft>
            </a:pPr>
            <a:r>
              <a:rPr sz="1400">
                <a:solidFill>
                  <a:srgbClr val="333333"/>
                </a:solidFill>
                <a:latin typeface="微软雅黑"/>
                <a:ea typeface="微软雅黑"/>
                <a:cs typeface="微软雅黑"/>
              </a:rPr>
              <a:t>• 统一评测脚本(EER · minDCF · ROC-DET · FAR/FRR)</a:t>
            </a:r>
          </a:p>
          <a:p>
            <a:pPr>
              <a:spcAft>
                <a:spcPts val="500"/>
              </a:spcAft>
            </a:pPr>
            <a:r>
              <a:rPr sz="1400">
                <a:solidFill>
                  <a:srgbClr val="333333"/>
                </a:solidFill>
                <a:latin typeface="微软雅黑"/>
                <a:ea typeface="微软雅黑"/>
                <a:cs typeface="微软雅黑"/>
              </a:rPr>
              <a:t>• 鲁棒性文献调研(2024-2026)</a:t>
            </a:r>
          </a:p>
        </p:txBody>
      </p:sp>
      <p:sp>
        <p:nvSpPr>
          <p:cNvPr id="15" name="矩形 14">
            <a:extLst>
              <a:ext uri="{FF2B5EF4-FFF2-40B4-BE49-F238E27FC236}">
                <a16:creationId xmlns:a16="http://schemas.microsoft.com/office/drawing/2014/main" id="{7C567B19-4BFE-4F73-9525-C5607B042CCD}"/>
              </a:ext>
            </a:extLst>
          </p:cNvPr>
          <p:cNvSpPr>
            <a:spLocks noGrp="1"/>
          </p:cNvSpPr>
          <p:nvPr/>
        </p:nvSpPr>
        <p:spPr>
          <a:xfrm>
            <a:off x="508000" y="5588000"/>
            <a:ext cx="11226800" cy="38100"/>
          </a:xfrm>
          <a:prstGeom prst="rect">
            <a:avLst/>
          </a:prstGeom>
          <a:solidFill>
            <a:srgbClr val="E2E8F5"/>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文本框 15">
            <a:extLst>
              <a:ext uri="{FF2B5EF4-FFF2-40B4-BE49-F238E27FC236}">
                <a16:creationId xmlns:a16="http://schemas.microsoft.com/office/drawing/2014/main" id="{B5FE388A-BD5B-4911-9724-906C92B7BDCF}"/>
              </a:ext>
            </a:extLst>
          </p:cNvPr>
          <p:cNvSpPr>
            <a:spLocks noGrp="1"/>
          </p:cNvSpPr>
          <p:nvPr/>
        </p:nvSpPr>
        <p:spPr>
          <a:xfrm>
            <a:off x="508000" y="5740402"/>
            <a:ext cx="11226800" cy="315471"/>
          </a:xfrm>
          <a:prstGeom prst="rect">
            <a:avLst/>
          </a:prstGeom>
          <a:noFill/>
        </p:spPr>
        <p:txBody>
          <a:bodyPr vert="horz">
            <a:spAutoFit/>
          </a:bodyPr>
          <a:lstStyle/>
          <a:p>
            <a:pPr algn="ctr">
              <a:buNone/>
            </a:pPr>
            <a:r>
              <a:rPr sz="1450" b="1">
                <a:solidFill>
                  <a:srgbClr val="44546A"/>
                </a:solidFill>
                <a:latin typeface="微软雅黑"/>
                <a:ea typeface="微软雅黑"/>
                <a:cs typeface="微软雅黑"/>
              </a:rPr>
              <a:t>本次重点:评测基座如何保证结论可信 + 最终前端每个模块如何工作</a:t>
            </a:r>
          </a:p>
        </p:txBody>
      </p:sp>
      <p:sp>
        <p:nvSpPr>
          <p:cNvPr id="17" name="矩形 16">
            <a:extLst>
              <a:ext uri="{FF2B5EF4-FFF2-40B4-BE49-F238E27FC236}">
                <a16:creationId xmlns:a16="http://schemas.microsoft.com/office/drawing/2014/main" id="{D1B6399C-8B5F-4D1C-94DF-71C7D157FF04}"/>
              </a:ext>
            </a:extLst>
          </p:cNvPr>
          <p:cNvSpPr>
            <a:spLocks noGrp="1"/>
          </p:cNvSpPr>
          <p:nvPr/>
        </p:nvSpPr>
        <p:spPr>
          <a:xfrm>
            <a:off x="0" y="6756400"/>
            <a:ext cx="12192000" cy="101600"/>
          </a:xfrm>
          <a:prstGeom prst="rect">
            <a:avLst/>
          </a:prstGeom>
          <a:solidFill>
            <a:srgbClr val="1F386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9" name="矩形 18">
            <a:extLst>
              <a:ext uri="{FF2B5EF4-FFF2-40B4-BE49-F238E27FC236}">
                <a16:creationId xmlns:a16="http://schemas.microsoft.com/office/drawing/2014/main" id="{A5229639-9F07-0105-059D-604FEBE4BAAD}"/>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3345124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CCCFC463-A7C0-42A4-AF36-CBA577EA4EEF}"/>
              </a:ext>
            </a:extLst>
          </p:cNvPr>
          <p:cNvSpPr>
            <a:spLocks noGrp="1"/>
          </p:cNvSpPr>
          <p:nvPr/>
        </p:nvSpPr>
        <p:spPr>
          <a:xfrm>
            <a:off x="762000" y="431800"/>
            <a:ext cx="3810000" cy="553998"/>
          </a:xfrm>
          <a:prstGeom prst="rect">
            <a:avLst/>
          </a:prstGeom>
          <a:noFill/>
        </p:spPr>
        <p:txBody>
          <a:bodyPr vert="horz">
            <a:spAutoFit/>
          </a:bodyPr>
          <a:lstStyle/>
          <a:p>
            <a:r>
              <a:rPr sz="3000" b="1">
                <a:solidFill>
                  <a:srgbClr val="1F3864"/>
                </a:solidFill>
                <a:latin typeface="微软雅黑"/>
                <a:ea typeface="微软雅黑"/>
                <a:cs typeface="微软雅黑"/>
              </a:rPr>
              <a:t>提  纲</a:t>
            </a:r>
          </a:p>
        </p:txBody>
      </p:sp>
      <p:sp>
        <p:nvSpPr>
          <p:cNvPr id="3" name="矩形 2">
            <a:extLst>
              <a:ext uri="{FF2B5EF4-FFF2-40B4-BE49-F238E27FC236}">
                <a16:creationId xmlns:a16="http://schemas.microsoft.com/office/drawing/2014/main" id="{9886A0E1-6618-49CD-8B6F-4801AAE23AD5}"/>
              </a:ext>
            </a:extLst>
          </p:cNvPr>
          <p:cNvSpPr>
            <a:spLocks noGrp="1"/>
          </p:cNvSpPr>
          <p:nvPr/>
        </p:nvSpPr>
        <p:spPr>
          <a:xfrm>
            <a:off x="787400" y="1168400"/>
            <a:ext cx="1117600" cy="381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矩形 3">
            <a:extLst>
              <a:ext uri="{FF2B5EF4-FFF2-40B4-BE49-F238E27FC236}">
                <a16:creationId xmlns:a16="http://schemas.microsoft.com/office/drawing/2014/main" id="{61B786C4-2BB6-43C9-8445-5876706C2383}"/>
              </a:ext>
            </a:extLst>
          </p:cNvPr>
          <p:cNvSpPr>
            <a:spLocks noGrp="1"/>
          </p:cNvSpPr>
          <p:nvPr/>
        </p:nvSpPr>
        <p:spPr>
          <a:xfrm>
            <a:off x="1143000" y="1778000"/>
            <a:ext cx="812800" cy="508000"/>
          </a:xfrm>
          <a:prstGeom prst="rect">
            <a:avLst/>
          </a:prstGeom>
          <a:solidFill>
            <a:srgbClr val="D9E2F3"/>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rgbClr val="1F3864"/>
                </a:solidFill>
              </a:rPr>
              <a:t>01</a:t>
            </a:r>
          </a:p>
        </p:txBody>
      </p:sp>
      <p:sp>
        <p:nvSpPr>
          <p:cNvPr id="5" name="文本框 4">
            <a:extLst>
              <a:ext uri="{FF2B5EF4-FFF2-40B4-BE49-F238E27FC236}">
                <a16:creationId xmlns:a16="http://schemas.microsoft.com/office/drawing/2014/main" id="{90F34105-7CD8-4BE8-A7F7-424179B2DF72}"/>
              </a:ext>
            </a:extLst>
          </p:cNvPr>
          <p:cNvSpPr>
            <a:spLocks noGrp="1"/>
          </p:cNvSpPr>
          <p:nvPr/>
        </p:nvSpPr>
        <p:spPr>
          <a:xfrm>
            <a:off x="2235200" y="1828802"/>
            <a:ext cx="5334000" cy="384721"/>
          </a:xfrm>
          <a:prstGeom prst="rect">
            <a:avLst/>
          </a:prstGeom>
          <a:noFill/>
        </p:spPr>
        <p:txBody>
          <a:bodyPr vert="horz">
            <a:spAutoFit/>
          </a:bodyPr>
          <a:lstStyle/>
          <a:p>
            <a:r>
              <a:rPr sz="1900">
                <a:solidFill>
                  <a:srgbClr val="44546A"/>
                </a:solidFill>
                <a:latin typeface="微软雅黑"/>
                <a:ea typeface="微软雅黑"/>
                <a:cs typeface="微软雅黑"/>
              </a:rPr>
              <a:t>数据协议与构建</a:t>
            </a:r>
          </a:p>
        </p:txBody>
      </p:sp>
      <p:sp>
        <p:nvSpPr>
          <p:cNvPr id="6" name="矩形 5">
            <a:extLst>
              <a:ext uri="{FF2B5EF4-FFF2-40B4-BE49-F238E27FC236}">
                <a16:creationId xmlns:a16="http://schemas.microsoft.com/office/drawing/2014/main" id="{66188598-9C95-4CA1-828B-6CDEE74908A3}"/>
              </a:ext>
            </a:extLst>
          </p:cNvPr>
          <p:cNvSpPr>
            <a:spLocks noGrp="1"/>
          </p:cNvSpPr>
          <p:nvPr/>
        </p:nvSpPr>
        <p:spPr>
          <a:xfrm>
            <a:off x="1143000" y="2565400"/>
            <a:ext cx="812800" cy="508000"/>
          </a:xfrm>
          <a:prstGeom prst="rect">
            <a:avLst/>
          </a:prstGeom>
          <a:solidFill>
            <a:srgbClr val="D9E2F3"/>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rgbClr val="1F3864"/>
                </a:solidFill>
              </a:rPr>
              <a:t>02</a:t>
            </a:r>
          </a:p>
        </p:txBody>
      </p:sp>
      <p:sp>
        <p:nvSpPr>
          <p:cNvPr id="7" name="文本框 6">
            <a:extLst>
              <a:ext uri="{FF2B5EF4-FFF2-40B4-BE49-F238E27FC236}">
                <a16:creationId xmlns:a16="http://schemas.microsoft.com/office/drawing/2014/main" id="{444EC271-FBB7-40A3-8A53-F5135EB5C941}"/>
              </a:ext>
            </a:extLst>
          </p:cNvPr>
          <p:cNvSpPr>
            <a:spLocks noGrp="1"/>
          </p:cNvSpPr>
          <p:nvPr/>
        </p:nvSpPr>
        <p:spPr>
          <a:xfrm>
            <a:off x="2235200" y="2616202"/>
            <a:ext cx="5334000" cy="384721"/>
          </a:xfrm>
          <a:prstGeom prst="rect">
            <a:avLst/>
          </a:prstGeom>
          <a:noFill/>
        </p:spPr>
        <p:txBody>
          <a:bodyPr vert="horz">
            <a:spAutoFit/>
          </a:bodyPr>
          <a:lstStyle/>
          <a:p>
            <a:r>
              <a:rPr sz="1900">
                <a:solidFill>
                  <a:srgbClr val="44546A"/>
                </a:solidFill>
                <a:latin typeface="微软雅黑"/>
                <a:ea typeface="微软雅黑"/>
                <a:cs typeface="微软雅黑"/>
              </a:rPr>
              <a:t>数据可信性-泄露检查</a:t>
            </a:r>
          </a:p>
        </p:txBody>
      </p:sp>
      <p:sp>
        <p:nvSpPr>
          <p:cNvPr id="8" name="矩形 7">
            <a:extLst>
              <a:ext uri="{FF2B5EF4-FFF2-40B4-BE49-F238E27FC236}">
                <a16:creationId xmlns:a16="http://schemas.microsoft.com/office/drawing/2014/main" id="{9B75DFBF-85F4-443D-8CFE-4763ED66BE7B}"/>
              </a:ext>
            </a:extLst>
          </p:cNvPr>
          <p:cNvSpPr>
            <a:spLocks noGrp="1"/>
          </p:cNvSpPr>
          <p:nvPr/>
        </p:nvSpPr>
        <p:spPr>
          <a:xfrm>
            <a:off x="1143000" y="3352800"/>
            <a:ext cx="812800" cy="508000"/>
          </a:xfrm>
          <a:prstGeom prst="rect">
            <a:avLst/>
          </a:prstGeom>
          <a:solidFill>
            <a:srgbClr val="D9E2F3"/>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rgbClr val="1F3864"/>
                </a:solidFill>
              </a:rPr>
              <a:t>03</a:t>
            </a:r>
          </a:p>
        </p:txBody>
      </p:sp>
      <p:sp>
        <p:nvSpPr>
          <p:cNvPr id="9" name="文本框 8">
            <a:extLst>
              <a:ext uri="{FF2B5EF4-FFF2-40B4-BE49-F238E27FC236}">
                <a16:creationId xmlns:a16="http://schemas.microsoft.com/office/drawing/2014/main" id="{2FF842C9-22B7-4816-8C5B-D72DDF249499}"/>
              </a:ext>
            </a:extLst>
          </p:cNvPr>
          <p:cNvSpPr>
            <a:spLocks noGrp="1"/>
          </p:cNvSpPr>
          <p:nvPr/>
        </p:nvSpPr>
        <p:spPr>
          <a:xfrm>
            <a:off x="2235200" y="3403602"/>
            <a:ext cx="5334000" cy="384721"/>
          </a:xfrm>
          <a:prstGeom prst="rect">
            <a:avLst/>
          </a:prstGeom>
          <a:noFill/>
        </p:spPr>
        <p:txBody>
          <a:bodyPr vert="horz">
            <a:spAutoFit/>
          </a:bodyPr>
          <a:lstStyle/>
          <a:p>
            <a:r>
              <a:rPr sz="1900">
                <a:solidFill>
                  <a:srgbClr val="44546A"/>
                </a:solidFill>
                <a:latin typeface="微软雅黑"/>
                <a:ea typeface="微软雅黑"/>
                <a:cs typeface="微软雅黑"/>
              </a:rPr>
              <a:t>统一评测协议构建</a:t>
            </a:r>
          </a:p>
        </p:txBody>
      </p:sp>
      <p:sp>
        <p:nvSpPr>
          <p:cNvPr id="10" name="矩形 9">
            <a:extLst>
              <a:ext uri="{FF2B5EF4-FFF2-40B4-BE49-F238E27FC236}">
                <a16:creationId xmlns:a16="http://schemas.microsoft.com/office/drawing/2014/main" id="{5E49A6E9-725A-4D74-9304-8EBAB062DD09}"/>
              </a:ext>
            </a:extLst>
          </p:cNvPr>
          <p:cNvSpPr>
            <a:spLocks noGrp="1"/>
          </p:cNvSpPr>
          <p:nvPr/>
        </p:nvSpPr>
        <p:spPr>
          <a:xfrm>
            <a:off x="1143000" y="4140200"/>
            <a:ext cx="812800" cy="508000"/>
          </a:xfrm>
          <a:prstGeom prst="rect">
            <a:avLst/>
          </a:prstGeom>
          <a:solidFill>
            <a:srgbClr val="D9E2F3"/>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rgbClr val="1F3864"/>
                </a:solidFill>
              </a:rPr>
              <a:t>04</a:t>
            </a:r>
          </a:p>
        </p:txBody>
      </p:sp>
      <p:sp>
        <p:nvSpPr>
          <p:cNvPr id="11" name="文本框 10">
            <a:extLst>
              <a:ext uri="{FF2B5EF4-FFF2-40B4-BE49-F238E27FC236}">
                <a16:creationId xmlns:a16="http://schemas.microsoft.com/office/drawing/2014/main" id="{8475F3B8-E970-4531-AFC4-F6BC8E6B604D}"/>
              </a:ext>
            </a:extLst>
          </p:cNvPr>
          <p:cNvSpPr>
            <a:spLocks noGrp="1"/>
          </p:cNvSpPr>
          <p:nvPr/>
        </p:nvSpPr>
        <p:spPr>
          <a:xfrm>
            <a:off x="2235200" y="4191002"/>
            <a:ext cx="5334000" cy="384721"/>
          </a:xfrm>
          <a:prstGeom prst="rect">
            <a:avLst/>
          </a:prstGeom>
          <a:noFill/>
        </p:spPr>
        <p:txBody>
          <a:bodyPr vert="horz">
            <a:spAutoFit/>
          </a:bodyPr>
          <a:lstStyle/>
          <a:p>
            <a:r>
              <a:rPr sz="1900">
                <a:solidFill>
                  <a:srgbClr val="44546A"/>
                </a:solidFill>
                <a:latin typeface="微软雅黑"/>
                <a:ea typeface="微软雅黑"/>
                <a:cs typeface="微软雅黑"/>
              </a:rPr>
              <a:t>文献调研与判决</a:t>
            </a:r>
          </a:p>
        </p:txBody>
      </p:sp>
      <p:sp>
        <p:nvSpPr>
          <p:cNvPr id="12" name="矩形 11">
            <a:extLst>
              <a:ext uri="{FF2B5EF4-FFF2-40B4-BE49-F238E27FC236}">
                <a16:creationId xmlns:a16="http://schemas.microsoft.com/office/drawing/2014/main" id="{EFB672A6-AF06-423E-9DC9-17F6CB8432E6}"/>
              </a:ext>
            </a:extLst>
          </p:cNvPr>
          <p:cNvSpPr>
            <a:spLocks noGrp="1"/>
          </p:cNvSpPr>
          <p:nvPr/>
        </p:nvSpPr>
        <p:spPr>
          <a:xfrm>
            <a:off x="1143000" y="4927600"/>
            <a:ext cx="812800" cy="508000"/>
          </a:xfrm>
          <a:prstGeom prst="rect">
            <a:avLst/>
          </a:prstGeom>
          <a:solidFill>
            <a:srgbClr val="D9E2F3"/>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rgbClr val="1F3864"/>
                </a:solidFill>
              </a:rPr>
              <a:t>05</a:t>
            </a:r>
          </a:p>
        </p:txBody>
      </p:sp>
      <p:sp>
        <p:nvSpPr>
          <p:cNvPr id="13" name="文本框 12">
            <a:extLst>
              <a:ext uri="{FF2B5EF4-FFF2-40B4-BE49-F238E27FC236}">
                <a16:creationId xmlns:a16="http://schemas.microsoft.com/office/drawing/2014/main" id="{21F840A7-E977-426A-AA07-50999C1ADA02}"/>
              </a:ext>
            </a:extLst>
          </p:cNvPr>
          <p:cNvSpPr>
            <a:spLocks noGrp="1"/>
          </p:cNvSpPr>
          <p:nvPr/>
        </p:nvSpPr>
        <p:spPr>
          <a:xfrm>
            <a:off x="2235200" y="4978402"/>
            <a:ext cx="5334000" cy="384721"/>
          </a:xfrm>
          <a:prstGeom prst="rect">
            <a:avLst/>
          </a:prstGeom>
          <a:noFill/>
        </p:spPr>
        <p:txBody>
          <a:bodyPr vert="horz">
            <a:spAutoFit/>
          </a:bodyPr>
          <a:lstStyle/>
          <a:p>
            <a:r>
              <a:rPr sz="1900">
                <a:solidFill>
                  <a:srgbClr val="44546A"/>
                </a:solidFill>
                <a:latin typeface="微软雅黑"/>
                <a:ea typeface="微软雅黑"/>
                <a:cs typeface="微软雅黑"/>
              </a:rPr>
              <a:t>前端结构与原理</a:t>
            </a:r>
          </a:p>
        </p:txBody>
      </p:sp>
      <p:sp>
        <p:nvSpPr>
          <p:cNvPr id="14" name="矩形 13">
            <a:extLst>
              <a:ext uri="{FF2B5EF4-FFF2-40B4-BE49-F238E27FC236}">
                <a16:creationId xmlns:a16="http://schemas.microsoft.com/office/drawing/2014/main" id="{D0939693-3924-4C2F-B00B-9AE5596DF850}"/>
              </a:ext>
            </a:extLst>
          </p:cNvPr>
          <p:cNvSpPr>
            <a:spLocks noGrp="1"/>
          </p:cNvSpPr>
          <p:nvPr/>
        </p:nvSpPr>
        <p:spPr>
          <a:xfrm>
            <a:off x="1143000" y="5715000"/>
            <a:ext cx="812800" cy="508000"/>
          </a:xfrm>
          <a:prstGeom prst="rect">
            <a:avLst/>
          </a:prstGeom>
          <a:solidFill>
            <a:srgbClr val="D9E2F3"/>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b="1">
                <a:solidFill>
                  <a:srgbClr val="1F3864"/>
                </a:solidFill>
              </a:rPr>
              <a:t>06</a:t>
            </a:r>
          </a:p>
        </p:txBody>
      </p:sp>
      <p:sp>
        <p:nvSpPr>
          <p:cNvPr id="15" name="文本框 14">
            <a:extLst>
              <a:ext uri="{FF2B5EF4-FFF2-40B4-BE49-F238E27FC236}">
                <a16:creationId xmlns:a16="http://schemas.microsoft.com/office/drawing/2014/main" id="{FDD26771-3C5A-447D-BA4E-153A33BDB21B}"/>
              </a:ext>
            </a:extLst>
          </p:cNvPr>
          <p:cNvSpPr>
            <a:spLocks noGrp="1"/>
          </p:cNvSpPr>
          <p:nvPr/>
        </p:nvSpPr>
        <p:spPr>
          <a:xfrm>
            <a:off x="2235200" y="5765802"/>
            <a:ext cx="5334000" cy="384721"/>
          </a:xfrm>
          <a:prstGeom prst="rect">
            <a:avLst/>
          </a:prstGeom>
          <a:noFill/>
        </p:spPr>
        <p:txBody>
          <a:bodyPr vert="horz">
            <a:spAutoFit/>
          </a:bodyPr>
          <a:lstStyle/>
          <a:p>
            <a:r>
              <a:rPr sz="1900">
                <a:solidFill>
                  <a:srgbClr val="44546A"/>
                </a:solidFill>
                <a:latin typeface="微软雅黑"/>
                <a:ea typeface="微软雅黑"/>
                <a:cs typeface="微软雅黑"/>
              </a:rPr>
              <a:t>未来职业规划</a:t>
            </a:r>
          </a:p>
        </p:txBody>
      </p:sp>
    </p:spTree>
    <p:extLst>
      <p:ext uri="{BB962C8B-B14F-4D97-AF65-F5344CB8AC3E}">
        <p14:creationId xmlns:p14="http://schemas.microsoft.com/office/powerpoint/2010/main" val="2157990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62000" y="431800"/>
            <a:ext cx="3810000" cy="553998"/>
          </a:xfrm>
          <a:prstGeom prst="rect">
            <a:avLst/>
          </a:prstGeom>
          <a:noFill/>
        </p:spPr>
        <p:txBody>
          <a:bodyPr vert="horz" rtlCol="0">
            <a:spAutoFit/>
          </a:bodyPr>
          <a:lstStyle/>
          <a:p>
            <a:r>
              <a:rPr lang="zh-CN" altLang="en-US" sz="3000" b="1">
                <a:solidFill>
                  <a:srgbClr val="1F3864"/>
                </a:solidFill>
                <a:latin typeface="微软雅黑" panose="020B0503020204020204" pitchFamily="34" charset="-122"/>
                <a:ea typeface="微软雅黑" panose="020B0503020204020204" pitchFamily="34" charset="-122"/>
              </a:rPr>
              <a:t>提  纲</a:t>
            </a:r>
          </a:p>
        </p:txBody>
      </p:sp>
      <p:sp>
        <p:nvSpPr>
          <p:cNvPr id="3" name="矩形 2"/>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1143000" y="17780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FFFFFF"/>
                </a:solidFill>
                <a:ea typeface="微软雅黑" panose="020B0503020204020204" pitchFamily="34" charset="-122"/>
              </a:rPr>
              <a:t>01</a:t>
            </a:r>
            <a:endParaRPr lang="zh-CN" altLang="en-US" b="1">
              <a:solidFill>
                <a:srgbClr val="FFFFFF"/>
              </a:solidFill>
              <a:ea typeface="微软雅黑" panose="020B0503020204020204" pitchFamily="34" charset="-122"/>
            </a:endParaRPr>
          </a:p>
        </p:txBody>
      </p:sp>
      <p:sp>
        <p:nvSpPr>
          <p:cNvPr id="5" name="文本框 4"/>
          <p:cNvSpPr txBox="1"/>
          <p:nvPr/>
        </p:nvSpPr>
        <p:spPr>
          <a:xfrm>
            <a:off x="2235200" y="1828800"/>
            <a:ext cx="5334000" cy="415498"/>
          </a:xfrm>
          <a:prstGeom prst="rect">
            <a:avLst/>
          </a:prstGeom>
          <a:noFill/>
        </p:spPr>
        <p:txBody>
          <a:bodyPr vert="horz" rtlCol="0">
            <a:spAutoFit/>
          </a:bodyPr>
          <a:lstStyle/>
          <a:p>
            <a:r>
              <a:rPr lang="zh-CN" altLang="en-US" sz="2100" b="1" dirty="0">
                <a:solidFill>
                  <a:srgbClr val="ED7D31"/>
                </a:solidFill>
                <a:latin typeface="微软雅黑" panose="020B0503020204020204" pitchFamily="34" charset="-122"/>
                <a:ea typeface="微软雅黑" panose="020B0503020204020204" pitchFamily="34" charset="-122"/>
              </a:rPr>
              <a:t>数据协议与构建</a:t>
            </a:r>
          </a:p>
        </p:txBody>
      </p:sp>
      <p:sp>
        <p:nvSpPr>
          <p:cNvPr id="6" name="矩形 5"/>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02</a:t>
            </a:r>
            <a:endParaRPr lang="zh-CN" altLang="en-US" b="1">
              <a:solidFill>
                <a:srgbClr val="1F3864"/>
              </a:solidFill>
              <a:ea typeface="微软雅黑" panose="020B0503020204020204" pitchFamily="34" charset="-122"/>
            </a:endParaRPr>
          </a:p>
        </p:txBody>
      </p:sp>
      <p:sp>
        <p:nvSpPr>
          <p:cNvPr id="7" name="文本框 6"/>
          <p:cNvSpPr txBox="1"/>
          <p:nvPr/>
        </p:nvSpPr>
        <p:spPr>
          <a:xfrm>
            <a:off x="2235200" y="26162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数据可信性</a:t>
            </a:r>
            <a:r>
              <a:rPr lang="en-US" altLang="zh-CN" sz="1900" dirty="0">
                <a:solidFill>
                  <a:srgbClr val="44546A"/>
                </a:solidFill>
                <a:latin typeface="微软雅黑" panose="020B0503020204020204" pitchFamily="34" charset="-122"/>
                <a:ea typeface="微软雅黑" panose="020B0503020204020204" pitchFamily="34" charset="-122"/>
              </a:rPr>
              <a:t>-</a:t>
            </a:r>
            <a:r>
              <a:rPr lang="zh-CN" altLang="en-US" sz="1900" dirty="0">
                <a:solidFill>
                  <a:srgbClr val="44546A"/>
                </a:solidFill>
                <a:latin typeface="微软雅黑" panose="020B0503020204020204" pitchFamily="34" charset="-122"/>
                <a:ea typeface="微软雅黑" panose="020B0503020204020204" pitchFamily="34" charset="-122"/>
              </a:rPr>
              <a:t>泄露性检查</a:t>
            </a:r>
          </a:p>
        </p:txBody>
      </p:sp>
      <p:sp>
        <p:nvSpPr>
          <p:cNvPr id="8" name="矩形 7"/>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03</a:t>
            </a:r>
            <a:endParaRPr lang="zh-CN" altLang="en-US" b="1">
              <a:solidFill>
                <a:srgbClr val="1F3864"/>
              </a:solidFill>
              <a:ea typeface="微软雅黑" panose="020B0503020204020204" pitchFamily="34" charset="-122"/>
            </a:endParaRPr>
          </a:p>
        </p:txBody>
      </p:sp>
      <p:sp>
        <p:nvSpPr>
          <p:cNvPr id="9" name="文本框 8"/>
          <p:cNvSpPr txBox="1"/>
          <p:nvPr/>
        </p:nvSpPr>
        <p:spPr>
          <a:xfrm>
            <a:off x="2235200" y="34036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统一评测协议构建</a:t>
            </a:r>
          </a:p>
        </p:txBody>
      </p:sp>
      <p:sp>
        <p:nvSpPr>
          <p:cNvPr id="10" name="矩形 9"/>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04</a:t>
            </a:r>
            <a:endParaRPr lang="zh-CN" altLang="en-US" b="1">
              <a:solidFill>
                <a:srgbClr val="1F3864"/>
              </a:solidFill>
              <a:ea typeface="微软雅黑" panose="020B0503020204020204" pitchFamily="34" charset="-122"/>
            </a:endParaRPr>
          </a:p>
        </p:txBody>
      </p:sp>
      <p:sp>
        <p:nvSpPr>
          <p:cNvPr id="11" name="文本框 10"/>
          <p:cNvSpPr txBox="1"/>
          <p:nvPr/>
        </p:nvSpPr>
        <p:spPr>
          <a:xfrm>
            <a:off x="2235200" y="41910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文献调研与判决</a:t>
            </a:r>
          </a:p>
        </p:txBody>
      </p:sp>
      <p:sp>
        <p:nvSpPr>
          <p:cNvPr id="12" name="矩形 11"/>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05</a:t>
            </a:r>
            <a:endParaRPr lang="zh-CN" altLang="en-US" b="1">
              <a:solidFill>
                <a:srgbClr val="1F3864"/>
              </a:solidFill>
              <a:ea typeface="微软雅黑" panose="020B0503020204020204" pitchFamily="34" charset="-122"/>
            </a:endParaRPr>
          </a:p>
        </p:txBody>
      </p:sp>
      <p:sp>
        <p:nvSpPr>
          <p:cNvPr id="13" name="文本框 12"/>
          <p:cNvSpPr txBox="1"/>
          <p:nvPr/>
        </p:nvSpPr>
        <p:spPr>
          <a:xfrm>
            <a:off x="2235200" y="49784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前端结构与原理</a:t>
            </a:r>
          </a:p>
        </p:txBody>
      </p:sp>
      <p:sp>
        <p:nvSpPr>
          <p:cNvPr id="14" name="矩形 13"/>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06</a:t>
            </a:r>
            <a:endParaRPr lang="zh-CN" altLang="en-US" b="1">
              <a:solidFill>
                <a:srgbClr val="1F3864"/>
              </a:solidFill>
              <a:ea typeface="微软雅黑" panose="020B0503020204020204" pitchFamily="34" charset="-122"/>
            </a:endParaRPr>
          </a:p>
        </p:txBody>
      </p:sp>
      <p:sp>
        <p:nvSpPr>
          <p:cNvPr id="15" name="文本框 14"/>
          <p:cNvSpPr txBox="1"/>
          <p:nvPr/>
        </p:nvSpPr>
        <p:spPr>
          <a:xfrm>
            <a:off x="2235200" y="57658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展望与规划</a:t>
            </a:r>
          </a:p>
        </p:txBody>
      </p:sp>
      <p:sp>
        <p:nvSpPr>
          <p:cNvPr id="16" name="文本框 15"/>
          <p:cNvSpPr txBox="1"/>
          <p:nvPr/>
        </p:nvSpPr>
        <p:spPr>
          <a:xfrm>
            <a:off x="7112000" y="1905000"/>
            <a:ext cx="4064000" cy="1785104"/>
          </a:xfrm>
          <a:prstGeom prst="rect">
            <a:avLst/>
          </a:prstGeom>
          <a:noFill/>
        </p:spPr>
        <p:txBody>
          <a:bodyPr vert="horz" rtlCol="0">
            <a:spAutoFit/>
          </a:bodyPr>
          <a:lstStyle/>
          <a:p>
            <a:pPr algn="ctr"/>
            <a:r>
              <a:rPr lang="en-US" altLang="zh-CN" sz="11000" b="1">
                <a:solidFill>
                  <a:srgbClr val="E2E8F5"/>
                </a:solidFill>
                <a:latin typeface="微软雅黑" panose="020B0503020204020204" pitchFamily="34" charset="-122"/>
                <a:ea typeface="微软雅黑" panose="020B0503020204020204" pitchFamily="34" charset="-122"/>
              </a:rPr>
              <a:t>01</a:t>
            </a:r>
            <a:endParaRPr lang="zh-CN" altLang="en-US" sz="11000" b="1">
              <a:solidFill>
                <a:srgbClr val="E2E8F5"/>
              </a:solidFill>
              <a:latin typeface="微软雅黑" panose="020B0503020204020204" pitchFamily="34" charset="-122"/>
              <a:ea typeface="微软雅黑" panose="020B0503020204020204" pitchFamily="34" charset="-122"/>
            </a:endParaRPr>
          </a:p>
        </p:txBody>
      </p:sp>
      <p:sp>
        <p:nvSpPr>
          <p:cNvPr id="17" name="文本框 16"/>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微软雅黑" panose="020B0503020204020204" pitchFamily="34" charset="-122"/>
                <a:ea typeface="微软雅黑" panose="020B0503020204020204" pitchFamily="34" charset="-122"/>
              </a:rPr>
              <a:t>数据协议与构建</a:t>
            </a:r>
          </a:p>
        </p:txBody>
      </p:sp>
      <p:sp>
        <p:nvSpPr>
          <p:cNvPr id="18" name="矩形 17"/>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903263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71E64F5-0072-47D4-9CF8-7E52CF3E0D8D}"/>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八套测试语音由同一注册与 Trial 协议派生</a:t>
            </a:r>
          </a:p>
        </p:txBody>
      </p:sp>
      <p:sp>
        <p:nvSpPr>
          <p:cNvPr id="4" name="文本框 3">
            <a:extLst>
              <a:ext uri="{FF2B5EF4-FFF2-40B4-BE49-F238E27FC236}">
                <a16:creationId xmlns:a16="http://schemas.microsoft.com/office/drawing/2014/main" id="{72AEDEB8-0101-4C02-9127-E5E0A8087A13}"/>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01 数据协议与构建</a:t>
            </a:r>
          </a:p>
        </p:txBody>
      </p:sp>
      <p:sp>
        <p:nvSpPr>
          <p:cNvPr id="5" name="矩形 4">
            <a:extLst>
              <a:ext uri="{FF2B5EF4-FFF2-40B4-BE49-F238E27FC236}">
                <a16:creationId xmlns:a16="http://schemas.microsoft.com/office/drawing/2014/main" id="{E0A90F77-54DF-44BF-9054-86D57A97A58E}"/>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11" name="表格 5"/>
          <p:cNvGraphicFramePr/>
          <p:nvPr/>
        </p:nvGraphicFramePr>
        <p:xfrm>
          <a:off x="508000" y="1168400"/>
          <a:ext cx="11303000" cy="4572000"/>
        </p:xfrm>
        <a:graphic>
          <a:graphicData uri="http://schemas.openxmlformats.org/drawingml/2006/table">
            <a:tbl>
              <a:tblPr firstRow="1" bandRow="1">
                <a:tableStyleId>{5C22544A-7EE6-4342-B048-85BDC9FD1C3A}</a:tableStyleId>
              </a:tblPr>
              <a:tblGrid>
                <a:gridCol w="5651500">
                  <a:extLst>
                    <a:ext uri="{9D8B030D-6E8A-4147-A177-3AD203B41FA5}">
                      <a16:colId xmlns:a16="http://schemas.microsoft.com/office/drawing/2014/main" val="20000"/>
                    </a:ext>
                  </a:extLst>
                </a:gridCol>
                <a:gridCol w="5651500">
                  <a:extLst>
                    <a:ext uri="{9D8B030D-6E8A-4147-A177-3AD203B41FA5}">
                      <a16:colId xmlns:a16="http://schemas.microsoft.com/office/drawing/2014/main" val="20001"/>
                    </a:ext>
                  </a:extLst>
                </a:gridCol>
              </a:tblGrid>
              <a:tr h="571500">
                <a:tc>
                  <a:txBody>
                    <a:bodyPr/>
                    <a:lstStyle/>
                    <a:p>
                      <a:r>
                        <a:rPr sz="1350" b="1">
                          <a:solidFill>
                            <a:srgbClr val="FFFFFF"/>
                          </a:solidFill>
                          <a:latin typeface="微软雅黑"/>
                          <a:ea typeface="微软雅黑"/>
                          <a:cs typeface="微软雅黑"/>
                        </a:rPr>
                        <a:t>协议对象</a:t>
                      </a:r>
                    </a:p>
                  </a:txBody>
                  <a:tcPr anchor="ctr">
                    <a:solidFill>
                      <a:srgbClr val="2F5496"/>
                    </a:solidFill>
                  </a:tcPr>
                </a:tc>
                <a:tc>
                  <a:txBody>
                    <a:bodyPr/>
                    <a:lstStyle/>
                    <a:p>
                      <a:r>
                        <a:rPr sz="1350" b="1">
                          <a:solidFill>
                            <a:srgbClr val="FFFFFF"/>
                          </a:solidFill>
                          <a:latin typeface="微软雅黑"/>
                          <a:ea typeface="微软雅黑"/>
                          <a:cs typeface="微软雅黑"/>
                        </a:rPr>
                        <a:t>冻结规则 / 派生条件</a:t>
                      </a:r>
                    </a:p>
                  </a:txBody>
                  <a:tcPr anchor="ctr">
                    <a:solidFill>
                      <a:srgbClr val="2F5496"/>
                    </a:solidFill>
                  </a:tcPr>
                </a:tc>
                <a:extLst>
                  <a:ext uri="{0D108BD9-81ED-4DB2-BD59-A6C34878D82A}">
                    <a16:rowId xmlns:a16="http://schemas.microsoft.com/office/drawing/2014/main" val="10000"/>
                  </a:ext>
                </a:extLst>
              </a:tr>
              <a:tr h="571500">
                <a:tc>
                  <a:txBody>
                    <a:bodyPr/>
                    <a:lstStyle/>
                    <a:p>
                      <a:r>
                        <a:rPr sz="1350">
                          <a:solidFill>
                            <a:srgbClr val="333333"/>
                          </a:solidFill>
                          <a:latin typeface="微软雅黑"/>
                          <a:ea typeface="微软雅黑"/>
                          <a:cs typeface="微软雅黑"/>
                        </a:rPr>
                        <a:t>主数据源</a:t>
                      </a:r>
                    </a:p>
                  </a:txBody>
                  <a:tcPr anchor="ctr">
                    <a:solidFill>
                      <a:srgbClr val="FFFFFF"/>
                    </a:solidFill>
                  </a:tcPr>
                </a:tc>
                <a:tc>
                  <a:txBody>
                    <a:bodyPr/>
                    <a:lstStyle/>
                    <a:p>
                      <a:r>
                        <a:rPr sz="1350">
                          <a:solidFill>
                            <a:srgbClr val="333333"/>
                          </a:solidFill>
                          <a:latin typeface="微软雅黑"/>
                          <a:ea typeface="微软雅黑"/>
                          <a:cs typeface="微软雅黑"/>
                        </a:rPr>
                        <a:t>3D-Speaker 中文测试集:240 人,18,782 条</a:t>
                      </a:r>
                    </a:p>
                  </a:txBody>
                  <a:tcPr anchor="ctr">
                    <a:solidFill>
                      <a:srgbClr val="FFFFFF"/>
                    </a:solidFill>
                  </a:tcPr>
                </a:tc>
                <a:extLst>
                  <a:ext uri="{0D108BD9-81ED-4DB2-BD59-A6C34878D82A}">
                    <a16:rowId xmlns:a16="http://schemas.microsoft.com/office/drawing/2014/main" val="10001"/>
                  </a:ext>
                </a:extLst>
              </a:tr>
              <a:tr h="571500">
                <a:tc>
                  <a:txBody>
                    <a:bodyPr/>
                    <a:lstStyle/>
                    <a:p>
                      <a:r>
                        <a:rPr sz="1350">
                          <a:solidFill>
                            <a:srgbClr val="333333"/>
                          </a:solidFill>
                          <a:latin typeface="微软雅黑"/>
                          <a:ea typeface="微软雅黑"/>
                          <a:cs typeface="微软雅黑"/>
                        </a:rPr>
                        <a:t>注册与 Trial</a:t>
                      </a:r>
                    </a:p>
                  </a:txBody>
                  <a:tcPr anchor="ctr">
                    <a:solidFill>
                      <a:srgbClr val="F2F6FC"/>
                    </a:solidFill>
                  </a:tcPr>
                </a:tc>
                <a:tc>
                  <a:txBody>
                    <a:bodyPr/>
                    <a:lstStyle/>
                    <a:p>
                      <a:r>
                        <a:rPr sz="1350">
                          <a:solidFill>
                            <a:srgbClr val="333333"/>
                          </a:solidFill>
                          <a:latin typeface="微软雅黑"/>
                          <a:ea typeface="微软雅黑"/>
                          <a:cs typeface="微软雅黑"/>
                        </a:rPr>
                        <a:t>8,687 条 clean 注册;1,378,206 条 trial;正负比 1:5.5;seed=2026</a:t>
                      </a:r>
                    </a:p>
                  </a:txBody>
                  <a:tcPr anchor="ctr">
                    <a:solidFill>
                      <a:srgbClr val="F2F6FC"/>
                    </a:solidFill>
                  </a:tcPr>
                </a:tc>
                <a:extLst>
                  <a:ext uri="{0D108BD9-81ED-4DB2-BD59-A6C34878D82A}">
                    <a16:rowId xmlns:a16="http://schemas.microsoft.com/office/drawing/2014/main" val="10002"/>
                  </a:ext>
                </a:extLst>
              </a:tr>
              <a:tr h="571500">
                <a:tc>
                  <a:txBody>
                    <a:bodyPr/>
                    <a:lstStyle/>
                    <a:p>
                      <a:r>
                        <a:rPr sz="1350">
                          <a:solidFill>
                            <a:srgbClr val="333333"/>
                          </a:solidFill>
                          <a:latin typeface="微软雅黑"/>
                          <a:ea typeface="微软雅黑"/>
                          <a:cs typeface="微软雅黑"/>
                        </a:rPr>
                        <a:t>Clean</a:t>
                      </a:r>
                    </a:p>
                  </a:txBody>
                  <a:tcPr anchor="ctr">
                    <a:solidFill>
                      <a:srgbClr val="FFFFFF"/>
                    </a:solidFill>
                  </a:tcPr>
                </a:tc>
                <a:tc>
                  <a:txBody>
                    <a:bodyPr/>
                    <a:lstStyle/>
                    <a:p>
                      <a:r>
                        <a:rPr sz="1350">
                          <a:solidFill>
                            <a:srgbClr val="333333"/>
                          </a:solidFill>
                          <a:latin typeface="微软雅黑"/>
                          <a:ea typeface="微软雅黑"/>
                          <a:cs typeface="微软雅黑"/>
                        </a:rPr>
                        <a:t>1 套未增强测试语音,作为干净锚点</a:t>
                      </a:r>
                    </a:p>
                  </a:txBody>
                  <a:tcPr anchor="ctr">
                    <a:solidFill>
                      <a:srgbClr val="FFFFFF"/>
                    </a:solidFill>
                  </a:tcPr>
                </a:tc>
                <a:extLst>
                  <a:ext uri="{0D108BD9-81ED-4DB2-BD59-A6C34878D82A}">
                    <a16:rowId xmlns:a16="http://schemas.microsoft.com/office/drawing/2014/main" val="10003"/>
                  </a:ext>
                </a:extLst>
              </a:tr>
              <a:tr h="571500">
                <a:tc>
                  <a:txBody>
                    <a:bodyPr/>
                    <a:lstStyle/>
                    <a:p>
                      <a:r>
                        <a:rPr sz="1350">
                          <a:solidFill>
                            <a:srgbClr val="333333"/>
                          </a:solidFill>
                          <a:latin typeface="微软雅黑"/>
                          <a:ea typeface="微软雅黑"/>
                          <a:cs typeface="微软雅黑"/>
                        </a:rPr>
                        <a:t>单说话人噪声</a:t>
                      </a:r>
                    </a:p>
                  </a:txBody>
                  <a:tcPr anchor="ctr">
                    <a:solidFill>
                      <a:srgbClr val="F2F6FC"/>
                    </a:solidFill>
                  </a:tcPr>
                </a:tc>
                <a:tc>
                  <a:txBody>
                    <a:bodyPr/>
                    <a:lstStyle/>
                    <a:p>
                      <a:r>
                        <a:rPr sz="1350">
                          <a:solidFill>
                            <a:srgbClr val="333333"/>
                          </a:solidFill>
                          <a:latin typeface="微软雅黑"/>
                          <a:ea typeface="微软雅黑"/>
                          <a:cs typeface="微软雅黑"/>
                        </a:rPr>
                        <a:t>2 套:0 dB / -5 dB;同一噪声文件、同一起点</a:t>
                      </a:r>
                    </a:p>
                  </a:txBody>
                  <a:tcPr anchor="ctr">
                    <a:solidFill>
                      <a:srgbClr val="F2F6FC"/>
                    </a:solidFill>
                  </a:tcPr>
                </a:tc>
                <a:extLst>
                  <a:ext uri="{0D108BD9-81ED-4DB2-BD59-A6C34878D82A}">
                    <a16:rowId xmlns:a16="http://schemas.microsoft.com/office/drawing/2014/main" val="10004"/>
                  </a:ext>
                </a:extLst>
              </a:tr>
              <a:tr h="571500">
                <a:tc>
                  <a:txBody>
                    <a:bodyPr/>
                    <a:lstStyle/>
                    <a:p>
                      <a:r>
                        <a:rPr sz="1350">
                          <a:solidFill>
                            <a:srgbClr val="333333"/>
                          </a:solidFill>
                          <a:latin typeface="微软雅黑"/>
                          <a:ea typeface="微软雅黑"/>
                          <a:cs typeface="微软雅黑"/>
                        </a:rPr>
                        <a:t>回声 / 混响</a:t>
                      </a:r>
                    </a:p>
                  </a:txBody>
                  <a:tcPr anchor="ctr">
                    <a:solidFill>
                      <a:srgbClr val="FFFFFF"/>
                    </a:solidFill>
                  </a:tcPr>
                </a:tc>
                <a:tc>
                  <a:txBody>
                    <a:bodyPr/>
                    <a:lstStyle/>
                    <a:p>
                      <a:r>
                        <a:rPr sz="1350">
                          <a:solidFill>
                            <a:srgbClr val="333333"/>
                          </a:solidFill>
                          <a:latin typeface="微软雅黑"/>
                          <a:ea typeface="微软雅黑"/>
                          <a:cs typeface="微软雅黑"/>
                        </a:rPr>
                        <a:t>1 套:模拟中等房间;T60 中位 0.60 s</a:t>
                      </a:r>
                    </a:p>
                  </a:txBody>
                  <a:tcPr anchor="ctr">
                    <a:solidFill>
                      <a:srgbClr val="FFFFFF"/>
                    </a:solidFill>
                  </a:tcPr>
                </a:tc>
                <a:extLst>
                  <a:ext uri="{0D108BD9-81ED-4DB2-BD59-A6C34878D82A}">
                    <a16:rowId xmlns:a16="http://schemas.microsoft.com/office/drawing/2014/main" val="10005"/>
                  </a:ext>
                </a:extLst>
              </a:tr>
              <a:tr h="571500">
                <a:tc>
                  <a:txBody>
                    <a:bodyPr/>
                    <a:lstStyle/>
                    <a:p>
                      <a:r>
                        <a:rPr sz="1350">
                          <a:solidFill>
                            <a:srgbClr val="333333"/>
                          </a:solidFill>
                          <a:latin typeface="微软雅黑"/>
                          <a:ea typeface="微软雅黑"/>
                          <a:cs typeface="微软雅黑"/>
                        </a:rPr>
                        <a:t>中文重叠</a:t>
                      </a:r>
                    </a:p>
                  </a:txBody>
                  <a:tcPr anchor="ctr">
                    <a:solidFill>
                      <a:srgbClr val="F2F6FC"/>
                    </a:solidFill>
                  </a:tcPr>
                </a:tc>
                <a:tc>
                  <a:txBody>
                    <a:bodyPr/>
                    <a:lstStyle/>
                    <a:p>
                      <a:r>
                        <a:rPr sz="1350">
                          <a:solidFill>
                            <a:srgbClr val="333333"/>
                          </a:solidFill>
                          <a:latin typeface="微软雅黑"/>
                          <a:ea typeface="微软雅黑"/>
                          <a:cs typeface="微软雅黑"/>
                        </a:rPr>
                        <a:t>2 套:二人 / 三人;B、C 角色提供干扰语音并记录 TIR</a:t>
                      </a:r>
                    </a:p>
                  </a:txBody>
                  <a:tcPr anchor="ctr">
                    <a:solidFill>
                      <a:srgbClr val="F2F6FC"/>
                    </a:solidFill>
                  </a:tcPr>
                </a:tc>
                <a:extLst>
                  <a:ext uri="{0D108BD9-81ED-4DB2-BD59-A6C34878D82A}">
                    <a16:rowId xmlns:a16="http://schemas.microsoft.com/office/drawing/2014/main" val="10006"/>
                  </a:ext>
                </a:extLst>
              </a:tr>
              <a:tr h="571500">
                <a:tc>
                  <a:txBody>
                    <a:bodyPr/>
                    <a:lstStyle/>
                    <a:p>
                      <a:r>
                        <a:rPr sz="1350">
                          <a:solidFill>
                            <a:srgbClr val="333333"/>
                          </a:solidFill>
                          <a:latin typeface="微软雅黑"/>
                          <a:ea typeface="微软雅黑"/>
                          <a:cs typeface="微软雅黑"/>
                        </a:rPr>
                        <a:t>英文重叠</a:t>
                      </a:r>
                    </a:p>
                  </a:txBody>
                  <a:tcPr anchor="ctr">
                    <a:solidFill>
                      <a:srgbClr val="FFFFFF"/>
                    </a:solidFill>
                  </a:tcPr>
                </a:tc>
                <a:tc>
                  <a:txBody>
                    <a:bodyPr/>
                    <a:lstStyle/>
                    <a:p>
                      <a:r>
                        <a:rPr sz="1350">
                          <a:solidFill>
                            <a:srgbClr val="333333"/>
                          </a:solidFill>
                          <a:latin typeface="微软雅黑"/>
                          <a:ea typeface="微软雅黑"/>
                          <a:cs typeface="微软雅黑"/>
                        </a:rPr>
                        <a:t>2 套:二人 / 三人;E、F 角色提供干扰语音并记录 TIR</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7" name="矩形 6">
            <a:extLst>
              <a:ext uri="{FF2B5EF4-FFF2-40B4-BE49-F238E27FC236}">
                <a16:creationId xmlns:a16="http://schemas.microsoft.com/office/drawing/2014/main" id="{1B4C98D4-EFB0-8CA7-0187-2370250D895A}"/>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2969041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3E496632-9A6D-A815-937C-E9731A471E2F}"/>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八套测试语音由同一注册与 Trial 协议派生</a:t>
            </a:r>
          </a:p>
        </p:txBody>
      </p:sp>
      <p:sp>
        <p:nvSpPr>
          <p:cNvPr id="4" name="文本框 3">
            <a:extLst>
              <a:ext uri="{FF2B5EF4-FFF2-40B4-BE49-F238E27FC236}">
                <a16:creationId xmlns:a16="http://schemas.microsoft.com/office/drawing/2014/main" id="{3918F8DF-D73D-4E54-27E3-F7F949623FE0}"/>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01 数据协议与构建</a:t>
            </a:r>
          </a:p>
        </p:txBody>
      </p:sp>
      <p:sp>
        <p:nvSpPr>
          <p:cNvPr id="5" name="矩形 4">
            <a:extLst>
              <a:ext uri="{FF2B5EF4-FFF2-40B4-BE49-F238E27FC236}">
                <a16:creationId xmlns:a16="http://schemas.microsoft.com/office/drawing/2014/main" id="{5D8384E7-F8E4-B6D1-E9D8-5961580B6270}"/>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11" name="表格 5"/>
          <p:cNvGraphicFramePr/>
          <p:nvPr/>
        </p:nvGraphicFramePr>
        <p:xfrm>
          <a:off x="508001" y="1168400"/>
          <a:ext cx="11303001" cy="2857500"/>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571500">
                <a:tc>
                  <a:txBody>
                    <a:bodyPr/>
                    <a:lstStyle/>
                    <a:p>
                      <a:pPr algn="l">
                        <a:lnSpc>
                          <a:spcPct val="138889"/>
                        </a:lnSpc>
                        <a:buNone/>
                      </a:pPr>
                      <a:r>
                        <a:rPr sz="1350">
                          <a:solidFill>
                            <a:schemeClr val="bg1"/>
                          </a:solidFill>
                          <a:latin typeface="微软雅黑"/>
                          <a:ea typeface="微软雅黑"/>
                          <a:cs typeface="微软雅黑"/>
                        </a:rPr>
                        <a:t>角色</a:t>
                      </a:r>
                    </a:p>
                  </a:txBody>
                  <a:tcPr marR="50800" marT="31750" marB="31750" anchor="ctr">
                    <a:solidFill>
                      <a:srgbClr val="2F5496"/>
                    </a:solidFill>
                  </a:tcPr>
                </a:tc>
                <a:tc>
                  <a:txBody>
                    <a:bodyPr/>
                    <a:lstStyle/>
                    <a:p>
                      <a:pPr algn="l">
                        <a:lnSpc>
                          <a:spcPct val="138889"/>
                        </a:lnSpc>
                        <a:buNone/>
                      </a:pPr>
                      <a:r>
                        <a:rPr sz="1350">
                          <a:solidFill>
                            <a:schemeClr val="bg1"/>
                          </a:solidFill>
                          <a:latin typeface="微软雅黑"/>
                          <a:ea typeface="微软雅黑"/>
                          <a:cs typeface="微软雅黑"/>
                        </a:rPr>
                        <a:t>数量</a:t>
                      </a:r>
                    </a:p>
                  </a:txBody>
                  <a:tcPr marL="50800" marR="50800" marT="31750" marB="31750" anchor="ctr">
                    <a:solidFill>
                      <a:srgbClr val="2F5496"/>
                    </a:solidFill>
                  </a:tcPr>
                </a:tc>
                <a:tc>
                  <a:txBody>
                    <a:bodyPr/>
                    <a:lstStyle/>
                    <a:p>
                      <a:pPr algn="l">
                        <a:lnSpc>
                          <a:spcPct val="138889"/>
                        </a:lnSpc>
                        <a:buNone/>
                      </a:pPr>
                      <a:r>
                        <a:rPr sz="1350">
                          <a:solidFill>
                            <a:schemeClr val="bg1"/>
                          </a:solidFill>
                          <a:latin typeface="微软雅黑"/>
                          <a:ea typeface="微软雅黑"/>
                          <a:cs typeface="微软雅黑"/>
                        </a:rPr>
                        <a:t>用途</a:t>
                      </a:r>
                    </a:p>
                  </a:txBody>
                  <a:tcPr marL="50800" marR="50800" marT="31750" marB="31750" anchor="ctr">
                    <a:solidFill>
                      <a:srgbClr val="2F5496"/>
                    </a:solidFill>
                  </a:tcPr>
                </a:tc>
                <a:extLst>
                  <a:ext uri="{0D108BD9-81ED-4DB2-BD59-A6C34878D82A}">
                    <a16:rowId xmlns:a16="http://schemas.microsoft.com/office/drawing/2014/main" val="10000"/>
                  </a:ext>
                </a:extLst>
              </a:tr>
              <a:tr h="571500">
                <a:tc>
                  <a:txBody>
                    <a:bodyPr/>
                    <a:lstStyle/>
                    <a:p>
                      <a:pPr>
                        <a:lnSpc>
                          <a:spcPct val="138889"/>
                        </a:lnSpc>
                        <a:buNone/>
                      </a:pPr>
                      <a:r>
                        <a:rPr sz="1350">
                          <a:solidFill>
                            <a:srgbClr val="333333"/>
                          </a:solidFill>
                          <a:latin typeface="微软雅黑"/>
                          <a:ea typeface="微软雅黑"/>
                          <a:cs typeface="微软雅黑"/>
                        </a:rPr>
                        <a:t>A</a:t>
                      </a:r>
                      <a:endParaRPr sz="1350" kern="1200">
                        <a:solidFill>
                          <a:srgbClr val="333333"/>
                        </a:solidFill>
                        <a:latin typeface="微软雅黑"/>
                        <a:ea typeface="微软雅黑"/>
                        <a:cs typeface="微软雅黑"/>
                      </a:endParaRPr>
                    </a:p>
                  </a:txBody>
                  <a:tcPr marR="50800" marT="31750" marB="31750" anchor="ctr">
                    <a:solidFill>
                      <a:srgbClr val="FFFFFF"/>
                    </a:solidFill>
                  </a:tcPr>
                </a:tc>
                <a:tc>
                  <a:txBody>
                    <a:bodyPr/>
                    <a:lstStyle/>
                    <a:p>
                      <a:pPr>
                        <a:lnSpc>
                          <a:spcPct val="138889"/>
                        </a:lnSpc>
                        <a:buNone/>
                      </a:pPr>
                      <a:r>
                        <a:rPr sz="1350">
                          <a:solidFill>
                            <a:srgbClr val="333333"/>
                          </a:solidFill>
                          <a:latin typeface="微软雅黑"/>
                          <a:ea typeface="微软雅黑"/>
                          <a:cs typeface="微软雅黑"/>
                        </a:rPr>
                        <a:t>180人（A_dev 30 / A_eval 150）</a:t>
                      </a:r>
                    </a:p>
                  </a:txBody>
                  <a:tcPr marL="50800" marR="50800" marT="31750" marB="31750" anchor="ctr">
                    <a:solidFill>
                      <a:srgbClr val="FFFFFF"/>
                    </a:solidFill>
                  </a:tcPr>
                </a:tc>
                <a:tc>
                  <a:txBody>
                    <a:bodyPr/>
                    <a:lstStyle/>
                    <a:p>
                      <a:pPr>
                        <a:lnSpc>
                          <a:spcPct val="138889"/>
                        </a:lnSpc>
                        <a:buNone/>
                      </a:pPr>
                      <a:r>
                        <a:rPr sz="1350">
                          <a:solidFill>
                            <a:srgbClr val="333333"/>
                          </a:solidFill>
                          <a:latin typeface="微软雅黑"/>
                          <a:ea typeface="微软雅黑"/>
                          <a:cs typeface="微软雅黑"/>
                        </a:rPr>
                        <a:t>注册及正例构造</a:t>
                      </a:r>
                    </a:p>
                  </a:txBody>
                  <a:tcPr marL="50800" marT="31750" marB="31750" anchor="ctr">
                    <a:solidFill>
                      <a:srgbClr val="FFFFFF"/>
                    </a:solidFill>
                  </a:tcPr>
                </a:tc>
                <a:extLst>
                  <a:ext uri="{0D108BD9-81ED-4DB2-BD59-A6C34878D82A}">
                    <a16:rowId xmlns:a16="http://schemas.microsoft.com/office/drawing/2014/main" val="10001"/>
                  </a:ext>
                </a:extLst>
              </a:tr>
              <a:tr h="571500">
                <a:tc>
                  <a:txBody>
                    <a:bodyPr/>
                    <a:lstStyle/>
                    <a:p>
                      <a:pPr>
                        <a:lnSpc>
                          <a:spcPct val="138889"/>
                        </a:lnSpc>
                        <a:buNone/>
                      </a:pPr>
                      <a:r>
                        <a:rPr sz="1350">
                          <a:solidFill>
                            <a:srgbClr val="333333"/>
                          </a:solidFill>
                          <a:latin typeface="微软雅黑"/>
                          <a:ea typeface="微软雅黑"/>
                          <a:cs typeface="微软雅黑"/>
                        </a:rPr>
                        <a:t>D</a:t>
                      </a:r>
                      <a:endParaRPr sz="1350" kern="1200">
                        <a:solidFill>
                          <a:srgbClr val="333333"/>
                        </a:solidFill>
                        <a:latin typeface="微软雅黑"/>
                        <a:ea typeface="微软雅黑"/>
                        <a:cs typeface="微软雅黑"/>
                      </a:endParaRPr>
                    </a:p>
                  </a:txBody>
                  <a:tcPr marR="50800" marT="31750" marB="31750" anchor="ctr">
                    <a:solidFill>
                      <a:srgbClr val="F2F6FC"/>
                    </a:solidFill>
                  </a:tcPr>
                </a:tc>
                <a:tc>
                  <a:txBody>
                    <a:bodyPr/>
                    <a:lstStyle/>
                    <a:p>
                      <a:pPr>
                        <a:lnSpc>
                          <a:spcPct val="138889"/>
                        </a:lnSpc>
                        <a:buNone/>
                      </a:pPr>
                      <a:r>
                        <a:rPr sz="1350">
                          <a:solidFill>
                            <a:srgbClr val="333333"/>
                          </a:solidFill>
                          <a:latin typeface="微软雅黑"/>
                          <a:ea typeface="微软雅黑"/>
                          <a:cs typeface="微软雅黑"/>
                        </a:rPr>
                        <a:t>30人（D_dev 5 / D_eval 25）</a:t>
                      </a:r>
                    </a:p>
                  </a:txBody>
                  <a:tcPr marL="50800" marR="50800" marT="31750" marB="31750" anchor="ctr">
                    <a:solidFill>
                      <a:srgbClr val="F2F6FC"/>
                    </a:solidFill>
                  </a:tcPr>
                </a:tc>
                <a:tc>
                  <a:txBody>
                    <a:bodyPr/>
                    <a:lstStyle/>
                    <a:p>
                      <a:pPr>
                        <a:lnSpc>
                          <a:spcPct val="138889"/>
                        </a:lnSpc>
                        <a:buNone/>
                      </a:pPr>
                      <a:r>
                        <a:rPr sz="1350">
                          <a:solidFill>
                            <a:srgbClr val="333333"/>
                          </a:solidFill>
                          <a:latin typeface="微软雅黑"/>
                          <a:ea typeface="微软雅黑"/>
                          <a:cs typeface="微软雅黑"/>
                        </a:rPr>
                        <a:t>负例（冒认者）</a:t>
                      </a:r>
                    </a:p>
                  </a:txBody>
                  <a:tcPr marL="50800" marT="31750" marB="31750" anchor="ctr">
                    <a:solidFill>
                      <a:srgbClr val="F2F6FC"/>
                    </a:solidFill>
                  </a:tcPr>
                </a:tc>
                <a:extLst>
                  <a:ext uri="{0D108BD9-81ED-4DB2-BD59-A6C34878D82A}">
                    <a16:rowId xmlns:a16="http://schemas.microsoft.com/office/drawing/2014/main" val="10002"/>
                  </a:ext>
                </a:extLst>
              </a:tr>
              <a:tr h="571500">
                <a:tc>
                  <a:txBody>
                    <a:bodyPr/>
                    <a:lstStyle/>
                    <a:p>
                      <a:pPr>
                        <a:lnSpc>
                          <a:spcPct val="138889"/>
                        </a:lnSpc>
                        <a:buNone/>
                      </a:pPr>
                      <a:r>
                        <a:rPr sz="1350">
                          <a:solidFill>
                            <a:srgbClr val="333333"/>
                          </a:solidFill>
                          <a:latin typeface="微软雅黑"/>
                          <a:ea typeface="微软雅黑"/>
                          <a:cs typeface="微软雅黑"/>
                        </a:rPr>
                        <a:t>B/C：</a:t>
                      </a:r>
                    </a:p>
                  </a:txBody>
                  <a:tcPr marR="50800" marT="31750" marB="31750" anchor="ctr">
                    <a:solidFill>
                      <a:srgbClr val="FFFFFF"/>
                    </a:solidFill>
                  </a:tcPr>
                </a:tc>
                <a:tc>
                  <a:txBody>
                    <a:bodyPr/>
                    <a:lstStyle/>
                    <a:p>
                      <a:pPr>
                        <a:lnSpc>
                          <a:spcPct val="138889"/>
                        </a:lnSpc>
                        <a:buNone/>
                      </a:pPr>
                      <a:r>
                        <a:rPr sz="1350">
                          <a:solidFill>
                            <a:srgbClr val="333333"/>
                          </a:solidFill>
                          <a:latin typeface="微软雅黑"/>
                          <a:ea typeface="微软雅黑"/>
                          <a:cs typeface="微软雅黑"/>
                        </a:rPr>
                        <a:t>各约30人</a:t>
                      </a:r>
                    </a:p>
                  </a:txBody>
                  <a:tcPr marL="50800" marR="50800" marT="31750" marB="31750" anchor="ctr">
                    <a:solidFill>
                      <a:srgbClr val="FFFFFF"/>
                    </a:solidFill>
                  </a:tcPr>
                </a:tc>
                <a:tc>
                  <a:txBody>
                    <a:bodyPr/>
                    <a:lstStyle/>
                    <a:p>
                      <a:pPr>
                        <a:lnSpc>
                          <a:spcPct val="138889"/>
                        </a:lnSpc>
                        <a:buNone/>
                      </a:pPr>
                      <a:r>
                        <a:rPr sz="1350">
                          <a:solidFill>
                            <a:srgbClr val="333333"/>
                          </a:solidFill>
                          <a:latin typeface="微软雅黑"/>
                          <a:ea typeface="微软雅黑"/>
                          <a:cs typeface="微软雅黑"/>
                        </a:rPr>
                        <a:t>中文重叠干扰</a:t>
                      </a:r>
                    </a:p>
                  </a:txBody>
                  <a:tcPr marL="50800" marT="31750" marB="31750" anchor="ctr">
                    <a:solidFill>
                      <a:srgbClr val="FFFFFF"/>
                    </a:solidFill>
                  </a:tcPr>
                </a:tc>
                <a:extLst>
                  <a:ext uri="{0D108BD9-81ED-4DB2-BD59-A6C34878D82A}">
                    <a16:rowId xmlns:a16="http://schemas.microsoft.com/office/drawing/2014/main" val="10003"/>
                  </a:ext>
                </a:extLst>
              </a:tr>
              <a:tr h="571500">
                <a:tc>
                  <a:txBody>
                    <a:bodyPr/>
                    <a:lstStyle/>
                    <a:p>
                      <a:pPr>
                        <a:lnSpc>
                          <a:spcPct val="138889"/>
                        </a:lnSpc>
                        <a:buNone/>
                      </a:pPr>
                      <a:r>
                        <a:rPr sz="1350">
                          <a:solidFill>
                            <a:srgbClr val="333333"/>
                          </a:solidFill>
                          <a:latin typeface="微软雅黑"/>
                          <a:ea typeface="微软雅黑"/>
                          <a:cs typeface="微软雅黑"/>
                        </a:rPr>
                        <a:t>E/F</a:t>
                      </a:r>
                      <a:endParaRPr sz="1350" kern="1200">
                        <a:solidFill>
                          <a:srgbClr val="333333"/>
                        </a:solidFill>
                        <a:latin typeface="微软雅黑"/>
                        <a:ea typeface="微软雅黑"/>
                        <a:cs typeface="微软雅黑"/>
                      </a:endParaRPr>
                    </a:p>
                  </a:txBody>
                  <a:tcPr marR="50800" marT="31750" marB="31750" anchor="ctr">
                    <a:solidFill>
                      <a:srgbClr val="F2F6FC"/>
                    </a:solidFill>
                  </a:tcPr>
                </a:tc>
                <a:tc>
                  <a:txBody>
                    <a:bodyPr/>
                    <a:lstStyle/>
                    <a:p>
                      <a:pPr>
                        <a:lnSpc>
                          <a:spcPct val="138889"/>
                        </a:lnSpc>
                        <a:buNone/>
                      </a:pPr>
                      <a:r>
                        <a:rPr sz="1350">
                          <a:solidFill>
                            <a:srgbClr val="333333"/>
                          </a:solidFill>
                          <a:latin typeface="微软雅黑"/>
                          <a:ea typeface="微软雅黑"/>
                          <a:cs typeface="微软雅黑"/>
                        </a:rPr>
                        <a:t>各约30人</a:t>
                      </a:r>
                    </a:p>
                  </a:txBody>
                  <a:tcPr marL="50800" marR="50800" marT="31750" marB="31750" anchor="ctr">
                    <a:solidFill>
                      <a:srgbClr val="F2F6FC"/>
                    </a:solidFill>
                  </a:tcPr>
                </a:tc>
                <a:tc>
                  <a:txBody>
                    <a:bodyPr/>
                    <a:lstStyle/>
                    <a:p>
                      <a:pPr>
                        <a:lnSpc>
                          <a:spcPct val="138889"/>
                        </a:lnSpc>
                        <a:buNone/>
                      </a:pPr>
                      <a:r>
                        <a:rPr sz="1350">
                          <a:solidFill>
                            <a:srgbClr val="333333"/>
                          </a:solidFill>
                          <a:latin typeface="微软雅黑"/>
                          <a:ea typeface="微软雅黑"/>
                          <a:cs typeface="微软雅黑"/>
                        </a:rPr>
                        <a:t>英文重叠干扰</a:t>
                      </a:r>
                    </a:p>
                  </a:txBody>
                  <a:tcPr marL="50800" marT="31750" marB="31750" anchor="ctr">
                    <a:solidFill>
                      <a:srgbClr val="F2F6FC"/>
                    </a:solidFill>
                  </a:tcPr>
                </a:tc>
                <a:extLst>
                  <a:ext uri="{0D108BD9-81ED-4DB2-BD59-A6C34878D82A}">
                    <a16:rowId xmlns:a16="http://schemas.microsoft.com/office/drawing/2014/main" val="10004"/>
                  </a:ext>
                </a:extLst>
              </a:tr>
            </a:tbl>
          </a:graphicData>
        </a:graphic>
      </p:graphicFrame>
      <p:sp>
        <p:nvSpPr>
          <p:cNvPr id="7" name="矩形 6">
            <a:extLst>
              <a:ext uri="{FF2B5EF4-FFF2-40B4-BE49-F238E27FC236}">
                <a16:creationId xmlns:a16="http://schemas.microsoft.com/office/drawing/2014/main" id="{33646D24-A1D2-FE2B-DD50-D5C3CE2EE251}"/>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9454625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22A63-2563-52D7-C9F8-9FD8E31E8045}"/>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27D93EDE-D012-FF7A-EBFC-262E7F151C4C}"/>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噪声与多人重叠均按功率标尺合成,并同步记录 SNR / TIR</a:t>
            </a:r>
          </a:p>
        </p:txBody>
      </p:sp>
      <p:sp>
        <p:nvSpPr>
          <p:cNvPr id="4" name="文本框 3">
            <a:extLst>
              <a:ext uri="{FF2B5EF4-FFF2-40B4-BE49-F238E27FC236}">
                <a16:creationId xmlns:a16="http://schemas.microsoft.com/office/drawing/2014/main" id="{7CCB82D7-860B-02E2-5E7B-7645C8777785}"/>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01 数据协议与构建</a:t>
            </a:r>
          </a:p>
        </p:txBody>
      </p:sp>
      <p:sp>
        <p:nvSpPr>
          <p:cNvPr id="5" name="矩形 4">
            <a:extLst>
              <a:ext uri="{FF2B5EF4-FFF2-40B4-BE49-F238E27FC236}">
                <a16:creationId xmlns:a16="http://schemas.microsoft.com/office/drawing/2014/main" id="{441DB246-D6E4-132B-14D6-7797A39D959C}"/>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38" name="表格 5">
            <a:extLst>
              <a:ext uri="{FF2B5EF4-FFF2-40B4-BE49-F238E27FC236}">
                <a16:creationId xmlns:a16="http://schemas.microsoft.com/office/drawing/2014/main" id="{0D3C140E-918D-7B58-9619-4A6249A1CBA0}"/>
              </a:ext>
            </a:extLst>
          </p:cNvPr>
          <p:cNvGraphicFramePr/>
          <p:nvPr/>
        </p:nvGraphicFramePr>
        <p:xfrm>
          <a:off x="-15240000" y="-8572500"/>
          <a:ext cx="11303000" cy="4572000"/>
        </p:xfrm>
        <a:graphic>
          <a:graphicData uri="http://schemas.openxmlformats.org/drawingml/2006/table">
            <a:tbl>
              <a:tblPr firstRow="1" bandRow="1">
                <a:tableStyleId>{5C22544A-7EE6-4342-B048-85BDC9FD1C3A}</a:tableStyleId>
              </a:tblPr>
              <a:tblGrid>
                <a:gridCol w="5651500">
                  <a:extLst>
                    <a:ext uri="{9D8B030D-6E8A-4147-A177-3AD203B41FA5}">
                      <a16:colId xmlns:a16="http://schemas.microsoft.com/office/drawing/2014/main" val="20000"/>
                    </a:ext>
                  </a:extLst>
                </a:gridCol>
                <a:gridCol w="5651500">
                  <a:extLst>
                    <a:ext uri="{9D8B030D-6E8A-4147-A177-3AD203B41FA5}">
                      <a16:colId xmlns:a16="http://schemas.microsoft.com/office/drawing/2014/main" val="20001"/>
                    </a:ext>
                  </a:extLst>
                </a:gridCol>
              </a:tblGrid>
              <a:tr h="571500">
                <a:tc>
                  <a:txBody>
                    <a:bodyPr/>
                    <a:lstStyle/>
                    <a:p>
                      <a:r>
                        <a:rPr sz="1350" b="1">
                          <a:solidFill>
                            <a:srgbClr val="FFFFFF"/>
                          </a:solidFill>
                          <a:latin typeface="微软雅黑"/>
                          <a:ea typeface="微软雅黑"/>
                          <a:cs typeface="微软雅黑"/>
                        </a:rPr>
                        <a:t>环节</a:t>
                      </a:r>
                    </a:p>
                  </a:txBody>
                  <a:tcPr anchor="ctr">
                    <a:solidFill>
                      <a:srgbClr val="2F5496"/>
                    </a:solidFill>
                  </a:tcPr>
                </a:tc>
                <a:tc>
                  <a:txBody>
                    <a:bodyPr/>
                    <a:lstStyle/>
                    <a:p>
                      <a:r>
                        <a:rPr sz="1350" b="1">
                          <a:solidFill>
                            <a:srgbClr val="FFFFFF"/>
                          </a:solidFill>
                          <a:latin typeface="微软雅黑"/>
                          <a:ea typeface="微软雅黑"/>
                          <a:cs typeface="微软雅黑"/>
                        </a:rPr>
                        <a:t>可复现控制</a:t>
                      </a:r>
                    </a:p>
                  </a:txBody>
                  <a:tcPr anchor="ctr">
                    <a:solidFill>
                      <a:srgbClr val="2F5496"/>
                    </a:solidFill>
                  </a:tcPr>
                </a:tc>
                <a:extLst>
                  <a:ext uri="{0D108BD9-81ED-4DB2-BD59-A6C34878D82A}">
                    <a16:rowId xmlns:a16="http://schemas.microsoft.com/office/drawing/2014/main" val="10000"/>
                  </a:ext>
                </a:extLst>
              </a:tr>
              <a:tr h="571500">
                <a:tc>
                  <a:txBody>
                    <a:bodyPr/>
                    <a:lstStyle/>
                    <a:p>
                      <a:r>
                        <a:rPr sz="1350">
                          <a:solidFill>
                            <a:srgbClr val="333333"/>
                          </a:solidFill>
                          <a:latin typeface="微软雅黑"/>
                          <a:ea typeface="微软雅黑"/>
                          <a:cs typeface="微软雅黑"/>
                        </a:rPr>
                        <a:t>噪声池隔离</a:t>
                      </a:r>
                    </a:p>
                  </a:txBody>
                  <a:tcPr anchor="ctr">
                    <a:solidFill>
                      <a:srgbClr val="FFFFFF"/>
                    </a:solidFill>
                  </a:tcPr>
                </a:tc>
                <a:tc>
                  <a:txBody>
                    <a:bodyPr/>
                    <a:lstStyle/>
                    <a:p>
                      <a:r>
                        <a:rPr sz="1350">
                          <a:solidFill>
                            <a:srgbClr val="333333"/>
                          </a:solidFill>
                          <a:latin typeface="微软雅黑"/>
                          <a:ea typeface="微软雅黑"/>
                          <a:cs typeface="微软雅黑"/>
                        </a:rPr>
                        <a:t>MUSAN free-sound:训练池 615 条,测试池 168+ 条</a:t>
                      </a:r>
                    </a:p>
                  </a:txBody>
                  <a:tcPr anchor="ctr">
                    <a:solidFill>
                      <a:srgbClr val="FFFFFF"/>
                    </a:solidFill>
                  </a:tcPr>
                </a:tc>
                <a:extLst>
                  <a:ext uri="{0D108BD9-81ED-4DB2-BD59-A6C34878D82A}">
                    <a16:rowId xmlns:a16="http://schemas.microsoft.com/office/drawing/2014/main" val="10001"/>
                  </a:ext>
                </a:extLst>
              </a:tr>
              <a:tr h="571500">
                <a:tc>
                  <a:txBody>
                    <a:bodyPr/>
                    <a:lstStyle/>
                    <a:p>
                      <a:r>
                        <a:rPr sz="1350">
                          <a:solidFill>
                            <a:srgbClr val="333333"/>
                          </a:solidFill>
                          <a:latin typeface="微软雅黑"/>
                          <a:ea typeface="微软雅黑"/>
                          <a:cs typeface="微软雅黑"/>
                        </a:rPr>
                        <a:t>SNR 对照</a:t>
                      </a:r>
                    </a:p>
                  </a:txBody>
                  <a:tcPr anchor="ctr">
                    <a:solidFill>
                      <a:srgbClr val="F2F6FC"/>
                    </a:solidFill>
                  </a:tcPr>
                </a:tc>
                <a:tc>
                  <a:txBody>
                    <a:bodyPr/>
                    <a:lstStyle/>
                    <a:p>
                      <a:r>
                        <a:rPr sz="1350">
                          <a:solidFill>
                            <a:srgbClr val="333333"/>
                          </a:solidFill>
                          <a:latin typeface="微软雅黑"/>
                          <a:ea typeface="微软雅黑"/>
                          <a:cs typeface="微软雅黑"/>
                        </a:rPr>
                        <a:t>0 / -5 dB 使用同一噪声、同一位置,只改变缩放因子</a:t>
                      </a:r>
                    </a:p>
                  </a:txBody>
                  <a:tcPr anchor="ctr">
                    <a:solidFill>
                      <a:srgbClr val="F2F6FC"/>
                    </a:solidFill>
                  </a:tcPr>
                </a:tc>
                <a:extLst>
                  <a:ext uri="{0D108BD9-81ED-4DB2-BD59-A6C34878D82A}">
                    <a16:rowId xmlns:a16="http://schemas.microsoft.com/office/drawing/2014/main" val="10002"/>
                  </a:ext>
                </a:extLst>
              </a:tr>
              <a:tr h="571500">
                <a:tc>
                  <a:txBody>
                    <a:bodyPr/>
                    <a:lstStyle/>
                    <a:p>
                      <a:r>
                        <a:rPr sz="1350">
                          <a:solidFill>
                            <a:srgbClr val="333333"/>
                          </a:solidFill>
                          <a:latin typeface="微软雅黑"/>
                          <a:ea typeface="微软雅黑"/>
                          <a:cs typeface="微软雅黑"/>
                        </a:rPr>
                        <a:t>有效能量</a:t>
                      </a:r>
                    </a:p>
                  </a:txBody>
                  <a:tcPr anchor="ctr">
                    <a:solidFill>
                      <a:srgbClr val="FFFFFF"/>
                    </a:solidFill>
                  </a:tcPr>
                </a:tc>
                <a:tc>
                  <a:txBody>
                    <a:bodyPr/>
                    <a:lstStyle/>
                    <a:p>
                      <a:r>
                        <a:rPr sz="1350">
                          <a:solidFill>
                            <a:srgbClr val="333333"/>
                          </a:solidFill>
                          <a:latin typeface="微软雅黑"/>
                          <a:ea typeface="微软雅黑"/>
                          <a:cs typeface="微软雅黑"/>
                        </a:rPr>
                        <a:t>增益按 VAD 有效语音段 RMS 计算,不计静音段</a:t>
                      </a:r>
                    </a:p>
                  </a:txBody>
                  <a:tcPr anchor="ctr">
                    <a:solidFill>
                      <a:srgbClr val="FFFFFF"/>
                    </a:solidFill>
                  </a:tcPr>
                </a:tc>
                <a:extLst>
                  <a:ext uri="{0D108BD9-81ED-4DB2-BD59-A6C34878D82A}">
                    <a16:rowId xmlns:a16="http://schemas.microsoft.com/office/drawing/2014/main" val="10003"/>
                  </a:ext>
                </a:extLst>
              </a:tr>
              <a:tr h="571500">
                <a:tc>
                  <a:txBody>
                    <a:bodyPr/>
                    <a:lstStyle/>
                    <a:p>
                      <a:r>
                        <a:rPr sz="1350">
                          <a:solidFill>
                            <a:srgbClr val="333333"/>
                          </a:solidFill>
                          <a:latin typeface="微软雅黑"/>
                          <a:ea typeface="微软雅黑"/>
                          <a:cs typeface="微软雅黑"/>
                        </a:rPr>
                        <a:t>短噪声补齐</a:t>
                      </a:r>
                    </a:p>
                  </a:txBody>
                  <a:tcPr anchor="ctr">
                    <a:solidFill>
                      <a:srgbClr val="F2F6FC"/>
                    </a:solidFill>
                  </a:tcPr>
                </a:tc>
                <a:tc>
                  <a:txBody>
                    <a:bodyPr/>
                    <a:lstStyle/>
                    <a:p>
                      <a:r>
                        <a:rPr sz="1350">
                          <a:solidFill>
                            <a:srgbClr val="333333"/>
                          </a:solidFill>
                          <a:latin typeface="微软雅黑"/>
                          <a:ea typeface="微软雅黑"/>
                          <a:cs typeface="微软雅黑"/>
                        </a:rPr>
                        <a:t>噪声不足时按原顺序重复,再选取目标长度</a:t>
                      </a:r>
                    </a:p>
                  </a:txBody>
                  <a:tcPr anchor="ctr">
                    <a:solidFill>
                      <a:srgbClr val="F2F6FC"/>
                    </a:solidFill>
                  </a:tcPr>
                </a:tc>
                <a:extLst>
                  <a:ext uri="{0D108BD9-81ED-4DB2-BD59-A6C34878D82A}">
                    <a16:rowId xmlns:a16="http://schemas.microsoft.com/office/drawing/2014/main" val="10004"/>
                  </a:ext>
                </a:extLst>
              </a:tr>
              <a:tr h="571500">
                <a:tc>
                  <a:txBody>
                    <a:bodyPr/>
                    <a:lstStyle/>
                    <a:p>
                      <a:r>
                        <a:rPr sz="1350">
                          <a:solidFill>
                            <a:srgbClr val="333333"/>
                          </a:solidFill>
                          <a:latin typeface="微软雅黑"/>
                          <a:ea typeface="微软雅黑"/>
                          <a:cs typeface="微软雅黑"/>
                        </a:rPr>
                        <a:t>多人 TIR</a:t>
                      </a:r>
                    </a:p>
                  </a:txBody>
                  <a:tcPr anchor="ctr">
                    <a:solidFill>
                      <a:srgbClr val="FFFFFF"/>
                    </a:solidFill>
                  </a:tcPr>
                </a:tc>
                <a:tc>
                  <a:txBody>
                    <a:bodyPr/>
                    <a:lstStyle/>
                    <a:p>
                      <a:r>
                        <a:rPr sz="1350">
                          <a:solidFill>
                            <a:srgbClr val="333333"/>
                          </a:solidFill>
                          <a:latin typeface="微软雅黑"/>
                          <a:ea typeface="微软雅黑"/>
                          <a:cs typeface="微软雅黑"/>
                        </a:rPr>
                        <a:t>先合并干扰语音再整体缩放;TIR=0 dB 时目标与干扰等能量</a:t>
                      </a:r>
                    </a:p>
                  </a:txBody>
                  <a:tcPr anchor="ctr">
                    <a:solidFill>
                      <a:srgbClr val="FFFFFF"/>
                    </a:solidFill>
                  </a:tcPr>
                </a:tc>
                <a:extLst>
                  <a:ext uri="{0D108BD9-81ED-4DB2-BD59-A6C34878D82A}">
                    <a16:rowId xmlns:a16="http://schemas.microsoft.com/office/drawing/2014/main" val="10005"/>
                  </a:ext>
                </a:extLst>
              </a:tr>
              <a:tr h="571500">
                <a:tc>
                  <a:txBody>
                    <a:bodyPr/>
                    <a:lstStyle/>
                    <a:p>
                      <a:r>
                        <a:rPr sz="1350">
                          <a:solidFill>
                            <a:srgbClr val="333333"/>
                          </a:solidFill>
                          <a:latin typeface="微软雅黑"/>
                          <a:ea typeface="微软雅黑"/>
                          <a:cs typeface="微软雅黑"/>
                        </a:rPr>
                        <a:t>角色分配</a:t>
                      </a:r>
                    </a:p>
                  </a:txBody>
                  <a:tcPr anchor="ctr">
                    <a:solidFill>
                      <a:srgbClr val="F2F6FC"/>
                    </a:solidFill>
                  </a:tcPr>
                </a:tc>
                <a:tc>
                  <a:txBody>
                    <a:bodyPr/>
                    <a:lstStyle/>
                    <a:p>
                      <a:r>
                        <a:rPr sz="1350">
                          <a:solidFill>
                            <a:srgbClr val="333333"/>
                          </a:solidFill>
                          <a:latin typeface="微软雅黑"/>
                          <a:ea typeface="微软雅黑"/>
                          <a:cs typeface="微软雅黑"/>
                        </a:rPr>
                        <a:t>三人中文重叠分别从 B、C 池取样,防止两条干扰同人</a:t>
                      </a:r>
                    </a:p>
                  </a:txBody>
                  <a:tcPr anchor="ctr">
                    <a:solidFill>
                      <a:srgbClr val="F2F6FC"/>
                    </a:solidFill>
                  </a:tcPr>
                </a:tc>
                <a:extLst>
                  <a:ext uri="{0D108BD9-81ED-4DB2-BD59-A6C34878D82A}">
                    <a16:rowId xmlns:a16="http://schemas.microsoft.com/office/drawing/2014/main" val="10006"/>
                  </a:ext>
                </a:extLst>
              </a:tr>
              <a:tr h="571500">
                <a:tc>
                  <a:txBody>
                    <a:bodyPr/>
                    <a:lstStyle/>
                    <a:p>
                      <a:r>
                        <a:rPr sz="1350">
                          <a:solidFill>
                            <a:srgbClr val="333333"/>
                          </a:solidFill>
                          <a:latin typeface="微软雅黑"/>
                          <a:ea typeface="微软雅黑"/>
                          <a:cs typeface="微软雅黑"/>
                        </a:rPr>
                        <a:t>混响输出</a:t>
                      </a:r>
                    </a:p>
                  </a:txBody>
                  <a:tcPr anchor="ctr">
                    <a:solidFill>
                      <a:srgbClr val="FFFFFF"/>
                    </a:solidFill>
                  </a:tcPr>
                </a:tc>
                <a:tc>
                  <a:txBody>
                    <a:bodyPr/>
                    <a:lstStyle/>
                    <a:p>
                      <a:r>
                        <a:rPr sz="1350">
                          <a:solidFill>
                            <a:srgbClr val="333333"/>
                          </a:solidFill>
                          <a:latin typeface="微软雅黑"/>
                          <a:ea typeface="微软雅黑"/>
                          <a:cs typeface="微软雅黑"/>
                        </a:rPr>
                        <a:t>RIR 卷积后输出长度=原长度;记录 RIR / T60 / SNR / TIR 与 seed</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7" name="矩形: 圆角 6">
            <a:extLst>
              <a:ext uri="{FF2B5EF4-FFF2-40B4-BE49-F238E27FC236}">
                <a16:creationId xmlns:a16="http://schemas.microsoft.com/office/drawing/2014/main" id="{E4310AF8-DE20-87B0-0328-95C970193BF8}"/>
              </a:ext>
            </a:extLst>
          </p:cNvPr>
          <p:cNvSpPr>
            <a:spLocks noGrp="1"/>
          </p:cNvSpPr>
          <p:nvPr/>
        </p:nvSpPr>
        <p:spPr>
          <a:xfrm>
            <a:off x="445386" y="2774212"/>
            <a:ext cx="1143000" cy="552450"/>
          </a:xfrm>
          <a:prstGeom prst="roundRect">
            <a:avLst>
              <a:gd name="adj" fmla="val 13793"/>
            </a:avLst>
          </a:prstGeom>
          <a:solidFill>
            <a:srgbClr val="355E9E"/>
          </a:solidFill>
          <a:ln w="13335">
            <a:solidFill>
              <a:srgbClr val="355E9E"/>
            </a:solidFill>
            <a:prstDash val="solid"/>
          </a:ln>
        </p:spPr>
        <p:txBody>
          <a:bodyPr anchor="ctr"/>
          <a:lstStyle/>
          <a:p>
            <a:pPr algn="ctr">
              <a:defRPr sz="1125" b="1">
                <a:solidFill>
                  <a:srgbClr val="FFFFFF"/>
                </a:solidFill>
              </a:defRPr>
            </a:pPr>
            <a:r>
              <a:rPr lang="zh-CN" altLang="en-US" sz="1125" b="1" dirty="0">
                <a:solidFill>
                  <a:srgbClr val="FFFFFF"/>
                </a:solidFill>
              </a:rPr>
              <a:t>干净语音</a:t>
            </a:r>
            <a:r>
              <a:rPr sz="1125" b="1" dirty="0" err="1">
                <a:solidFill>
                  <a:srgbClr val="FFFFFF"/>
                </a:solidFill>
              </a:rPr>
              <a:t>合成</a:t>
            </a:r>
            <a:endParaRPr sz="1125" b="1" dirty="0">
              <a:solidFill>
                <a:srgbClr val="FFFFFF"/>
              </a:solidFill>
            </a:endParaRPr>
          </a:p>
        </p:txBody>
      </p:sp>
      <p:sp>
        <p:nvSpPr>
          <p:cNvPr id="8" name="矩形: 圆角 7">
            <a:extLst>
              <a:ext uri="{FF2B5EF4-FFF2-40B4-BE49-F238E27FC236}">
                <a16:creationId xmlns:a16="http://schemas.microsoft.com/office/drawing/2014/main" id="{8A09A28C-45DC-75BA-445D-1E59C7C76A7D}"/>
              </a:ext>
            </a:extLst>
          </p:cNvPr>
          <p:cNvSpPr>
            <a:spLocks noGrp="1"/>
          </p:cNvSpPr>
          <p:nvPr/>
        </p:nvSpPr>
        <p:spPr>
          <a:xfrm>
            <a:off x="1883663" y="2698012"/>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lang="en-US" sz="1125" dirty="0">
                <a:solidFill>
                  <a:srgbClr val="203D6B"/>
                </a:solidFill>
              </a:rPr>
              <a:t>1</a:t>
            </a:r>
            <a:r>
              <a:rPr lang="en-US" altLang="zh-CN" sz="1125" dirty="0">
                <a:solidFill>
                  <a:srgbClr val="203D6B"/>
                </a:solidFill>
              </a:rPr>
              <a:t>s</a:t>
            </a:r>
            <a:r>
              <a:rPr lang="zh-CN" altLang="en-US" sz="1125" dirty="0">
                <a:solidFill>
                  <a:srgbClr val="203D6B"/>
                </a:solidFill>
              </a:rPr>
              <a:t>、</a:t>
            </a:r>
            <a:r>
              <a:rPr lang="en-US" altLang="zh-CN" sz="1125" dirty="0">
                <a:solidFill>
                  <a:srgbClr val="203D6B"/>
                </a:solidFill>
              </a:rPr>
              <a:t>3s</a:t>
            </a:r>
            <a:r>
              <a:rPr lang="zh-CN" altLang="en-US" sz="1125" dirty="0">
                <a:solidFill>
                  <a:srgbClr val="203D6B"/>
                </a:solidFill>
              </a:rPr>
              <a:t>、</a:t>
            </a:r>
            <a:r>
              <a:rPr lang="en-US" altLang="zh-CN" sz="1125" dirty="0">
                <a:solidFill>
                  <a:srgbClr val="203D6B"/>
                </a:solidFill>
              </a:rPr>
              <a:t>5s</a:t>
            </a:r>
            <a:r>
              <a:rPr lang="zh-CN" altLang="en-US" sz="1125" dirty="0">
                <a:solidFill>
                  <a:srgbClr val="203D6B"/>
                </a:solidFill>
              </a:rPr>
              <a:t>时长</a:t>
            </a:r>
            <a:endParaRPr sz="1125" dirty="0">
              <a:solidFill>
                <a:srgbClr val="203D6B"/>
              </a:solidFill>
            </a:endParaRPr>
          </a:p>
        </p:txBody>
      </p:sp>
      <p:sp>
        <p:nvSpPr>
          <p:cNvPr id="9" name="矩形: 圆角 8">
            <a:extLst>
              <a:ext uri="{FF2B5EF4-FFF2-40B4-BE49-F238E27FC236}">
                <a16:creationId xmlns:a16="http://schemas.microsoft.com/office/drawing/2014/main" id="{EFC97A11-63B4-026F-81F5-ED3C1512F37D}"/>
              </a:ext>
            </a:extLst>
          </p:cNvPr>
          <p:cNvSpPr>
            <a:spLocks noGrp="1"/>
          </p:cNvSpPr>
          <p:nvPr/>
        </p:nvSpPr>
        <p:spPr>
          <a:xfrm>
            <a:off x="4064296" y="2698012"/>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lang="en-US" altLang="zh-CN" sz="1125" dirty="0">
                <a:solidFill>
                  <a:srgbClr val="203D6B"/>
                </a:solidFill>
              </a:rPr>
              <a:t>Vad</a:t>
            </a:r>
            <a:r>
              <a:rPr lang="zh-CN" altLang="en-US" sz="1125" dirty="0">
                <a:solidFill>
                  <a:srgbClr val="203D6B"/>
                </a:solidFill>
              </a:rPr>
              <a:t>有效语音</a:t>
            </a:r>
            <a:endParaRPr sz="1125" dirty="0">
              <a:solidFill>
                <a:srgbClr val="203D6B"/>
              </a:solidFill>
            </a:endParaRPr>
          </a:p>
        </p:txBody>
      </p:sp>
      <p:sp>
        <p:nvSpPr>
          <p:cNvPr id="10" name="矩形: 圆角 9">
            <a:extLst>
              <a:ext uri="{FF2B5EF4-FFF2-40B4-BE49-F238E27FC236}">
                <a16:creationId xmlns:a16="http://schemas.microsoft.com/office/drawing/2014/main" id="{72DFC93E-B2B6-37EA-03F4-61C11E56553B}"/>
              </a:ext>
            </a:extLst>
          </p:cNvPr>
          <p:cNvSpPr>
            <a:spLocks noGrp="1"/>
          </p:cNvSpPr>
          <p:nvPr/>
        </p:nvSpPr>
        <p:spPr>
          <a:xfrm>
            <a:off x="6112171" y="2698012"/>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lang="zh-CN" altLang="en-US" sz="1125" dirty="0">
                <a:solidFill>
                  <a:srgbClr val="203D6B"/>
                </a:solidFill>
              </a:rPr>
              <a:t>时长对齐</a:t>
            </a:r>
            <a:endParaRPr sz="1125" dirty="0">
              <a:solidFill>
                <a:srgbClr val="203D6B"/>
              </a:solidFill>
            </a:endParaRPr>
          </a:p>
        </p:txBody>
      </p:sp>
      <p:sp>
        <p:nvSpPr>
          <p:cNvPr id="12" name="矩形: 圆角 11">
            <a:extLst>
              <a:ext uri="{FF2B5EF4-FFF2-40B4-BE49-F238E27FC236}">
                <a16:creationId xmlns:a16="http://schemas.microsoft.com/office/drawing/2014/main" id="{9632AD5B-0BAE-54D3-C922-54C52A7ADE3A}"/>
              </a:ext>
            </a:extLst>
          </p:cNvPr>
          <p:cNvSpPr>
            <a:spLocks noGrp="1"/>
          </p:cNvSpPr>
          <p:nvPr/>
        </p:nvSpPr>
        <p:spPr>
          <a:xfrm>
            <a:off x="8214314" y="2698012"/>
            <a:ext cx="1524000" cy="704850"/>
          </a:xfrm>
          <a:prstGeom prst="roundRect">
            <a:avLst>
              <a:gd name="adj" fmla="val 10811"/>
            </a:avLst>
          </a:prstGeom>
          <a:solidFill>
            <a:srgbClr val="EEF7EA"/>
          </a:solidFill>
          <a:ln w="13335">
            <a:solidFill>
              <a:srgbClr val="5B9B43"/>
            </a:solidFill>
            <a:prstDash val="solid"/>
          </a:ln>
        </p:spPr>
        <p:txBody>
          <a:bodyPr anchor="ctr"/>
          <a:lstStyle/>
          <a:p>
            <a:pPr algn="ctr">
              <a:defRPr sz="1125" b="1">
                <a:solidFill>
                  <a:srgbClr val="203D6B"/>
                </a:solidFill>
              </a:defRPr>
            </a:pPr>
            <a:r>
              <a:rPr sz="1125" b="1" dirty="0" err="1">
                <a:solidFill>
                  <a:srgbClr val="203D6B"/>
                </a:solidFill>
              </a:rPr>
              <a:t>输出</a:t>
            </a:r>
            <a:endParaRPr sz="1125" b="1" dirty="0">
              <a:solidFill>
                <a:srgbClr val="203D6B"/>
              </a:solidFill>
            </a:endParaRPr>
          </a:p>
          <a:p>
            <a:pPr algn="ctr">
              <a:defRPr sz="1125" b="1">
                <a:solidFill>
                  <a:srgbClr val="203D6B"/>
                </a:solidFill>
              </a:defRPr>
            </a:pPr>
            <a:r>
              <a:rPr sz="1125" b="1" dirty="0">
                <a:solidFill>
                  <a:srgbClr val="203D6B"/>
                </a:solidFill>
              </a:rPr>
              <a:t>y = x</a:t>
            </a:r>
          </a:p>
        </p:txBody>
      </p:sp>
      <p:cxnSp>
        <p:nvCxnSpPr>
          <p:cNvPr id="45" name="直接箭头连接符 44">
            <a:extLst>
              <a:ext uri="{FF2B5EF4-FFF2-40B4-BE49-F238E27FC236}">
                <a16:creationId xmlns:a16="http://schemas.microsoft.com/office/drawing/2014/main" id="{AC9931CB-E7FE-50A3-C0C8-78C8AFE2D6C0}"/>
              </a:ext>
            </a:extLst>
          </p:cNvPr>
          <p:cNvCxnSpPr>
            <a:stCxn id="8" idx="3"/>
            <a:endCxn id="9" idx="1"/>
          </p:cNvCxnSpPr>
          <p:nvPr/>
        </p:nvCxnSpPr>
        <p:spPr>
          <a:xfrm>
            <a:off x="3550538" y="3050437"/>
            <a:ext cx="513758" cy="0"/>
          </a:xfrm>
          <a:prstGeom prst="straightConnector1">
            <a:avLst/>
          </a:prstGeom>
          <a:ln w="19050">
            <a:solidFill>
              <a:srgbClr val="64748B"/>
            </a:solidFill>
            <a:prstDash val="solid"/>
            <a:tailEnd type="triangle" w="sm" len="sm"/>
          </a:ln>
        </p:spPr>
      </p:cxnSp>
      <p:cxnSp>
        <p:nvCxnSpPr>
          <p:cNvPr id="46" name="直接箭头连接符 45">
            <a:extLst>
              <a:ext uri="{FF2B5EF4-FFF2-40B4-BE49-F238E27FC236}">
                <a16:creationId xmlns:a16="http://schemas.microsoft.com/office/drawing/2014/main" id="{A1A72BE2-5020-F3C1-56FF-9CCD1084DCB4}"/>
              </a:ext>
            </a:extLst>
          </p:cNvPr>
          <p:cNvCxnSpPr>
            <a:stCxn id="9" idx="3"/>
            <a:endCxn id="10" idx="1"/>
          </p:cNvCxnSpPr>
          <p:nvPr/>
        </p:nvCxnSpPr>
        <p:spPr>
          <a:xfrm>
            <a:off x="5731169" y="3050437"/>
            <a:ext cx="381000" cy="0"/>
          </a:xfrm>
          <a:prstGeom prst="straightConnector1">
            <a:avLst/>
          </a:prstGeom>
          <a:ln w="19050">
            <a:solidFill>
              <a:srgbClr val="64748B"/>
            </a:solidFill>
            <a:prstDash val="solid"/>
            <a:tailEnd type="triangle" w="sm" len="sm"/>
          </a:ln>
        </p:spPr>
      </p:cxnSp>
      <p:cxnSp>
        <p:nvCxnSpPr>
          <p:cNvPr id="47" name="直接箭头连接符 46">
            <a:extLst>
              <a:ext uri="{FF2B5EF4-FFF2-40B4-BE49-F238E27FC236}">
                <a16:creationId xmlns:a16="http://schemas.microsoft.com/office/drawing/2014/main" id="{F3614F6E-A58E-D9C0-DBE0-D9CD9428AC60}"/>
              </a:ext>
            </a:extLst>
          </p:cNvPr>
          <p:cNvCxnSpPr>
            <a:cxnSpLocks/>
            <a:stCxn id="10" idx="3"/>
            <a:endCxn id="12" idx="1"/>
          </p:cNvCxnSpPr>
          <p:nvPr/>
        </p:nvCxnSpPr>
        <p:spPr>
          <a:xfrm>
            <a:off x="7779046" y="3050437"/>
            <a:ext cx="435268" cy="0"/>
          </a:xfrm>
          <a:prstGeom prst="straightConnector1">
            <a:avLst/>
          </a:prstGeom>
          <a:ln w="19050">
            <a:solidFill>
              <a:srgbClr val="64748B"/>
            </a:solidFill>
            <a:prstDash val="solid"/>
            <a:tailEnd type="triangle" w="sm" len="sm"/>
          </a:ln>
        </p:spPr>
      </p:cxnSp>
      <p:sp>
        <p:nvSpPr>
          <p:cNvPr id="13" name="矩形 12">
            <a:extLst>
              <a:ext uri="{FF2B5EF4-FFF2-40B4-BE49-F238E27FC236}">
                <a16:creationId xmlns:a16="http://schemas.microsoft.com/office/drawing/2014/main" id="{C47F71B3-CBBB-5D2B-7668-1DA2AFC400E5}"/>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4" name="矩形: 圆角 53">
            <a:extLst>
              <a:ext uri="{FF2B5EF4-FFF2-40B4-BE49-F238E27FC236}">
                <a16:creationId xmlns:a16="http://schemas.microsoft.com/office/drawing/2014/main" id="{2630D66A-506A-1EA2-C57D-044EFDE7B252}"/>
              </a:ext>
            </a:extLst>
          </p:cNvPr>
          <p:cNvSpPr>
            <a:spLocks noGrp="1"/>
          </p:cNvSpPr>
          <p:nvPr/>
        </p:nvSpPr>
        <p:spPr>
          <a:xfrm>
            <a:off x="956858" y="1478370"/>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lang="en-US" altLang="zh-CN" sz="1125" dirty="0">
                <a:solidFill>
                  <a:srgbClr val="203D6B"/>
                </a:solidFill>
              </a:rPr>
              <a:t>3D-Speaker</a:t>
            </a:r>
            <a:r>
              <a:rPr lang="zh-CN" altLang="en-US" sz="1125" dirty="0">
                <a:solidFill>
                  <a:srgbClr val="203D6B"/>
                </a:solidFill>
              </a:rPr>
              <a:t>数据集语音时长在</a:t>
            </a:r>
            <a:r>
              <a:rPr lang="en-US" altLang="zh-CN" sz="1125" dirty="0">
                <a:solidFill>
                  <a:srgbClr val="203D6B"/>
                </a:solidFill>
              </a:rPr>
              <a:t>2-4s</a:t>
            </a:r>
            <a:endParaRPr sz="1125" dirty="0">
              <a:solidFill>
                <a:srgbClr val="203D6B"/>
              </a:solidFill>
            </a:endParaRPr>
          </a:p>
        </p:txBody>
      </p:sp>
      <p:sp>
        <p:nvSpPr>
          <p:cNvPr id="62" name="矩形: 圆角 61">
            <a:extLst>
              <a:ext uri="{FF2B5EF4-FFF2-40B4-BE49-F238E27FC236}">
                <a16:creationId xmlns:a16="http://schemas.microsoft.com/office/drawing/2014/main" id="{2052B735-BCC9-315C-70EB-02AFDBE93C92}"/>
              </a:ext>
            </a:extLst>
          </p:cNvPr>
          <p:cNvSpPr>
            <a:spLocks noGrp="1"/>
          </p:cNvSpPr>
          <p:nvPr/>
        </p:nvSpPr>
        <p:spPr>
          <a:xfrm>
            <a:off x="445386" y="4161761"/>
            <a:ext cx="1143000" cy="552450"/>
          </a:xfrm>
          <a:prstGeom prst="roundRect">
            <a:avLst>
              <a:gd name="adj" fmla="val 13793"/>
            </a:avLst>
          </a:prstGeom>
          <a:solidFill>
            <a:srgbClr val="355E9E"/>
          </a:solidFill>
          <a:ln w="13335">
            <a:solidFill>
              <a:srgbClr val="355E9E"/>
            </a:solidFill>
            <a:prstDash val="solid"/>
          </a:ln>
        </p:spPr>
        <p:txBody>
          <a:bodyPr anchor="ctr"/>
          <a:lstStyle/>
          <a:p>
            <a:pPr algn="ctr">
              <a:defRPr sz="1125" b="1">
                <a:solidFill>
                  <a:srgbClr val="FFFFFF"/>
                </a:solidFill>
              </a:defRPr>
            </a:pPr>
            <a:r>
              <a:rPr sz="1125" b="1">
                <a:solidFill>
                  <a:srgbClr val="FFFFFF"/>
                </a:solidFill>
              </a:rPr>
              <a:t>噪声合成</a:t>
            </a:r>
          </a:p>
        </p:txBody>
      </p:sp>
      <p:sp>
        <p:nvSpPr>
          <p:cNvPr id="63" name="矩形: 圆角 62">
            <a:extLst>
              <a:ext uri="{FF2B5EF4-FFF2-40B4-BE49-F238E27FC236}">
                <a16:creationId xmlns:a16="http://schemas.microsoft.com/office/drawing/2014/main" id="{AF1C8FEE-320A-0864-F771-389D4BDE7CD5}"/>
              </a:ext>
            </a:extLst>
          </p:cNvPr>
          <p:cNvSpPr>
            <a:spLocks noGrp="1"/>
          </p:cNvSpPr>
          <p:nvPr/>
        </p:nvSpPr>
        <p:spPr>
          <a:xfrm>
            <a:off x="1883663" y="4085561"/>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sz="1125">
                <a:solidFill>
                  <a:srgbClr val="203D6B"/>
                </a:solidFill>
              </a:rPr>
              <a:t>干净测试语音 x</a:t>
            </a:r>
          </a:p>
        </p:txBody>
      </p:sp>
      <p:sp>
        <p:nvSpPr>
          <p:cNvPr id="64" name="矩形: 圆角 63">
            <a:extLst>
              <a:ext uri="{FF2B5EF4-FFF2-40B4-BE49-F238E27FC236}">
                <a16:creationId xmlns:a16="http://schemas.microsoft.com/office/drawing/2014/main" id="{BDD83481-F860-2E86-A867-067C398DD51F}"/>
              </a:ext>
            </a:extLst>
          </p:cNvPr>
          <p:cNvSpPr>
            <a:spLocks noGrp="1"/>
          </p:cNvSpPr>
          <p:nvPr/>
        </p:nvSpPr>
        <p:spPr>
          <a:xfrm>
            <a:off x="3931538" y="4085561"/>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sz="1125">
                <a:solidFill>
                  <a:srgbClr val="203D6B"/>
                </a:solidFill>
              </a:rPr>
              <a:t>选取并定长</a:t>
            </a:r>
          </a:p>
          <a:p>
            <a:pPr algn="ctr">
              <a:defRPr sz="1125" b="0">
                <a:solidFill>
                  <a:srgbClr val="203D6B"/>
                </a:solidFill>
              </a:defRPr>
            </a:pPr>
            <a:r>
              <a:rPr sz="1125">
                <a:solidFill>
                  <a:srgbClr val="203D6B"/>
                </a:solidFill>
              </a:rPr>
              <a:t>噪声片段 n</a:t>
            </a:r>
          </a:p>
        </p:txBody>
      </p:sp>
      <p:sp>
        <p:nvSpPr>
          <p:cNvPr id="65" name="矩形: 圆角 64">
            <a:extLst>
              <a:ext uri="{FF2B5EF4-FFF2-40B4-BE49-F238E27FC236}">
                <a16:creationId xmlns:a16="http://schemas.microsoft.com/office/drawing/2014/main" id="{82278B63-1CD3-83E9-78D6-03C6122E3F70}"/>
              </a:ext>
            </a:extLst>
          </p:cNvPr>
          <p:cNvSpPr>
            <a:spLocks noGrp="1"/>
          </p:cNvSpPr>
          <p:nvPr/>
        </p:nvSpPr>
        <p:spPr>
          <a:xfrm>
            <a:off x="5979413" y="4085561"/>
            <a:ext cx="1666875" cy="704850"/>
          </a:xfrm>
          <a:prstGeom prst="roundRect">
            <a:avLst>
              <a:gd name="adj" fmla="val 10811"/>
            </a:avLst>
          </a:prstGeom>
          <a:solidFill>
            <a:srgbClr val="EEF3FB"/>
          </a:solidFill>
          <a:ln w="13335">
            <a:solidFill>
              <a:srgbClr val="355E9E"/>
            </a:solidFill>
            <a:prstDash val="solid"/>
          </a:ln>
        </p:spPr>
        <p:txBody>
          <a:bodyPr anchor="ctr"/>
          <a:lstStyle/>
          <a:p>
            <a:pPr algn="ctr">
              <a:defRPr sz="1125" b="0">
                <a:solidFill>
                  <a:srgbClr val="203D6B"/>
                </a:solidFill>
              </a:defRPr>
            </a:pPr>
            <a:r>
              <a:rPr sz="1125">
                <a:solidFill>
                  <a:srgbClr val="203D6B"/>
                </a:solidFill>
              </a:rPr>
              <a:t>计算语音 / 噪声</a:t>
            </a:r>
          </a:p>
          <a:p>
            <a:pPr algn="ctr">
              <a:defRPr sz="1125" b="0">
                <a:solidFill>
                  <a:srgbClr val="203D6B"/>
                </a:solidFill>
              </a:defRPr>
            </a:pPr>
            <a:r>
              <a:rPr sz="1125">
                <a:solidFill>
                  <a:srgbClr val="203D6B"/>
                </a:solidFill>
              </a:rPr>
              <a:t>RMS 功率</a:t>
            </a:r>
          </a:p>
        </p:txBody>
      </p:sp>
      <p:sp>
        <p:nvSpPr>
          <p:cNvPr id="66" name="矩形: 圆角 65">
            <a:extLst>
              <a:ext uri="{FF2B5EF4-FFF2-40B4-BE49-F238E27FC236}">
                <a16:creationId xmlns:a16="http://schemas.microsoft.com/office/drawing/2014/main" id="{71F5EDA8-9243-85ED-C129-0279D3E0656E}"/>
              </a:ext>
            </a:extLst>
          </p:cNvPr>
          <p:cNvSpPr>
            <a:spLocks noGrp="1"/>
          </p:cNvSpPr>
          <p:nvPr/>
        </p:nvSpPr>
        <p:spPr>
          <a:xfrm>
            <a:off x="8027288" y="4085561"/>
            <a:ext cx="1666875" cy="704850"/>
          </a:xfrm>
          <a:prstGeom prst="roundRect">
            <a:avLst>
              <a:gd name="adj" fmla="val 10811"/>
            </a:avLst>
          </a:prstGeom>
          <a:solidFill>
            <a:srgbClr val="FFF4E8"/>
          </a:solidFill>
          <a:ln w="13335">
            <a:solidFill>
              <a:srgbClr val="F47A27"/>
            </a:solidFill>
            <a:prstDash val="solid"/>
          </a:ln>
        </p:spPr>
        <p:txBody>
          <a:bodyPr anchor="ctr"/>
          <a:lstStyle/>
          <a:p>
            <a:pPr algn="ctr">
              <a:defRPr sz="1125" b="0">
                <a:solidFill>
                  <a:srgbClr val="203D6B"/>
                </a:solidFill>
              </a:defRPr>
            </a:pPr>
            <a:r>
              <a:rPr sz="1125">
                <a:solidFill>
                  <a:srgbClr val="203D6B"/>
                </a:solidFill>
              </a:rPr>
              <a:t>按目标 SNR</a:t>
            </a:r>
          </a:p>
          <a:p>
            <a:pPr algn="ctr">
              <a:defRPr sz="1125" b="0">
                <a:solidFill>
                  <a:srgbClr val="203D6B"/>
                </a:solidFill>
              </a:defRPr>
            </a:pPr>
            <a:r>
              <a:rPr sz="1125">
                <a:solidFill>
                  <a:srgbClr val="203D6B"/>
                </a:solidFill>
              </a:rPr>
              <a:t>整体缩放噪声</a:t>
            </a:r>
          </a:p>
        </p:txBody>
      </p:sp>
      <p:sp>
        <p:nvSpPr>
          <p:cNvPr id="67" name="矩形: 圆角 66">
            <a:extLst>
              <a:ext uri="{FF2B5EF4-FFF2-40B4-BE49-F238E27FC236}">
                <a16:creationId xmlns:a16="http://schemas.microsoft.com/office/drawing/2014/main" id="{C0540536-99AC-6E61-52C5-77B8735B8B98}"/>
              </a:ext>
            </a:extLst>
          </p:cNvPr>
          <p:cNvSpPr>
            <a:spLocks noGrp="1"/>
          </p:cNvSpPr>
          <p:nvPr/>
        </p:nvSpPr>
        <p:spPr>
          <a:xfrm>
            <a:off x="10075161" y="4085561"/>
            <a:ext cx="1524000" cy="704850"/>
          </a:xfrm>
          <a:prstGeom prst="roundRect">
            <a:avLst>
              <a:gd name="adj" fmla="val 10811"/>
            </a:avLst>
          </a:prstGeom>
          <a:solidFill>
            <a:srgbClr val="EEF7EA"/>
          </a:solidFill>
          <a:ln w="13335">
            <a:solidFill>
              <a:srgbClr val="5B9B43"/>
            </a:solidFill>
            <a:prstDash val="solid"/>
          </a:ln>
        </p:spPr>
        <p:txBody>
          <a:bodyPr anchor="ctr"/>
          <a:lstStyle/>
          <a:p>
            <a:pPr algn="ctr">
              <a:defRPr sz="1125" b="1">
                <a:solidFill>
                  <a:srgbClr val="203D6B"/>
                </a:solidFill>
              </a:defRPr>
            </a:pPr>
            <a:r>
              <a:rPr sz="1125" b="1">
                <a:solidFill>
                  <a:srgbClr val="203D6B"/>
                </a:solidFill>
              </a:rPr>
              <a:t>混合输出</a:t>
            </a:r>
          </a:p>
          <a:p>
            <a:pPr algn="ctr">
              <a:defRPr sz="1125" b="1">
                <a:solidFill>
                  <a:srgbClr val="203D6B"/>
                </a:solidFill>
              </a:defRPr>
            </a:pPr>
            <a:r>
              <a:rPr sz="1125" b="1">
                <a:solidFill>
                  <a:srgbClr val="203D6B"/>
                </a:solidFill>
              </a:rPr>
              <a:t>y = x + αn</a:t>
            </a:r>
          </a:p>
        </p:txBody>
      </p:sp>
      <p:cxnSp>
        <p:nvCxnSpPr>
          <p:cNvPr id="68" name="直接箭头连接符 67">
            <a:extLst>
              <a:ext uri="{FF2B5EF4-FFF2-40B4-BE49-F238E27FC236}">
                <a16:creationId xmlns:a16="http://schemas.microsoft.com/office/drawing/2014/main" id="{6D9D3710-75F1-1D19-F77C-1D69EF5CC020}"/>
              </a:ext>
            </a:extLst>
          </p:cNvPr>
          <p:cNvCxnSpPr>
            <a:stCxn id="63" idx="3"/>
            <a:endCxn id="64" idx="1"/>
          </p:cNvCxnSpPr>
          <p:nvPr/>
        </p:nvCxnSpPr>
        <p:spPr>
          <a:xfrm>
            <a:off x="3550536" y="4437986"/>
            <a:ext cx="381000" cy="0"/>
          </a:xfrm>
          <a:prstGeom prst="straightConnector1">
            <a:avLst/>
          </a:prstGeom>
          <a:ln w="19050">
            <a:solidFill>
              <a:srgbClr val="64748B"/>
            </a:solidFill>
            <a:prstDash val="solid"/>
            <a:tailEnd type="triangle" w="sm" len="sm"/>
          </a:ln>
        </p:spPr>
      </p:cxnSp>
      <p:cxnSp>
        <p:nvCxnSpPr>
          <p:cNvPr id="69" name="直接箭头连接符 68">
            <a:extLst>
              <a:ext uri="{FF2B5EF4-FFF2-40B4-BE49-F238E27FC236}">
                <a16:creationId xmlns:a16="http://schemas.microsoft.com/office/drawing/2014/main" id="{867FD98D-C86B-E0C9-2263-4AA64AD181D0}"/>
              </a:ext>
            </a:extLst>
          </p:cNvPr>
          <p:cNvCxnSpPr>
            <a:stCxn id="64" idx="3"/>
            <a:endCxn id="65" idx="1"/>
          </p:cNvCxnSpPr>
          <p:nvPr/>
        </p:nvCxnSpPr>
        <p:spPr>
          <a:xfrm>
            <a:off x="5598411" y="4437986"/>
            <a:ext cx="381000" cy="0"/>
          </a:xfrm>
          <a:prstGeom prst="straightConnector1">
            <a:avLst/>
          </a:prstGeom>
          <a:ln w="19050">
            <a:solidFill>
              <a:srgbClr val="64748B"/>
            </a:solidFill>
            <a:prstDash val="solid"/>
            <a:tailEnd type="triangle" w="sm" len="sm"/>
          </a:ln>
        </p:spPr>
      </p:cxnSp>
      <p:cxnSp>
        <p:nvCxnSpPr>
          <p:cNvPr id="70" name="直接箭头连接符 69">
            <a:extLst>
              <a:ext uri="{FF2B5EF4-FFF2-40B4-BE49-F238E27FC236}">
                <a16:creationId xmlns:a16="http://schemas.microsoft.com/office/drawing/2014/main" id="{2C7255DC-4FDB-4BC0-BF0E-F8CE20916D3F}"/>
              </a:ext>
            </a:extLst>
          </p:cNvPr>
          <p:cNvCxnSpPr>
            <a:stCxn id="65" idx="3"/>
            <a:endCxn id="66" idx="1"/>
          </p:cNvCxnSpPr>
          <p:nvPr/>
        </p:nvCxnSpPr>
        <p:spPr>
          <a:xfrm>
            <a:off x="7646286" y="4437986"/>
            <a:ext cx="381000" cy="0"/>
          </a:xfrm>
          <a:prstGeom prst="straightConnector1">
            <a:avLst/>
          </a:prstGeom>
          <a:ln w="19050">
            <a:solidFill>
              <a:srgbClr val="64748B"/>
            </a:solidFill>
            <a:prstDash val="solid"/>
            <a:tailEnd type="triangle" w="sm" len="sm"/>
          </a:ln>
        </p:spPr>
      </p:cxnSp>
      <p:cxnSp>
        <p:nvCxnSpPr>
          <p:cNvPr id="71" name="直接箭头连接符 70">
            <a:extLst>
              <a:ext uri="{FF2B5EF4-FFF2-40B4-BE49-F238E27FC236}">
                <a16:creationId xmlns:a16="http://schemas.microsoft.com/office/drawing/2014/main" id="{E77A2CFC-8F95-B87C-FBFA-9FAEC7FDC12C}"/>
              </a:ext>
            </a:extLst>
          </p:cNvPr>
          <p:cNvCxnSpPr>
            <a:stCxn id="66" idx="3"/>
            <a:endCxn id="67" idx="1"/>
          </p:cNvCxnSpPr>
          <p:nvPr/>
        </p:nvCxnSpPr>
        <p:spPr>
          <a:xfrm>
            <a:off x="9694161" y="4437986"/>
            <a:ext cx="381000" cy="0"/>
          </a:xfrm>
          <a:prstGeom prst="straightConnector1">
            <a:avLst/>
          </a:prstGeom>
          <a:ln w="19050">
            <a:solidFill>
              <a:srgbClr val="F47A27"/>
            </a:solidFill>
            <a:prstDash val="solid"/>
            <a:tailEnd type="triangle" w="sm" len="sm"/>
          </a:ln>
        </p:spPr>
      </p:cxnSp>
    </p:spTree>
    <p:extLst>
      <p:ext uri="{BB962C8B-B14F-4D97-AF65-F5344CB8AC3E}">
        <p14:creationId xmlns:p14="http://schemas.microsoft.com/office/powerpoint/2010/main" val="15607449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3DECE4-1CE1-A8D1-9DAF-3D0F766800FD}"/>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6377F9A-74D6-00B8-C13C-0F69986C5A08}"/>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噪声与多人重叠均按功率标尺合成,并同步记录 SNR / TIR</a:t>
            </a:r>
          </a:p>
        </p:txBody>
      </p:sp>
      <p:sp>
        <p:nvSpPr>
          <p:cNvPr id="4" name="文本框 3">
            <a:extLst>
              <a:ext uri="{FF2B5EF4-FFF2-40B4-BE49-F238E27FC236}">
                <a16:creationId xmlns:a16="http://schemas.microsoft.com/office/drawing/2014/main" id="{6F31BAA5-9D5F-E50C-8DF5-AA52A77F2DC0}"/>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01 数据协议与构建</a:t>
            </a:r>
          </a:p>
        </p:txBody>
      </p:sp>
      <p:sp>
        <p:nvSpPr>
          <p:cNvPr id="5" name="矩形 4">
            <a:extLst>
              <a:ext uri="{FF2B5EF4-FFF2-40B4-BE49-F238E27FC236}">
                <a16:creationId xmlns:a16="http://schemas.microsoft.com/office/drawing/2014/main" id="{0DE1DEDA-8F91-7E00-415D-0C600C7D7FDE}"/>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38" name="表格 5">
            <a:extLst>
              <a:ext uri="{FF2B5EF4-FFF2-40B4-BE49-F238E27FC236}">
                <a16:creationId xmlns:a16="http://schemas.microsoft.com/office/drawing/2014/main" id="{7755DB90-DCE0-8534-566F-228AE2AD6FC1}"/>
              </a:ext>
            </a:extLst>
          </p:cNvPr>
          <p:cNvGraphicFramePr/>
          <p:nvPr/>
        </p:nvGraphicFramePr>
        <p:xfrm>
          <a:off x="-15240000" y="-8572500"/>
          <a:ext cx="11303000" cy="4572000"/>
        </p:xfrm>
        <a:graphic>
          <a:graphicData uri="http://schemas.openxmlformats.org/drawingml/2006/table">
            <a:tbl>
              <a:tblPr firstRow="1" bandRow="1">
                <a:tableStyleId>{5C22544A-7EE6-4342-B048-85BDC9FD1C3A}</a:tableStyleId>
              </a:tblPr>
              <a:tblGrid>
                <a:gridCol w="5651500">
                  <a:extLst>
                    <a:ext uri="{9D8B030D-6E8A-4147-A177-3AD203B41FA5}">
                      <a16:colId xmlns:a16="http://schemas.microsoft.com/office/drawing/2014/main" val="20000"/>
                    </a:ext>
                  </a:extLst>
                </a:gridCol>
                <a:gridCol w="5651500">
                  <a:extLst>
                    <a:ext uri="{9D8B030D-6E8A-4147-A177-3AD203B41FA5}">
                      <a16:colId xmlns:a16="http://schemas.microsoft.com/office/drawing/2014/main" val="20001"/>
                    </a:ext>
                  </a:extLst>
                </a:gridCol>
              </a:tblGrid>
              <a:tr h="571500">
                <a:tc>
                  <a:txBody>
                    <a:bodyPr/>
                    <a:lstStyle/>
                    <a:p>
                      <a:r>
                        <a:rPr sz="1350" b="1">
                          <a:solidFill>
                            <a:srgbClr val="FFFFFF"/>
                          </a:solidFill>
                          <a:latin typeface="微软雅黑"/>
                          <a:ea typeface="微软雅黑"/>
                          <a:cs typeface="微软雅黑"/>
                        </a:rPr>
                        <a:t>环节</a:t>
                      </a:r>
                    </a:p>
                  </a:txBody>
                  <a:tcPr anchor="ctr">
                    <a:solidFill>
                      <a:srgbClr val="2F5496"/>
                    </a:solidFill>
                  </a:tcPr>
                </a:tc>
                <a:tc>
                  <a:txBody>
                    <a:bodyPr/>
                    <a:lstStyle/>
                    <a:p>
                      <a:r>
                        <a:rPr sz="1350" b="1">
                          <a:solidFill>
                            <a:srgbClr val="FFFFFF"/>
                          </a:solidFill>
                          <a:latin typeface="微软雅黑"/>
                          <a:ea typeface="微软雅黑"/>
                          <a:cs typeface="微软雅黑"/>
                        </a:rPr>
                        <a:t>可复现控制</a:t>
                      </a:r>
                    </a:p>
                  </a:txBody>
                  <a:tcPr anchor="ctr">
                    <a:solidFill>
                      <a:srgbClr val="2F5496"/>
                    </a:solidFill>
                  </a:tcPr>
                </a:tc>
                <a:extLst>
                  <a:ext uri="{0D108BD9-81ED-4DB2-BD59-A6C34878D82A}">
                    <a16:rowId xmlns:a16="http://schemas.microsoft.com/office/drawing/2014/main" val="10000"/>
                  </a:ext>
                </a:extLst>
              </a:tr>
              <a:tr h="571500">
                <a:tc>
                  <a:txBody>
                    <a:bodyPr/>
                    <a:lstStyle/>
                    <a:p>
                      <a:r>
                        <a:rPr sz="1350">
                          <a:solidFill>
                            <a:srgbClr val="333333"/>
                          </a:solidFill>
                          <a:latin typeface="微软雅黑"/>
                          <a:ea typeface="微软雅黑"/>
                          <a:cs typeface="微软雅黑"/>
                        </a:rPr>
                        <a:t>噪声池隔离</a:t>
                      </a:r>
                    </a:p>
                  </a:txBody>
                  <a:tcPr anchor="ctr">
                    <a:solidFill>
                      <a:srgbClr val="FFFFFF"/>
                    </a:solidFill>
                  </a:tcPr>
                </a:tc>
                <a:tc>
                  <a:txBody>
                    <a:bodyPr/>
                    <a:lstStyle/>
                    <a:p>
                      <a:r>
                        <a:rPr sz="1350">
                          <a:solidFill>
                            <a:srgbClr val="333333"/>
                          </a:solidFill>
                          <a:latin typeface="微软雅黑"/>
                          <a:ea typeface="微软雅黑"/>
                          <a:cs typeface="微软雅黑"/>
                        </a:rPr>
                        <a:t>MUSAN free-sound:训练池 615 条,测试池 168+ 条</a:t>
                      </a:r>
                    </a:p>
                  </a:txBody>
                  <a:tcPr anchor="ctr">
                    <a:solidFill>
                      <a:srgbClr val="FFFFFF"/>
                    </a:solidFill>
                  </a:tcPr>
                </a:tc>
                <a:extLst>
                  <a:ext uri="{0D108BD9-81ED-4DB2-BD59-A6C34878D82A}">
                    <a16:rowId xmlns:a16="http://schemas.microsoft.com/office/drawing/2014/main" val="10001"/>
                  </a:ext>
                </a:extLst>
              </a:tr>
              <a:tr h="571500">
                <a:tc>
                  <a:txBody>
                    <a:bodyPr/>
                    <a:lstStyle/>
                    <a:p>
                      <a:r>
                        <a:rPr sz="1350">
                          <a:solidFill>
                            <a:srgbClr val="333333"/>
                          </a:solidFill>
                          <a:latin typeface="微软雅黑"/>
                          <a:ea typeface="微软雅黑"/>
                          <a:cs typeface="微软雅黑"/>
                        </a:rPr>
                        <a:t>SNR 对照</a:t>
                      </a:r>
                    </a:p>
                  </a:txBody>
                  <a:tcPr anchor="ctr">
                    <a:solidFill>
                      <a:srgbClr val="F2F6FC"/>
                    </a:solidFill>
                  </a:tcPr>
                </a:tc>
                <a:tc>
                  <a:txBody>
                    <a:bodyPr/>
                    <a:lstStyle/>
                    <a:p>
                      <a:r>
                        <a:rPr sz="1350">
                          <a:solidFill>
                            <a:srgbClr val="333333"/>
                          </a:solidFill>
                          <a:latin typeface="微软雅黑"/>
                          <a:ea typeface="微软雅黑"/>
                          <a:cs typeface="微软雅黑"/>
                        </a:rPr>
                        <a:t>0 / -5 dB 使用同一噪声、同一位置,只改变缩放因子</a:t>
                      </a:r>
                    </a:p>
                  </a:txBody>
                  <a:tcPr anchor="ctr">
                    <a:solidFill>
                      <a:srgbClr val="F2F6FC"/>
                    </a:solidFill>
                  </a:tcPr>
                </a:tc>
                <a:extLst>
                  <a:ext uri="{0D108BD9-81ED-4DB2-BD59-A6C34878D82A}">
                    <a16:rowId xmlns:a16="http://schemas.microsoft.com/office/drawing/2014/main" val="10002"/>
                  </a:ext>
                </a:extLst>
              </a:tr>
              <a:tr h="571500">
                <a:tc>
                  <a:txBody>
                    <a:bodyPr/>
                    <a:lstStyle/>
                    <a:p>
                      <a:r>
                        <a:rPr sz="1350">
                          <a:solidFill>
                            <a:srgbClr val="333333"/>
                          </a:solidFill>
                          <a:latin typeface="微软雅黑"/>
                          <a:ea typeface="微软雅黑"/>
                          <a:cs typeface="微软雅黑"/>
                        </a:rPr>
                        <a:t>有效能量</a:t>
                      </a:r>
                    </a:p>
                  </a:txBody>
                  <a:tcPr anchor="ctr">
                    <a:solidFill>
                      <a:srgbClr val="FFFFFF"/>
                    </a:solidFill>
                  </a:tcPr>
                </a:tc>
                <a:tc>
                  <a:txBody>
                    <a:bodyPr/>
                    <a:lstStyle/>
                    <a:p>
                      <a:r>
                        <a:rPr sz="1350">
                          <a:solidFill>
                            <a:srgbClr val="333333"/>
                          </a:solidFill>
                          <a:latin typeface="微软雅黑"/>
                          <a:ea typeface="微软雅黑"/>
                          <a:cs typeface="微软雅黑"/>
                        </a:rPr>
                        <a:t>增益按 VAD 有效语音段 RMS 计算,不计静音段</a:t>
                      </a:r>
                    </a:p>
                  </a:txBody>
                  <a:tcPr anchor="ctr">
                    <a:solidFill>
                      <a:srgbClr val="FFFFFF"/>
                    </a:solidFill>
                  </a:tcPr>
                </a:tc>
                <a:extLst>
                  <a:ext uri="{0D108BD9-81ED-4DB2-BD59-A6C34878D82A}">
                    <a16:rowId xmlns:a16="http://schemas.microsoft.com/office/drawing/2014/main" val="10003"/>
                  </a:ext>
                </a:extLst>
              </a:tr>
              <a:tr h="571500">
                <a:tc>
                  <a:txBody>
                    <a:bodyPr/>
                    <a:lstStyle/>
                    <a:p>
                      <a:r>
                        <a:rPr sz="1350">
                          <a:solidFill>
                            <a:srgbClr val="333333"/>
                          </a:solidFill>
                          <a:latin typeface="微软雅黑"/>
                          <a:ea typeface="微软雅黑"/>
                          <a:cs typeface="微软雅黑"/>
                        </a:rPr>
                        <a:t>短噪声补齐</a:t>
                      </a:r>
                    </a:p>
                  </a:txBody>
                  <a:tcPr anchor="ctr">
                    <a:solidFill>
                      <a:srgbClr val="F2F6FC"/>
                    </a:solidFill>
                  </a:tcPr>
                </a:tc>
                <a:tc>
                  <a:txBody>
                    <a:bodyPr/>
                    <a:lstStyle/>
                    <a:p>
                      <a:r>
                        <a:rPr sz="1350">
                          <a:solidFill>
                            <a:srgbClr val="333333"/>
                          </a:solidFill>
                          <a:latin typeface="微软雅黑"/>
                          <a:ea typeface="微软雅黑"/>
                          <a:cs typeface="微软雅黑"/>
                        </a:rPr>
                        <a:t>噪声不足时按原顺序重复,再选取目标长度</a:t>
                      </a:r>
                    </a:p>
                  </a:txBody>
                  <a:tcPr anchor="ctr">
                    <a:solidFill>
                      <a:srgbClr val="F2F6FC"/>
                    </a:solidFill>
                  </a:tcPr>
                </a:tc>
                <a:extLst>
                  <a:ext uri="{0D108BD9-81ED-4DB2-BD59-A6C34878D82A}">
                    <a16:rowId xmlns:a16="http://schemas.microsoft.com/office/drawing/2014/main" val="10004"/>
                  </a:ext>
                </a:extLst>
              </a:tr>
              <a:tr h="571500">
                <a:tc>
                  <a:txBody>
                    <a:bodyPr/>
                    <a:lstStyle/>
                    <a:p>
                      <a:r>
                        <a:rPr sz="1350">
                          <a:solidFill>
                            <a:srgbClr val="333333"/>
                          </a:solidFill>
                          <a:latin typeface="微软雅黑"/>
                          <a:ea typeface="微软雅黑"/>
                          <a:cs typeface="微软雅黑"/>
                        </a:rPr>
                        <a:t>多人 TIR</a:t>
                      </a:r>
                    </a:p>
                  </a:txBody>
                  <a:tcPr anchor="ctr">
                    <a:solidFill>
                      <a:srgbClr val="FFFFFF"/>
                    </a:solidFill>
                  </a:tcPr>
                </a:tc>
                <a:tc>
                  <a:txBody>
                    <a:bodyPr/>
                    <a:lstStyle/>
                    <a:p>
                      <a:r>
                        <a:rPr sz="1350">
                          <a:solidFill>
                            <a:srgbClr val="333333"/>
                          </a:solidFill>
                          <a:latin typeface="微软雅黑"/>
                          <a:ea typeface="微软雅黑"/>
                          <a:cs typeface="微软雅黑"/>
                        </a:rPr>
                        <a:t>先合并干扰语音再整体缩放;TIR=0 dB 时目标与干扰等能量</a:t>
                      </a:r>
                    </a:p>
                  </a:txBody>
                  <a:tcPr anchor="ctr">
                    <a:solidFill>
                      <a:srgbClr val="FFFFFF"/>
                    </a:solidFill>
                  </a:tcPr>
                </a:tc>
                <a:extLst>
                  <a:ext uri="{0D108BD9-81ED-4DB2-BD59-A6C34878D82A}">
                    <a16:rowId xmlns:a16="http://schemas.microsoft.com/office/drawing/2014/main" val="10005"/>
                  </a:ext>
                </a:extLst>
              </a:tr>
              <a:tr h="571500">
                <a:tc>
                  <a:txBody>
                    <a:bodyPr/>
                    <a:lstStyle/>
                    <a:p>
                      <a:r>
                        <a:rPr sz="1350">
                          <a:solidFill>
                            <a:srgbClr val="333333"/>
                          </a:solidFill>
                          <a:latin typeface="微软雅黑"/>
                          <a:ea typeface="微软雅黑"/>
                          <a:cs typeface="微软雅黑"/>
                        </a:rPr>
                        <a:t>角色分配</a:t>
                      </a:r>
                    </a:p>
                  </a:txBody>
                  <a:tcPr anchor="ctr">
                    <a:solidFill>
                      <a:srgbClr val="F2F6FC"/>
                    </a:solidFill>
                  </a:tcPr>
                </a:tc>
                <a:tc>
                  <a:txBody>
                    <a:bodyPr/>
                    <a:lstStyle/>
                    <a:p>
                      <a:r>
                        <a:rPr sz="1350">
                          <a:solidFill>
                            <a:srgbClr val="333333"/>
                          </a:solidFill>
                          <a:latin typeface="微软雅黑"/>
                          <a:ea typeface="微软雅黑"/>
                          <a:cs typeface="微软雅黑"/>
                        </a:rPr>
                        <a:t>三人中文重叠分别从 B、C 池取样,防止两条干扰同人</a:t>
                      </a:r>
                    </a:p>
                  </a:txBody>
                  <a:tcPr anchor="ctr">
                    <a:solidFill>
                      <a:srgbClr val="F2F6FC"/>
                    </a:solidFill>
                  </a:tcPr>
                </a:tc>
                <a:extLst>
                  <a:ext uri="{0D108BD9-81ED-4DB2-BD59-A6C34878D82A}">
                    <a16:rowId xmlns:a16="http://schemas.microsoft.com/office/drawing/2014/main" val="10006"/>
                  </a:ext>
                </a:extLst>
              </a:tr>
              <a:tr h="571500">
                <a:tc>
                  <a:txBody>
                    <a:bodyPr/>
                    <a:lstStyle/>
                    <a:p>
                      <a:r>
                        <a:rPr sz="1350">
                          <a:solidFill>
                            <a:srgbClr val="333333"/>
                          </a:solidFill>
                          <a:latin typeface="微软雅黑"/>
                          <a:ea typeface="微软雅黑"/>
                          <a:cs typeface="微软雅黑"/>
                        </a:rPr>
                        <a:t>混响输出</a:t>
                      </a:r>
                    </a:p>
                  </a:txBody>
                  <a:tcPr anchor="ctr">
                    <a:solidFill>
                      <a:srgbClr val="FFFFFF"/>
                    </a:solidFill>
                  </a:tcPr>
                </a:tc>
                <a:tc>
                  <a:txBody>
                    <a:bodyPr/>
                    <a:lstStyle/>
                    <a:p>
                      <a:r>
                        <a:rPr sz="1350">
                          <a:solidFill>
                            <a:srgbClr val="333333"/>
                          </a:solidFill>
                          <a:latin typeface="微软雅黑"/>
                          <a:ea typeface="微软雅黑"/>
                          <a:cs typeface="微软雅黑"/>
                        </a:rPr>
                        <a:t>RIR 卷积后输出长度=原长度;记录 RIR / T60 / SNR / TIR 与 seed</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7" name="矩形: 圆角 16">
            <a:extLst>
              <a:ext uri="{FF2B5EF4-FFF2-40B4-BE49-F238E27FC236}">
                <a16:creationId xmlns:a16="http://schemas.microsoft.com/office/drawing/2014/main" id="{2C1EFAD9-35A4-95B1-3658-AF2C62906B76}"/>
              </a:ext>
            </a:extLst>
          </p:cNvPr>
          <p:cNvSpPr>
            <a:spLocks noGrp="1"/>
          </p:cNvSpPr>
          <p:nvPr/>
        </p:nvSpPr>
        <p:spPr>
          <a:xfrm>
            <a:off x="514352" y="2305050"/>
            <a:ext cx="1143000" cy="552450"/>
          </a:xfrm>
          <a:prstGeom prst="roundRect">
            <a:avLst>
              <a:gd name="adj" fmla="val 13793"/>
            </a:avLst>
          </a:prstGeom>
          <a:solidFill>
            <a:srgbClr val="B58B2B"/>
          </a:solidFill>
          <a:ln w="13335">
            <a:solidFill>
              <a:srgbClr val="B58B2B"/>
            </a:solidFill>
            <a:prstDash val="solid"/>
          </a:ln>
        </p:spPr>
        <p:txBody>
          <a:bodyPr anchor="ctr"/>
          <a:lstStyle/>
          <a:p>
            <a:pPr algn="ctr">
              <a:defRPr sz="1125" b="1">
                <a:solidFill>
                  <a:srgbClr val="FFFFFF"/>
                </a:solidFill>
              </a:defRPr>
            </a:pPr>
            <a:r>
              <a:rPr sz="1125" b="1">
                <a:solidFill>
                  <a:srgbClr val="FFFFFF"/>
                </a:solidFill>
              </a:rPr>
              <a:t>多人重叠</a:t>
            </a:r>
          </a:p>
        </p:txBody>
      </p:sp>
      <p:sp>
        <p:nvSpPr>
          <p:cNvPr id="18" name="矩形: 圆角 17">
            <a:extLst>
              <a:ext uri="{FF2B5EF4-FFF2-40B4-BE49-F238E27FC236}">
                <a16:creationId xmlns:a16="http://schemas.microsoft.com/office/drawing/2014/main" id="{C2682290-8508-5453-3795-92FD90C46ED2}"/>
              </a:ext>
            </a:extLst>
          </p:cNvPr>
          <p:cNvSpPr>
            <a:spLocks noGrp="1"/>
          </p:cNvSpPr>
          <p:nvPr/>
        </p:nvSpPr>
        <p:spPr>
          <a:xfrm>
            <a:off x="1952629" y="2228850"/>
            <a:ext cx="1666875" cy="704850"/>
          </a:xfrm>
          <a:prstGeom prst="roundRect">
            <a:avLst>
              <a:gd name="adj" fmla="val 10811"/>
            </a:avLst>
          </a:prstGeom>
          <a:solidFill>
            <a:srgbClr val="FFF8E8"/>
          </a:solidFill>
          <a:ln w="13335">
            <a:solidFill>
              <a:srgbClr val="B58B2B"/>
            </a:solidFill>
            <a:prstDash val="solid"/>
          </a:ln>
        </p:spPr>
        <p:txBody>
          <a:bodyPr anchor="ctr"/>
          <a:lstStyle/>
          <a:p>
            <a:pPr algn="ctr">
              <a:defRPr sz="1125" b="0">
                <a:solidFill>
                  <a:srgbClr val="203D6B"/>
                </a:solidFill>
              </a:defRPr>
            </a:pPr>
            <a:r>
              <a:rPr sz="1125">
                <a:solidFill>
                  <a:srgbClr val="203D6B"/>
                </a:solidFill>
              </a:rPr>
              <a:t>目标语音 s_t</a:t>
            </a:r>
          </a:p>
        </p:txBody>
      </p:sp>
      <p:sp>
        <p:nvSpPr>
          <p:cNvPr id="19" name="矩形: 圆角 18">
            <a:extLst>
              <a:ext uri="{FF2B5EF4-FFF2-40B4-BE49-F238E27FC236}">
                <a16:creationId xmlns:a16="http://schemas.microsoft.com/office/drawing/2014/main" id="{4EBCFF4E-9246-6F13-4D61-A5A0B71D81C8}"/>
              </a:ext>
            </a:extLst>
          </p:cNvPr>
          <p:cNvSpPr>
            <a:spLocks noGrp="1"/>
          </p:cNvSpPr>
          <p:nvPr/>
        </p:nvSpPr>
        <p:spPr>
          <a:xfrm>
            <a:off x="4000504" y="2228850"/>
            <a:ext cx="1666875" cy="704850"/>
          </a:xfrm>
          <a:prstGeom prst="roundRect">
            <a:avLst>
              <a:gd name="adj" fmla="val 10811"/>
            </a:avLst>
          </a:prstGeom>
          <a:solidFill>
            <a:srgbClr val="FFF8E8"/>
          </a:solidFill>
          <a:ln w="13335">
            <a:solidFill>
              <a:srgbClr val="B58B2B"/>
            </a:solidFill>
            <a:prstDash val="solid"/>
          </a:ln>
        </p:spPr>
        <p:txBody>
          <a:bodyPr anchor="ctr"/>
          <a:lstStyle/>
          <a:p>
            <a:pPr algn="ctr">
              <a:defRPr sz="1125" b="0">
                <a:solidFill>
                  <a:srgbClr val="203D6B"/>
                </a:solidFill>
              </a:defRPr>
            </a:pPr>
            <a:r>
              <a:rPr sz="1125" dirty="0" err="1">
                <a:solidFill>
                  <a:srgbClr val="203D6B"/>
                </a:solidFill>
              </a:rPr>
              <a:t>选取不同说话人</a:t>
            </a:r>
            <a:endParaRPr sz="1125" dirty="0">
              <a:solidFill>
                <a:srgbClr val="203D6B"/>
              </a:solidFill>
            </a:endParaRPr>
          </a:p>
          <a:p>
            <a:pPr algn="ctr">
              <a:defRPr sz="1125" b="0">
                <a:solidFill>
                  <a:srgbClr val="203D6B"/>
                </a:solidFill>
              </a:defRPr>
            </a:pPr>
            <a:r>
              <a:rPr sz="1125" dirty="0" err="1">
                <a:solidFill>
                  <a:srgbClr val="203D6B"/>
                </a:solidFill>
              </a:rPr>
              <a:t>干扰语音</a:t>
            </a:r>
            <a:r>
              <a:rPr sz="1125" dirty="0">
                <a:solidFill>
                  <a:srgbClr val="203D6B"/>
                </a:solidFill>
              </a:rPr>
              <a:t> </a:t>
            </a:r>
            <a:r>
              <a:rPr sz="1125" dirty="0" err="1">
                <a:solidFill>
                  <a:srgbClr val="203D6B"/>
                </a:solidFill>
              </a:rPr>
              <a:t>s_i</a:t>
            </a:r>
            <a:endParaRPr sz="1125" dirty="0">
              <a:solidFill>
                <a:srgbClr val="203D6B"/>
              </a:solidFill>
            </a:endParaRPr>
          </a:p>
        </p:txBody>
      </p:sp>
      <p:sp>
        <p:nvSpPr>
          <p:cNvPr id="20" name="矩形: 圆角 19">
            <a:extLst>
              <a:ext uri="{FF2B5EF4-FFF2-40B4-BE49-F238E27FC236}">
                <a16:creationId xmlns:a16="http://schemas.microsoft.com/office/drawing/2014/main" id="{43CBC59B-95AF-30D9-A10D-2F43CB89B1E7}"/>
              </a:ext>
            </a:extLst>
          </p:cNvPr>
          <p:cNvSpPr>
            <a:spLocks noGrp="1"/>
          </p:cNvSpPr>
          <p:nvPr/>
        </p:nvSpPr>
        <p:spPr>
          <a:xfrm>
            <a:off x="6048379" y="2228850"/>
            <a:ext cx="1666875" cy="704850"/>
          </a:xfrm>
          <a:prstGeom prst="roundRect">
            <a:avLst>
              <a:gd name="adj" fmla="val 10811"/>
            </a:avLst>
          </a:prstGeom>
          <a:solidFill>
            <a:srgbClr val="FFF8E8"/>
          </a:solidFill>
          <a:ln w="13335">
            <a:solidFill>
              <a:srgbClr val="B58B2B"/>
            </a:solidFill>
            <a:prstDash val="solid"/>
          </a:ln>
        </p:spPr>
        <p:txBody>
          <a:bodyPr anchor="ctr"/>
          <a:lstStyle/>
          <a:p>
            <a:pPr algn="ctr">
              <a:defRPr sz="1125" b="0">
                <a:solidFill>
                  <a:srgbClr val="203D6B"/>
                </a:solidFill>
              </a:defRPr>
            </a:pPr>
            <a:r>
              <a:rPr sz="1125">
                <a:solidFill>
                  <a:srgbClr val="203D6B"/>
                </a:solidFill>
              </a:rPr>
              <a:t>先合并干扰</a:t>
            </a:r>
          </a:p>
          <a:p>
            <a:pPr algn="ctr">
              <a:defRPr sz="1125" b="0">
                <a:solidFill>
                  <a:srgbClr val="203D6B"/>
                </a:solidFill>
              </a:defRPr>
            </a:pPr>
            <a:r>
              <a:rPr sz="1125">
                <a:solidFill>
                  <a:srgbClr val="203D6B"/>
                </a:solidFill>
              </a:rPr>
              <a:t>再计算 RMS</a:t>
            </a:r>
          </a:p>
        </p:txBody>
      </p:sp>
      <p:sp>
        <p:nvSpPr>
          <p:cNvPr id="21" name="矩形: 圆角 20">
            <a:extLst>
              <a:ext uri="{FF2B5EF4-FFF2-40B4-BE49-F238E27FC236}">
                <a16:creationId xmlns:a16="http://schemas.microsoft.com/office/drawing/2014/main" id="{D39A3C6A-B081-7962-86D5-C9B99382F080}"/>
              </a:ext>
            </a:extLst>
          </p:cNvPr>
          <p:cNvSpPr>
            <a:spLocks noGrp="1"/>
          </p:cNvSpPr>
          <p:nvPr/>
        </p:nvSpPr>
        <p:spPr>
          <a:xfrm>
            <a:off x="8096254" y="2228850"/>
            <a:ext cx="1666875" cy="704850"/>
          </a:xfrm>
          <a:prstGeom prst="roundRect">
            <a:avLst>
              <a:gd name="adj" fmla="val 10811"/>
            </a:avLst>
          </a:prstGeom>
          <a:solidFill>
            <a:srgbClr val="FFF4E8"/>
          </a:solidFill>
          <a:ln w="13335">
            <a:solidFill>
              <a:srgbClr val="F47A27"/>
            </a:solidFill>
            <a:prstDash val="solid"/>
          </a:ln>
        </p:spPr>
        <p:txBody>
          <a:bodyPr anchor="ctr"/>
          <a:lstStyle/>
          <a:p>
            <a:pPr algn="ctr">
              <a:defRPr sz="1125" b="0">
                <a:solidFill>
                  <a:srgbClr val="203D6B"/>
                </a:solidFill>
              </a:defRPr>
            </a:pPr>
            <a:r>
              <a:rPr sz="1125">
                <a:solidFill>
                  <a:srgbClr val="203D6B"/>
                </a:solidFill>
              </a:rPr>
              <a:t>按目标 TIR</a:t>
            </a:r>
          </a:p>
          <a:p>
            <a:pPr algn="ctr">
              <a:defRPr sz="1125" b="0">
                <a:solidFill>
                  <a:srgbClr val="203D6B"/>
                </a:solidFill>
              </a:defRPr>
            </a:pPr>
            <a:r>
              <a:rPr sz="1125">
                <a:solidFill>
                  <a:srgbClr val="203D6B"/>
                </a:solidFill>
              </a:rPr>
              <a:t>整体缩放干扰</a:t>
            </a:r>
          </a:p>
        </p:txBody>
      </p:sp>
      <p:sp>
        <p:nvSpPr>
          <p:cNvPr id="22" name="矩形: 圆角 21">
            <a:extLst>
              <a:ext uri="{FF2B5EF4-FFF2-40B4-BE49-F238E27FC236}">
                <a16:creationId xmlns:a16="http://schemas.microsoft.com/office/drawing/2014/main" id="{6EE5F4DD-9311-379C-FFB9-D50C20C6CA82}"/>
              </a:ext>
            </a:extLst>
          </p:cNvPr>
          <p:cNvSpPr>
            <a:spLocks noGrp="1"/>
          </p:cNvSpPr>
          <p:nvPr/>
        </p:nvSpPr>
        <p:spPr>
          <a:xfrm>
            <a:off x="10144127" y="2228850"/>
            <a:ext cx="1524000" cy="704850"/>
          </a:xfrm>
          <a:prstGeom prst="roundRect">
            <a:avLst>
              <a:gd name="adj" fmla="val 10811"/>
            </a:avLst>
          </a:prstGeom>
          <a:solidFill>
            <a:srgbClr val="EEF7EA"/>
          </a:solidFill>
          <a:ln w="13335">
            <a:solidFill>
              <a:srgbClr val="5B9B43"/>
            </a:solidFill>
            <a:prstDash val="solid"/>
          </a:ln>
        </p:spPr>
        <p:txBody>
          <a:bodyPr anchor="ctr"/>
          <a:lstStyle/>
          <a:p>
            <a:pPr algn="ctr">
              <a:defRPr sz="1125" b="1">
                <a:solidFill>
                  <a:srgbClr val="203D6B"/>
                </a:solidFill>
              </a:defRPr>
            </a:pPr>
            <a:r>
              <a:rPr sz="1125" b="1">
                <a:solidFill>
                  <a:srgbClr val="203D6B"/>
                </a:solidFill>
              </a:rPr>
              <a:t>重叠输出</a:t>
            </a:r>
          </a:p>
          <a:p>
            <a:pPr algn="ctr">
              <a:defRPr sz="1125" b="1">
                <a:solidFill>
                  <a:srgbClr val="203D6B"/>
                </a:solidFill>
              </a:defRPr>
            </a:pPr>
            <a:r>
              <a:rPr sz="1125" b="1">
                <a:solidFill>
                  <a:srgbClr val="203D6B"/>
                </a:solidFill>
              </a:rPr>
              <a:t>y = s_t + βs_i</a:t>
            </a:r>
          </a:p>
        </p:txBody>
      </p:sp>
      <p:cxnSp>
        <p:nvCxnSpPr>
          <p:cNvPr id="55" name="直接箭头连接符 54">
            <a:extLst>
              <a:ext uri="{FF2B5EF4-FFF2-40B4-BE49-F238E27FC236}">
                <a16:creationId xmlns:a16="http://schemas.microsoft.com/office/drawing/2014/main" id="{284D2D9F-CA40-FD6C-F807-2A5F6AF2ACBA}"/>
              </a:ext>
            </a:extLst>
          </p:cNvPr>
          <p:cNvCxnSpPr>
            <a:stCxn id="18" idx="3"/>
            <a:endCxn id="19" idx="1"/>
          </p:cNvCxnSpPr>
          <p:nvPr/>
        </p:nvCxnSpPr>
        <p:spPr>
          <a:xfrm>
            <a:off x="3619502" y="2581275"/>
            <a:ext cx="381000" cy="0"/>
          </a:xfrm>
          <a:prstGeom prst="straightConnector1">
            <a:avLst/>
          </a:prstGeom>
          <a:ln w="19050">
            <a:solidFill>
              <a:srgbClr val="64748B"/>
            </a:solidFill>
            <a:prstDash val="solid"/>
            <a:tailEnd type="triangle" w="sm" len="sm"/>
          </a:ln>
        </p:spPr>
      </p:cxnSp>
      <p:cxnSp>
        <p:nvCxnSpPr>
          <p:cNvPr id="56" name="直接箭头连接符 55">
            <a:extLst>
              <a:ext uri="{FF2B5EF4-FFF2-40B4-BE49-F238E27FC236}">
                <a16:creationId xmlns:a16="http://schemas.microsoft.com/office/drawing/2014/main" id="{5A349125-9688-1CB7-F9C4-A1E7C8EC7E3E}"/>
              </a:ext>
            </a:extLst>
          </p:cNvPr>
          <p:cNvCxnSpPr>
            <a:stCxn id="19" idx="3"/>
            <a:endCxn id="20" idx="1"/>
          </p:cNvCxnSpPr>
          <p:nvPr/>
        </p:nvCxnSpPr>
        <p:spPr>
          <a:xfrm>
            <a:off x="5667377" y="2581275"/>
            <a:ext cx="381000" cy="0"/>
          </a:xfrm>
          <a:prstGeom prst="straightConnector1">
            <a:avLst/>
          </a:prstGeom>
          <a:ln w="19050">
            <a:solidFill>
              <a:srgbClr val="64748B"/>
            </a:solidFill>
            <a:prstDash val="solid"/>
            <a:tailEnd type="triangle" w="sm" len="sm"/>
          </a:ln>
        </p:spPr>
      </p:cxnSp>
      <p:cxnSp>
        <p:nvCxnSpPr>
          <p:cNvPr id="57" name="直接箭头连接符 56">
            <a:extLst>
              <a:ext uri="{FF2B5EF4-FFF2-40B4-BE49-F238E27FC236}">
                <a16:creationId xmlns:a16="http://schemas.microsoft.com/office/drawing/2014/main" id="{CC52799C-3FA4-817C-7DE9-65865C093A8B}"/>
              </a:ext>
            </a:extLst>
          </p:cNvPr>
          <p:cNvCxnSpPr>
            <a:stCxn id="20" idx="3"/>
            <a:endCxn id="21" idx="1"/>
          </p:cNvCxnSpPr>
          <p:nvPr/>
        </p:nvCxnSpPr>
        <p:spPr>
          <a:xfrm>
            <a:off x="7715252" y="2581275"/>
            <a:ext cx="381000" cy="0"/>
          </a:xfrm>
          <a:prstGeom prst="straightConnector1">
            <a:avLst/>
          </a:prstGeom>
          <a:ln w="19050">
            <a:solidFill>
              <a:srgbClr val="64748B"/>
            </a:solidFill>
            <a:prstDash val="solid"/>
            <a:tailEnd type="triangle" w="sm" len="sm"/>
          </a:ln>
        </p:spPr>
      </p:cxnSp>
      <p:cxnSp>
        <p:nvCxnSpPr>
          <p:cNvPr id="58" name="直接箭头连接符 57">
            <a:extLst>
              <a:ext uri="{FF2B5EF4-FFF2-40B4-BE49-F238E27FC236}">
                <a16:creationId xmlns:a16="http://schemas.microsoft.com/office/drawing/2014/main" id="{5D135905-ADBA-46C4-BA6D-3663A6B49E07}"/>
              </a:ext>
            </a:extLst>
          </p:cNvPr>
          <p:cNvCxnSpPr>
            <a:stCxn id="21" idx="3"/>
            <a:endCxn id="22" idx="1"/>
          </p:cNvCxnSpPr>
          <p:nvPr/>
        </p:nvCxnSpPr>
        <p:spPr>
          <a:xfrm>
            <a:off x="9763127" y="2581275"/>
            <a:ext cx="381000" cy="0"/>
          </a:xfrm>
          <a:prstGeom prst="straightConnector1">
            <a:avLst/>
          </a:prstGeom>
          <a:ln w="19050">
            <a:solidFill>
              <a:srgbClr val="F47A27"/>
            </a:solidFill>
            <a:prstDash val="solid"/>
            <a:tailEnd type="triangle" w="sm" len="sm"/>
          </a:ln>
        </p:spPr>
      </p:cxnSp>
      <p:sp>
        <p:nvSpPr>
          <p:cNvPr id="27" name="矩形 26">
            <a:extLst>
              <a:ext uri="{FF2B5EF4-FFF2-40B4-BE49-F238E27FC236}">
                <a16:creationId xmlns:a16="http://schemas.microsoft.com/office/drawing/2014/main" id="{11755A97-BD0B-4B06-B8C4-ECD755CDE67D}"/>
              </a:ext>
            </a:extLst>
          </p:cNvPr>
          <p:cNvSpPr>
            <a:spLocks noGrp="1"/>
          </p:cNvSpPr>
          <p:nvPr/>
        </p:nvSpPr>
        <p:spPr>
          <a:xfrm>
            <a:off x="464878" y="3676649"/>
            <a:ext cx="3235251" cy="268604"/>
          </a:xfrm>
          <a:prstGeom prst="rect">
            <a:avLst/>
          </a:prstGeom>
          <a:noFill/>
          <a:ln w="0">
            <a:noFill/>
            <a:prstDash val="solid"/>
          </a:ln>
        </p:spPr>
        <p:txBody>
          <a:bodyPr anchor="ctr"/>
          <a:lstStyle/>
          <a:p>
            <a:pPr algn="l">
              <a:defRPr sz="1350" b="1">
                <a:solidFill>
                  <a:srgbClr val="203D6B"/>
                </a:solidFill>
              </a:defRPr>
            </a:pPr>
            <a:r>
              <a:rPr lang="zh-CN" altLang="en-US" sz="1350" b="1" dirty="0">
                <a:solidFill>
                  <a:srgbClr val="203D6B"/>
                </a:solidFill>
              </a:rPr>
              <a:t>噪声、重叠</a:t>
            </a:r>
            <a:r>
              <a:rPr sz="1350" b="1" dirty="0" err="1">
                <a:solidFill>
                  <a:srgbClr val="203D6B"/>
                </a:solidFill>
              </a:rPr>
              <a:t>两条流程共同输出元数据</a:t>
            </a:r>
            <a:endParaRPr sz="1350" b="1" dirty="0">
              <a:solidFill>
                <a:srgbClr val="203D6B"/>
              </a:solidFill>
            </a:endParaRPr>
          </a:p>
        </p:txBody>
      </p:sp>
      <p:sp>
        <p:nvSpPr>
          <p:cNvPr id="28" name="矩形: 圆角 27">
            <a:extLst>
              <a:ext uri="{FF2B5EF4-FFF2-40B4-BE49-F238E27FC236}">
                <a16:creationId xmlns:a16="http://schemas.microsoft.com/office/drawing/2014/main" id="{3E678522-83A4-825E-9FDE-8E055C76CF5A}"/>
              </a:ext>
            </a:extLst>
          </p:cNvPr>
          <p:cNvSpPr>
            <a:spLocks noGrp="1"/>
          </p:cNvSpPr>
          <p:nvPr/>
        </p:nvSpPr>
        <p:spPr>
          <a:xfrm>
            <a:off x="464879" y="4067174"/>
            <a:ext cx="2095500" cy="628650"/>
          </a:xfrm>
          <a:prstGeom prst="roundRect">
            <a:avLst>
              <a:gd name="adj" fmla="val 12121"/>
            </a:avLst>
          </a:prstGeom>
          <a:solidFill>
            <a:srgbClr val="F7F9FC"/>
          </a:solidFill>
          <a:ln w="13335">
            <a:solidFill>
              <a:srgbClr val="AAB7C8"/>
            </a:solidFill>
            <a:prstDash val="solid"/>
          </a:ln>
        </p:spPr>
        <p:txBody>
          <a:bodyPr anchor="ctr"/>
          <a:lstStyle/>
          <a:p>
            <a:pPr algn="ctr">
              <a:defRPr sz="1125" b="0">
                <a:solidFill>
                  <a:srgbClr val="333333"/>
                </a:solidFill>
              </a:defRPr>
            </a:pPr>
            <a:r>
              <a:rPr sz="1125">
                <a:solidFill>
                  <a:srgbClr val="333333"/>
                </a:solidFill>
              </a:rPr>
              <a:t>来源文件 / 说话人ID</a:t>
            </a:r>
          </a:p>
        </p:txBody>
      </p:sp>
      <p:sp>
        <p:nvSpPr>
          <p:cNvPr id="29" name="矩形: 圆角 28">
            <a:extLst>
              <a:ext uri="{FF2B5EF4-FFF2-40B4-BE49-F238E27FC236}">
                <a16:creationId xmlns:a16="http://schemas.microsoft.com/office/drawing/2014/main" id="{63D76EE8-D1BC-84FB-0D17-DECDE5E80ABF}"/>
              </a:ext>
            </a:extLst>
          </p:cNvPr>
          <p:cNvSpPr>
            <a:spLocks noGrp="1"/>
          </p:cNvSpPr>
          <p:nvPr/>
        </p:nvSpPr>
        <p:spPr>
          <a:xfrm>
            <a:off x="2808029" y="4067174"/>
            <a:ext cx="1714500" cy="628650"/>
          </a:xfrm>
          <a:prstGeom prst="roundRect">
            <a:avLst>
              <a:gd name="adj" fmla="val 12121"/>
            </a:avLst>
          </a:prstGeom>
          <a:solidFill>
            <a:srgbClr val="F7F9FC"/>
          </a:solidFill>
          <a:ln w="13335">
            <a:solidFill>
              <a:srgbClr val="AAB7C8"/>
            </a:solidFill>
            <a:prstDash val="solid"/>
          </a:ln>
        </p:spPr>
        <p:txBody>
          <a:bodyPr anchor="ctr"/>
          <a:lstStyle/>
          <a:p>
            <a:pPr algn="ctr">
              <a:defRPr sz="1125" b="0">
                <a:solidFill>
                  <a:srgbClr val="333333"/>
                </a:solidFill>
              </a:defRPr>
            </a:pPr>
            <a:r>
              <a:rPr sz="1125">
                <a:solidFill>
                  <a:srgbClr val="333333"/>
                </a:solidFill>
              </a:rPr>
              <a:t>SNR 或 TIR</a:t>
            </a:r>
          </a:p>
        </p:txBody>
      </p:sp>
      <p:sp>
        <p:nvSpPr>
          <p:cNvPr id="30" name="矩形: 圆角 29">
            <a:extLst>
              <a:ext uri="{FF2B5EF4-FFF2-40B4-BE49-F238E27FC236}">
                <a16:creationId xmlns:a16="http://schemas.microsoft.com/office/drawing/2014/main" id="{5C226284-BE13-585B-94A5-E947BD1363D8}"/>
              </a:ext>
            </a:extLst>
          </p:cNvPr>
          <p:cNvSpPr>
            <a:spLocks noGrp="1"/>
          </p:cNvSpPr>
          <p:nvPr/>
        </p:nvSpPr>
        <p:spPr>
          <a:xfrm>
            <a:off x="4770179" y="4067174"/>
            <a:ext cx="2095500" cy="628650"/>
          </a:xfrm>
          <a:prstGeom prst="roundRect">
            <a:avLst>
              <a:gd name="adj" fmla="val 12121"/>
            </a:avLst>
          </a:prstGeom>
          <a:solidFill>
            <a:srgbClr val="F7F9FC"/>
          </a:solidFill>
          <a:ln w="13335">
            <a:solidFill>
              <a:srgbClr val="AAB7C8"/>
            </a:solidFill>
            <a:prstDash val="solid"/>
          </a:ln>
        </p:spPr>
        <p:txBody>
          <a:bodyPr anchor="ctr"/>
          <a:lstStyle/>
          <a:p>
            <a:pPr algn="ctr">
              <a:defRPr sz="1125" b="0">
                <a:solidFill>
                  <a:srgbClr val="333333"/>
                </a:solidFill>
              </a:defRPr>
            </a:pPr>
            <a:r>
              <a:rPr sz="1125">
                <a:solidFill>
                  <a:srgbClr val="333333"/>
                </a:solidFill>
              </a:rPr>
              <a:t>噪声起点 / 裁剪区间</a:t>
            </a:r>
          </a:p>
        </p:txBody>
      </p:sp>
      <p:sp>
        <p:nvSpPr>
          <p:cNvPr id="31" name="矩形: 圆角 30">
            <a:extLst>
              <a:ext uri="{FF2B5EF4-FFF2-40B4-BE49-F238E27FC236}">
                <a16:creationId xmlns:a16="http://schemas.microsoft.com/office/drawing/2014/main" id="{0C55DAF8-F60F-E22C-92FC-A233C37A446A}"/>
              </a:ext>
            </a:extLst>
          </p:cNvPr>
          <p:cNvSpPr>
            <a:spLocks noGrp="1"/>
          </p:cNvSpPr>
          <p:nvPr/>
        </p:nvSpPr>
        <p:spPr>
          <a:xfrm>
            <a:off x="7113329" y="4067174"/>
            <a:ext cx="1905000" cy="628650"/>
          </a:xfrm>
          <a:prstGeom prst="roundRect">
            <a:avLst>
              <a:gd name="adj" fmla="val 12121"/>
            </a:avLst>
          </a:prstGeom>
          <a:solidFill>
            <a:srgbClr val="F7F9FC"/>
          </a:solidFill>
          <a:ln w="13335">
            <a:solidFill>
              <a:srgbClr val="AAB7C8"/>
            </a:solidFill>
            <a:prstDash val="solid"/>
          </a:ln>
        </p:spPr>
        <p:txBody>
          <a:bodyPr anchor="ctr"/>
          <a:lstStyle/>
          <a:p>
            <a:pPr algn="ctr">
              <a:defRPr sz="1125" b="0">
                <a:solidFill>
                  <a:srgbClr val="333333"/>
                </a:solidFill>
              </a:defRPr>
            </a:pPr>
            <a:r>
              <a:rPr sz="1125">
                <a:solidFill>
                  <a:srgbClr val="333333"/>
                </a:solidFill>
              </a:rPr>
              <a:t>输出长度 / 峰值</a:t>
            </a:r>
          </a:p>
        </p:txBody>
      </p:sp>
      <p:sp>
        <p:nvSpPr>
          <p:cNvPr id="32" name="矩形: 圆角 31">
            <a:extLst>
              <a:ext uri="{FF2B5EF4-FFF2-40B4-BE49-F238E27FC236}">
                <a16:creationId xmlns:a16="http://schemas.microsoft.com/office/drawing/2014/main" id="{E73B50FF-66F0-A798-8D2E-B6C613A9601C}"/>
              </a:ext>
            </a:extLst>
          </p:cNvPr>
          <p:cNvSpPr>
            <a:spLocks noGrp="1"/>
          </p:cNvSpPr>
          <p:nvPr/>
        </p:nvSpPr>
        <p:spPr>
          <a:xfrm>
            <a:off x="9265981" y="4067174"/>
            <a:ext cx="2352675" cy="628650"/>
          </a:xfrm>
          <a:prstGeom prst="roundRect">
            <a:avLst>
              <a:gd name="adj" fmla="val 12121"/>
            </a:avLst>
          </a:prstGeom>
          <a:solidFill>
            <a:srgbClr val="F7F9FC"/>
          </a:solidFill>
          <a:ln w="13335">
            <a:solidFill>
              <a:srgbClr val="AAB7C8"/>
            </a:solidFill>
            <a:prstDash val="solid"/>
          </a:ln>
        </p:spPr>
        <p:txBody>
          <a:bodyPr anchor="ctr"/>
          <a:lstStyle/>
          <a:p>
            <a:pPr algn="ctr">
              <a:defRPr sz="1125" b="0">
                <a:solidFill>
                  <a:srgbClr val="333333"/>
                </a:solidFill>
              </a:defRPr>
            </a:pPr>
            <a:r>
              <a:rPr sz="1125">
                <a:solidFill>
                  <a:srgbClr val="333333"/>
                </a:solidFill>
              </a:rPr>
              <a:t>随机种子 seed=2026</a:t>
            </a:r>
          </a:p>
        </p:txBody>
      </p:sp>
      <p:sp>
        <p:nvSpPr>
          <p:cNvPr id="33" name="矩形 32">
            <a:extLst>
              <a:ext uri="{FF2B5EF4-FFF2-40B4-BE49-F238E27FC236}">
                <a16:creationId xmlns:a16="http://schemas.microsoft.com/office/drawing/2014/main" id="{837E0666-410A-7043-253B-2B792351B1AD}"/>
              </a:ext>
            </a:extLst>
          </p:cNvPr>
          <p:cNvSpPr>
            <a:spLocks noGrp="1"/>
          </p:cNvSpPr>
          <p:nvPr/>
        </p:nvSpPr>
        <p:spPr>
          <a:xfrm>
            <a:off x="476252" y="5078727"/>
            <a:ext cx="11144250" cy="590550"/>
          </a:xfrm>
          <a:prstGeom prst="rect">
            <a:avLst/>
          </a:prstGeom>
          <a:noFill/>
          <a:ln w="0">
            <a:noFill/>
            <a:prstDash val="solid"/>
          </a:ln>
        </p:spPr>
        <p:txBody>
          <a:bodyPr anchor="ctr"/>
          <a:lstStyle/>
          <a:p>
            <a:pPr algn="l">
              <a:defRPr sz="1200" b="0">
                <a:solidFill>
                  <a:srgbClr val="333333"/>
                </a:solidFill>
              </a:defRPr>
            </a:pPr>
            <a:r>
              <a:rPr sz="1200">
                <a:solidFill>
                  <a:srgbClr val="333333"/>
                </a:solidFill>
              </a:rPr>
              <a:t>控制原则:同一条件只改变目标声学变量;噪声条件用 SNR,多人重叠条件用 TIR,记录项支持逐样本复算。</a:t>
            </a:r>
          </a:p>
        </p:txBody>
      </p:sp>
      <p:sp>
        <p:nvSpPr>
          <p:cNvPr id="13" name="矩形 12">
            <a:extLst>
              <a:ext uri="{FF2B5EF4-FFF2-40B4-BE49-F238E27FC236}">
                <a16:creationId xmlns:a16="http://schemas.microsoft.com/office/drawing/2014/main" id="{864AAAB2-2E0D-9737-0A5A-99FBDECA5D2D}"/>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5" name="矩形: 圆角 14">
            <a:extLst>
              <a:ext uri="{FF2B5EF4-FFF2-40B4-BE49-F238E27FC236}">
                <a16:creationId xmlns:a16="http://schemas.microsoft.com/office/drawing/2014/main" id="{8525EF59-493D-32BE-A7CA-A322C202AF77}"/>
              </a:ext>
            </a:extLst>
          </p:cNvPr>
          <p:cNvSpPr>
            <a:spLocks noGrp="1"/>
          </p:cNvSpPr>
          <p:nvPr/>
        </p:nvSpPr>
        <p:spPr>
          <a:xfrm>
            <a:off x="3952878" y="1072832"/>
            <a:ext cx="1714500" cy="704850"/>
          </a:xfrm>
          <a:prstGeom prst="roundRect">
            <a:avLst>
              <a:gd name="adj" fmla="val 10811"/>
            </a:avLst>
          </a:prstGeom>
          <a:solidFill>
            <a:srgbClr val="FFF8E8"/>
          </a:solidFill>
          <a:ln w="13335">
            <a:solidFill>
              <a:srgbClr val="B58B2B"/>
            </a:solidFill>
            <a:prstDash val="solid"/>
          </a:ln>
        </p:spPr>
        <p:txBody>
          <a:bodyPr anchor="ctr"/>
          <a:lstStyle/>
          <a:p>
            <a:r>
              <a:rPr lang="zh-CN" altLang="en-US" sz="1125" dirty="0">
                <a:solidFill>
                  <a:srgbClr val="203D6B"/>
                </a:solidFill>
              </a:rPr>
              <a:t>三人重叠分别从不同池取样</a:t>
            </a:r>
            <a:r>
              <a:rPr lang="en-US" altLang="zh-CN" sz="1125" dirty="0">
                <a:solidFill>
                  <a:srgbClr val="203D6B"/>
                </a:solidFill>
              </a:rPr>
              <a:t>,</a:t>
            </a:r>
            <a:r>
              <a:rPr lang="zh-CN" altLang="en-US" sz="1125" dirty="0">
                <a:solidFill>
                  <a:srgbClr val="203D6B"/>
                </a:solidFill>
              </a:rPr>
              <a:t>防止两条干扰同人</a:t>
            </a:r>
          </a:p>
        </p:txBody>
      </p:sp>
      <p:cxnSp>
        <p:nvCxnSpPr>
          <p:cNvPr id="16" name="直接箭头连接符 15">
            <a:extLst>
              <a:ext uri="{FF2B5EF4-FFF2-40B4-BE49-F238E27FC236}">
                <a16:creationId xmlns:a16="http://schemas.microsoft.com/office/drawing/2014/main" id="{C24FCB34-5ADE-BB1C-256D-E60DCFCA1418}"/>
              </a:ext>
            </a:extLst>
          </p:cNvPr>
          <p:cNvCxnSpPr>
            <a:cxnSpLocks/>
          </p:cNvCxnSpPr>
          <p:nvPr/>
        </p:nvCxnSpPr>
        <p:spPr>
          <a:xfrm flipV="1">
            <a:off x="4657060" y="1760762"/>
            <a:ext cx="0" cy="451168"/>
          </a:xfrm>
          <a:prstGeom prst="straightConnector1">
            <a:avLst/>
          </a:prstGeom>
          <a:ln w="19050">
            <a:solidFill>
              <a:srgbClr val="64748B"/>
            </a:solidFill>
            <a:prstDash val="solid"/>
            <a:tailEnd type="triangle" w="sm" len="sm"/>
          </a:ln>
        </p:spPr>
      </p:cxnSp>
      <p:cxnSp>
        <p:nvCxnSpPr>
          <p:cNvPr id="25" name="直接箭头连接符 24">
            <a:extLst>
              <a:ext uri="{FF2B5EF4-FFF2-40B4-BE49-F238E27FC236}">
                <a16:creationId xmlns:a16="http://schemas.microsoft.com/office/drawing/2014/main" id="{06483F2E-5EBD-434E-6373-6852E3A6A9BB}"/>
              </a:ext>
            </a:extLst>
          </p:cNvPr>
          <p:cNvCxnSpPr>
            <a:cxnSpLocks/>
            <a:stCxn id="15" idx="2"/>
            <a:endCxn id="19" idx="0"/>
          </p:cNvCxnSpPr>
          <p:nvPr/>
        </p:nvCxnSpPr>
        <p:spPr>
          <a:xfrm>
            <a:off x="4810128" y="1777682"/>
            <a:ext cx="23814" cy="451168"/>
          </a:xfrm>
          <a:prstGeom prst="straightConnector1">
            <a:avLst/>
          </a:prstGeom>
          <a:ln w="19050">
            <a:solidFill>
              <a:srgbClr val="64748B"/>
            </a:solidFill>
            <a:prstDash val="solid"/>
            <a:tailEnd type="triangle" w="sm" len="sm"/>
          </a:ln>
        </p:spPr>
      </p:cxnSp>
    </p:spTree>
    <p:extLst>
      <p:ext uri="{BB962C8B-B14F-4D97-AF65-F5344CB8AC3E}">
        <p14:creationId xmlns:p14="http://schemas.microsoft.com/office/powerpoint/2010/main" val="38794751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71E64F5-0072-47D4-9CF8-7E52CF3E0D8D}"/>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混响生成采用预归一化卷积与统一反削波</a:t>
            </a:r>
          </a:p>
        </p:txBody>
      </p:sp>
      <p:sp>
        <p:nvSpPr>
          <p:cNvPr id="4" name="文本框 3">
            <a:extLst>
              <a:ext uri="{FF2B5EF4-FFF2-40B4-BE49-F238E27FC236}">
                <a16:creationId xmlns:a16="http://schemas.microsoft.com/office/drawing/2014/main" id="{72AEDEB8-0101-4C02-9127-E5E0A8087A13}"/>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01 数据协议与构建</a:t>
            </a:r>
          </a:p>
        </p:txBody>
      </p:sp>
      <p:sp>
        <p:nvSpPr>
          <p:cNvPr id="5" name="矩形 4">
            <a:extLst>
              <a:ext uri="{FF2B5EF4-FFF2-40B4-BE49-F238E27FC236}">
                <a16:creationId xmlns:a16="http://schemas.microsoft.com/office/drawing/2014/main" id="{E0A90F77-54DF-44BF-9054-86D57A97A58E}"/>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27" name="表格 5"/>
          <p:cNvGraphicFramePr/>
          <p:nvPr/>
        </p:nvGraphicFramePr>
        <p:xfrm>
          <a:off x="-15240000" y="-8572500"/>
          <a:ext cx="11303000" cy="4572000"/>
        </p:xfrm>
        <a:graphic>
          <a:graphicData uri="http://schemas.openxmlformats.org/drawingml/2006/table">
            <a:tbl>
              <a:tblPr firstRow="1" bandRow="1">
                <a:tableStyleId>{5C22544A-7EE6-4342-B048-85BDC9FD1C3A}</a:tableStyleId>
              </a:tblPr>
              <a:tblGrid>
                <a:gridCol w="5651500">
                  <a:extLst>
                    <a:ext uri="{9D8B030D-6E8A-4147-A177-3AD203B41FA5}">
                      <a16:colId xmlns:a16="http://schemas.microsoft.com/office/drawing/2014/main" val="20000"/>
                    </a:ext>
                  </a:extLst>
                </a:gridCol>
                <a:gridCol w="5651500">
                  <a:extLst>
                    <a:ext uri="{9D8B030D-6E8A-4147-A177-3AD203B41FA5}">
                      <a16:colId xmlns:a16="http://schemas.microsoft.com/office/drawing/2014/main" val="20001"/>
                    </a:ext>
                  </a:extLst>
                </a:gridCol>
              </a:tblGrid>
              <a:tr h="571500">
                <a:tc>
                  <a:txBody>
                    <a:bodyPr/>
                    <a:lstStyle/>
                    <a:p>
                      <a:r>
                        <a:rPr sz="1350" b="1">
                          <a:solidFill>
                            <a:srgbClr val="FFFFFF"/>
                          </a:solidFill>
                          <a:latin typeface="微软雅黑"/>
                          <a:ea typeface="微软雅黑"/>
                          <a:cs typeface="微软雅黑"/>
                        </a:rPr>
                        <a:t>环节</a:t>
                      </a:r>
                    </a:p>
                  </a:txBody>
                  <a:tcPr anchor="ctr">
                    <a:solidFill>
                      <a:srgbClr val="2F5496"/>
                    </a:solidFill>
                  </a:tcPr>
                </a:tc>
                <a:tc>
                  <a:txBody>
                    <a:bodyPr/>
                    <a:lstStyle/>
                    <a:p>
                      <a:r>
                        <a:rPr sz="1350" b="1">
                          <a:solidFill>
                            <a:srgbClr val="FFFFFF"/>
                          </a:solidFill>
                          <a:latin typeface="微软雅黑"/>
                          <a:ea typeface="微软雅黑"/>
                          <a:cs typeface="微软雅黑"/>
                        </a:rPr>
                        <a:t>可复现控制</a:t>
                      </a:r>
                    </a:p>
                  </a:txBody>
                  <a:tcPr anchor="ctr">
                    <a:solidFill>
                      <a:srgbClr val="2F5496"/>
                    </a:solidFill>
                  </a:tcPr>
                </a:tc>
                <a:extLst>
                  <a:ext uri="{0D108BD9-81ED-4DB2-BD59-A6C34878D82A}">
                    <a16:rowId xmlns:a16="http://schemas.microsoft.com/office/drawing/2014/main" val="10000"/>
                  </a:ext>
                </a:extLst>
              </a:tr>
              <a:tr h="571500">
                <a:tc>
                  <a:txBody>
                    <a:bodyPr/>
                    <a:lstStyle/>
                    <a:p>
                      <a:r>
                        <a:rPr sz="1350">
                          <a:solidFill>
                            <a:srgbClr val="333333"/>
                          </a:solidFill>
                          <a:latin typeface="微软雅黑"/>
                          <a:ea typeface="微软雅黑"/>
                          <a:cs typeface="微软雅黑"/>
                        </a:rPr>
                        <a:t>噪声池隔离</a:t>
                      </a:r>
                    </a:p>
                  </a:txBody>
                  <a:tcPr anchor="ctr">
                    <a:solidFill>
                      <a:srgbClr val="FFFFFF"/>
                    </a:solidFill>
                  </a:tcPr>
                </a:tc>
                <a:tc>
                  <a:txBody>
                    <a:bodyPr/>
                    <a:lstStyle/>
                    <a:p>
                      <a:r>
                        <a:rPr sz="1350">
                          <a:solidFill>
                            <a:srgbClr val="333333"/>
                          </a:solidFill>
                          <a:latin typeface="微软雅黑"/>
                          <a:ea typeface="微软雅黑"/>
                          <a:cs typeface="微软雅黑"/>
                        </a:rPr>
                        <a:t>MUSAN free-sound:训练池 615 条,测试池 168+ 条</a:t>
                      </a:r>
                    </a:p>
                  </a:txBody>
                  <a:tcPr anchor="ctr">
                    <a:solidFill>
                      <a:srgbClr val="FFFFFF"/>
                    </a:solidFill>
                  </a:tcPr>
                </a:tc>
                <a:extLst>
                  <a:ext uri="{0D108BD9-81ED-4DB2-BD59-A6C34878D82A}">
                    <a16:rowId xmlns:a16="http://schemas.microsoft.com/office/drawing/2014/main" val="10001"/>
                  </a:ext>
                </a:extLst>
              </a:tr>
              <a:tr h="571500">
                <a:tc>
                  <a:txBody>
                    <a:bodyPr/>
                    <a:lstStyle/>
                    <a:p>
                      <a:r>
                        <a:rPr sz="1350">
                          <a:solidFill>
                            <a:srgbClr val="333333"/>
                          </a:solidFill>
                          <a:latin typeface="微软雅黑"/>
                          <a:ea typeface="微软雅黑"/>
                          <a:cs typeface="微软雅黑"/>
                        </a:rPr>
                        <a:t>SNR 对照</a:t>
                      </a:r>
                    </a:p>
                  </a:txBody>
                  <a:tcPr anchor="ctr">
                    <a:solidFill>
                      <a:srgbClr val="F2F6FC"/>
                    </a:solidFill>
                  </a:tcPr>
                </a:tc>
                <a:tc>
                  <a:txBody>
                    <a:bodyPr/>
                    <a:lstStyle/>
                    <a:p>
                      <a:r>
                        <a:rPr sz="1350">
                          <a:solidFill>
                            <a:srgbClr val="333333"/>
                          </a:solidFill>
                          <a:latin typeface="微软雅黑"/>
                          <a:ea typeface="微软雅黑"/>
                          <a:cs typeface="微软雅黑"/>
                        </a:rPr>
                        <a:t>0 / -5 dB 使用同一噪声、同一位置,只改变缩放因子</a:t>
                      </a:r>
                    </a:p>
                  </a:txBody>
                  <a:tcPr anchor="ctr">
                    <a:solidFill>
                      <a:srgbClr val="F2F6FC"/>
                    </a:solidFill>
                  </a:tcPr>
                </a:tc>
                <a:extLst>
                  <a:ext uri="{0D108BD9-81ED-4DB2-BD59-A6C34878D82A}">
                    <a16:rowId xmlns:a16="http://schemas.microsoft.com/office/drawing/2014/main" val="10002"/>
                  </a:ext>
                </a:extLst>
              </a:tr>
              <a:tr h="571500">
                <a:tc>
                  <a:txBody>
                    <a:bodyPr/>
                    <a:lstStyle/>
                    <a:p>
                      <a:r>
                        <a:rPr sz="1350">
                          <a:solidFill>
                            <a:srgbClr val="333333"/>
                          </a:solidFill>
                          <a:latin typeface="微软雅黑"/>
                          <a:ea typeface="微软雅黑"/>
                          <a:cs typeface="微软雅黑"/>
                        </a:rPr>
                        <a:t>有效能量</a:t>
                      </a:r>
                    </a:p>
                  </a:txBody>
                  <a:tcPr anchor="ctr">
                    <a:solidFill>
                      <a:srgbClr val="FFFFFF"/>
                    </a:solidFill>
                  </a:tcPr>
                </a:tc>
                <a:tc>
                  <a:txBody>
                    <a:bodyPr/>
                    <a:lstStyle/>
                    <a:p>
                      <a:r>
                        <a:rPr sz="1350">
                          <a:solidFill>
                            <a:srgbClr val="333333"/>
                          </a:solidFill>
                          <a:latin typeface="微软雅黑"/>
                          <a:ea typeface="微软雅黑"/>
                          <a:cs typeface="微软雅黑"/>
                        </a:rPr>
                        <a:t>增益按 VAD 有效语音段 RMS 计算,不计静音段</a:t>
                      </a:r>
                    </a:p>
                  </a:txBody>
                  <a:tcPr anchor="ctr">
                    <a:solidFill>
                      <a:srgbClr val="FFFFFF"/>
                    </a:solidFill>
                  </a:tcPr>
                </a:tc>
                <a:extLst>
                  <a:ext uri="{0D108BD9-81ED-4DB2-BD59-A6C34878D82A}">
                    <a16:rowId xmlns:a16="http://schemas.microsoft.com/office/drawing/2014/main" val="10003"/>
                  </a:ext>
                </a:extLst>
              </a:tr>
              <a:tr h="571500">
                <a:tc>
                  <a:txBody>
                    <a:bodyPr/>
                    <a:lstStyle/>
                    <a:p>
                      <a:r>
                        <a:rPr sz="1350">
                          <a:solidFill>
                            <a:srgbClr val="333333"/>
                          </a:solidFill>
                          <a:latin typeface="微软雅黑"/>
                          <a:ea typeface="微软雅黑"/>
                          <a:cs typeface="微软雅黑"/>
                        </a:rPr>
                        <a:t>短噪声补齐</a:t>
                      </a:r>
                    </a:p>
                  </a:txBody>
                  <a:tcPr anchor="ctr">
                    <a:solidFill>
                      <a:srgbClr val="F2F6FC"/>
                    </a:solidFill>
                  </a:tcPr>
                </a:tc>
                <a:tc>
                  <a:txBody>
                    <a:bodyPr/>
                    <a:lstStyle/>
                    <a:p>
                      <a:r>
                        <a:rPr sz="1350">
                          <a:solidFill>
                            <a:srgbClr val="333333"/>
                          </a:solidFill>
                          <a:latin typeface="微软雅黑"/>
                          <a:ea typeface="微软雅黑"/>
                          <a:cs typeface="微软雅黑"/>
                        </a:rPr>
                        <a:t>噪声不足时按原顺序重复,再选取目标长度</a:t>
                      </a:r>
                    </a:p>
                  </a:txBody>
                  <a:tcPr anchor="ctr">
                    <a:solidFill>
                      <a:srgbClr val="F2F6FC"/>
                    </a:solidFill>
                  </a:tcPr>
                </a:tc>
                <a:extLst>
                  <a:ext uri="{0D108BD9-81ED-4DB2-BD59-A6C34878D82A}">
                    <a16:rowId xmlns:a16="http://schemas.microsoft.com/office/drawing/2014/main" val="10004"/>
                  </a:ext>
                </a:extLst>
              </a:tr>
              <a:tr h="571500">
                <a:tc>
                  <a:txBody>
                    <a:bodyPr/>
                    <a:lstStyle/>
                    <a:p>
                      <a:r>
                        <a:rPr sz="1350">
                          <a:solidFill>
                            <a:srgbClr val="333333"/>
                          </a:solidFill>
                          <a:latin typeface="微软雅黑"/>
                          <a:ea typeface="微软雅黑"/>
                          <a:cs typeface="微软雅黑"/>
                        </a:rPr>
                        <a:t>多人 TIR</a:t>
                      </a:r>
                    </a:p>
                  </a:txBody>
                  <a:tcPr anchor="ctr">
                    <a:solidFill>
                      <a:srgbClr val="FFFFFF"/>
                    </a:solidFill>
                  </a:tcPr>
                </a:tc>
                <a:tc>
                  <a:txBody>
                    <a:bodyPr/>
                    <a:lstStyle/>
                    <a:p>
                      <a:r>
                        <a:rPr sz="1350">
                          <a:solidFill>
                            <a:srgbClr val="333333"/>
                          </a:solidFill>
                          <a:latin typeface="微软雅黑"/>
                          <a:ea typeface="微软雅黑"/>
                          <a:cs typeface="微软雅黑"/>
                        </a:rPr>
                        <a:t>先合并干扰语音再整体缩放;TIR=0 dB 时目标与干扰等能量</a:t>
                      </a:r>
                    </a:p>
                  </a:txBody>
                  <a:tcPr anchor="ctr">
                    <a:solidFill>
                      <a:srgbClr val="FFFFFF"/>
                    </a:solidFill>
                  </a:tcPr>
                </a:tc>
                <a:extLst>
                  <a:ext uri="{0D108BD9-81ED-4DB2-BD59-A6C34878D82A}">
                    <a16:rowId xmlns:a16="http://schemas.microsoft.com/office/drawing/2014/main" val="10005"/>
                  </a:ext>
                </a:extLst>
              </a:tr>
              <a:tr h="571500">
                <a:tc>
                  <a:txBody>
                    <a:bodyPr/>
                    <a:lstStyle/>
                    <a:p>
                      <a:r>
                        <a:rPr sz="1350">
                          <a:solidFill>
                            <a:srgbClr val="333333"/>
                          </a:solidFill>
                          <a:latin typeface="微软雅黑"/>
                          <a:ea typeface="微软雅黑"/>
                          <a:cs typeface="微软雅黑"/>
                        </a:rPr>
                        <a:t>角色分配</a:t>
                      </a:r>
                    </a:p>
                  </a:txBody>
                  <a:tcPr anchor="ctr">
                    <a:solidFill>
                      <a:srgbClr val="F2F6FC"/>
                    </a:solidFill>
                  </a:tcPr>
                </a:tc>
                <a:tc>
                  <a:txBody>
                    <a:bodyPr/>
                    <a:lstStyle/>
                    <a:p>
                      <a:r>
                        <a:rPr sz="1350">
                          <a:solidFill>
                            <a:srgbClr val="333333"/>
                          </a:solidFill>
                          <a:latin typeface="微软雅黑"/>
                          <a:ea typeface="微软雅黑"/>
                          <a:cs typeface="微软雅黑"/>
                        </a:rPr>
                        <a:t>三人中文重叠分别从 B、C 池取样,防止两条干扰同人</a:t>
                      </a:r>
                    </a:p>
                  </a:txBody>
                  <a:tcPr anchor="ctr">
                    <a:solidFill>
                      <a:srgbClr val="F2F6FC"/>
                    </a:solidFill>
                  </a:tcPr>
                </a:tc>
                <a:extLst>
                  <a:ext uri="{0D108BD9-81ED-4DB2-BD59-A6C34878D82A}">
                    <a16:rowId xmlns:a16="http://schemas.microsoft.com/office/drawing/2014/main" val="10006"/>
                  </a:ext>
                </a:extLst>
              </a:tr>
              <a:tr h="571500">
                <a:tc>
                  <a:txBody>
                    <a:bodyPr/>
                    <a:lstStyle/>
                    <a:p>
                      <a:r>
                        <a:rPr sz="1350">
                          <a:solidFill>
                            <a:srgbClr val="333333"/>
                          </a:solidFill>
                          <a:latin typeface="微软雅黑"/>
                          <a:ea typeface="微软雅黑"/>
                          <a:cs typeface="微软雅黑"/>
                        </a:rPr>
                        <a:t>混响输出</a:t>
                      </a:r>
                    </a:p>
                  </a:txBody>
                  <a:tcPr anchor="ctr">
                    <a:solidFill>
                      <a:srgbClr val="FFFFFF"/>
                    </a:solidFill>
                  </a:tcPr>
                </a:tc>
                <a:tc>
                  <a:txBody>
                    <a:bodyPr/>
                    <a:lstStyle/>
                    <a:p>
                      <a:r>
                        <a:rPr sz="1350">
                          <a:solidFill>
                            <a:srgbClr val="333333"/>
                          </a:solidFill>
                          <a:latin typeface="微软雅黑"/>
                          <a:ea typeface="微软雅黑"/>
                          <a:cs typeface="微软雅黑"/>
                        </a:rPr>
                        <a:t>RIR 卷积后输出长度=原长度;记录 RIR / T60 / SNR / TIR 与 seed</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7" name="矩形: 圆角 6">
            <a:extLst>
              <a:ext uri="{FF2B5EF4-FFF2-40B4-BE49-F238E27FC236}">
                <a16:creationId xmlns:a16="http://schemas.microsoft.com/office/drawing/2014/main" id="{BC91E3BC-984A-49B1-A0B2-32299D3B65E2}"/>
              </a:ext>
            </a:extLst>
          </p:cNvPr>
          <p:cNvSpPr>
            <a:spLocks noGrp="1"/>
          </p:cNvSpPr>
          <p:nvPr/>
        </p:nvSpPr>
        <p:spPr>
          <a:xfrm>
            <a:off x="2615609" y="1609059"/>
            <a:ext cx="1414353" cy="886492"/>
          </a:xfrm>
          <a:prstGeom prst="roundRect">
            <a:avLst>
              <a:gd name="adj" fmla="val 7619"/>
            </a:avLst>
          </a:prstGeom>
          <a:solidFill>
            <a:srgbClr val="EEF3FB"/>
          </a:solidFill>
          <a:ln w="13335">
            <a:solidFill>
              <a:srgbClr val="355E9E"/>
            </a:solidFill>
            <a:prstDash val="solid"/>
          </a:ln>
        </p:spPr>
        <p:txBody>
          <a:bodyPr anchor="ctr"/>
          <a:lstStyle/>
          <a:p>
            <a:pPr algn="ctr">
              <a:defRPr sz="1125" b="1">
                <a:solidFill>
                  <a:srgbClr val="203D6B"/>
                </a:solidFill>
              </a:defRPr>
            </a:pPr>
            <a:r>
              <a:rPr sz="1125" b="1" dirty="0">
                <a:solidFill>
                  <a:srgbClr val="203D6B"/>
                </a:solidFill>
              </a:rPr>
              <a:t>① </a:t>
            </a:r>
            <a:r>
              <a:rPr sz="1125" b="1" dirty="0" err="1">
                <a:solidFill>
                  <a:srgbClr val="203D6B"/>
                </a:solidFill>
              </a:rPr>
              <a:t>输入</a:t>
            </a:r>
            <a:endParaRPr sz="1125" b="1" dirty="0">
              <a:solidFill>
                <a:srgbClr val="203D6B"/>
              </a:solidFill>
            </a:endParaRPr>
          </a:p>
          <a:p>
            <a:pPr algn="ctr">
              <a:defRPr sz="1125" b="1">
                <a:solidFill>
                  <a:srgbClr val="203D6B"/>
                </a:solidFill>
              </a:defRPr>
            </a:pPr>
            <a:r>
              <a:rPr sz="1125" b="1" dirty="0" err="1">
                <a:solidFill>
                  <a:srgbClr val="203D6B"/>
                </a:solidFill>
              </a:rPr>
              <a:t>干净语音</a:t>
            </a:r>
            <a:r>
              <a:rPr sz="1125" b="1" dirty="0">
                <a:solidFill>
                  <a:srgbClr val="203D6B"/>
                </a:solidFill>
              </a:rPr>
              <a:t> x + RIR h</a:t>
            </a:r>
          </a:p>
        </p:txBody>
      </p:sp>
      <p:sp>
        <p:nvSpPr>
          <p:cNvPr id="8" name="矩形: 圆角 7">
            <a:extLst>
              <a:ext uri="{FF2B5EF4-FFF2-40B4-BE49-F238E27FC236}">
                <a16:creationId xmlns:a16="http://schemas.microsoft.com/office/drawing/2014/main" id="{3823999C-A530-42E0-A7D1-614C4297DCBF}"/>
              </a:ext>
            </a:extLst>
          </p:cNvPr>
          <p:cNvSpPr>
            <a:spLocks noGrp="1"/>
          </p:cNvSpPr>
          <p:nvPr/>
        </p:nvSpPr>
        <p:spPr>
          <a:xfrm>
            <a:off x="4385931" y="1609059"/>
            <a:ext cx="1414353" cy="886492"/>
          </a:xfrm>
          <a:prstGeom prst="roundRect">
            <a:avLst>
              <a:gd name="adj" fmla="val 7619"/>
            </a:avLst>
          </a:prstGeom>
          <a:solidFill>
            <a:srgbClr val="FFF8E8"/>
          </a:solidFill>
          <a:ln w="13335">
            <a:solidFill>
              <a:srgbClr val="B58B2B"/>
            </a:solidFill>
            <a:prstDash val="solid"/>
          </a:ln>
        </p:spPr>
        <p:txBody>
          <a:bodyPr anchor="ctr"/>
          <a:lstStyle/>
          <a:p>
            <a:pPr algn="ctr">
              <a:defRPr sz="1125" b="1">
                <a:solidFill>
                  <a:srgbClr val="203D6B"/>
                </a:solidFill>
              </a:defRPr>
            </a:pPr>
            <a:r>
              <a:rPr sz="1125" b="1">
                <a:solidFill>
                  <a:srgbClr val="203D6B"/>
                </a:solidFill>
              </a:rPr>
              <a:t>② 预归一化</a:t>
            </a:r>
          </a:p>
          <a:p>
            <a:pPr algn="ctr">
              <a:defRPr sz="1125" b="1">
                <a:solidFill>
                  <a:srgbClr val="203D6B"/>
                </a:solidFill>
              </a:defRPr>
            </a:pPr>
            <a:r>
              <a:rPr sz="1125" b="1">
                <a:solidFill>
                  <a:srgbClr val="203D6B"/>
                </a:solidFill>
              </a:rPr>
              <a:t>x、h 分别归一化</a:t>
            </a:r>
          </a:p>
          <a:p>
            <a:pPr algn="ctr">
              <a:defRPr sz="1125" b="1">
                <a:solidFill>
                  <a:srgbClr val="203D6B"/>
                </a:solidFill>
              </a:defRPr>
            </a:pPr>
            <a:r>
              <a:rPr sz="1125" b="1">
                <a:solidFill>
                  <a:srgbClr val="203D6B"/>
                </a:solidFill>
              </a:rPr>
              <a:t>h 再 ×0.05</a:t>
            </a:r>
          </a:p>
        </p:txBody>
      </p:sp>
      <p:sp>
        <p:nvSpPr>
          <p:cNvPr id="9" name="矩形: 圆角 8">
            <a:extLst>
              <a:ext uri="{FF2B5EF4-FFF2-40B4-BE49-F238E27FC236}">
                <a16:creationId xmlns:a16="http://schemas.microsoft.com/office/drawing/2014/main" id="{20B955D9-B532-4811-B47B-F4D3EE944BC5}"/>
              </a:ext>
            </a:extLst>
          </p:cNvPr>
          <p:cNvSpPr>
            <a:spLocks noGrp="1"/>
          </p:cNvSpPr>
          <p:nvPr/>
        </p:nvSpPr>
        <p:spPr>
          <a:xfrm>
            <a:off x="6305107" y="1609059"/>
            <a:ext cx="1414353" cy="886492"/>
          </a:xfrm>
          <a:prstGeom prst="roundRect">
            <a:avLst>
              <a:gd name="adj" fmla="val 7619"/>
            </a:avLst>
          </a:prstGeom>
          <a:solidFill>
            <a:srgbClr val="EEF3FB"/>
          </a:solidFill>
          <a:ln w="13335">
            <a:solidFill>
              <a:srgbClr val="355E9E"/>
            </a:solidFill>
            <a:prstDash val="solid"/>
          </a:ln>
        </p:spPr>
        <p:txBody>
          <a:bodyPr anchor="ctr"/>
          <a:lstStyle/>
          <a:p>
            <a:pPr algn="ctr">
              <a:defRPr sz="1125" b="1">
                <a:solidFill>
                  <a:srgbClr val="203D6B"/>
                </a:solidFill>
              </a:defRPr>
            </a:pPr>
            <a:r>
              <a:rPr sz="1125" b="1">
                <a:solidFill>
                  <a:srgbClr val="203D6B"/>
                </a:solidFill>
              </a:rPr>
              <a:t>③ RIR 卷积</a:t>
            </a:r>
          </a:p>
          <a:p>
            <a:pPr algn="ctr">
              <a:defRPr sz="1125" b="1">
                <a:solidFill>
                  <a:srgbClr val="203D6B"/>
                </a:solidFill>
              </a:defRPr>
            </a:pPr>
            <a:r>
              <a:rPr sz="1125" b="1">
                <a:solidFill>
                  <a:srgbClr val="203D6B"/>
                </a:solidFill>
              </a:rPr>
              <a:t>y = x * h</a:t>
            </a:r>
          </a:p>
          <a:p>
            <a:pPr algn="ctr">
              <a:defRPr sz="1125" b="1">
                <a:solidFill>
                  <a:srgbClr val="203D6B"/>
                </a:solidFill>
              </a:defRPr>
            </a:pPr>
            <a:r>
              <a:rPr sz="1125" b="1">
                <a:solidFill>
                  <a:srgbClr val="203D6B"/>
                </a:solidFill>
              </a:rPr>
              <a:t>叠加直达声与反射声</a:t>
            </a:r>
          </a:p>
        </p:txBody>
      </p:sp>
      <p:sp>
        <p:nvSpPr>
          <p:cNvPr id="10" name="矩形: 圆角 9">
            <a:extLst>
              <a:ext uri="{FF2B5EF4-FFF2-40B4-BE49-F238E27FC236}">
                <a16:creationId xmlns:a16="http://schemas.microsoft.com/office/drawing/2014/main" id="{CFD07EC3-2B81-4AB9-8AA1-7A23BE7F4E02}"/>
              </a:ext>
            </a:extLst>
          </p:cNvPr>
          <p:cNvSpPr>
            <a:spLocks noGrp="1"/>
          </p:cNvSpPr>
          <p:nvPr/>
        </p:nvSpPr>
        <p:spPr>
          <a:xfrm>
            <a:off x="8250754" y="1609059"/>
            <a:ext cx="1414353" cy="886492"/>
          </a:xfrm>
          <a:prstGeom prst="roundRect">
            <a:avLst>
              <a:gd name="adj" fmla="val 7619"/>
            </a:avLst>
          </a:prstGeom>
          <a:solidFill>
            <a:srgbClr val="EEF3FB"/>
          </a:solidFill>
          <a:ln w="13335">
            <a:solidFill>
              <a:srgbClr val="355E9E"/>
            </a:solidFill>
            <a:prstDash val="solid"/>
          </a:ln>
        </p:spPr>
        <p:txBody>
          <a:bodyPr anchor="ctr"/>
          <a:lstStyle/>
          <a:p>
            <a:pPr algn="ctr">
              <a:defRPr sz="1125" b="1">
                <a:solidFill>
                  <a:srgbClr val="203D6B"/>
                </a:solidFill>
              </a:defRPr>
            </a:pPr>
            <a:r>
              <a:rPr sz="1125" b="1">
                <a:solidFill>
                  <a:srgbClr val="203D6B"/>
                </a:solidFill>
              </a:rPr>
              <a:t>④ 定长处理</a:t>
            </a:r>
          </a:p>
          <a:p>
            <a:pPr algn="ctr">
              <a:defRPr sz="1125" b="1">
                <a:solidFill>
                  <a:srgbClr val="203D6B"/>
                </a:solidFill>
              </a:defRPr>
            </a:pPr>
            <a:r>
              <a:rPr sz="1125" b="1">
                <a:solidFill>
                  <a:srgbClr val="203D6B"/>
                </a:solidFill>
              </a:rPr>
              <a:t>裁回原测试时长</a:t>
            </a:r>
          </a:p>
          <a:p>
            <a:pPr algn="ctr">
              <a:defRPr sz="1125" b="1">
                <a:solidFill>
                  <a:srgbClr val="203D6B"/>
                </a:solidFill>
              </a:defRPr>
            </a:pPr>
            <a:r>
              <a:rPr sz="1125" b="1">
                <a:solidFill>
                  <a:srgbClr val="203D6B"/>
                </a:solidFill>
              </a:rPr>
              <a:t>排除额外拖尾变量</a:t>
            </a:r>
          </a:p>
        </p:txBody>
      </p:sp>
      <p:sp>
        <p:nvSpPr>
          <p:cNvPr id="11" name="矩形: 圆角 10">
            <a:extLst>
              <a:ext uri="{FF2B5EF4-FFF2-40B4-BE49-F238E27FC236}">
                <a16:creationId xmlns:a16="http://schemas.microsoft.com/office/drawing/2014/main" id="{6306FEF4-B89F-4834-866E-87393E6A4783}"/>
              </a:ext>
            </a:extLst>
          </p:cNvPr>
          <p:cNvSpPr>
            <a:spLocks noGrp="1"/>
          </p:cNvSpPr>
          <p:nvPr/>
        </p:nvSpPr>
        <p:spPr>
          <a:xfrm>
            <a:off x="10309630" y="1609059"/>
            <a:ext cx="1414353" cy="886492"/>
          </a:xfrm>
          <a:prstGeom prst="roundRect">
            <a:avLst>
              <a:gd name="adj" fmla="val 7619"/>
            </a:avLst>
          </a:prstGeom>
          <a:solidFill>
            <a:srgbClr val="EEF7EA"/>
          </a:solidFill>
          <a:ln w="13335">
            <a:solidFill>
              <a:srgbClr val="5B9B43"/>
            </a:solidFill>
            <a:prstDash val="solid"/>
          </a:ln>
        </p:spPr>
        <p:txBody>
          <a:bodyPr anchor="ctr"/>
          <a:lstStyle/>
          <a:p>
            <a:pPr algn="ctr">
              <a:defRPr sz="1125" b="1">
                <a:solidFill>
                  <a:srgbClr val="203D6B"/>
                </a:solidFill>
              </a:defRPr>
            </a:pPr>
            <a:r>
              <a:rPr sz="1125" b="1">
                <a:solidFill>
                  <a:srgbClr val="203D6B"/>
                </a:solidFill>
              </a:rPr>
              <a:t>⑤ 统一反削波</a:t>
            </a:r>
          </a:p>
          <a:p>
            <a:pPr algn="ctr">
              <a:defRPr sz="1125" b="1">
                <a:solidFill>
                  <a:srgbClr val="203D6B"/>
                </a:solidFill>
              </a:defRPr>
            </a:pPr>
            <a:r>
              <a:rPr sz="1125" b="1">
                <a:solidFill>
                  <a:srgbClr val="203D6B"/>
                </a:solidFill>
              </a:rPr>
              <a:t>y_out=0.99y/max|y|</a:t>
            </a:r>
          </a:p>
          <a:p>
            <a:pPr algn="ctr">
              <a:defRPr sz="1125" b="1">
                <a:solidFill>
                  <a:srgbClr val="203D6B"/>
                </a:solidFill>
              </a:defRPr>
            </a:pPr>
            <a:r>
              <a:rPr sz="1125" b="1">
                <a:solidFill>
                  <a:srgbClr val="203D6B"/>
                </a:solidFill>
              </a:rPr>
              <a:t>整段等比例缩放</a:t>
            </a:r>
          </a:p>
        </p:txBody>
      </p:sp>
      <p:cxnSp>
        <p:nvCxnSpPr>
          <p:cNvPr id="33" name="直接箭头连接符 32"/>
          <p:cNvCxnSpPr>
            <a:stCxn id="7" idx="3"/>
            <a:endCxn id="8" idx="1"/>
          </p:cNvCxnSpPr>
          <p:nvPr/>
        </p:nvCxnSpPr>
        <p:spPr>
          <a:xfrm>
            <a:off x="4029962" y="2052305"/>
            <a:ext cx="355969" cy="0"/>
          </a:xfrm>
          <a:prstGeom prst="straightConnector1">
            <a:avLst/>
          </a:prstGeom>
          <a:ln w="19050">
            <a:solidFill>
              <a:srgbClr val="64748B"/>
            </a:solidFill>
            <a:prstDash val="solid"/>
            <a:tailEnd type="triangle" w="sm" len="sm"/>
          </a:ln>
        </p:spPr>
      </p:cxnSp>
      <p:cxnSp>
        <p:nvCxnSpPr>
          <p:cNvPr id="34" name="直接箭头连接符 33"/>
          <p:cNvCxnSpPr>
            <a:stCxn id="8" idx="3"/>
            <a:endCxn id="9" idx="1"/>
          </p:cNvCxnSpPr>
          <p:nvPr/>
        </p:nvCxnSpPr>
        <p:spPr>
          <a:xfrm>
            <a:off x="5800284" y="2052305"/>
            <a:ext cx="504823" cy="0"/>
          </a:xfrm>
          <a:prstGeom prst="straightConnector1">
            <a:avLst/>
          </a:prstGeom>
          <a:ln w="19050">
            <a:solidFill>
              <a:srgbClr val="B58B2B"/>
            </a:solidFill>
            <a:prstDash val="solid"/>
            <a:tailEnd type="triangle" w="sm" len="sm"/>
          </a:ln>
        </p:spPr>
      </p:cxnSp>
      <p:cxnSp>
        <p:nvCxnSpPr>
          <p:cNvPr id="35" name="直接箭头连接符 34"/>
          <p:cNvCxnSpPr>
            <a:stCxn id="9" idx="3"/>
            <a:endCxn id="10" idx="1"/>
          </p:cNvCxnSpPr>
          <p:nvPr/>
        </p:nvCxnSpPr>
        <p:spPr>
          <a:xfrm>
            <a:off x="7719460" y="2052305"/>
            <a:ext cx="531294" cy="0"/>
          </a:xfrm>
          <a:prstGeom prst="straightConnector1">
            <a:avLst/>
          </a:prstGeom>
          <a:ln w="19050">
            <a:solidFill>
              <a:srgbClr val="64748B"/>
            </a:solidFill>
            <a:prstDash val="solid"/>
            <a:tailEnd type="triangle" w="sm" len="sm"/>
          </a:ln>
        </p:spPr>
      </p:cxnSp>
      <p:cxnSp>
        <p:nvCxnSpPr>
          <p:cNvPr id="36" name="直接箭头连接符 35"/>
          <p:cNvCxnSpPr>
            <a:stCxn id="10" idx="3"/>
            <a:endCxn id="11" idx="1"/>
          </p:cNvCxnSpPr>
          <p:nvPr/>
        </p:nvCxnSpPr>
        <p:spPr>
          <a:xfrm>
            <a:off x="9665107" y="2052305"/>
            <a:ext cx="644523" cy="0"/>
          </a:xfrm>
          <a:prstGeom prst="straightConnector1">
            <a:avLst/>
          </a:prstGeom>
          <a:ln w="19050">
            <a:solidFill>
              <a:srgbClr val="5B9B43"/>
            </a:solidFill>
            <a:prstDash val="solid"/>
            <a:tailEnd type="triangle" w="sm" len="sm"/>
          </a:ln>
        </p:spPr>
      </p:cxnSp>
      <p:sp>
        <p:nvSpPr>
          <p:cNvPr id="16" name="矩形 15">
            <a:extLst>
              <a:ext uri="{FF2B5EF4-FFF2-40B4-BE49-F238E27FC236}">
                <a16:creationId xmlns:a16="http://schemas.microsoft.com/office/drawing/2014/main" id="{E021C217-C1F0-4840-8274-C29A8D369AE8}"/>
              </a:ext>
            </a:extLst>
          </p:cNvPr>
          <p:cNvSpPr>
            <a:spLocks noGrp="1"/>
          </p:cNvSpPr>
          <p:nvPr/>
        </p:nvSpPr>
        <p:spPr>
          <a:xfrm>
            <a:off x="514350" y="3143250"/>
            <a:ext cx="3905250" cy="304800"/>
          </a:xfrm>
          <a:prstGeom prst="rect">
            <a:avLst/>
          </a:prstGeom>
          <a:noFill/>
          <a:ln w="0">
            <a:noFill/>
            <a:prstDash val="solid"/>
          </a:ln>
        </p:spPr>
        <p:txBody>
          <a:bodyPr anchor="ctr"/>
          <a:lstStyle/>
          <a:p>
            <a:pPr algn="l">
              <a:defRPr sz="1500" b="1">
                <a:solidFill>
                  <a:srgbClr val="203D6B"/>
                </a:solidFill>
              </a:defRPr>
            </a:pPr>
            <a:r>
              <a:rPr sz="1500" b="1">
                <a:solidFill>
                  <a:srgbClr val="203D6B"/>
                </a:solidFill>
              </a:rPr>
              <a:t>为什么先预归一化,再反削波?</a:t>
            </a:r>
          </a:p>
        </p:txBody>
      </p:sp>
      <p:sp>
        <p:nvSpPr>
          <p:cNvPr id="17" name="矩形: 圆角 16">
            <a:extLst>
              <a:ext uri="{FF2B5EF4-FFF2-40B4-BE49-F238E27FC236}">
                <a16:creationId xmlns:a16="http://schemas.microsoft.com/office/drawing/2014/main" id="{DCF01B92-239E-4917-9ADA-D7841A32E492}"/>
              </a:ext>
            </a:extLst>
          </p:cNvPr>
          <p:cNvSpPr>
            <a:spLocks noGrp="1"/>
          </p:cNvSpPr>
          <p:nvPr/>
        </p:nvSpPr>
        <p:spPr>
          <a:xfrm>
            <a:off x="514350" y="3619500"/>
            <a:ext cx="3238500" cy="1143000"/>
          </a:xfrm>
          <a:prstGeom prst="roundRect">
            <a:avLst>
              <a:gd name="adj" fmla="val 6667"/>
            </a:avLst>
          </a:prstGeom>
          <a:solidFill>
            <a:srgbClr val="FFF4E8"/>
          </a:solidFill>
          <a:ln w="13335">
            <a:solidFill>
              <a:srgbClr val="F47A27"/>
            </a:solidFill>
            <a:prstDash val="solid"/>
          </a:ln>
        </p:spPr>
        <p:txBody>
          <a:bodyPr anchor="ctr"/>
          <a:lstStyle/>
          <a:p>
            <a:pPr algn="ctr">
              <a:defRPr sz="1200" b="0">
                <a:solidFill>
                  <a:srgbClr val="333333"/>
                </a:solidFill>
              </a:defRPr>
            </a:pPr>
            <a:r>
              <a:rPr sz="1200">
                <a:solidFill>
                  <a:srgbClr val="333333"/>
                </a:solidFill>
              </a:rPr>
              <a:t>预归一化 + RIR×0.05</a:t>
            </a:r>
          </a:p>
          <a:p>
            <a:pPr algn="ctr">
              <a:defRPr sz="1200" b="0">
                <a:solidFill>
                  <a:srgbClr val="333333"/>
                </a:solidFill>
              </a:defRPr>
            </a:pPr>
            <a:r>
              <a:rPr sz="1200">
                <a:solidFill>
                  <a:srgbClr val="333333"/>
                </a:solidFill>
              </a:rPr>
              <a:t>控制卷积前能量尺度</a:t>
            </a:r>
          </a:p>
          <a:p>
            <a:pPr algn="ctr">
              <a:defRPr sz="1200" b="0">
                <a:solidFill>
                  <a:srgbClr val="333333"/>
                </a:solidFill>
              </a:defRPr>
            </a:pPr>
            <a:r>
              <a:rPr sz="1200">
                <a:solidFill>
                  <a:srgbClr val="333333"/>
                </a:solidFill>
              </a:rPr>
              <a:t>降低瞬时过载风险</a:t>
            </a:r>
          </a:p>
        </p:txBody>
      </p:sp>
      <p:sp>
        <p:nvSpPr>
          <p:cNvPr id="18" name="矩形: 圆角 17">
            <a:extLst>
              <a:ext uri="{FF2B5EF4-FFF2-40B4-BE49-F238E27FC236}">
                <a16:creationId xmlns:a16="http://schemas.microsoft.com/office/drawing/2014/main" id="{CD298C19-7772-40AF-8B29-74CA71F3D80B}"/>
              </a:ext>
            </a:extLst>
          </p:cNvPr>
          <p:cNvSpPr>
            <a:spLocks noGrp="1"/>
          </p:cNvSpPr>
          <p:nvPr/>
        </p:nvSpPr>
        <p:spPr>
          <a:xfrm>
            <a:off x="4476750" y="3619500"/>
            <a:ext cx="3238500" cy="1143000"/>
          </a:xfrm>
          <a:prstGeom prst="roundRect">
            <a:avLst>
              <a:gd name="adj" fmla="val 6667"/>
            </a:avLst>
          </a:prstGeom>
          <a:solidFill>
            <a:srgbClr val="EEF7EA"/>
          </a:solidFill>
          <a:ln w="13335">
            <a:solidFill>
              <a:srgbClr val="5B9B43"/>
            </a:solidFill>
            <a:prstDash val="solid"/>
          </a:ln>
        </p:spPr>
        <p:txBody>
          <a:bodyPr anchor="ctr"/>
          <a:lstStyle/>
          <a:p>
            <a:pPr algn="ctr">
              <a:defRPr sz="1200" b="0">
                <a:solidFill>
                  <a:srgbClr val="333333"/>
                </a:solidFill>
              </a:defRPr>
            </a:pPr>
            <a:r>
              <a:rPr sz="1200">
                <a:solidFill>
                  <a:srgbClr val="333333"/>
                </a:solidFill>
              </a:rPr>
              <a:t>整段统一反削波</a:t>
            </a:r>
          </a:p>
          <a:p>
            <a:pPr algn="ctr">
              <a:defRPr sz="1200" b="0">
                <a:solidFill>
                  <a:srgbClr val="333333"/>
                </a:solidFill>
              </a:defRPr>
            </a:pPr>
            <a:r>
              <a:rPr sz="1200">
                <a:solidFill>
                  <a:srgbClr val="333333"/>
                </a:solidFill>
              </a:rPr>
              <a:t>所有采样点同倍率缩放</a:t>
            </a:r>
          </a:p>
          <a:p>
            <a:pPr algn="ctr">
              <a:defRPr sz="1200" b="0">
                <a:solidFill>
                  <a:srgbClr val="333333"/>
                </a:solidFill>
              </a:defRPr>
            </a:pPr>
            <a:r>
              <a:rPr sz="1200">
                <a:solidFill>
                  <a:srgbClr val="333333"/>
                </a:solidFill>
              </a:rPr>
              <a:t>保留相对波形和混响结构</a:t>
            </a:r>
          </a:p>
        </p:txBody>
      </p:sp>
      <p:sp>
        <p:nvSpPr>
          <p:cNvPr id="19" name="矩形: 圆角 18">
            <a:extLst>
              <a:ext uri="{FF2B5EF4-FFF2-40B4-BE49-F238E27FC236}">
                <a16:creationId xmlns:a16="http://schemas.microsoft.com/office/drawing/2014/main" id="{CEA986EB-3495-42E2-BB48-8101C45DDA5F}"/>
              </a:ext>
            </a:extLst>
          </p:cNvPr>
          <p:cNvSpPr>
            <a:spLocks noGrp="1"/>
          </p:cNvSpPr>
          <p:nvPr/>
        </p:nvSpPr>
        <p:spPr>
          <a:xfrm>
            <a:off x="8439152" y="3619500"/>
            <a:ext cx="3171825" cy="1143000"/>
          </a:xfrm>
          <a:prstGeom prst="roundRect">
            <a:avLst>
              <a:gd name="adj" fmla="val 6667"/>
            </a:avLst>
          </a:prstGeom>
          <a:solidFill>
            <a:srgbClr val="EEF3FB"/>
          </a:solidFill>
          <a:ln w="13335">
            <a:solidFill>
              <a:srgbClr val="355E9E"/>
            </a:solidFill>
            <a:prstDash val="solid"/>
          </a:ln>
        </p:spPr>
        <p:txBody>
          <a:bodyPr anchor="ctr"/>
          <a:lstStyle/>
          <a:p>
            <a:pPr algn="ctr">
              <a:defRPr sz="1200" b="0">
                <a:solidFill>
                  <a:srgbClr val="333333"/>
                </a:solidFill>
              </a:defRPr>
            </a:pPr>
            <a:r>
              <a:rPr sz="1200">
                <a:solidFill>
                  <a:srgbClr val="333333"/>
                </a:solidFill>
              </a:rPr>
              <a:t>可核查输出</a:t>
            </a:r>
          </a:p>
          <a:p>
            <a:pPr algn="ctr">
              <a:defRPr sz="1200" b="0">
                <a:solidFill>
                  <a:srgbClr val="333333"/>
                </a:solidFill>
              </a:defRPr>
            </a:pPr>
            <a:r>
              <a:rPr sz="1200">
                <a:solidFill>
                  <a:srgbClr val="333333"/>
                </a:solidFill>
              </a:rPr>
              <a:t>RIR ID / T60 / 原长度 / 峰值 / seed</a:t>
            </a:r>
          </a:p>
          <a:p>
            <a:pPr algn="ctr">
              <a:defRPr sz="1200" b="0">
                <a:solidFill>
                  <a:srgbClr val="333333"/>
                </a:solidFill>
              </a:defRPr>
            </a:pPr>
            <a:r>
              <a:rPr sz="1200">
                <a:solidFill>
                  <a:srgbClr val="333333"/>
                </a:solidFill>
              </a:rPr>
              <a:t>本批 T60 中位数 0.60 s</a:t>
            </a:r>
          </a:p>
        </p:txBody>
      </p:sp>
      <p:cxnSp>
        <p:nvCxnSpPr>
          <p:cNvPr id="41" name="直接箭头连接符 40"/>
          <p:cNvCxnSpPr>
            <a:stCxn id="17" idx="3"/>
            <a:endCxn id="18" idx="1"/>
          </p:cNvCxnSpPr>
          <p:nvPr/>
        </p:nvCxnSpPr>
        <p:spPr>
          <a:xfrm>
            <a:off x="3752850" y="4191000"/>
            <a:ext cx="723900" cy="0"/>
          </a:xfrm>
          <a:prstGeom prst="straightConnector1">
            <a:avLst/>
          </a:prstGeom>
          <a:ln w="19050">
            <a:solidFill>
              <a:srgbClr val="F47A27"/>
            </a:solidFill>
            <a:prstDash val="solid"/>
            <a:tailEnd type="triangle" w="sm" len="sm"/>
          </a:ln>
        </p:spPr>
      </p:cxnSp>
      <p:cxnSp>
        <p:nvCxnSpPr>
          <p:cNvPr id="42" name="直接箭头连接符 41"/>
          <p:cNvCxnSpPr>
            <a:stCxn id="18" idx="3"/>
            <a:endCxn id="19" idx="1"/>
          </p:cNvCxnSpPr>
          <p:nvPr/>
        </p:nvCxnSpPr>
        <p:spPr>
          <a:xfrm>
            <a:off x="7715250" y="4191000"/>
            <a:ext cx="723900" cy="0"/>
          </a:xfrm>
          <a:prstGeom prst="straightConnector1">
            <a:avLst/>
          </a:prstGeom>
          <a:ln w="19050">
            <a:solidFill>
              <a:srgbClr val="5B9B43"/>
            </a:solidFill>
            <a:prstDash val="solid"/>
            <a:tailEnd type="triangle" w="sm" len="sm"/>
          </a:ln>
        </p:spPr>
      </p:cxnSp>
      <p:sp>
        <p:nvSpPr>
          <p:cNvPr id="22" name="矩形 21">
            <a:extLst>
              <a:ext uri="{FF2B5EF4-FFF2-40B4-BE49-F238E27FC236}">
                <a16:creationId xmlns:a16="http://schemas.microsoft.com/office/drawing/2014/main" id="{D9A764DF-1419-4D00-BE9F-B29C15CA1FAC}"/>
              </a:ext>
            </a:extLst>
          </p:cNvPr>
          <p:cNvSpPr>
            <a:spLocks noGrp="1"/>
          </p:cNvSpPr>
          <p:nvPr/>
        </p:nvSpPr>
        <p:spPr>
          <a:xfrm>
            <a:off x="514351" y="5314950"/>
            <a:ext cx="11096625" cy="495300"/>
          </a:xfrm>
          <a:prstGeom prst="rect">
            <a:avLst/>
          </a:prstGeom>
          <a:noFill/>
          <a:ln w="0">
            <a:noFill/>
            <a:prstDash val="solid"/>
          </a:ln>
        </p:spPr>
        <p:txBody>
          <a:bodyPr anchor="ctr"/>
          <a:lstStyle/>
          <a:p>
            <a:pPr algn="ctr">
              <a:defRPr sz="1275" b="1">
                <a:solidFill>
                  <a:srgbClr val="203D6B"/>
                </a:solidFill>
              </a:defRPr>
            </a:pPr>
            <a:r>
              <a:rPr sz="1275" b="1">
                <a:solidFill>
                  <a:srgbClr val="203D6B"/>
                </a:solidFill>
              </a:rPr>
              <a:t>生成结果:只引入房间混响因素,同时把峰值、长度和随机性纳入可复现控制。</a:t>
            </a:r>
          </a:p>
        </p:txBody>
      </p:sp>
      <p:sp>
        <p:nvSpPr>
          <p:cNvPr id="12" name="矩形 11">
            <a:extLst>
              <a:ext uri="{FF2B5EF4-FFF2-40B4-BE49-F238E27FC236}">
                <a16:creationId xmlns:a16="http://schemas.microsoft.com/office/drawing/2014/main" id="{D142162F-97D3-7323-94B7-E951F258267B}"/>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5" name="矩形: 圆角 24">
            <a:extLst>
              <a:ext uri="{FF2B5EF4-FFF2-40B4-BE49-F238E27FC236}">
                <a16:creationId xmlns:a16="http://schemas.microsoft.com/office/drawing/2014/main" id="{CA9A781A-4F96-765D-D940-66A866C49464}"/>
              </a:ext>
            </a:extLst>
          </p:cNvPr>
          <p:cNvSpPr>
            <a:spLocks noGrp="1"/>
          </p:cNvSpPr>
          <p:nvPr/>
        </p:nvSpPr>
        <p:spPr>
          <a:xfrm>
            <a:off x="648697" y="1609059"/>
            <a:ext cx="1414352" cy="886492"/>
          </a:xfrm>
          <a:prstGeom prst="roundRect">
            <a:avLst>
              <a:gd name="adj" fmla="val 13793"/>
            </a:avLst>
          </a:prstGeom>
          <a:solidFill>
            <a:srgbClr val="355E9E"/>
          </a:solidFill>
          <a:ln w="13335">
            <a:solidFill>
              <a:srgbClr val="355E9E"/>
            </a:solidFill>
            <a:prstDash val="solid"/>
          </a:ln>
        </p:spPr>
        <p:txBody>
          <a:bodyPr anchor="ctr"/>
          <a:lstStyle/>
          <a:p>
            <a:pPr algn="ctr">
              <a:defRPr sz="1125" b="1">
                <a:solidFill>
                  <a:srgbClr val="FFFFFF"/>
                </a:solidFill>
              </a:defRPr>
            </a:pPr>
            <a:r>
              <a:rPr lang="zh-CN" altLang="en-US" sz="1125" b="1" dirty="0">
                <a:solidFill>
                  <a:srgbClr val="FFFFFF"/>
                </a:solidFill>
              </a:rPr>
              <a:t>混响</a:t>
            </a:r>
            <a:r>
              <a:rPr sz="1125" b="1" dirty="0" err="1">
                <a:solidFill>
                  <a:srgbClr val="FFFFFF"/>
                </a:solidFill>
              </a:rPr>
              <a:t>合成</a:t>
            </a:r>
            <a:endParaRPr sz="1125" b="1" dirty="0">
              <a:solidFill>
                <a:srgbClr val="FFFFFF"/>
              </a:solidFill>
            </a:endParaRPr>
          </a:p>
        </p:txBody>
      </p:sp>
      <p:cxnSp>
        <p:nvCxnSpPr>
          <p:cNvPr id="28" name="直接箭头连接符 27">
            <a:extLst>
              <a:ext uri="{FF2B5EF4-FFF2-40B4-BE49-F238E27FC236}">
                <a16:creationId xmlns:a16="http://schemas.microsoft.com/office/drawing/2014/main" id="{C01E2ECB-1E0B-23B6-59A8-88684810E338}"/>
              </a:ext>
            </a:extLst>
          </p:cNvPr>
          <p:cNvCxnSpPr>
            <a:cxnSpLocks/>
            <a:stCxn id="25" idx="3"/>
            <a:endCxn id="7" idx="1"/>
          </p:cNvCxnSpPr>
          <p:nvPr/>
        </p:nvCxnSpPr>
        <p:spPr>
          <a:xfrm>
            <a:off x="2063049" y="2052305"/>
            <a:ext cx="552560" cy="0"/>
          </a:xfrm>
          <a:prstGeom prst="straightConnector1">
            <a:avLst/>
          </a:prstGeom>
          <a:ln w="19050">
            <a:solidFill>
              <a:srgbClr val="64748B"/>
            </a:solidFill>
            <a:prstDash val="solid"/>
            <a:tailEnd type="triangle" w="sm" len="sm"/>
          </a:ln>
        </p:spPr>
      </p:cxnSp>
    </p:spTree>
    <p:extLst>
      <p:ext uri="{BB962C8B-B14F-4D97-AF65-F5344CB8AC3E}">
        <p14:creationId xmlns:p14="http://schemas.microsoft.com/office/powerpoint/2010/main" val="2296904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6D533-1A1F-D5A6-199A-ADD4B3718BD9}"/>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37B0A6C6-B06B-247D-2D89-20F79E2FE807}"/>
              </a:ext>
            </a:extLst>
          </p:cNvPr>
          <p:cNvSpPr txBox="1"/>
          <p:nvPr/>
        </p:nvSpPr>
        <p:spPr>
          <a:xfrm>
            <a:off x="762000" y="431800"/>
            <a:ext cx="3810000" cy="553998"/>
          </a:xfrm>
          <a:prstGeom prst="rect">
            <a:avLst/>
          </a:prstGeom>
          <a:noFill/>
        </p:spPr>
        <p:txBody>
          <a:bodyPr vert="horz" rtlCol="0">
            <a:spAutoFit/>
          </a:bodyPr>
          <a:lstStyle/>
          <a:p>
            <a:r>
              <a:rPr lang="zh-CN" altLang="en-US" sz="3000" b="1">
                <a:solidFill>
                  <a:srgbClr val="1F3864"/>
                </a:solidFill>
                <a:latin typeface="微软雅黑" panose="020B0503020204020204" pitchFamily="34" charset="-122"/>
                <a:ea typeface="微软雅黑" panose="020B0503020204020204" pitchFamily="34" charset="-122"/>
              </a:rPr>
              <a:t>提  纲</a:t>
            </a:r>
          </a:p>
        </p:txBody>
      </p:sp>
      <p:sp>
        <p:nvSpPr>
          <p:cNvPr id="3" name="矩形 2">
            <a:extLst>
              <a:ext uri="{FF2B5EF4-FFF2-40B4-BE49-F238E27FC236}">
                <a16:creationId xmlns:a16="http://schemas.microsoft.com/office/drawing/2014/main" id="{2F2A6088-9763-DA3C-59C5-9DC86ACAB9E4}"/>
              </a:ext>
            </a:extLst>
          </p:cNvPr>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06E261B7-298F-684A-57F9-A4D78325F74C}"/>
              </a:ext>
            </a:extLst>
          </p:cNvPr>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1F3864"/>
                </a:solidFill>
                <a:ea typeface="微软雅黑" panose="020B0503020204020204" pitchFamily="34" charset="-122"/>
              </a:rPr>
              <a:t>01</a:t>
            </a:r>
            <a:endParaRPr lang="zh-CN" altLang="en-US" b="1" dirty="0">
              <a:solidFill>
                <a:srgbClr val="1F3864"/>
              </a:solidFill>
              <a:ea typeface="微软雅黑" panose="020B0503020204020204" pitchFamily="34" charset="-122"/>
            </a:endParaRPr>
          </a:p>
        </p:txBody>
      </p:sp>
      <p:sp>
        <p:nvSpPr>
          <p:cNvPr id="5" name="文本框 4">
            <a:extLst>
              <a:ext uri="{FF2B5EF4-FFF2-40B4-BE49-F238E27FC236}">
                <a16:creationId xmlns:a16="http://schemas.microsoft.com/office/drawing/2014/main" id="{06D58A7C-FB6F-6EB5-5893-E863BBAB391F}"/>
              </a:ext>
            </a:extLst>
          </p:cNvPr>
          <p:cNvSpPr txBox="1"/>
          <p:nvPr/>
        </p:nvSpPr>
        <p:spPr>
          <a:xfrm>
            <a:off x="2235200" y="1828800"/>
            <a:ext cx="5334000" cy="415498"/>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数据协议与构建</a:t>
            </a:r>
          </a:p>
        </p:txBody>
      </p:sp>
      <p:sp>
        <p:nvSpPr>
          <p:cNvPr id="6" name="矩形 5">
            <a:extLst>
              <a:ext uri="{FF2B5EF4-FFF2-40B4-BE49-F238E27FC236}">
                <a16:creationId xmlns:a16="http://schemas.microsoft.com/office/drawing/2014/main" id="{4CA405D3-DB77-1F9C-A634-158DCC3006C0}"/>
              </a:ext>
            </a:extLst>
          </p:cNvPr>
          <p:cNvSpPr/>
          <p:nvPr/>
        </p:nvSpPr>
        <p:spPr>
          <a:xfrm>
            <a:off x="1143000" y="25654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FFFF"/>
                </a:solidFill>
                <a:ea typeface="微软雅黑" panose="020B0503020204020204" pitchFamily="34" charset="-122"/>
              </a:rPr>
              <a:t>02</a:t>
            </a:r>
            <a:endParaRPr lang="zh-CN" altLang="en-US" b="1" dirty="0">
              <a:solidFill>
                <a:srgbClr val="FFFFFF"/>
              </a:solidFill>
              <a:ea typeface="微软雅黑" panose="020B0503020204020204" pitchFamily="34" charset="-122"/>
            </a:endParaRPr>
          </a:p>
        </p:txBody>
      </p:sp>
      <p:sp>
        <p:nvSpPr>
          <p:cNvPr id="7" name="文本框 6">
            <a:extLst>
              <a:ext uri="{FF2B5EF4-FFF2-40B4-BE49-F238E27FC236}">
                <a16:creationId xmlns:a16="http://schemas.microsoft.com/office/drawing/2014/main" id="{760DEBD9-59D6-6E1D-B6F9-DE641506CDED}"/>
              </a:ext>
            </a:extLst>
          </p:cNvPr>
          <p:cNvSpPr txBox="1"/>
          <p:nvPr/>
        </p:nvSpPr>
        <p:spPr>
          <a:xfrm>
            <a:off x="2235200" y="2616200"/>
            <a:ext cx="5334000" cy="384721"/>
          </a:xfrm>
          <a:prstGeom prst="rect">
            <a:avLst/>
          </a:prstGeom>
          <a:noFill/>
        </p:spPr>
        <p:txBody>
          <a:bodyPr vert="horz" rtlCol="0">
            <a:spAutoFit/>
          </a:bodyPr>
          <a:lstStyle>
            <a:defPPr>
              <a:defRPr lang="zh-CN"/>
            </a:defPPr>
            <a:lvl1pPr>
              <a:defRPr sz="2100" b="1">
                <a:solidFill>
                  <a:srgbClr val="ED7D31"/>
                </a:solidFill>
                <a:latin typeface="微软雅黑" panose="020B0503020204020204" pitchFamily="34" charset="-122"/>
                <a:ea typeface="微软雅黑" panose="020B0503020204020204" pitchFamily="34" charset="-122"/>
              </a:defRPr>
            </a:lvl1pPr>
          </a:lstStyle>
          <a:p>
            <a:r>
              <a:rPr lang="zh-CN" altLang="en-US" dirty="0"/>
              <a:t>数据可信性</a:t>
            </a:r>
            <a:r>
              <a:rPr lang="en-US" altLang="zh-CN" dirty="0"/>
              <a:t>-</a:t>
            </a:r>
            <a:r>
              <a:rPr lang="zh-CN" altLang="en-US" dirty="0"/>
              <a:t>泄露性检查</a:t>
            </a:r>
          </a:p>
        </p:txBody>
      </p:sp>
      <p:sp>
        <p:nvSpPr>
          <p:cNvPr id="8" name="矩形 7">
            <a:extLst>
              <a:ext uri="{FF2B5EF4-FFF2-40B4-BE49-F238E27FC236}">
                <a16:creationId xmlns:a16="http://schemas.microsoft.com/office/drawing/2014/main" id="{95AE1586-0E18-5187-4757-80606BD2EFB0}"/>
              </a:ext>
            </a:extLst>
          </p:cNvPr>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1F3864"/>
                </a:solidFill>
                <a:ea typeface="微软雅黑" panose="020B0503020204020204" pitchFamily="34" charset="-122"/>
              </a:rPr>
              <a:t>03</a:t>
            </a:r>
            <a:endParaRPr lang="zh-CN" altLang="en-US" b="1" dirty="0">
              <a:solidFill>
                <a:srgbClr val="1F3864"/>
              </a:solidFill>
              <a:ea typeface="微软雅黑" panose="020B0503020204020204" pitchFamily="34" charset="-122"/>
            </a:endParaRPr>
          </a:p>
        </p:txBody>
      </p:sp>
      <p:sp>
        <p:nvSpPr>
          <p:cNvPr id="9" name="文本框 8">
            <a:extLst>
              <a:ext uri="{FF2B5EF4-FFF2-40B4-BE49-F238E27FC236}">
                <a16:creationId xmlns:a16="http://schemas.microsoft.com/office/drawing/2014/main" id="{F7194D61-D3D4-2DC5-0CF5-9F898BCD321F}"/>
              </a:ext>
            </a:extLst>
          </p:cNvPr>
          <p:cNvSpPr txBox="1"/>
          <p:nvPr/>
        </p:nvSpPr>
        <p:spPr>
          <a:xfrm>
            <a:off x="2235200" y="34036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统一评测协议构建</a:t>
            </a:r>
          </a:p>
        </p:txBody>
      </p:sp>
      <p:sp>
        <p:nvSpPr>
          <p:cNvPr id="10" name="矩形 9">
            <a:extLst>
              <a:ext uri="{FF2B5EF4-FFF2-40B4-BE49-F238E27FC236}">
                <a16:creationId xmlns:a16="http://schemas.microsoft.com/office/drawing/2014/main" id="{9D8DC5B1-9960-29D9-0C6F-738C305CA6D2}"/>
              </a:ext>
            </a:extLst>
          </p:cNvPr>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04</a:t>
            </a:r>
            <a:endParaRPr lang="zh-CN" altLang="en-US" b="1">
              <a:solidFill>
                <a:srgbClr val="1F3864"/>
              </a:solidFill>
              <a:ea typeface="微软雅黑" panose="020B0503020204020204" pitchFamily="34" charset="-122"/>
            </a:endParaRPr>
          </a:p>
        </p:txBody>
      </p:sp>
      <p:sp>
        <p:nvSpPr>
          <p:cNvPr id="11" name="文本框 10">
            <a:extLst>
              <a:ext uri="{FF2B5EF4-FFF2-40B4-BE49-F238E27FC236}">
                <a16:creationId xmlns:a16="http://schemas.microsoft.com/office/drawing/2014/main" id="{8DA71A0F-93CF-5C4E-8B49-1366BCB3BBBD}"/>
              </a:ext>
            </a:extLst>
          </p:cNvPr>
          <p:cNvSpPr txBox="1"/>
          <p:nvPr/>
        </p:nvSpPr>
        <p:spPr>
          <a:xfrm>
            <a:off x="2235200" y="41910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文献调研与判决</a:t>
            </a:r>
          </a:p>
        </p:txBody>
      </p:sp>
      <p:sp>
        <p:nvSpPr>
          <p:cNvPr id="12" name="矩形 11">
            <a:extLst>
              <a:ext uri="{FF2B5EF4-FFF2-40B4-BE49-F238E27FC236}">
                <a16:creationId xmlns:a16="http://schemas.microsoft.com/office/drawing/2014/main" id="{DE4F084D-939B-77D5-A409-4ECD189D93DC}"/>
              </a:ext>
            </a:extLst>
          </p:cNvPr>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05</a:t>
            </a:r>
            <a:endParaRPr lang="zh-CN" altLang="en-US" b="1">
              <a:solidFill>
                <a:srgbClr val="1F3864"/>
              </a:solidFill>
              <a:ea typeface="微软雅黑" panose="020B0503020204020204" pitchFamily="34" charset="-122"/>
            </a:endParaRPr>
          </a:p>
        </p:txBody>
      </p:sp>
      <p:sp>
        <p:nvSpPr>
          <p:cNvPr id="13" name="文本框 12">
            <a:extLst>
              <a:ext uri="{FF2B5EF4-FFF2-40B4-BE49-F238E27FC236}">
                <a16:creationId xmlns:a16="http://schemas.microsoft.com/office/drawing/2014/main" id="{6579E4B2-C14A-960A-89B4-C87D0FA05B54}"/>
              </a:ext>
            </a:extLst>
          </p:cNvPr>
          <p:cNvSpPr txBox="1"/>
          <p:nvPr/>
        </p:nvSpPr>
        <p:spPr>
          <a:xfrm>
            <a:off x="2235200" y="49784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前端结构与原理</a:t>
            </a:r>
          </a:p>
        </p:txBody>
      </p:sp>
      <p:sp>
        <p:nvSpPr>
          <p:cNvPr id="14" name="矩形 13">
            <a:extLst>
              <a:ext uri="{FF2B5EF4-FFF2-40B4-BE49-F238E27FC236}">
                <a16:creationId xmlns:a16="http://schemas.microsoft.com/office/drawing/2014/main" id="{4486B987-6EAA-426E-6273-BD760240F449}"/>
              </a:ext>
            </a:extLst>
          </p:cNvPr>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06</a:t>
            </a:r>
            <a:endParaRPr lang="zh-CN" altLang="en-US" b="1">
              <a:solidFill>
                <a:srgbClr val="1F3864"/>
              </a:solidFill>
              <a:ea typeface="微软雅黑" panose="020B0503020204020204" pitchFamily="34" charset="-122"/>
            </a:endParaRPr>
          </a:p>
        </p:txBody>
      </p:sp>
      <p:sp>
        <p:nvSpPr>
          <p:cNvPr id="15" name="文本框 14">
            <a:extLst>
              <a:ext uri="{FF2B5EF4-FFF2-40B4-BE49-F238E27FC236}">
                <a16:creationId xmlns:a16="http://schemas.microsoft.com/office/drawing/2014/main" id="{B18A4962-B719-2776-CAB8-AB91308E8874}"/>
              </a:ext>
            </a:extLst>
          </p:cNvPr>
          <p:cNvSpPr txBox="1"/>
          <p:nvPr/>
        </p:nvSpPr>
        <p:spPr>
          <a:xfrm>
            <a:off x="2235200" y="57658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展望与规划</a:t>
            </a:r>
          </a:p>
        </p:txBody>
      </p:sp>
      <p:sp>
        <p:nvSpPr>
          <p:cNvPr id="16" name="文本框 15">
            <a:extLst>
              <a:ext uri="{FF2B5EF4-FFF2-40B4-BE49-F238E27FC236}">
                <a16:creationId xmlns:a16="http://schemas.microsoft.com/office/drawing/2014/main" id="{41E9AC27-C584-6C8C-180C-E9ABE15CD70D}"/>
              </a:ext>
            </a:extLst>
          </p:cNvPr>
          <p:cNvSpPr txBox="1"/>
          <p:nvPr/>
        </p:nvSpPr>
        <p:spPr>
          <a:xfrm>
            <a:off x="7112000" y="1905000"/>
            <a:ext cx="4064000" cy="1785104"/>
          </a:xfrm>
          <a:prstGeom prst="rect">
            <a:avLst/>
          </a:prstGeom>
          <a:noFill/>
        </p:spPr>
        <p:txBody>
          <a:bodyPr vert="horz" rtlCol="0">
            <a:spAutoFit/>
          </a:bodyPr>
          <a:lstStyle/>
          <a:p>
            <a:pPr algn="ctr"/>
            <a:r>
              <a:rPr lang="en-US" altLang="zh-CN" sz="11000" b="1" dirty="0">
                <a:solidFill>
                  <a:srgbClr val="E2E8F5"/>
                </a:solidFill>
                <a:latin typeface="微软雅黑" panose="020B0503020204020204" pitchFamily="34" charset="-122"/>
                <a:ea typeface="微软雅黑" panose="020B0503020204020204" pitchFamily="34" charset="-122"/>
              </a:rPr>
              <a:t>02</a:t>
            </a:r>
            <a:endParaRPr lang="zh-CN" altLang="en-US" sz="11000" b="1" dirty="0">
              <a:solidFill>
                <a:srgbClr val="E2E8F5"/>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13686D84-BB92-FB3F-9D5F-A495693FE0A5}"/>
              </a:ext>
            </a:extLst>
          </p:cNvPr>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微软雅黑" panose="020B0503020204020204" pitchFamily="34" charset="-122"/>
                <a:ea typeface="微软雅黑" panose="020B0503020204020204" pitchFamily="34" charset="-122"/>
              </a:rPr>
              <a:t>数据可信性</a:t>
            </a:r>
            <a:r>
              <a:rPr lang="en-US" altLang="zh-CN" sz="3000" b="1" dirty="0">
                <a:solidFill>
                  <a:srgbClr val="1F3864"/>
                </a:solidFill>
                <a:latin typeface="微软雅黑" panose="020B0503020204020204" pitchFamily="34" charset="-122"/>
                <a:ea typeface="微软雅黑" panose="020B0503020204020204" pitchFamily="34" charset="-122"/>
              </a:rPr>
              <a:t>-</a:t>
            </a:r>
            <a:r>
              <a:rPr lang="zh-CN" altLang="en-US" sz="3000" b="1" dirty="0">
                <a:solidFill>
                  <a:srgbClr val="1F3864"/>
                </a:solidFill>
                <a:latin typeface="微软雅黑" panose="020B0503020204020204" pitchFamily="34" charset="-122"/>
                <a:ea typeface="微软雅黑" panose="020B0503020204020204" pitchFamily="34" charset="-122"/>
              </a:rPr>
              <a:t>泄露性检查</a:t>
            </a:r>
          </a:p>
        </p:txBody>
      </p:sp>
      <p:sp>
        <p:nvSpPr>
          <p:cNvPr id="18" name="矩形 17">
            <a:extLst>
              <a:ext uri="{FF2B5EF4-FFF2-40B4-BE49-F238E27FC236}">
                <a16:creationId xmlns:a16="http://schemas.microsoft.com/office/drawing/2014/main" id="{4CD18738-ADE3-1D64-A356-56C26C036019}"/>
              </a:ext>
            </a:extLst>
          </p:cNvPr>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490314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F23103-C458-462F-9943-8157F3261C87}"/>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三重检查把身份、文件与同源切片同时挡在评测前</a:t>
            </a:r>
          </a:p>
        </p:txBody>
      </p:sp>
      <p:sp>
        <p:nvSpPr>
          <p:cNvPr id="4" name="文本框 3">
            <a:extLst>
              <a:ext uri="{FF2B5EF4-FFF2-40B4-BE49-F238E27FC236}">
                <a16:creationId xmlns:a16="http://schemas.microsoft.com/office/drawing/2014/main" id="{A5C173E3-7713-4FF6-A6EC-902DB330D29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02 数据可信性</a:t>
            </a:r>
          </a:p>
        </p:txBody>
      </p:sp>
      <p:sp>
        <p:nvSpPr>
          <p:cNvPr id="5" name="矩形 4">
            <a:extLst>
              <a:ext uri="{FF2B5EF4-FFF2-40B4-BE49-F238E27FC236}">
                <a16:creationId xmlns:a16="http://schemas.microsoft.com/office/drawing/2014/main" id="{4579032E-73E4-45A0-8808-B4116ED79C3A}"/>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14" name="表格 5"/>
          <p:cNvGraphicFramePr/>
          <p:nvPr/>
        </p:nvGraphicFramePr>
        <p:xfrm>
          <a:off x="508001" y="1270000"/>
          <a:ext cx="11303001" cy="2794002"/>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465667">
                <a:tc>
                  <a:txBody>
                    <a:bodyPr/>
                    <a:lstStyle/>
                    <a:p>
                      <a:r>
                        <a:rPr sz="1200" b="1">
                          <a:solidFill>
                            <a:srgbClr val="FFFFFF"/>
                          </a:solidFill>
                          <a:latin typeface="微软雅黑"/>
                          <a:ea typeface="微软雅黑"/>
                          <a:cs typeface="微软雅黑"/>
                        </a:rPr>
                        <a:t>检查层级</a:t>
                      </a:r>
                    </a:p>
                  </a:txBody>
                  <a:tcPr anchor="ctr">
                    <a:solidFill>
                      <a:srgbClr val="2F5496"/>
                    </a:solidFill>
                  </a:tcPr>
                </a:tc>
                <a:tc>
                  <a:txBody>
                    <a:bodyPr/>
                    <a:lstStyle/>
                    <a:p>
                      <a:r>
                        <a:rPr sz="1200" b="1">
                          <a:solidFill>
                            <a:srgbClr val="FFFFFF"/>
                          </a:solidFill>
                          <a:latin typeface="微软雅黑"/>
                          <a:ea typeface="微软雅黑"/>
                          <a:cs typeface="微软雅黑"/>
                        </a:rPr>
                        <a:t>输入与比较方式</a:t>
                      </a:r>
                    </a:p>
                  </a:txBody>
                  <a:tcPr anchor="ctr">
                    <a:solidFill>
                      <a:srgbClr val="2F5496"/>
                    </a:solidFill>
                  </a:tcPr>
                </a:tc>
                <a:tc>
                  <a:txBody>
                    <a:bodyPr/>
                    <a:lstStyle/>
                    <a:p>
                      <a:r>
                        <a:rPr sz="1200" b="1">
                          <a:solidFill>
                            <a:srgbClr val="FFFFFF"/>
                          </a:solidFill>
                          <a:latin typeface="微软雅黑"/>
                          <a:ea typeface="微软雅黑"/>
                          <a:cs typeface="微软雅黑"/>
                        </a:rPr>
                        <a:t>通过条件 / 失败动作</a:t>
                      </a:r>
                    </a:p>
                  </a:txBody>
                  <a:tcPr anchor="ctr">
                    <a:solidFill>
                      <a:srgbClr val="2F5496"/>
                    </a:solidFill>
                  </a:tcPr>
                </a:tc>
                <a:extLst>
                  <a:ext uri="{0D108BD9-81ED-4DB2-BD59-A6C34878D82A}">
                    <a16:rowId xmlns:a16="http://schemas.microsoft.com/office/drawing/2014/main" val="10000"/>
                  </a:ext>
                </a:extLst>
              </a:tr>
              <a:tr h="465667">
                <a:tc>
                  <a:txBody>
                    <a:bodyPr/>
                    <a:lstStyle/>
                    <a:p>
                      <a:r>
                        <a:rPr sz="1125" b="0">
                          <a:solidFill>
                            <a:srgbClr val="333333"/>
                          </a:solidFill>
                          <a:latin typeface="微软雅黑"/>
                          <a:ea typeface="微软雅黑"/>
                          <a:cs typeface="微软雅黑"/>
                        </a:rPr>
                        <a:t>说话人级</a:t>
                      </a:r>
                    </a:p>
                  </a:txBody>
                  <a:tcPr anchor="ctr">
                    <a:solidFill>
                      <a:srgbClr val="FFFFFF"/>
                    </a:solidFill>
                  </a:tcPr>
                </a:tc>
                <a:tc>
                  <a:txBody>
                    <a:bodyPr/>
                    <a:lstStyle/>
                    <a:p>
                      <a:r>
                        <a:rPr sz="1125" b="0">
                          <a:solidFill>
                            <a:srgbClr val="333333"/>
                          </a:solidFill>
                          <a:latin typeface="微软雅黑"/>
                          <a:ea typeface="微软雅黑"/>
                          <a:cs typeface="微软雅黑"/>
                        </a:rPr>
                        <a:t>A/D/B/C/E/F 角色表与 Dev/Eval 说话人集合求交集</a:t>
                      </a:r>
                    </a:p>
                  </a:txBody>
                  <a:tcPr anchor="ctr">
                    <a:solidFill>
                      <a:srgbClr val="FFFFFF"/>
                    </a:solidFill>
                  </a:tcPr>
                </a:tc>
                <a:tc>
                  <a:txBody>
                    <a:bodyPr/>
                    <a:lstStyle/>
                    <a:p>
                      <a:r>
                        <a:rPr sz="1125" b="0">
                          <a:solidFill>
                            <a:srgbClr val="333333"/>
                          </a:solidFill>
                          <a:latin typeface="微软雅黑"/>
                          <a:ea typeface="微软雅黑"/>
                          <a:cs typeface="微软雅黑"/>
                        </a:rPr>
                        <a:t>交集为空;否则停止并输出冲突 ID</a:t>
                      </a:r>
                    </a:p>
                  </a:txBody>
                  <a:tcPr anchor="ctr">
                    <a:solidFill>
                      <a:srgbClr val="FFFFFF"/>
                    </a:solidFill>
                  </a:tcPr>
                </a:tc>
                <a:extLst>
                  <a:ext uri="{0D108BD9-81ED-4DB2-BD59-A6C34878D82A}">
                    <a16:rowId xmlns:a16="http://schemas.microsoft.com/office/drawing/2014/main" val="10001"/>
                  </a:ext>
                </a:extLst>
              </a:tr>
              <a:tr h="465667">
                <a:tc>
                  <a:txBody>
                    <a:bodyPr/>
                    <a:lstStyle/>
                    <a:p>
                      <a:r>
                        <a:rPr sz="1125" b="0">
                          <a:solidFill>
                            <a:srgbClr val="333333"/>
                          </a:solidFill>
                          <a:latin typeface="微软雅黑"/>
                          <a:ea typeface="微软雅黑"/>
                          <a:cs typeface="微软雅黑"/>
                        </a:rPr>
                        <a:t>MD5 文件级</a:t>
                      </a:r>
                    </a:p>
                  </a:txBody>
                  <a:tcPr anchor="ctr">
                    <a:solidFill>
                      <a:srgbClr val="F2F6FC"/>
                    </a:solidFill>
                  </a:tcPr>
                </a:tc>
                <a:tc>
                  <a:txBody>
                    <a:bodyPr/>
                    <a:lstStyle/>
                    <a:p>
                      <a:r>
                        <a:rPr sz="1125" b="0">
                          <a:solidFill>
                            <a:srgbClr val="333333"/>
                          </a:solidFill>
                          <a:latin typeface="微软雅黑"/>
                          <a:ea typeface="微软雅黑"/>
                          <a:cs typeface="微软雅黑"/>
                        </a:rPr>
                        <a:t>对训练、注册、测试音频生成 MD5 并跨集合比对</a:t>
                      </a:r>
                    </a:p>
                  </a:txBody>
                  <a:tcPr anchor="ctr">
                    <a:solidFill>
                      <a:srgbClr val="F2F6FC"/>
                    </a:solidFill>
                  </a:tcPr>
                </a:tc>
                <a:tc>
                  <a:txBody>
                    <a:bodyPr/>
                    <a:lstStyle/>
                    <a:p>
                      <a:r>
                        <a:rPr sz="1125" b="0">
                          <a:solidFill>
                            <a:srgbClr val="333333"/>
                          </a:solidFill>
                          <a:latin typeface="微软雅黑"/>
                          <a:ea typeface="微软雅黑"/>
                          <a:cs typeface="微软雅黑"/>
                        </a:rPr>
                        <a:t>重复哈希为空;否则定位复制或软链接</a:t>
                      </a:r>
                    </a:p>
                  </a:txBody>
                  <a:tcPr anchor="ctr">
                    <a:solidFill>
                      <a:srgbClr val="F2F6FC"/>
                    </a:solidFill>
                  </a:tcPr>
                </a:tc>
                <a:extLst>
                  <a:ext uri="{0D108BD9-81ED-4DB2-BD59-A6C34878D82A}">
                    <a16:rowId xmlns:a16="http://schemas.microsoft.com/office/drawing/2014/main" val="10002"/>
                  </a:ext>
                </a:extLst>
              </a:tr>
              <a:tr h="465667">
                <a:tc>
                  <a:txBody>
                    <a:bodyPr/>
                    <a:lstStyle/>
                    <a:p>
                      <a:r>
                        <a:rPr sz="1125" b="0">
                          <a:solidFill>
                            <a:srgbClr val="333333"/>
                          </a:solidFill>
                          <a:latin typeface="微软雅黑"/>
                          <a:ea typeface="微软雅黑"/>
                          <a:cs typeface="微软雅黑"/>
                        </a:rPr>
                        <a:t>同源切片级</a:t>
                      </a:r>
                    </a:p>
                  </a:txBody>
                  <a:tcPr anchor="ctr">
                    <a:solidFill>
                      <a:srgbClr val="FFFFFF"/>
                    </a:solidFill>
                  </a:tcPr>
                </a:tc>
                <a:tc>
                  <a:txBody>
                    <a:bodyPr/>
                    <a:lstStyle/>
                    <a:p>
                      <a:r>
                        <a:rPr sz="1125" b="0">
                          <a:solidFill>
                            <a:srgbClr val="333333"/>
                          </a:solidFill>
                          <a:latin typeface="微软雅黑"/>
                          <a:ea typeface="微软雅黑"/>
                          <a:cs typeface="微软雅黑"/>
                        </a:rPr>
                        <a:t>追踪原始长语音及 3 s 切片来源,比较注册与测试来源键</a:t>
                      </a:r>
                    </a:p>
                  </a:txBody>
                  <a:tcPr anchor="ctr">
                    <a:solidFill>
                      <a:srgbClr val="FFFFFF"/>
                    </a:solidFill>
                  </a:tcPr>
                </a:tc>
                <a:tc>
                  <a:txBody>
                    <a:bodyPr/>
                    <a:lstStyle/>
                    <a:p>
                      <a:r>
                        <a:rPr sz="1125" b="0">
                          <a:solidFill>
                            <a:srgbClr val="333333"/>
                          </a:solidFill>
                          <a:latin typeface="微软雅黑"/>
                          <a:ea typeface="微软雅黑"/>
                          <a:cs typeface="微软雅黑"/>
                        </a:rPr>
                        <a:t>同源键不重叠;否则删除该切片</a:t>
                      </a:r>
                    </a:p>
                  </a:txBody>
                  <a:tcPr anchor="ctr">
                    <a:solidFill>
                      <a:srgbClr val="FFFFFF"/>
                    </a:solidFill>
                  </a:tcPr>
                </a:tc>
                <a:extLst>
                  <a:ext uri="{0D108BD9-81ED-4DB2-BD59-A6C34878D82A}">
                    <a16:rowId xmlns:a16="http://schemas.microsoft.com/office/drawing/2014/main" val="10003"/>
                  </a:ext>
                </a:extLst>
              </a:tr>
              <a:tr h="465667">
                <a:tc>
                  <a:txBody>
                    <a:bodyPr/>
                    <a:lstStyle/>
                    <a:p>
                      <a:r>
                        <a:rPr sz="1125" b="0">
                          <a:solidFill>
                            <a:srgbClr val="333333"/>
                          </a:solidFill>
                          <a:latin typeface="微软雅黑"/>
                          <a:ea typeface="微软雅黑"/>
                          <a:cs typeface="微软雅黑"/>
                        </a:rPr>
                        <a:t>守门输出</a:t>
                      </a:r>
                    </a:p>
                  </a:txBody>
                  <a:tcPr anchor="ctr">
                    <a:solidFill>
                      <a:srgbClr val="F2F6FC"/>
                    </a:solidFill>
                  </a:tcPr>
                </a:tc>
                <a:tc>
                  <a:txBody>
                    <a:bodyPr/>
                    <a:lstStyle/>
                    <a:p>
                      <a:r>
                        <a:rPr sz="1125" b="0">
                          <a:solidFill>
                            <a:srgbClr val="333333"/>
                          </a:solidFill>
                          <a:latin typeface="微软雅黑"/>
                          <a:ea typeface="微软雅黑"/>
                          <a:cs typeface="微软雅黑"/>
                        </a:rPr>
                        <a:t>三项报告 + 通过标记 + 可评测 manifest</a:t>
                      </a:r>
                    </a:p>
                  </a:txBody>
                  <a:tcPr anchor="ctr">
                    <a:solidFill>
                      <a:srgbClr val="F2F6FC"/>
                    </a:solidFill>
                  </a:tcPr>
                </a:tc>
                <a:tc>
                  <a:txBody>
                    <a:bodyPr/>
                    <a:lstStyle/>
                    <a:p>
                      <a:r>
                        <a:rPr sz="1125" b="0">
                          <a:solidFill>
                            <a:srgbClr val="333333"/>
                          </a:solidFill>
                          <a:latin typeface="微软雅黑"/>
                          <a:ea typeface="微软雅黑"/>
                          <a:cs typeface="微软雅黑"/>
                        </a:rPr>
                        <a:t>三项全部通过后才允许进入打分</a:t>
                      </a:r>
                    </a:p>
                  </a:txBody>
                  <a:tcPr anchor="ctr">
                    <a:solidFill>
                      <a:srgbClr val="F2F6FC"/>
                    </a:solidFill>
                  </a:tcPr>
                </a:tc>
                <a:extLst>
                  <a:ext uri="{0D108BD9-81ED-4DB2-BD59-A6C34878D82A}">
                    <a16:rowId xmlns:a16="http://schemas.microsoft.com/office/drawing/2014/main" val="10004"/>
                  </a:ext>
                </a:extLst>
              </a:tr>
              <a:tr h="465667">
                <a:tc>
                  <a:txBody>
                    <a:bodyPr/>
                    <a:lstStyle/>
                    <a:p>
                      <a:r>
                        <a:rPr sz="1125" b="0">
                          <a:solidFill>
                            <a:srgbClr val="333333"/>
                          </a:solidFill>
                          <a:latin typeface="微软雅黑"/>
                          <a:ea typeface="微软雅黑"/>
                          <a:cs typeface="微软雅黑"/>
                        </a:rPr>
                        <a:t>优势</a:t>
                      </a:r>
                    </a:p>
                  </a:txBody>
                  <a:tcPr anchor="ctr">
                    <a:solidFill>
                      <a:srgbClr val="FFFFFF"/>
                    </a:solidFill>
                  </a:tcPr>
                </a:tc>
                <a:tc>
                  <a:txBody>
                    <a:bodyPr/>
                    <a:lstStyle/>
                    <a:p>
                      <a:r>
                        <a:rPr sz="1125" b="0">
                          <a:solidFill>
                            <a:srgbClr val="333333"/>
                          </a:solidFill>
                          <a:latin typeface="微软雅黑"/>
                          <a:ea typeface="微软雅黑"/>
                          <a:cs typeface="微软雅黑"/>
                        </a:rPr>
                        <a:t>多粒度互补:身份检查防同人,哈希防同文件,来源键防切片泄漏</a:t>
                      </a:r>
                    </a:p>
                  </a:txBody>
                  <a:tcPr anchor="ctr">
                    <a:solidFill>
                      <a:srgbClr val="FFFFFF"/>
                    </a:solidFill>
                  </a:tcPr>
                </a:tc>
                <a:tc>
                  <a:txBody>
                    <a:bodyPr/>
                    <a:lstStyle/>
                    <a:p>
                      <a:r>
                        <a:rPr sz="1125" b="0">
                          <a:solidFill>
                            <a:srgbClr val="333333"/>
                          </a:solidFill>
                          <a:latin typeface="微软雅黑"/>
                          <a:ea typeface="微软雅黑"/>
                          <a:cs typeface="微软雅黑"/>
                        </a:rPr>
                        <a:t>把人工约定变成可复现的脚本门禁</a:t>
                      </a:r>
                      <a:endParaRPr sz="1300">
                        <a:solidFill>
                          <a:srgbClr val="333333"/>
                        </a:solidFill>
                        <a:latin typeface="微软雅黑"/>
                        <a:ea typeface="微软雅黑"/>
                        <a:cs typeface="微软雅黑"/>
                      </a:endParaRP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文本框 6">
            <a:extLst>
              <a:ext uri="{FF2B5EF4-FFF2-40B4-BE49-F238E27FC236}">
                <a16:creationId xmlns:a16="http://schemas.microsoft.com/office/drawing/2014/main" id="{A41F65AB-82A0-4926-AED9-941F10B35284}"/>
              </a:ext>
            </a:extLst>
          </p:cNvPr>
          <p:cNvSpPr>
            <a:spLocks noGrp="1"/>
          </p:cNvSpPr>
          <p:nvPr/>
        </p:nvSpPr>
        <p:spPr>
          <a:xfrm>
            <a:off x="508000" y="4318000"/>
            <a:ext cx="5080000" cy="338554"/>
          </a:xfrm>
          <a:prstGeom prst="rect">
            <a:avLst/>
          </a:prstGeom>
          <a:noFill/>
        </p:spPr>
        <p:txBody>
          <a:bodyPr vert="horz">
            <a:spAutoFit/>
          </a:bodyPr>
          <a:lstStyle/>
          <a:p>
            <a:r>
              <a:rPr sz="1600" b="1">
                <a:solidFill>
                  <a:srgbClr val="1F3864"/>
                </a:solidFill>
                <a:latin typeface="微软雅黑"/>
                <a:ea typeface="微软雅黑"/>
                <a:cs typeface="微软雅黑"/>
              </a:rPr>
              <a:t>数据流</a:t>
            </a:r>
          </a:p>
        </p:txBody>
      </p:sp>
      <p:sp>
        <p:nvSpPr>
          <p:cNvPr id="8" name="文本框 7">
            <a:extLst>
              <a:ext uri="{FF2B5EF4-FFF2-40B4-BE49-F238E27FC236}">
                <a16:creationId xmlns:a16="http://schemas.microsoft.com/office/drawing/2014/main" id="{5D896F50-277B-4057-B6F9-F55F016D3F0E}"/>
              </a:ext>
            </a:extLst>
          </p:cNvPr>
          <p:cNvSpPr>
            <a:spLocks noGrp="1"/>
          </p:cNvSpPr>
          <p:nvPr/>
        </p:nvSpPr>
        <p:spPr>
          <a:xfrm>
            <a:off x="508000" y="4724402"/>
            <a:ext cx="11303000" cy="615553"/>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角色清单 / 音频 / 切片来源 → 三重检查 → 冲突清单或 PASS manifest → 统一评测</a:t>
            </a:r>
          </a:p>
          <a:p>
            <a:pPr>
              <a:spcAft>
                <a:spcPts val="600"/>
              </a:spcAft>
            </a:pPr>
            <a:r>
              <a:rPr sz="1450">
                <a:solidFill>
                  <a:srgbClr val="333333"/>
                </a:solidFill>
                <a:latin typeface="微软雅黑"/>
                <a:ea typeface="微软雅黑"/>
                <a:cs typeface="微软雅黑"/>
              </a:rPr>
              <a:t>核查原则:任一层非空即停止,不允许带问题数据继续打分。</a:t>
            </a:r>
          </a:p>
        </p:txBody>
      </p:sp>
      <p:sp>
        <p:nvSpPr>
          <p:cNvPr id="9" name="矩形 8">
            <a:extLst>
              <a:ext uri="{FF2B5EF4-FFF2-40B4-BE49-F238E27FC236}">
                <a16:creationId xmlns:a16="http://schemas.microsoft.com/office/drawing/2014/main" id="{CBF68832-AD61-1EC0-E6B1-16F288CDE19E}"/>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3952245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7CB9A-2F45-696D-8D4F-5D91F519BE2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CC2600EC-1836-FE32-58B8-4E8C45BB46C6}"/>
              </a:ext>
            </a:extLst>
          </p:cNvPr>
          <p:cNvSpPr txBox="1"/>
          <p:nvPr/>
        </p:nvSpPr>
        <p:spPr>
          <a:xfrm>
            <a:off x="762000" y="431800"/>
            <a:ext cx="3810000" cy="553998"/>
          </a:xfrm>
          <a:prstGeom prst="rect">
            <a:avLst/>
          </a:prstGeom>
          <a:noFill/>
        </p:spPr>
        <p:txBody>
          <a:bodyPr vert="horz" rtlCol="0">
            <a:spAutoFit/>
          </a:bodyPr>
          <a:lstStyle/>
          <a:p>
            <a:r>
              <a:rPr lang="zh-CN" altLang="en-US" sz="3000" b="1">
                <a:solidFill>
                  <a:srgbClr val="1F3864"/>
                </a:solidFill>
                <a:latin typeface="微软雅黑" panose="020B0503020204020204" pitchFamily="34" charset="-122"/>
                <a:ea typeface="微软雅黑" panose="020B0503020204020204" pitchFamily="34" charset="-122"/>
              </a:rPr>
              <a:t>提  纲</a:t>
            </a:r>
          </a:p>
        </p:txBody>
      </p:sp>
      <p:sp>
        <p:nvSpPr>
          <p:cNvPr id="3" name="矩形 2">
            <a:extLst>
              <a:ext uri="{FF2B5EF4-FFF2-40B4-BE49-F238E27FC236}">
                <a16:creationId xmlns:a16="http://schemas.microsoft.com/office/drawing/2014/main" id="{C462CA02-2189-B016-3E9A-698A76BE42F8}"/>
              </a:ext>
            </a:extLst>
          </p:cNvPr>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6DA14BF-98B1-3491-0C9D-3340AD3E2633}"/>
              </a:ext>
            </a:extLst>
          </p:cNvPr>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01</a:t>
            </a:r>
            <a:endParaRPr lang="zh-CN" altLang="en-US" b="1">
              <a:solidFill>
                <a:srgbClr val="1F3864"/>
              </a:solidFill>
              <a:ea typeface="微软雅黑" panose="020B0503020204020204" pitchFamily="34" charset="-122"/>
            </a:endParaRPr>
          </a:p>
        </p:txBody>
      </p:sp>
      <p:sp>
        <p:nvSpPr>
          <p:cNvPr id="5" name="文本框 4">
            <a:extLst>
              <a:ext uri="{FF2B5EF4-FFF2-40B4-BE49-F238E27FC236}">
                <a16:creationId xmlns:a16="http://schemas.microsoft.com/office/drawing/2014/main" id="{D21CD394-1B61-6C8F-945C-EAD38BDE1950}"/>
              </a:ext>
            </a:extLst>
          </p:cNvPr>
          <p:cNvSpPr txBox="1"/>
          <p:nvPr/>
        </p:nvSpPr>
        <p:spPr>
          <a:xfrm>
            <a:off x="2235200" y="1828800"/>
            <a:ext cx="5334000" cy="415498"/>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数据协议与构建</a:t>
            </a:r>
          </a:p>
        </p:txBody>
      </p:sp>
      <p:sp>
        <p:nvSpPr>
          <p:cNvPr id="6" name="矩形 5">
            <a:extLst>
              <a:ext uri="{FF2B5EF4-FFF2-40B4-BE49-F238E27FC236}">
                <a16:creationId xmlns:a16="http://schemas.microsoft.com/office/drawing/2014/main" id="{CEBEA9EB-B740-FEF3-C007-A06E49297464}"/>
              </a:ext>
            </a:extLst>
          </p:cNvPr>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02</a:t>
            </a:r>
            <a:endParaRPr lang="zh-CN" altLang="en-US" b="1">
              <a:solidFill>
                <a:srgbClr val="1F3864"/>
              </a:solidFill>
              <a:ea typeface="微软雅黑" panose="020B0503020204020204" pitchFamily="34" charset="-122"/>
            </a:endParaRPr>
          </a:p>
        </p:txBody>
      </p:sp>
      <p:sp>
        <p:nvSpPr>
          <p:cNvPr id="7" name="文本框 6">
            <a:extLst>
              <a:ext uri="{FF2B5EF4-FFF2-40B4-BE49-F238E27FC236}">
                <a16:creationId xmlns:a16="http://schemas.microsoft.com/office/drawing/2014/main" id="{084F1E2E-2830-7786-0021-2D2BC4FCA19A}"/>
              </a:ext>
            </a:extLst>
          </p:cNvPr>
          <p:cNvSpPr txBox="1"/>
          <p:nvPr/>
        </p:nvSpPr>
        <p:spPr>
          <a:xfrm>
            <a:off x="2235200" y="26162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数据可信性</a:t>
            </a:r>
            <a:r>
              <a:rPr lang="en-US" altLang="zh-CN" sz="1900" dirty="0">
                <a:solidFill>
                  <a:srgbClr val="44546A"/>
                </a:solidFill>
                <a:latin typeface="微软雅黑" panose="020B0503020204020204" pitchFamily="34" charset="-122"/>
                <a:ea typeface="微软雅黑" panose="020B0503020204020204" pitchFamily="34" charset="-122"/>
              </a:rPr>
              <a:t>-</a:t>
            </a:r>
            <a:r>
              <a:rPr lang="zh-CN" altLang="en-US" sz="1900" dirty="0">
                <a:solidFill>
                  <a:srgbClr val="44546A"/>
                </a:solidFill>
                <a:latin typeface="微软雅黑" panose="020B0503020204020204" pitchFamily="34" charset="-122"/>
                <a:ea typeface="微软雅黑" panose="020B0503020204020204" pitchFamily="34" charset="-122"/>
              </a:rPr>
              <a:t>泄露性检查</a:t>
            </a:r>
          </a:p>
        </p:txBody>
      </p:sp>
      <p:sp>
        <p:nvSpPr>
          <p:cNvPr id="8" name="矩形 7">
            <a:extLst>
              <a:ext uri="{FF2B5EF4-FFF2-40B4-BE49-F238E27FC236}">
                <a16:creationId xmlns:a16="http://schemas.microsoft.com/office/drawing/2014/main" id="{213930B1-39C2-2A51-7D43-AC66CBE76A68}"/>
              </a:ext>
            </a:extLst>
          </p:cNvPr>
          <p:cNvSpPr/>
          <p:nvPr/>
        </p:nvSpPr>
        <p:spPr>
          <a:xfrm>
            <a:off x="1143000" y="33528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FFFFFF"/>
                </a:solidFill>
                <a:ea typeface="微软雅黑" panose="020B0503020204020204" pitchFamily="34" charset="-122"/>
              </a:rPr>
              <a:t>03</a:t>
            </a:r>
            <a:endParaRPr lang="zh-CN" altLang="en-US" b="1">
              <a:solidFill>
                <a:srgbClr val="FFFFFF"/>
              </a:solidFill>
              <a:ea typeface="微软雅黑" panose="020B0503020204020204" pitchFamily="34" charset="-122"/>
            </a:endParaRPr>
          </a:p>
        </p:txBody>
      </p:sp>
      <p:sp>
        <p:nvSpPr>
          <p:cNvPr id="9" name="文本框 8">
            <a:extLst>
              <a:ext uri="{FF2B5EF4-FFF2-40B4-BE49-F238E27FC236}">
                <a16:creationId xmlns:a16="http://schemas.microsoft.com/office/drawing/2014/main" id="{31E0C63E-150A-DD52-3D42-E69433E66883}"/>
              </a:ext>
            </a:extLst>
          </p:cNvPr>
          <p:cNvSpPr txBox="1"/>
          <p:nvPr/>
        </p:nvSpPr>
        <p:spPr>
          <a:xfrm>
            <a:off x="2235200" y="3403600"/>
            <a:ext cx="5334000" cy="384721"/>
          </a:xfrm>
          <a:prstGeom prst="rect">
            <a:avLst/>
          </a:prstGeom>
          <a:noFill/>
        </p:spPr>
        <p:txBody>
          <a:bodyPr vert="horz" rtlCol="0">
            <a:spAutoFit/>
          </a:bodyPr>
          <a:lstStyle>
            <a:defPPr>
              <a:defRPr lang="zh-CN"/>
            </a:defPPr>
            <a:lvl1pPr>
              <a:defRPr sz="2100" b="1">
                <a:solidFill>
                  <a:srgbClr val="ED7D31"/>
                </a:solidFill>
                <a:latin typeface="微软雅黑" panose="020B0503020204020204" pitchFamily="34" charset="-122"/>
                <a:ea typeface="微软雅黑" panose="020B0503020204020204" pitchFamily="34" charset="-122"/>
              </a:defRPr>
            </a:lvl1pPr>
          </a:lstStyle>
          <a:p>
            <a:r>
              <a:rPr lang="zh-CN" altLang="en-US" dirty="0"/>
              <a:t>统一评测协议构建</a:t>
            </a:r>
          </a:p>
        </p:txBody>
      </p:sp>
      <p:sp>
        <p:nvSpPr>
          <p:cNvPr id="10" name="矩形 9">
            <a:extLst>
              <a:ext uri="{FF2B5EF4-FFF2-40B4-BE49-F238E27FC236}">
                <a16:creationId xmlns:a16="http://schemas.microsoft.com/office/drawing/2014/main" id="{012F6C0A-1F32-6B2D-F052-D317BB3EAB17}"/>
              </a:ext>
            </a:extLst>
          </p:cNvPr>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04</a:t>
            </a:r>
            <a:endParaRPr lang="zh-CN" altLang="en-US" b="1">
              <a:solidFill>
                <a:srgbClr val="1F3864"/>
              </a:solidFill>
              <a:ea typeface="微软雅黑" panose="020B0503020204020204" pitchFamily="34" charset="-122"/>
            </a:endParaRPr>
          </a:p>
        </p:txBody>
      </p:sp>
      <p:sp>
        <p:nvSpPr>
          <p:cNvPr id="11" name="文本框 10">
            <a:extLst>
              <a:ext uri="{FF2B5EF4-FFF2-40B4-BE49-F238E27FC236}">
                <a16:creationId xmlns:a16="http://schemas.microsoft.com/office/drawing/2014/main" id="{1CC781AE-49E8-1D2C-16AF-D61C99E1DC4F}"/>
              </a:ext>
            </a:extLst>
          </p:cNvPr>
          <p:cNvSpPr txBox="1"/>
          <p:nvPr/>
        </p:nvSpPr>
        <p:spPr>
          <a:xfrm>
            <a:off x="2235200" y="41910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文献调研与判决</a:t>
            </a:r>
          </a:p>
        </p:txBody>
      </p:sp>
      <p:sp>
        <p:nvSpPr>
          <p:cNvPr id="12" name="矩形 11">
            <a:extLst>
              <a:ext uri="{FF2B5EF4-FFF2-40B4-BE49-F238E27FC236}">
                <a16:creationId xmlns:a16="http://schemas.microsoft.com/office/drawing/2014/main" id="{DE196B89-9BD7-29D5-B4D1-EE8C984FBEE8}"/>
              </a:ext>
            </a:extLst>
          </p:cNvPr>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05</a:t>
            </a:r>
            <a:endParaRPr lang="zh-CN" altLang="en-US" b="1">
              <a:solidFill>
                <a:srgbClr val="1F3864"/>
              </a:solidFill>
              <a:ea typeface="微软雅黑" panose="020B0503020204020204" pitchFamily="34" charset="-122"/>
            </a:endParaRPr>
          </a:p>
        </p:txBody>
      </p:sp>
      <p:sp>
        <p:nvSpPr>
          <p:cNvPr id="13" name="文本框 12">
            <a:extLst>
              <a:ext uri="{FF2B5EF4-FFF2-40B4-BE49-F238E27FC236}">
                <a16:creationId xmlns:a16="http://schemas.microsoft.com/office/drawing/2014/main" id="{0C8FE794-5F67-8DA3-3954-09E3252E917B}"/>
              </a:ext>
            </a:extLst>
          </p:cNvPr>
          <p:cNvSpPr txBox="1"/>
          <p:nvPr/>
        </p:nvSpPr>
        <p:spPr>
          <a:xfrm>
            <a:off x="2235200" y="49784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前端结构与原理</a:t>
            </a:r>
          </a:p>
        </p:txBody>
      </p:sp>
      <p:sp>
        <p:nvSpPr>
          <p:cNvPr id="14" name="矩形 13">
            <a:extLst>
              <a:ext uri="{FF2B5EF4-FFF2-40B4-BE49-F238E27FC236}">
                <a16:creationId xmlns:a16="http://schemas.microsoft.com/office/drawing/2014/main" id="{1C399C52-2CF5-FE0C-6049-F3B9D976D8D4}"/>
              </a:ext>
            </a:extLst>
          </p:cNvPr>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06</a:t>
            </a:r>
            <a:endParaRPr lang="zh-CN" altLang="en-US" b="1">
              <a:solidFill>
                <a:srgbClr val="1F3864"/>
              </a:solidFill>
              <a:ea typeface="微软雅黑" panose="020B0503020204020204" pitchFamily="34" charset="-122"/>
            </a:endParaRPr>
          </a:p>
        </p:txBody>
      </p:sp>
      <p:sp>
        <p:nvSpPr>
          <p:cNvPr id="15" name="文本框 14">
            <a:extLst>
              <a:ext uri="{FF2B5EF4-FFF2-40B4-BE49-F238E27FC236}">
                <a16:creationId xmlns:a16="http://schemas.microsoft.com/office/drawing/2014/main" id="{57CEFA1F-092A-15B7-6C59-9A043E55D929}"/>
              </a:ext>
            </a:extLst>
          </p:cNvPr>
          <p:cNvSpPr txBox="1"/>
          <p:nvPr/>
        </p:nvSpPr>
        <p:spPr>
          <a:xfrm>
            <a:off x="2235200" y="57658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展望与规划</a:t>
            </a:r>
          </a:p>
        </p:txBody>
      </p:sp>
      <p:sp>
        <p:nvSpPr>
          <p:cNvPr id="16" name="文本框 15">
            <a:extLst>
              <a:ext uri="{FF2B5EF4-FFF2-40B4-BE49-F238E27FC236}">
                <a16:creationId xmlns:a16="http://schemas.microsoft.com/office/drawing/2014/main" id="{DF86284C-B6CC-811C-CF01-E646B4051981}"/>
              </a:ext>
            </a:extLst>
          </p:cNvPr>
          <p:cNvSpPr txBox="1"/>
          <p:nvPr/>
        </p:nvSpPr>
        <p:spPr>
          <a:xfrm>
            <a:off x="7112000" y="1905000"/>
            <a:ext cx="4064000" cy="1785104"/>
          </a:xfrm>
          <a:prstGeom prst="rect">
            <a:avLst/>
          </a:prstGeom>
          <a:noFill/>
        </p:spPr>
        <p:txBody>
          <a:bodyPr vert="horz" rtlCol="0">
            <a:spAutoFit/>
          </a:bodyPr>
          <a:lstStyle/>
          <a:p>
            <a:pPr algn="ctr"/>
            <a:r>
              <a:rPr lang="en-US" altLang="zh-CN" sz="11000" b="1" dirty="0">
                <a:solidFill>
                  <a:srgbClr val="E2E8F5"/>
                </a:solidFill>
                <a:latin typeface="微软雅黑" panose="020B0503020204020204" pitchFamily="34" charset="-122"/>
                <a:ea typeface="微软雅黑" panose="020B0503020204020204" pitchFamily="34" charset="-122"/>
              </a:rPr>
              <a:t>03</a:t>
            </a:r>
            <a:endParaRPr lang="zh-CN" altLang="en-US" sz="11000" b="1" dirty="0">
              <a:solidFill>
                <a:srgbClr val="E2E8F5"/>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F53B7D41-8676-B906-6C82-7B31B3A576D6}"/>
              </a:ext>
            </a:extLst>
          </p:cNvPr>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微软雅黑" panose="020B0503020204020204" pitchFamily="34" charset="-122"/>
                <a:ea typeface="微软雅黑" panose="020B0503020204020204" pitchFamily="34" charset="-122"/>
              </a:rPr>
              <a:t>同一评测协议构建</a:t>
            </a:r>
          </a:p>
        </p:txBody>
      </p:sp>
      <p:sp>
        <p:nvSpPr>
          <p:cNvPr id="18" name="矩形 17">
            <a:extLst>
              <a:ext uri="{FF2B5EF4-FFF2-40B4-BE49-F238E27FC236}">
                <a16:creationId xmlns:a16="http://schemas.microsoft.com/office/drawing/2014/main" id="{98AEC45D-64E4-5AAF-0F5E-F61C13E9E7D3}"/>
              </a:ext>
            </a:extLst>
          </p:cNvPr>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194524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F23103-C458-462F-9943-8157F3261C87}"/>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统一脚本固定数据、阈值和指标计算口径</a:t>
            </a:r>
          </a:p>
        </p:txBody>
      </p:sp>
      <p:sp>
        <p:nvSpPr>
          <p:cNvPr id="4" name="文本框 3">
            <a:extLst>
              <a:ext uri="{FF2B5EF4-FFF2-40B4-BE49-F238E27FC236}">
                <a16:creationId xmlns:a16="http://schemas.microsoft.com/office/drawing/2014/main" id="{A5C173E3-7713-4FF6-A6EC-902DB330D29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dirty="0">
                <a:solidFill>
                  <a:srgbClr val="7F7F7F"/>
                </a:solidFill>
                <a:latin typeface="微软雅黑"/>
                <a:ea typeface="微软雅黑"/>
                <a:cs typeface="微软雅黑"/>
              </a:rPr>
              <a:t>03 </a:t>
            </a:r>
            <a:r>
              <a:rPr sz="1300" dirty="0" err="1">
                <a:solidFill>
                  <a:srgbClr val="7F7F7F"/>
                </a:solidFill>
                <a:latin typeface="微软雅黑"/>
                <a:ea typeface="微软雅黑"/>
                <a:cs typeface="微软雅黑"/>
              </a:rPr>
              <a:t>统一评测</a:t>
            </a:r>
            <a:r>
              <a:rPr lang="zh-CN" altLang="en-US" sz="1300" dirty="0">
                <a:solidFill>
                  <a:srgbClr val="7F7F7F"/>
                </a:solidFill>
                <a:latin typeface="微软雅黑"/>
                <a:ea typeface="微软雅黑"/>
                <a:cs typeface="微软雅黑"/>
              </a:rPr>
              <a:t>协议构建</a:t>
            </a:r>
            <a:endParaRPr sz="1300" dirty="0">
              <a:solidFill>
                <a:srgbClr val="7F7F7F"/>
              </a:solidFill>
              <a:latin typeface="微软雅黑"/>
              <a:ea typeface="微软雅黑"/>
              <a:cs typeface="微软雅黑"/>
            </a:endParaRPr>
          </a:p>
        </p:txBody>
      </p:sp>
      <p:sp>
        <p:nvSpPr>
          <p:cNvPr id="5" name="矩形 4">
            <a:extLst>
              <a:ext uri="{FF2B5EF4-FFF2-40B4-BE49-F238E27FC236}">
                <a16:creationId xmlns:a16="http://schemas.microsoft.com/office/drawing/2014/main" id="{4579032E-73E4-45A0-8808-B4116ED79C3A}"/>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14" name="表格 5"/>
          <p:cNvGraphicFramePr/>
          <p:nvPr/>
        </p:nvGraphicFramePr>
        <p:xfrm>
          <a:off x="508001" y="1270000"/>
          <a:ext cx="11303001" cy="2794002"/>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465667">
                <a:tc>
                  <a:txBody>
                    <a:bodyPr/>
                    <a:lstStyle/>
                    <a:p>
                      <a:r>
                        <a:rPr sz="1200" b="1">
                          <a:solidFill>
                            <a:srgbClr val="FFFFFF"/>
                          </a:solidFill>
                          <a:latin typeface="微软雅黑"/>
                          <a:ea typeface="微软雅黑"/>
                          <a:cs typeface="微软雅黑"/>
                        </a:rPr>
                        <a:t>输出</a:t>
                      </a:r>
                    </a:p>
                  </a:txBody>
                  <a:tcPr anchor="ctr">
                    <a:solidFill>
                      <a:srgbClr val="2F5496"/>
                    </a:solidFill>
                  </a:tcPr>
                </a:tc>
                <a:tc>
                  <a:txBody>
                    <a:bodyPr/>
                    <a:lstStyle/>
                    <a:p>
                      <a:r>
                        <a:rPr sz="1200" b="1">
                          <a:solidFill>
                            <a:srgbClr val="FFFFFF"/>
                          </a:solidFill>
                          <a:latin typeface="微软雅黑"/>
                          <a:ea typeface="微软雅黑"/>
                          <a:cs typeface="微软雅黑"/>
                        </a:rPr>
                        <a:t>定义 / 计算</a:t>
                      </a:r>
                    </a:p>
                  </a:txBody>
                  <a:tcPr anchor="ctr">
                    <a:solidFill>
                      <a:srgbClr val="2F5496"/>
                    </a:solidFill>
                  </a:tcPr>
                </a:tc>
                <a:tc>
                  <a:txBody>
                    <a:bodyPr/>
                    <a:lstStyle/>
                    <a:p>
                      <a:r>
                        <a:rPr sz="1200" b="1">
                          <a:solidFill>
                            <a:srgbClr val="FFFFFF"/>
                          </a:solidFill>
                          <a:latin typeface="微软雅黑"/>
                          <a:ea typeface="微软雅黑"/>
                          <a:cs typeface="微软雅黑"/>
                        </a:rPr>
                        <a:t>判读与用途</a:t>
                      </a:r>
                    </a:p>
                  </a:txBody>
                  <a:tcPr anchor="ctr">
                    <a:solidFill>
                      <a:srgbClr val="2F5496"/>
                    </a:solidFill>
                  </a:tcPr>
                </a:tc>
                <a:extLst>
                  <a:ext uri="{0D108BD9-81ED-4DB2-BD59-A6C34878D82A}">
                    <a16:rowId xmlns:a16="http://schemas.microsoft.com/office/drawing/2014/main" val="10000"/>
                  </a:ext>
                </a:extLst>
              </a:tr>
              <a:tr h="465667">
                <a:tc>
                  <a:txBody>
                    <a:bodyPr/>
                    <a:lstStyle/>
                    <a:p>
                      <a:r>
                        <a:rPr sz="1125" b="0">
                          <a:solidFill>
                            <a:srgbClr val="333333"/>
                          </a:solidFill>
                          <a:latin typeface="微软雅黑"/>
                          <a:ea typeface="微软雅黑"/>
                          <a:cs typeface="微软雅黑"/>
                        </a:rPr>
                        <a:t>EER</a:t>
                      </a:r>
                    </a:p>
                  </a:txBody>
                  <a:tcPr anchor="ctr">
                    <a:solidFill>
                      <a:srgbClr val="FFFFFF"/>
                    </a:solidFill>
                  </a:tcPr>
                </a:tc>
                <a:tc>
                  <a:txBody>
                    <a:bodyPr/>
                    <a:lstStyle/>
                    <a:p>
                      <a:r>
                        <a:rPr sz="1125" b="0">
                          <a:solidFill>
                            <a:srgbClr val="333333"/>
                          </a:solidFill>
                          <a:latin typeface="微软雅黑"/>
                          <a:ea typeface="微软雅黑"/>
                          <a:cs typeface="微软雅黑"/>
                        </a:rPr>
                        <a:t>扫描阈值并在 FAR=FRR 附近插值</a:t>
                      </a:r>
                    </a:p>
                  </a:txBody>
                  <a:tcPr anchor="ctr">
                    <a:solidFill>
                      <a:srgbClr val="FFFFFF"/>
                    </a:solidFill>
                  </a:tcPr>
                </a:tc>
                <a:tc>
                  <a:txBody>
                    <a:bodyPr/>
                    <a:lstStyle/>
                    <a:p>
                      <a:r>
                        <a:rPr sz="1125" b="0">
                          <a:solidFill>
                            <a:srgbClr val="333333"/>
                          </a:solidFill>
                          <a:latin typeface="微软雅黑"/>
                          <a:ea typeface="微软雅黑"/>
                          <a:cs typeface="微软雅黑"/>
                        </a:rPr>
                        <a:t>主验收指标;越低越好</a:t>
                      </a:r>
                    </a:p>
                  </a:txBody>
                  <a:tcPr anchor="ctr">
                    <a:solidFill>
                      <a:srgbClr val="FFFFFF"/>
                    </a:solidFill>
                  </a:tcPr>
                </a:tc>
                <a:extLst>
                  <a:ext uri="{0D108BD9-81ED-4DB2-BD59-A6C34878D82A}">
                    <a16:rowId xmlns:a16="http://schemas.microsoft.com/office/drawing/2014/main" val="10001"/>
                  </a:ext>
                </a:extLst>
              </a:tr>
              <a:tr h="465667">
                <a:tc>
                  <a:txBody>
                    <a:bodyPr/>
                    <a:lstStyle/>
                    <a:p>
                      <a:r>
                        <a:rPr sz="1125" b="0">
                          <a:solidFill>
                            <a:srgbClr val="333333"/>
                          </a:solidFill>
                          <a:latin typeface="微软雅黑"/>
                          <a:ea typeface="微软雅黑"/>
                          <a:cs typeface="微软雅黑"/>
                        </a:rPr>
                        <a:t>minDCF</a:t>
                      </a:r>
                    </a:p>
                  </a:txBody>
                  <a:tcPr anchor="ctr">
                    <a:solidFill>
                      <a:srgbClr val="F2F6FC"/>
                    </a:solidFill>
                  </a:tcPr>
                </a:tc>
                <a:tc>
                  <a:txBody>
                    <a:bodyPr/>
                    <a:lstStyle/>
                    <a:p>
                      <a:r>
                        <a:rPr sz="1125" b="0">
                          <a:solidFill>
                            <a:srgbClr val="333333"/>
                          </a:solidFill>
                          <a:latin typeface="微软雅黑"/>
                          <a:ea typeface="微软雅黑"/>
                          <a:cs typeface="微软雅黑"/>
                        </a:rPr>
                        <a:t>min[Cmiss·Ptar·FRR + Cfa·Pnon·FAR]</a:t>
                      </a:r>
                    </a:p>
                  </a:txBody>
                  <a:tcPr anchor="ctr">
                    <a:solidFill>
                      <a:srgbClr val="F2F6FC"/>
                    </a:solidFill>
                  </a:tcPr>
                </a:tc>
                <a:tc>
                  <a:txBody>
                    <a:bodyPr/>
                    <a:lstStyle/>
                    <a:p>
                      <a:r>
                        <a:rPr sz="1125" b="0">
                          <a:solidFill>
                            <a:srgbClr val="333333"/>
                          </a:solidFill>
                          <a:latin typeface="微软雅黑"/>
                          <a:ea typeface="微软雅黑"/>
                          <a:cs typeface="微软雅黑"/>
                        </a:rPr>
                        <a:t>加入漏识与误识代价</a:t>
                      </a:r>
                    </a:p>
                  </a:txBody>
                  <a:tcPr anchor="ctr">
                    <a:solidFill>
                      <a:srgbClr val="F2F6FC"/>
                    </a:solidFill>
                  </a:tcPr>
                </a:tc>
                <a:extLst>
                  <a:ext uri="{0D108BD9-81ED-4DB2-BD59-A6C34878D82A}">
                    <a16:rowId xmlns:a16="http://schemas.microsoft.com/office/drawing/2014/main" val="10002"/>
                  </a:ext>
                </a:extLst>
              </a:tr>
              <a:tr h="465667">
                <a:tc>
                  <a:txBody>
                    <a:bodyPr/>
                    <a:lstStyle/>
                    <a:p>
                      <a:r>
                        <a:rPr sz="1125" b="0">
                          <a:solidFill>
                            <a:srgbClr val="333333"/>
                          </a:solidFill>
                          <a:latin typeface="微软雅黑"/>
                          <a:ea typeface="微软雅黑"/>
                          <a:cs typeface="微软雅黑"/>
                        </a:rPr>
                        <a:t>ROC / DET</a:t>
                      </a:r>
                    </a:p>
                  </a:txBody>
                  <a:tcPr anchor="ctr">
                    <a:solidFill>
                      <a:srgbClr val="FFFFFF"/>
                    </a:solidFill>
                  </a:tcPr>
                </a:tc>
                <a:tc>
                  <a:txBody>
                    <a:bodyPr/>
                    <a:lstStyle/>
                    <a:p>
                      <a:r>
                        <a:rPr sz="1125" b="0">
                          <a:solidFill>
                            <a:srgbClr val="333333"/>
                          </a:solidFill>
                          <a:latin typeface="微软雅黑"/>
                          <a:ea typeface="微软雅黑"/>
                          <a:cs typeface="微软雅黑"/>
                        </a:rPr>
                        <a:t>ROC:FAR 对 1-FRR;DET:FAR 对 FRR</a:t>
                      </a:r>
                    </a:p>
                  </a:txBody>
                  <a:tcPr anchor="ctr">
                    <a:solidFill>
                      <a:srgbClr val="FFFFFF"/>
                    </a:solidFill>
                  </a:tcPr>
                </a:tc>
                <a:tc>
                  <a:txBody>
                    <a:bodyPr/>
                    <a:lstStyle/>
                    <a:p>
                      <a:r>
                        <a:rPr sz="1125" b="0">
                          <a:solidFill>
                            <a:srgbClr val="333333"/>
                          </a:solidFill>
                          <a:latin typeface="微软雅黑"/>
                          <a:ea typeface="微软雅黑"/>
                          <a:cs typeface="微软雅黑"/>
                        </a:rPr>
                        <a:t>展示全部阈值下的权衡</a:t>
                      </a:r>
                    </a:p>
                  </a:txBody>
                  <a:tcPr anchor="ctr">
                    <a:solidFill>
                      <a:srgbClr val="FFFFFF"/>
                    </a:solidFill>
                  </a:tcPr>
                </a:tc>
                <a:extLst>
                  <a:ext uri="{0D108BD9-81ED-4DB2-BD59-A6C34878D82A}">
                    <a16:rowId xmlns:a16="http://schemas.microsoft.com/office/drawing/2014/main" val="10003"/>
                  </a:ext>
                </a:extLst>
              </a:tr>
              <a:tr h="465667">
                <a:tc>
                  <a:txBody>
                    <a:bodyPr/>
                    <a:lstStyle/>
                    <a:p>
                      <a:r>
                        <a:rPr sz="1125" b="0">
                          <a:solidFill>
                            <a:srgbClr val="333333"/>
                          </a:solidFill>
                          <a:latin typeface="微软雅黑"/>
                          <a:ea typeface="微软雅黑"/>
                          <a:cs typeface="微软雅黑"/>
                        </a:rPr>
                        <a:t>固定阈值 FAR/FRR</a:t>
                      </a:r>
                    </a:p>
                  </a:txBody>
                  <a:tcPr anchor="ctr">
                    <a:solidFill>
                      <a:srgbClr val="F2F6FC"/>
                    </a:solidFill>
                  </a:tcPr>
                </a:tc>
                <a:tc>
                  <a:txBody>
                    <a:bodyPr/>
                    <a:lstStyle/>
                    <a:p>
                      <a:r>
                        <a:rPr sz="1125" b="0">
                          <a:solidFill>
                            <a:srgbClr val="333333"/>
                          </a:solidFill>
                          <a:latin typeface="微软雅黑"/>
                          <a:ea typeface="微软雅黑"/>
                          <a:cs typeface="微软雅黑"/>
                        </a:rPr>
                        <a:t>阈值只由 Dev 确定,Eval 直接复用</a:t>
                      </a:r>
                    </a:p>
                  </a:txBody>
                  <a:tcPr anchor="ctr">
                    <a:solidFill>
                      <a:srgbClr val="F2F6FC"/>
                    </a:solidFill>
                  </a:tcPr>
                </a:tc>
                <a:tc>
                  <a:txBody>
                    <a:bodyPr/>
                    <a:lstStyle/>
                    <a:p>
                      <a:r>
                        <a:rPr sz="1125" b="0">
                          <a:solidFill>
                            <a:srgbClr val="333333"/>
                          </a:solidFill>
                          <a:latin typeface="微软雅黑"/>
                          <a:ea typeface="微软雅黑"/>
                          <a:cs typeface="微软雅黑"/>
                        </a:rPr>
                        <a:t>验证实际工作点,禁止测试集调阈值</a:t>
                      </a:r>
                    </a:p>
                  </a:txBody>
                  <a:tcPr anchor="ctr">
                    <a:solidFill>
                      <a:srgbClr val="F2F6FC"/>
                    </a:solidFill>
                  </a:tcPr>
                </a:tc>
                <a:extLst>
                  <a:ext uri="{0D108BD9-81ED-4DB2-BD59-A6C34878D82A}">
                    <a16:rowId xmlns:a16="http://schemas.microsoft.com/office/drawing/2014/main" val="10004"/>
                  </a:ext>
                </a:extLst>
              </a:tr>
              <a:tr h="465667">
                <a:tc>
                  <a:txBody>
                    <a:bodyPr/>
                    <a:lstStyle/>
                    <a:p>
                      <a:r>
                        <a:rPr sz="1125" b="0">
                          <a:solidFill>
                            <a:srgbClr val="333333"/>
                          </a:solidFill>
                          <a:latin typeface="微软雅黑"/>
                          <a:ea typeface="微软雅黑"/>
                          <a:cs typeface="微软雅黑"/>
                        </a:rPr>
                        <a:t>分项统计</a:t>
                      </a:r>
                    </a:p>
                  </a:txBody>
                  <a:tcPr anchor="ctr">
                    <a:solidFill>
                      <a:srgbClr val="FFFFFF"/>
                    </a:solidFill>
                  </a:tcPr>
                </a:tc>
                <a:tc>
                  <a:txBody>
                    <a:bodyPr/>
                    <a:lstStyle/>
                    <a:p>
                      <a:r>
                        <a:rPr sz="1125" b="0">
                          <a:solidFill>
                            <a:srgbClr val="333333"/>
                          </a:solidFill>
                          <a:latin typeface="微软雅黑"/>
                          <a:ea typeface="微软雅黑"/>
                          <a:cs typeface="微软雅黑"/>
                        </a:rPr>
                        <a:t>后端 × 场景 × 1/3/5 s 逐格计算</a:t>
                      </a:r>
                    </a:p>
                  </a:txBody>
                  <a:tcPr anchor="ctr">
                    <a:solidFill>
                      <a:srgbClr val="FFFFFF"/>
                    </a:solidFill>
                  </a:tcPr>
                </a:tc>
                <a:tc>
                  <a:txBody>
                    <a:bodyPr/>
                    <a:lstStyle/>
                    <a:p>
                      <a:r>
                        <a:rPr sz="1125" b="0">
                          <a:solidFill>
                            <a:srgbClr val="333333"/>
                          </a:solidFill>
                          <a:latin typeface="微软雅黑"/>
                          <a:ea typeface="微软雅黑"/>
                          <a:cs typeface="微软雅黑"/>
                        </a:rPr>
                        <a:t>避免平均值掩盖困难条件</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文本框 6">
            <a:extLst>
              <a:ext uri="{FF2B5EF4-FFF2-40B4-BE49-F238E27FC236}">
                <a16:creationId xmlns:a16="http://schemas.microsoft.com/office/drawing/2014/main" id="{A41F65AB-82A0-4926-AED9-941F10B35284}"/>
              </a:ext>
            </a:extLst>
          </p:cNvPr>
          <p:cNvSpPr>
            <a:spLocks noGrp="1"/>
          </p:cNvSpPr>
          <p:nvPr/>
        </p:nvSpPr>
        <p:spPr>
          <a:xfrm>
            <a:off x="508000" y="4318000"/>
            <a:ext cx="5080000" cy="338554"/>
          </a:xfrm>
          <a:prstGeom prst="rect">
            <a:avLst/>
          </a:prstGeom>
          <a:noFill/>
        </p:spPr>
        <p:txBody>
          <a:bodyPr vert="horz">
            <a:spAutoFit/>
          </a:bodyPr>
          <a:lstStyle/>
          <a:p>
            <a:r>
              <a:rPr sz="1600" b="1">
                <a:solidFill>
                  <a:srgbClr val="1F3864"/>
                </a:solidFill>
                <a:latin typeface="微软雅黑"/>
                <a:ea typeface="微软雅黑"/>
                <a:cs typeface="微软雅黑"/>
              </a:rPr>
              <a:t>evaluate.py 输入输出</a:t>
            </a:r>
          </a:p>
        </p:txBody>
      </p:sp>
      <p:sp>
        <p:nvSpPr>
          <p:cNvPr id="8" name="文本框 7">
            <a:extLst>
              <a:ext uri="{FF2B5EF4-FFF2-40B4-BE49-F238E27FC236}">
                <a16:creationId xmlns:a16="http://schemas.microsoft.com/office/drawing/2014/main" id="{5D896F50-277B-4057-B6F9-F55F016D3F0E}"/>
              </a:ext>
            </a:extLst>
          </p:cNvPr>
          <p:cNvSpPr>
            <a:spLocks noGrp="1"/>
          </p:cNvSpPr>
          <p:nvPr/>
        </p:nvSpPr>
        <p:spPr>
          <a:xfrm>
            <a:off x="508000" y="4724402"/>
            <a:ext cx="11303000" cy="915635"/>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输入:trial + wav.scp / embedding + Dev阈值</a:t>
            </a:r>
          </a:p>
          <a:p>
            <a:pPr>
              <a:spcAft>
                <a:spcPts val="600"/>
              </a:spcAft>
            </a:pPr>
            <a:r>
              <a:rPr sz="1450">
                <a:solidFill>
                  <a:srgbClr val="333333"/>
                </a:solidFill>
                <a:latin typeface="微软雅黑"/>
                <a:ea typeface="微软雅黑"/>
                <a:cs typeface="微软雅黑"/>
              </a:rPr>
              <a:t>处理:全量余弦打分 → 官方 EER/minDCF 复算 → 2001 个阈值点生成 ROC/DET</a:t>
            </a:r>
          </a:p>
          <a:p>
            <a:pPr>
              <a:spcAft>
                <a:spcPts val="600"/>
              </a:spcAft>
            </a:pPr>
            <a:r>
              <a:rPr sz="1450">
                <a:solidFill>
                  <a:srgbClr val="333333"/>
                </a:solidFill>
                <a:latin typeface="微软雅黑"/>
                <a:ea typeface="微软雅黑"/>
                <a:cs typeface="微软雅黑"/>
              </a:rPr>
              <a:t>输出:metrics、曲线、固定阈值 FAR/FRR 和逐格汇总。</a:t>
            </a:r>
          </a:p>
        </p:txBody>
      </p:sp>
      <p:sp>
        <p:nvSpPr>
          <p:cNvPr id="9" name="矩形 8">
            <a:extLst>
              <a:ext uri="{FF2B5EF4-FFF2-40B4-BE49-F238E27FC236}">
                <a16:creationId xmlns:a16="http://schemas.microsoft.com/office/drawing/2014/main" id="{81BE974B-1E8C-77D0-EC95-477014D7EA27}"/>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3952245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CD06557E-62DD-4EDE-82A1-A648E062DB3B}"/>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官方协议复现与逐位复算共同校准评测管线</a:t>
            </a:r>
          </a:p>
        </p:txBody>
      </p:sp>
      <p:sp>
        <p:nvSpPr>
          <p:cNvPr id="4" name="文本框 3">
            <a:extLst>
              <a:ext uri="{FF2B5EF4-FFF2-40B4-BE49-F238E27FC236}">
                <a16:creationId xmlns:a16="http://schemas.microsoft.com/office/drawing/2014/main" id="{B6D8A8F4-A9C8-416C-8201-51E2C9F998D9}"/>
              </a:ext>
            </a:extLst>
          </p:cNvPr>
          <p:cNvSpPr>
            <a:spLocks noGrp="1"/>
          </p:cNvSpPr>
          <p:nvPr/>
        </p:nvSpPr>
        <p:spPr>
          <a:xfrm>
            <a:off x="8128000" y="330200"/>
            <a:ext cx="3683000" cy="292388"/>
          </a:xfrm>
          <a:prstGeom prst="rect">
            <a:avLst/>
          </a:prstGeom>
          <a:noFill/>
        </p:spPr>
        <p:txBody>
          <a:bodyPr vert="horz">
            <a:spAutoFit/>
          </a:bodyPr>
          <a:lstStyle/>
          <a:p>
            <a:pPr algn="r">
              <a:buNone/>
            </a:pPr>
            <a:r>
              <a:rPr sz="1300" dirty="0">
                <a:solidFill>
                  <a:srgbClr val="7F7F7F"/>
                </a:solidFill>
                <a:latin typeface="微软雅黑"/>
                <a:ea typeface="微软雅黑"/>
                <a:cs typeface="微软雅黑"/>
              </a:rPr>
              <a:t>03 </a:t>
            </a:r>
            <a:r>
              <a:rPr sz="1300" dirty="0" err="1">
                <a:solidFill>
                  <a:srgbClr val="7F7F7F"/>
                </a:solidFill>
                <a:latin typeface="微软雅黑"/>
                <a:ea typeface="微软雅黑"/>
                <a:cs typeface="微软雅黑"/>
              </a:rPr>
              <a:t>统一评测</a:t>
            </a:r>
            <a:r>
              <a:rPr lang="zh-CN" altLang="en-US" sz="1300" dirty="0">
                <a:solidFill>
                  <a:srgbClr val="7F7F7F"/>
                </a:solidFill>
                <a:latin typeface="微软雅黑"/>
                <a:ea typeface="微软雅黑"/>
                <a:cs typeface="微软雅黑"/>
              </a:rPr>
              <a:t>协议构建</a:t>
            </a:r>
            <a:endParaRPr sz="1300" dirty="0">
              <a:solidFill>
                <a:srgbClr val="7F7F7F"/>
              </a:solidFill>
              <a:latin typeface="微软雅黑"/>
              <a:ea typeface="微软雅黑"/>
              <a:cs typeface="微软雅黑"/>
            </a:endParaRPr>
          </a:p>
        </p:txBody>
      </p:sp>
      <p:sp>
        <p:nvSpPr>
          <p:cNvPr id="5" name="矩形 4">
            <a:extLst>
              <a:ext uri="{FF2B5EF4-FFF2-40B4-BE49-F238E27FC236}">
                <a16:creationId xmlns:a16="http://schemas.microsoft.com/office/drawing/2014/main" id="{3331C1EE-298C-449E-9BAF-D59AE89CCBB7}"/>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15" name="表格 5"/>
          <p:cNvGraphicFramePr/>
          <p:nvPr/>
        </p:nvGraphicFramePr>
        <p:xfrm>
          <a:off x="508000" y="1219200"/>
          <a:ext cx="11303000" cy="1905000"/>
        </p:xfrm>
        <a:graphic>
          <a:graphicData uri="http://schemas.openxmlformats.org/drawingml/2006/table">
            <a:tbl>
              <a:tblPr firstRow="1" bandRow="1">
                <a:tableStyleId>{5C22544A-7EE6-4342-B048-85BDC9FD1C3A}</a:tableStyleId>
              </a:tblPr>
              <a:tblGrid>
                <a:gridCol w="2825750">
                  <a:extLst>
                    <a:ext uri="{9D8B030D-6E8A-4147-A177-3AD203B41FA5}">
                      <a16:colId xmlns:a16="http://schemas.microsoft.com/office/drawing/2014/main" val="20000"/>
                    </a:ext>
                  </a:extLst>
                </a:gridCol>
                <a:gridCol w="2825750">
                  <a:extLst>
                    <a:ext uri="{9D8B030D-6E8A-4147-A177-3AD203B41FA5}">
                      <a16:colId xmlns:a16="http://schemas.microsoft.com/office/drawing/2014/main" val="20001"/>
                    </a:ext>
                  </a:extLst>
                </a:gridCol>
                <a:gridCol w="2825750">
                  <a:extLst>
                    <a:ext uri="{9D8B030D-6E8A-4147-A177-3AD203B41FA5}">
                      <a16:colId xmlns:a16="http://schemas.microsoft.com/office/drawing/2014/main" val="20002"/>
                    </a:ext>
                  </a:extLst>
                </a:gridCol>
                <a:gridCol w="2825750">
                  <a:extLst>
                    <a:ext uri="{9D8B030D-6E8A-4147-A177-3AD203B41FA5}">
                      <a16:colId xmlns:a16="http://schemas.microsoft.com/office/drawing/2014/main" val="20003"/>
                    </a:ext>
                  </a:extLst>
                </a:gridCol>
              </a:tblGrid>
              <a:tr h="635000">
                <a:tc>
                  <a:txBody>
                    <a:bodyPr/>
                    <a:lstStyle/>
                    <a:p>
                      <a:r>
                        <a:rPr sz="1200" b="1">
                          <a:solidFill>
                            <a:srgbClr val="FFFFFF"/>
                          </a:solidFill>
                          <a:latin typeface="微软雅黑"/>
                          <a:ea typeface="微软雅黑"/>
                          <a:cs typeface="微软雅黑"/>
                        </a:rPr>
                        <a:t>校准对象</a:t>
                      </a:r>
                    </a:p>
                  </a:txBody>
                  <a:tcPr anchor="ctr">
                    <a:solidFill>
                      <a:srgbClr val="2F5496"/>
                    </a:solidFill>
                  </a:tcPr>
                </a:tc>
                <a:tc>
                  <a:txBody>
                    <a:bodyPr/>
                    <a:lstStyle/>
                    <a:p>
                      <a:r>
                        <a:rPr sz="1200" b="1">
                          <a:solidFill>
                            <a:srgbClr val="FFFFFF"/>
                          </a:solidFill>
                          <a:latin typeface="微软雅黑"/>
                          <a:ea typeface="微软雅黑"/>
                          <a:cs typeface="微软雅黑"/>
                        </a:rPr>
                        <a:t>公开基准值</a:t>
                      </a:r>
                    </a:p>
                  </a:txBody>
                  <a:tcPr anchor="ctr">
                    <a:solidFill>
                      <a:srgbClr val="2F5496"/>
                    </a:solidFill>
                  </a:tcPr>
                </a:tc>
                <a:tc>
                  <a:txBody>
                    <a:bodyPr/>
                    <a:lstStyle/>
                    <a:p>
                      <a:r>
                        <a:rPr sz="1200" b="1">
                          <a:solidFill>
                            <a:srgbClr val="FFFFFF"/>
                          </a:solidFill>
                          <a:latin typeface="微软雅黑"/>
                          <a:ea typeface="微软雅黑"/>
                          <a:cs typeface="微软雅黑"/>
                        </a:rPr>
                        <a:t>本管线实测</a:t>
                      </a:r>
                    </a:p>
                  </a:txBody>
                  <a:tcPr anchor="ctr">
                    <a:solidFill>
                      <a:srgbClr val="2F5496"/>
                    </a:solidFill>
                  </a:tcPr>
                </a:tc>
                <a:tc>
                  <a:txBody>
                    <a:bodyPr/>
                    <a:lstStyle/>
                    <a:p>
                      <a:r>
                        <a:rPr sz="1200" b="1">
                          <a:solidFill>
                            <a:srgbClr val="FFFFFF"/>
                          </a:solidFill>
                          <a:latin typeface="微软雅黑"/>
                          <a:ea typeface="微软雅黑"/>
                          <a:cs typeface="微软雅黑"/>
                        </a:rPr>
                        <a:t>偏差</a:t>
                      </a:r>
                    </a:p>
                  </a:txBody>
                  <a:tcPr anchor="ctr">
                    <a:solidFill>
                      <a:srgbClr val="2F5496"/>
                    </a:solidFill>
                  </a:tcPr>
                </a:tc>
                <a:extLst>
                  <a:ext uri="{0D108BD9-81ED-4DB2-BD59-A6C34878D82A}">
                    <a16:rowId xmlns:a16="http://schemas.microsoft.com/office/drawing/2014/main" val="10000"/>
                  </a:ext>
                </a:extLst>
              </a:tr>
              <a:tr h="635000">
                <a:tc>
                  <a:txBody>
                    <a:bodyPr/>
                    <a:lstStyle/>
                    <a:p>
                      <a:r>
                        <a:rPr sz="1125" b="0">
                          <a:solidFill>
                            <a:srgbClr val="333333"/>
                          </a:solidFill>
                          <a:latin typeface="微软雅黑"/>
                          <a:ea typeface="微软雅黑"/>
                          <a:cs typeface="微软雅黑"/>
                        </a:rPr>
                        <a:t>ECAPA-TDNN cross-device</a:t>
                      </a:r>
                    </a:p>
                  </a:txBody>
                  <a:tcPr anchor="ctr">
                    <a:solidFill>
                      <a:srgbClr val="FFFFFF"/>
                    </a:solidFill>
                  </a:tcPr>
                </a:tc>
                <a:tc>
                  <a:txBody>
                    <a:bodyPr/>
                    <a:lstStyle/>
                    <a:p>
                      <a:r>
                        <a:rPr sz="1125" b="0">
                          <a:solidFill>
                            <a:srgbClr val="333333"/>
                          </a:solidFill>
                          <a:latin typeface="微软雅黑"/>
                          <a:ea typeface="微软雅黑"/>
                          <a:cs typeface="微软雅黑"/>
                        </a:rPr>
                        <a:t>8.87%</a:t>
                      </a:r>
                    </a:p>
                  </a:txBody>
                  <a:tcPr anchor="ctr">
                    <a:solidFill>
                      <a:srgbClr val="FFFFFF"/>
                    </a:solidFill>
                  </a:tcPr>
                </a:tc>
                <a:tc>
                  <a:txBody>
                    <a:bodyPr/>
                    <a:lstStyle/>
                    <a:p>
                      <a:r>
                        <a:rPr sz="1125" b="0">
                          <a:solidFill>
                            <a:srgbClr val="333333"/>
                          </a:solidFill>
                          <a:latin typeface="微软雅黑"/>
                          <a:ea typeface="微软雅黑"/>
                          <a:cs typeface="微软雅黑"/>
                        </a:rPr>
                        <a:t>9.31%</a:t>
                      </a:r>
                    </a:p>
                  </a:txBody>
                  <a:tcPr anchor="ctr">
                    <a:solidFill>
                      <a:srgbClr val="FFFFFF"/>
                    </a:solidFill>
                  </a:tcPr>
                </a:tc>
                <a:tc>
                  <a:txBody>
                    <a:bodyPr/>
                    <a:lstStyle/>
                    <a:p>
                      <a:r>
                        <a:rPr sz="1125" b="0">
                          <a:solidFill>
                            <a:srgbClr val="333333"/>
                          </a:solidFill>
                          <a:latin typeface="微软雅黑"/>
                          <a:ea typeface="微软雅黑"/>
                          <a:cs typeface="微软雅黑"/>
                        </a:rPr>
                        <a:t>+0.44 pp</a:t>
                      </a:r>
                    </a:p>
                  </a:txBody>
                  <a:tcPr anchor="ctr">
                    <a:solidFill>
                      <a:srgbClr val="FFFFFF"/>
                    </a:solidFill>
                  </a:tcPr>
                </a:tc>
                <a:extLst>
                  <a:ext uri="{0D108BD9-81ED-4DB2-BD59-A6C34878D82A}">
                    <a16:rowId xmlns:a16="http://schemas.microsoft.com/office/drawing/2014/main" val="10001"/>
                  </a:ext>
                </a:extLst>
              </a:tr>
              <a:tr h="635000">
                <a:tc>
                  <a:txBody>
                    <a:bodyPr/>
                    <a:lstStyle/>
                    <a:p>
                      <a:r>
                        <a:rPr sz="1125" b="0">
                          <a:solidFill>
                            <a:srgbClr val="333333"/>
                          </a:solidFill>
                          <a:latin typeface="微软雅黑"/>
                          <a:ea typeface="微软雅黑"/>
                          <a:cs typeface="微软雅黑"/>
                        </a:rPr>
                        <a:t>ERes2Net-large cross-device</a:t>
                      </a:r>
                    </a:p>
                  </a:txBody>
                  <a:tcPr anchor="ctr">
                    <a:solidFill>
                      <a:srgbClr val="F2F6FC"/>
                    </a:solidFill>
                  </a:tcPr>
                </a:tc>
                <a:tc>
                  <a:txBody>
                    <a:bodyPr/>
                    <a:lstStyle/>
                    <a:p>
                      <a:r>
                        <a:rPr sz="1125" b="0">
                          <a:solidFill>
                            <a:srgbClr val="333333"/>
                          </a:solidFill>
                          <a:latin typeface="微软雅黑"/>
                          <a:ea typeface="微软雅黑"/>
                          <a:cs typeface="微软雅黑"/>
                        </a:rPr>
                        <a:t>6.34%</a:t>
                      </a:r>
                    </a:p>
                  </a:txBody>
                  <a:tcPr anchor="ctr">
                    <a:solidFill>
                      <a:srgbClr val="F2F6FC"/>
                    </a:solidFill>
                  </a:tcPr>
                </a:tc>
                <a:tc>
                  <a:txBody>
                    <a:bodyPr/>
                    <a:lstStyle/>
                    <a:p>
                      <a:r>
                        <a:rPr sz="1125" b="0">
                          <a:solidFill>
                            <a:srgbClr val="333333"/>
                          </a:solidFill>
                          <a:latin typeface="微软雅黑"/>
                          <a:ea typeface="微软雅黑"/>
                          <a:cs typeface="微软雅黑"/>
                        </a:rPr>
                        <a:t>6.87%</a:t>
                      </a:r>
                    </a:p>
                  </a:txBody>
                  <a:tcPr anchor="ctr">
                    <a:solidFill>
                      <a:srgbClr val="F2F6FC"/>
                    </a:solidFill>
                  </a:tcPr>
                </a:tc>
                <a:tc>
                  <a:txBody>
                    <a:bodyPr/>
                    <a:lstStyle/>
                    <a:p>
                      <a:r>
                        <a:rPr sz="1125" b="0">
                          <a:solidFill>
                            <a:srgbClr val="333333"/>
                          </a:solidFill>
                          <a:latin typeface="微软雅黑"/>
                          <a:ea typeface="微软雅黑"/>
                          <a:cs typeface="微软雅黑"/>
                        </a:rPr>
                        <a:t>+0.53 pp</a:t>
                      </a:r>
                    </a:p>
                  </a:txBody>
                  <a:tcPr anchor="ctr">
                    <a:solidFill>
                      <a:srgbClr val="F2F6FC"/>
                    </a:solidFill>
                  </a:tcPr>
                </a:tc>
                <a:extLst>
                  <a:ext uri="{0D108BD9-81ED-4DB2-BD59-A6C34878D82A}">
                    <a16:rowId xmlns:a16="http://schemas.microsoft.com/office/drawing/2014/main" val="10002"/>
                  </a:ext>
                </a:extLst>
              </a:tr>
            </a:tbl>
          </a:graphicData>
        </a:graphic>
      </p:graphicFrame>
      <p:sp>
        <p:nvSpPr>
          <p:cNvPr id="7" name="矩形 6">
            <a:extLst>
              <a:ext uri="{FF2B5EF4-FFF2-40B4-BE49-F238E27FC236}">
                <a16:creationId xmlns:a16="http://schemas.microsoft.com/office/drawing/2014/main" id="{31C144CE-C393-4F2A-8107-7CDE74A96D76}"/>
              </a:ext>
            </a:extLst>
          </p:cNvPr>
          <p:cNvSpPr>
            <a:spLocks noGrp="1"/>
          </p:cNvSpPr>
          <p:nvPr/>
        </p:nvSpPr>
        <p:spPr>
          <a:xfrm>
            <a:off x="508000" y="3403600"/>
            <a:ext cx="11303000" cy="1168400"/>
          </a:xfrm>
          <a:prstGeom prst="rect">
            <a:avLst/>
          </a:prstGeom>
          <a:solidFill>
            <a:srgbClr val="FFF7E0"/>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文本框 7">
            <a:extLst>
              <a:ext uri="{FF2B5EF4-FFF2-40B4-BE49-F238E27FC236}">
                <a16:creationId xmlns:a16="http://schemas.microsoft.com/office/drawing/2014/main" id="{9FEBC3CB-0D35-4EFD-B28B-EAE0982DA3C8}"/>
              </a:ext>
            </a:extLst>
          </p:cNvPr>
          <p:cNvSpPr>
            <a:spLocks noGrp="1"/>
          </p:cNvSpPr>
          <p:nvPr/>
        </p:nvSpPr>
        <p:spPr>
          <a:xfrm>
            <a:off x="711200" y="3556000"/>
            <a:ext cx="10922000" cy="777240"/>
          </a:xfrm>
          <a:prstGeom prst="rect">
            <a:avLst/>
          </a:prstGeom>
          <a:noFill/>
        </p:spPr>
        <p:txBody>
          <a:bodyPr vert="horz">
            <a:spAutoFit/>
          </a:bodyPr>
          <a:lstStyle/>
          <a:p>
            <a:r>
              <a:rPr sz="1500" b="1">
                <a:solidFill>
                  <a:srgbClr val="7F6000"/>
                </a:solidFill>
                <a:latin typeface="微软雅黑"/>
                <a:ea typeface="微软雅黑"/>
                <a:cs typeface="微软雅黑"/>
              </a:rPr>
              <a:t>两条校验链均通过:</a:t>
            </a:r>
          </a:p>
          <a:p>
            <a:r>
              <a:rPr sz="1500" b="1">
                <a:solidFill>
                  <a:srgbClr val="7F6000"/>
                </a:solidFill>
                <a:latin typeface="微软雅黑"/>
                <a:ea typeface="微软雅黑"/>
                <a:cs typeface="微软雅黑"/>
              </a:rPr>
              <a:t>① 三个官方协议复现偏差均 &lt;0.6 pp;② 自建复算 EER=4.8921 与官方脚本 4.892 逐位一致。</a:t>
            </a:r>
          </a:p>
          <a:p>
            <a:r>
              <a:rPr sz="1500" b="1">
                <a:solidFill>
                  <a:srgbClr val="7F6000"/>
                </a:solidFill>
                <a:latin typeface="微软雅黑"/>
                <a:ea typeface="微软雅黑"/>
                <a:cs typeface="微软雅黑"/>
              </a:rPr>
              <a:t>结论:后续方法差异来自同一评测标准,而不是脚本实现差异。</a:t>
            </a:r>
          </a:p>
        </p:txBody>
      </p:sp>
      <p:sp>
        <p:nvSpPr>
          <p:cNvPr id="9" name="文本框 8">
            <a:extLst>
              <a:ext uri="{FF2B5EF4-FFF2-40B4-BE49-F238E27FC236}">
                <a16:creationId xmlns:a16="http://schemas.microsoft.com/office/drawing/2014/main" id="{C92646D0-5D38-4687-B343-B1BC930C5432}"/>
              </a:ext>
            </a:extLst>
          </p:cNvPr>
          <p:cNvSpPr>
            <a:spLocks noGrp="1"/>
          </p:cNvSpPr>
          <p:nvPr/>
        </p:nvSpPr>
        <p:spPr>
          <a:xfrm>
            <a:off x="508000" y="4775202"/>
            <a:ext cx="11303000" cy="307777"/>
          </a:xfrm>
          <a:prstGeom prst="rect">
            <a:avLst/>
          </a:prstGeom>
          <a:noFill/>
        </p:spPr>
        <p:txBody>
          <a:bodyPr vert="horz">
            <a:spAutoFit/>
          </a:bodyPr>
          <a:lstStyle/>
          <a:p>
            <a:r>
              <a:rPr sz="1400">
                <a:solidFill>
                  <a:srgbClr val="7F7F7F"/>
                </a:solidFill>
                <a:latin typeface="微软雅黑"/>
                <a:ea typeface="微软雅黑"/>
                <a:cs typeface="微软雅黑"/>
              </a:rPr>
              <a:t>数据:技术报告第2.1-2.2;校准共使用 535,163 条官方 trial。</a:t>
            </a:r>
          </a:p>
        </p:txBody>
      </p:sp>
      <p:sp>
        <p:nvSpPr>
          <p:cNvPr id="10" name="矩形 9">
            <a:extLst>
              <a:ext uri="{FF2B5EF4-FFF2-40B4-BE49-F238E27FC236}">
                <a16:creationId xmlns:a16="http://schemas.microsoft.com/office/drawing/2014/main" id="{96391A94-9052-5DDF-3A17-373597F6668A}"/>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5786519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66573-E610-CF72-6651-BF17F8CC0CE7}"/>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87AC481E-410D-E40C-1843-33C9379A61A1}"/>
              </a:ext>
            </a:extLst>
          </p:cNvPr>
          <p:cNvSpPr txBox="1"/>
          <p:nvPr/>
        </p:nvSpPr>
        <p:spPr>
          <a:xfrm>
            <a:off x="762000" y="431800"/>
            <a:ext cx="3810000" cy="553998"/>
          </a:xfrm>
          <a:prstGeom prst="rect">
            <a:avLst/>
          </a:prstGeom>
          <a:noFill/>
        </p:spPr>
        <p:txBody>
          <a:bodyPr vert="horz" rtlCol="0">
            <a:spAutoFit/>
          </a:bodyPr>
          <a:lstStyle/>
          <a:p>
            <a:r>
              <a:rPr lang="zh-CN" altLang="en-US" sz="3000" b="1">
                <a:solidFill>
                  <a:srgbClr val="1F3864"/>
                </a:solidFill>
                <a:latin typeface="微软雅黑" panose="020B0503020204020204" pitchFamily="34" charset="-122"/>
                <a:ea typeface="微软雅黑" panose="020B0503020204020204" pitchFamily="34" charset="-122"/>
              </a:rPr>
              <a:t>提  纲</a:t>
            </a:r>
          </a:p>
        </p:txBody>
      </p:sp>
      <p:sp>
        <p:nvSpPr>
          <p:cNvPr id="3" name="矩形 2">
            <a:extLst>
              <a:ext uri="{FF2B5EF4-FFF2-40B4-BE49-F238E27FC236}">
                <a16:creationId xmlns:a16="http://schemas.microsoft.com/office/drawing/2014/main" id="{C2CC91EB-32FF-F522-20E5-7AC99C2BFD40}"/>
              </a:ext>
            </a:extLst>
          </p:cNvPr>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B5BD388-0E60-6315-9F2C-D4342F55A64F}"/>
              </a:ext>
            </a:extLst>
          </p:cNvPr>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01</a:t>
            </a:r>
            <a:endParaRPr lang="zh-CN" altLang="en-US" b="1">
              <a:solidFill>
                <a:srgbClr val="1F3864"/>
              </a:solidFill>
              <a:ea typeface="微软雅黑" panose="020B0503020204020204" pitchFamily="34" charset="-122"/>
            </a:endParaRPr>
          </a:p>
        </p:txBody>
      </p:sp>
      <p:sp>
        <p:nvSpPr>
          <p:cNvPr id="5" name="文本框 4">
            <a:extLst>
              <a:ext uri="{FF2B5EF4-FFF2-40B4-BE49-F238E27FC236}">
                <a16:creationId xmlns:a16="http://schemas.microsoft.com/office/drawing/2014/main" id="{E33A3065-8C58-56EA-386C-F60DC37AFCFD}"/>
              </a:ext>
            </a:extLst>
          </p:cNvPr>
          <p:cNvSpPr txBox="1"/>
          <p:nvPr/>
        </p:nvSpPr>
        <p:spPr>
          <a:xfrm>
            <a:off x="2235200" y="1828800"/>
            <a:ext cx="5334000" cy="415498"/>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数据协议与构建</a:t>
            </a:r>
          </a:p>
        </p:txBody>
      </p:sp>
      <p:sp>
        <p:nvSpPr>
          <p:cNvPr id="6" name="矩形 5">
            <a:extLst>
              <a:ext uri="{FF2B5EF4-FFF2-40B4-BE49-F238E27FC236}">
                <a16:creationId xmlns:a16="http://schemas.microsoft.com/office/drawing/2014/main" id="{CC67190D-5EEB-884D-706C-430E20C6C15C}"/>
              </a:ext>
            </a:extLst>
          </p:cNvPr>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02</a:t>
            </a:r>
            <a:endParaRPr lang="zh-CN" altLang="en-US" b="1">
              <a:solidFill>
                <a:srgbClr val="1F3864"/>
              </a:solidFill>
              <a:ea typeface="微软雅黑" panose="020B0503020204020204" pitchFamily="34" charset="-122"/>
            </a:endParaRPr>
          </a:p>
        </p:txBody>
      </p:sp>
      <p:sp>
        <p:nvSpPr>
          <p:cNvPr id="7" name="文本框 6">
            <a:extLst>
              <a:ext uri="{FF2B5EF4-FFF2-40B4-BE49-F238E27FC236}">
                <a16:creationId xmlns:a16="http://schemas.microsoft.com/office/drawing/2014/main" id="{1DBF92C5-C231-1DAE-EB82-398245A96335}"/>
              </a:ext>
            </a:extLst>
          </p:cNvPr>
          <p:cNvSpPr txBox="1"/>
          <p:nvPr/>
        </p:nvSpPr>
        <p:spPr>
          <a:xfrm>
            <a:off x="2235200" y="26162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数据可信性</a:t>
            </a:r>
            <a:r>
              <a:rPr lang="en-US" altLang="zh-CN" sz="1900" dirty="0">
                <a:solidFill>
                  <a:srgbClr val="44546A"/>
                </a:solidFill>
                <a:latin typeface="微软雅黑" panose="020B0503020204020204" pitchFamily="34" charset="-122"/>
                <a:ea typeface="微软雅黑" panose="020B0503020204020204" pitchFamily="34" charset="-122"/>
              </a:rPr>
              <a:t>-</a:t>
            </a:r>
            <a:r>
              <a:rPr lang="zh-CN" altLang="en-US" sz="1900" dirty="0">
                <a:solidFill>
                  <a:srgbClr val="44546A"/>
                </a:solidFill>
                <a:latin typeface="微软雅黑" panose="020B0503020204020204" pitchFamily="34" charset="-122"/>
                <a:ea typeface="微软雅黑" panose="020B0503020204020204" pitchFamily="34" charset="-122"/>
              </a:rPr>
              <a:t>泄露性检查</a:t>
            </a:r>
          </a:p>
        </p:txBody>
      </p:sp>
      <p:sp>
        <p:nvSpPr>
          <p:cNvPr id="8" name="矩形 7">
            <a:extLst>
              <a:ext uri="{FF2B5EF4-FFF2-40B4-BE49-F238E27FC236}">
                <a16:creationId xmlns:a16="http://schemas.microsoft.com/office/drawing/2014/main" id="{2A79ADD4-1390-A41A-B553-31B450F90313}"/>
              </a:ext>
            </a:extLst>
          </p:cNvPr>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03</a:t>
            </a:r>
            <a:endParaRPr lang="zh-CN" altLang="en-US" b="1">
              <a:solidFill>
                <a:srgbClr val="1F3864"/>
              </a:solidFill>
              <a:ea typeface="微软雅黑" panose="020B0503020204020204" pitchFamily="34" charset="-122"/>
            </a:endParaRPr>
          </a:p>
        </p:txBody>
      </p:sp>
      <p:sp>
        <p:nvSpPr>
          <p:cNvPr id="9" name="文本框 8">
            <a:extLst>
              <a:ext uri="{FF2B5EF4-FFF2-40B4-BE49-F238E27FC236}">
                <a16:creationId xmlns:a16="http://schemas.microsoft.com/office/drawing/2014/main" id="{43CF333A-BC98-CA8D-34A8-44AFA76BB992}"/>
              </a:ext>
            </a:extLst>
          </p:cNvPr>
          <p:cNvSpPr txBox="1"/>
          <p:nvPr/>
        </p:nvSpPr>
        <p:spPr>
          <a:xfrm>
            <a:off x="2235200" y="3403600"/>
            <a:ext cx="5334000" cy="384721"/>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统一评测协议构建</a:t>
            </a:r>
          </a:p>
        </p:txBody>
      </p:sp>
      <p:sp>
        <p:nvSpPr>
          <p:cNvPr id="10" name="矩形 9">
            <a:extLst>
              <a:ext uri="{FF2B5EF4-FFF2-40B4-BE49-F238E27FC236}">
                <a16:creationId xmlns:a16="http://schemas.microsoft.com/office/drawing/2014/main" id="{3263FA37-ACFA-834E-BA11-8D35E3D10847}"/>
              </a:ext>
            </a:extLst>
          </p:cNvPr>
          <p:cNvSpPr/>
          <p:nvPr/>
        </p:nvSpPr>
        <p:spPr>
          <a:xfrm>
            <a:off x="1143000" y="41402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FFFFFF"/>
                </a:solidFill>
                <a:ea typeface="微软雅黑" panose="020B0503020204020204" pitchFamily="34" charset="-122"/>
              </a:rPr>
              <a:t>04</a:t>
            </a:r>
            <a:endParaRPr lang="zh-CN" altLang="en-US" b="1" dirty="0">
              <a:solidFill>
                <a:srgbClr val="FFFFFF"/>
              </a:solidFill>
              <a:ea typeface="微软雅黑" panose="020B0503020204020204" pitchFamily="34" charset="-122"/>
            </a:endParaRPr>
          </a:p>
        </p:txBody>
      </p:sp>
      <p:sp>
        <p:nvSpPr>
          <p:cNvPr id="11" name="文本框 10">
            <a:extLst>
              <a:ext uri="{FF2B5EF4-FFF2-40B4-BE49-F238E27FC236}">
                <a16:creationId xmlns:a16="http://schemas.microsoft.com/office/drawing/2014/main" id="{9EA0770C-3FDB-D833-66E5-D7E189D90F5D}"/>
              </a:ext>
            </a:extLst>
          </p:cNvPr>
          <p:cNvSpPr txBox="1"/>
          <p:nvPr/>
        </p:nvSpPr>
        <p:spPr>
          <a:xfrm>
            <a:off x="2235200" y="4191000"/>
            <a:ext cx="5334000" cy="384721"/>
          </a:xfrm>
          <a:prstGeom prst="rect">
            <a:avLst/>
          </a:prstGeom>
          <a:noFill/>
        </p:spPr>
        <p:txBody>
          <a:bodyPr vert="horz" rtlCol="0">
            <a:spAutoFit/>
          </a:bodyPr>
          <a:lstStyle>
            <a:defPPr>
              <a:defRPr lang="zh-CN"/>
            </a:defPPr>
            <a:lvl1pPr>
              <a:defRPr sz="2100" b="1">
                <a:solidFill>
                  <a:srgbClr val="ED7D31"/>
                </a:solidFill>
                <a:latin typeface="微软雅黑" panose="020B0503020204020204" pitchFamily="34" charset="-122"/>
                <a:ea typeface="微软雅黑" panose="020B0503020204020204" pitchFamily="34" charset="-122"/>
              </a:defRPr>
            </a:lvl1pPr>
          </a:lstStyle>
          <a:p>
            <a:r>
              <a:rPr lang="zh-CN" altLang="en-US" dirty="0"/>
              <a:t>文献调研与判决</a:t>
            </a:r>
          </a:p>
        </p:txBody>
      </p:sp>
      <p:sp>
        <p:nvSpPr>
          <p:cNvPr id="12" name="矩形 11">
            <a:extLst>
              <a:ext uri="{FF2B5EF4-FFF2-40B4-BE49-F238E27FC236}">
                <a16:creationId xmlns:a16="http://schemas.microsoft.com/office/drawing/2014/main" id="{D4705DA9-4071-5758-DE97-FB8DBF5C548E}"/>
              </a:ext>
            </a:extLst>
          </p:cNvPr>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05</a:t>
            </a:r>
            <a:endParaRPr lang="zh-CN" altLang="en-US" b="1">
              <a:solidFill>
                <a:srgbClr val="1F3864"/>
              </a:solidFill>
              <a:ea typeface="微软雅黑" panose="020B0503020204020204" pitchFamily="34" charset="-122"/>
            </a:endParaRPr>
          </a:p>
        </p:txBody>
      </p:sp>
      <p:sp>
        <p:nvSpPr>
          <p:cNvPr id="13" name="文本框 12">
            <a:extLst>
              <a:ext uri="{FF2B5EF4-FFF2-40B4-BE49-F238E27FC236}">
                <a16:creationId xmlns:a16="http://schemas.microsoft.com/office/drawing/2014/main" id="{1AEFDCC2-9318-6005-CFE1-71A23D11E2A4}"/>
              </a:ext>
            </a:extLst>
          </p:cNvPr>
          <p:cNvSpPr txBox="1"/>
          <p:nvPr/>
        </p:nvSpPr>
        <p:spPr>
          <a:xfrm>
            <a:off x="2235200" y="49784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前端结构与原理</a:t>
            </a:r>
          </a:p>
        </p:txBody>
      </p:sp>
      <p:sp>
        <p:nvSpPr>
          <p:cNvPr id="14" name="矩形 13">
            <a:extLst>
              <a:ext uri="{FF2B5EF4-FFF2-40B4-BE49-F238E27FC236}">
                <a16:creationId xmlns:a16="http://schemas.microsoft.com/office/drawing/2014/main" id="{5A3A8DED-A86D-79B5-A472-E3FBA36A62FE}"/>
              </a:ext>
            </a:extLst>
          </p:cNvPr>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06</a:t>
            </a:r>
            <a:endParaRPr lang="zh-CN" altLang="en-US" b="1">
              <a:solidFill>
                <a:srgbClr val="1F3864"/>
              </a:solidFill>
              <a:ea typeface="微软雅黑" panose="020B0503020204020204" pitchFamily="34" charset="-122"/>
            </a:endParaRPr>
          </a:p>
        </p:txBody>
      </p:sp>
      <p:sp>
        <p:nvSpPr>
          <p:cNvPr id="15" name="文本框 14">
            <a:extLst>
              <a:ext uri="{FF2B5EF4-FFF2-40B4-BE49-F238E27FC236}">
                <a16:creationId xmlns:a16="http://schemas.microsoft.com/office/drawing/2014/main" id="{2F10B25F-32F2-E793-0693-508F699D211F}"/>
              </a:ext>
            </a:extLst>
          </p:cNvPr>
          <p:cNvSpPr txBox="1"/>
          <p:nvPr/>
        </p:nvSpPr>
        <p:spPr>
          <a:xfrm>
            <a:off x="2235200" y="57658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展望与规划</a:t>
            </a:r>
          </a:p>
        </p:txBody>
      </p:sp>
      <p:sp>
        <p:nvSpPr>
          <p:cNvPr id="16" name="文本框 15">
            <a:extLst>
              <a:ext uri="{FF2B5EF4-FFF2-40B4-BE49-F238E27FC236}">
                <a16:creationId xmlns:a16="http://schemas.microsoft.com/office/drawing/2014/main" id="{C5671BE1-187E-97B4-BDB6-AFC429019959}"/>
              </a:ext>
            </a:extLst>
          </p:cNvPr>
          <p:cNvSpPr txBox="1"/>
          <p:nvPr/>
        </p:nvSpPr>
        <p:spPr>
          <a:xfrm>
            <a:off x="7112000" y="1905000"/>
            <a:ext cx="4064000" cy="1785104"/>
          </a:xfrm>
          <a:prstGeom prst="rect">
            <a:avLst/>
          </a:prstGeom>
          <a:noFill/>
        </p:spPr>
        <p:txBody>
          <a:bodyPr vert="horz" rtlCol="0">
            <a:spAutoFit/>
          </a:bodyPr>
          <a:lstStyle/>
          <a:p>
            <a:pPr algn="ctr"/>
            <a:r>
              <a:rPr lang="en-US" altLang="zh-CN" sz="11000" b="1" dirty="0">
                <a:solidFill>
                  <a:srgbClr val="E2E8F5"/>
                </a:solidFill>
                <a:latin typeface="微软雅黑" panose="020B0503020204020204" pitchFamily="34" charset="-122"/>
                <a:ea typeface="微软雅黑" panose="020B0503020204020204" pitchFamily="34" charset="-122"/>
              </a:rPr>
              <a:t>04</a:t>
            </a:r>
            <a:endParaRPr lang="zh-CN" altLang="en-US" sz="11000" b="1" dirty="0">
              <a:solidFill>
                <a:srgbClr val="E2E8F5"/>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AF5A8C42-5B0C-C64D-6BCF-2A58FB4AF03D}"/>
              </a:ext>
            </a:extLst>
          </p:cNvPr>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微软雅黑" panose="020B0503020204020204" pitchFamily="34" charset="-122"/>
                <a:ea typeface="微软雅黑" panose="020B0503020204020204" pitchFamily="34" charset="-122"/>
              </a:rPr>
              <a:t>文献调研与判决</a:t>
            </a:r>
          </a:p>
        </p:txBody>
      </p:sp>
      <p:sp>
        <p:nvSpPr>
          <p:cNvPr id="18" name="矩形 17">
            <a:extLst>
              <a:ext uri="{FF2B5EF4-FFF2-40B4-BE49-F238E27FC236}">
                <a16:creationId xmlns:a16="http://schemas.microsoft.com/office/drawing/2014/main" id="{0E1AA46B-211A-5FB8-AC69-26E9E1F347BC}"/>
              </a:ext>
            </a:extLst>
          </p:cNvPr>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3323459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圆角矩形 105">
            <a:extLst>
              <a:ext uri="{FF2B5EF4-FFF2-40B4-BE49-F238E27FC236}">
                <a16:creationId xmlns:a16="http://schemas.microsoft.com/office/drawing/2014/main" id="{D7E89C67-A505-AC4D-CC4B-3F06AE2CF4FE}"/>
              </a:ext>
            </a:extLst>
          </p:cNvPr>
          <p:cNvSpPr/>
          <p:nvPr/>
        </p:nvSpPr>
        <p:spPr>
          <a:xfrm>
            <a:off x="8128001" y="1802413"/>
            <a:ext cx="3179726" cy="2397053"/>
          </a:xfrm>
          <a:prstGeom prst="roundRect">
            <a:avLst>
              <a:gd name="adj" fmla="val 6000"/>
            </a:avLst>
          </a:prstGeom>
          <a:solidFill>
            <a:srgbClr val="FDF1F0"/>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pic>
        <p:nvPicPr>
          <p:cNvPr id="16" name="图片 15">
            <a:extLst>
              <a:ext uri="{FF2B5EF4-FFF2-40B4-BE49-F238E27FC236}">
                <a16:creationId xmlns:a16="http://schemas.microsoft.com/office/drawing/2014/main" id="{0C882EB2-8C19-B06B-1175-ABEF923E45D5}"/>
              </a:ext>
            </a:extLst>
          </p:cNvPr>
          <p:cNvPicPr>
            <a:picLocks noChangeAspect="1"/>
          </p:cNvPicPr>
          <p:nvPr/>
        </p:nvPicPr>
        <p:blipFill>
          <a:blip r:embed="rId3"/>
          <a:srcRect t="18204"/>
          <a:stretch>
            <a:fillRect/>
          </a:stretch>
        </p:blipFill>
        <p:spPr>
          <a:xfrm>
            <a:off x="8419584" y="1880273"/>
            <a:ext cx="2647580" cy="2273885"/>
          </a:xfrm>
          <a:prstGeom prst="rect">
            <a:avLst/>
          </a:prstGeom>
        </p:spPr>
      </p:pic>
      <p:sp>
        <p:nvSpPr>
          <p:cNvPr id="35" name="圆角矩形 105">
            <a:extLst>
              <a:ext uri="{FF2B5EF4-FFF2-40B4-BE49-F238E27FC236}">
                <a16:creationId xmlns:a16="http://schemas.microsoft.com/office/drawing/2014/main" id="{17985D3A-8F2C-7FE6-C238-CBC4C14C47C0}"/>
              </a:ext>
            </a:extLst>
          </p:cNvPr>
          <p:cNvSpPr/>
          <p:nvPr/>
        </p:nvSpPr>
        <p:spPr>
          <a:xfrm>
            <a:off x="4197977" y="1820457"/>
            <a:ext cx="3477107" cy="2397053"/>
          </a:xfrm>
          <a:prstGeom prst="roundRect">
            <a:avLst>
              <a:gd name="adj" fmla="val 6000"/>
            </a:avLst>
          </a:prstGeom>
          <a:solidFill>
            <a:srgbClr val="FDF1F0"/>
          </a:solid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AC21C9E1-A51A-4440-AFC8-A84729108688}"/>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三条路线经过同一协议验证,最终只保留注册条件化 TSE</a:t>
            </a:r>
          </a:p>
        </p:txBody>
      </p:sp>
      <p:sp>
        <p:nvSpPr>
          <p:cNvPr id="4" name="文本框 3">
            <a:extLst>
              <a:ext uri="{FF2B5EF4-FFF2-40B4-BE49-F238E27FC236}">
                <a16:creationId xmlns:a16="http://schemas.microsoft.com/office/drawing/2014/main" id="{0260555D-8FA1-4096-A247-929A30AC622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04 文献调研与判决</a:t>
            </a:r>
          </a:p>
        </p:txBody>
      </p:sp>
      <p:sp>
        <p:nvSpPr>
          <p:cNvPr id="5" name="矩形 4">
            <a:extLst>
              <a:ext uri="{FF2B5EF4-FFF2-40B4-BE49-F238E27FC236}">
                <a16:creationId xmlns:a16="http://schemas.microsoft.com/office/drawing/2014/main" id="{1A08951A-CA92-4777-85B3-776E4C294F04}"/>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矩形 5">
            <a:extLst>
              <a:ext uri="{FF2B5EF4-FFF2-40B4-BE49-F238E27FC236}">
                <a16:creationId xmlns:a16="http://schemas.microsoft.com/office/drawing/2014/main" id="{213C4308-A40F-49C1-B2A9-D0097D59EF8A}"/>
              </a:ext>
            </a:extLst>
          </p:cNvPr>
          <p:cNvSpPr>
            <a:spLocks noGrp="1"/>
          </p:cNvSpPr>
          <p:nvPr/>
        </p:nvSpPr>
        <p:spPr>
          <a:xfrm>
            <a:off x="482600" y="905498"/>
            <a:ext cx="11303000" cy="711200"/>
          </a:xfrm>
          <a:prstGeom prst="rect">
            <a:avLst/>
          </a:prstGeom>
          <a:solidFill>
            <a:srgbClr val="EAF0FA"/>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2F4661BE-8C14-43A5-97DE-FA50823D5C7A}"/>
              </a:ext>
            </a:extLst>
          </p:cNvPr>
          <p:cNvSpPr>
            <a:spLocks noGrp="1"/>
          </p:cNvSpPr>
          <p:nvPr/>
        </p:nvSpPr>
        <p:spPr>
          <a:xfrm>
            <a:off x="514350" y="990602"/>
            <a:ext cx="11144250" cy="384721"/>
          </a:xfrm>
          <a:prstGeom prst="rect">
            <a:avLst/>
          </a:prstGeom>
          <a:noFill/>
        </p:spPr>
        <p:txBody>
          <a:bodyPr vert="horz">
            <a:spAutoFit/>
          </a:bodyPr>
          <a:lstStyle/>
          <a:p>
            <a:pPr algn="ctr">
              <a:buNone/>
            </a:pPr>
            <a:r>
              <a:rPr sz="1900" b="1">
                <a:solidFill>
                  <a:srgbClr val="1F3864"/>
                </a:solidFill>
                <a:latin typeface="微软雅黑"/>
                <a:ea typeface="微软雅黑"/>
                <a:cs typeface="微软雅黑"/>
              </a:rPr>
              <a:t>文献提出假设  →  同 Trial / 同冻结后端 / 同脚本验证  →  由 EER 与身份保持决定去留</a:t>
            </a:r>
          </a:p>
        </p:txBody>
      </p:sp>
      <p:graphicFrame>
        <p:nvGraphicFramePr>
          <p:cNvPr id="38" name="表格 7"/>
          <p:cNvGraphicFramePr/>
          <p:nvPr/>
        </p:nvGraphicFramePr>
        <p:xfrm>
          <a:off x="-15240000" y="-8572500"/>
          <a:ext cx="11303001" cy="2667000"/>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533400">
                <a:tc>
                  <a:txBody>
                    <a:bodyPr/>
                    <a:lstStyle/>
                    <a:p>
                      <a:r>
                        <a:rPr sz="1300" b="1">
                          <a:solidFill>
                            <a:srgbClr val="FFFFFF"/>
                          </a:solidFill>
                          <a:latin typeface="微软雅黑"/>
                          <a:ea typeface="微软雅黑"/>
                          <a:cs typeface="微软雅黑"/>
                        </a:rPr>
                        <a:t>路线</a:t>
                      </a:r>
                    </a:p>
                  </a:txBody>
                  <a:tcPr anchor="ctr">
                    <a:solidFill>
                      <a:srgbClr val="2F5496"/>
                    </a:solidFill>
                  </a:tcPr>
                </a:tc>
                <a:tc>
                  <a:txBody>
                    <a:bodyPr/>
                    <a:lstStyle/>
                    <a:p>
                      <a:r>
                        <a:rPr sz="1300" b="1">
                          <a:solidFill>
                            <a:srgbClr val="FFFFFF"/>
                          </a:solidFill>
                          <a:latin typeface="微软雅黑"/>
                          <a:ea typeface="微软雅黑"/>
                          <a:cs typeface="微软雅黑"/>
                        </a:rPr>
                        <a:t>代表文献与选取依据</a:t>
                      </a:r>
                    </a:p>
                  </a:txBody>
                  <a:tcPr anchor="ctr">
                    <a:solidFill>
                      <a:srgbClr val="2F5496"/>
                    </a:solidFill>
                  </a:tcPr>
                </a:tc>
                <a:tc>
                  <a:txBody>
                    <a:bodyPr/>
                    <a:lstStyle/>
                    <a:p>
                      <a:r>
                        <a:rPr sz="1300" b="1">
                          <a:solidFill>
                            <a:srgbClr val="FFFFFF"/>
                          </a:solidFill>
                          <a:latin typeface="微软雅黑"/>
                          <a:ea typeface="微软雅黑"/>
                          <a:cs typeface="微软雅黑"/>
                        </a:rPr>
                        <a:t>本课题结果 / 判决</a:t>
                      </a:r>
                    </a:p>
                  </a:txBody>
                  <a:tcPr anchor="ctr">
                    <a:solidFill>
                      <a:srgbClr val="2F5496"/>
                    </a:solidFill>
                  </a:tcPr>
                </a:tc>
                <a:extLst>
                  <a:ext uri="{0D108BD9-81ED-4DB2-BD59-A6C34878D82A}">
                    <a16:rowId xmlns:a16="http://schemas.microsoft.com/office/drawing/2014/main" val="10000"/>
                  </a:ext>
                </a:extLst>
              </a:tr>
              <a:tr h="533400">
                <a:tc>
                  <a:txBody>
                    <a:bodyPr/>
                    <a:lstStyle/>
                    <a:p>
                      <a:r>
                        <a:rPr sz="1300">
                          <a:solidFill>
                            <a:srgbClr val="333333"/>
                          </a:solidFill>
                          <a:latin typeface="微软雅黑"/>
                          <a:ea typeface="微软雅黑"/>
                          <a:cs typeface="微软雅黑"/>
                        </a:rPr>
                        <a:t>后端鲁棒微调</a:t>
                      </a:r>
                    </a:p>
                  </a:txBody>
                  <a:tcPr anchor="ctr">
                    <a:solidFill>
                      <a:srgbClr val="FFFFFF"/>
                    </a:solidFill>
                  </a:tcPr>
                </a:tc>
                <a:tc>
                  <a:txBody>
                    <a:bodyPr/>
                    <a:lstStyle/>
                    <a:p>
                      <a:r>
                        <a:rPr sz="1300">
                          <a:solidFill>
                            <a:srgbClr val="333333"/>
                          </a:solidFill>
                          <a:latin typeface="微软雅黑"/>
                          <a:ea typeface="微软雅黑"/>
                          <a:cs typeface="微软雅黑"/>
                        </a:rPr>
                        <a:t>FT-Boosted SV(2025):噪声增强数据微调后端</a:t>
                      </a:r>
                    </a:p>
                  </a:txBody>
                  <a:tcPr anchor="ctr">
                    <a:solidFill>
                      <a:srgbClr val="FFFFFF"/>
                    </a:solidFill>
                  </a:tcPr>
                </a:tc>
                <a:tc>
                  <a:txBody>
                    <a:bodyPr/>
                    <a:lstStyle/>
                    <a:p>
                      <a:r>
                        <a:rPr sz="1300">
                          <a:solidFill>
                            <a:srgbClr val="333333"/>
                          </a:solidFill>
                          <a:latin typeface="微软雅黑"/>
                          <a:ea typeface="微软雅黑"/>
                          <a:cs typeface="微软雅黑"/>
                        </a:rPr>
                        <a:t>6/8 条件变差;0 dB EER：8.39→9.71;否决</a:t>
                      </a:r>
                    </a:p>
                  </a:txBody>
                  <a:tcPr anchor="ctr">
                    <a:solidFill>
                      <a:srgbClr val="FFFFFF"/>
                    </a:solidFill>
                  </a:tcPr>
                </a:tc>
                <a:extLst>
                  <a:ext uri="{0D108BD9-81ED-4DB2-BD59-A6C34878D82A}">
                    <a16:rowId xmlns:a16="http://schemas.microsoft.com/office/drawing/2014/main" val="10001"/>
                  </a:ext>
                </a:extLst>
              </a:tr>
              <a:tr h="533400">
                <a:tc>
                  <a:txBody>
                    <a:bodyPr/>
                    <a:lstStyle/>
                    <a:p>
                      <a:r>
                        <a:rPr sz="1300">
                          <a:solidFill>
                            <a:srgbClr val="333333"/>
                          </a:solidFill>
                          <a:latin typeface="微软雅黑"/>
                          <a:ea typeface="微软雅黑"/>
                          <a:cs typeface="微软雅黑"/>
                        </a:rPr>
                        <a:t>增强后再验证</a:t>
                      </a:r>
                    </a:p>
                  </a:txBody>
                  <a:tcPr anchor="ctr">
                    <a:solidFill>
                      <a:srgbClr val="F2F6FC"/>
                    </a:solidFill>
                  </a:tcPr>
                </a:tc>
                <a:tc>
                  <a:txBody>
                    <a:bodyPr/>
                    <a:lstStyle/>
                    <a:p>
                      <a:r>
                        <a:rPr sz="1300">
                          <a:solidFill>
                            <a:srgbClr val="333333"/>
                          </a:solidFill>
                          <a:latin typeface="微软雅黑"/>
                          <a:ea typeface="微软雅黑"/>
                          <a:cs typeface="微软雅黑"/>
                        </a:rPr>
                        <a:t>ParaNoise-SV(2025):增强与声纹联合建模</a:t>
                      </a:r>
                    </a:p>
                  </a:txBody>
                  <a:tcPr anchor="ctr">
                    <a:solidFill>
                      <a:srgbClr val="F2F6FC"/>
                    </a:solidFill>
                  </a:tcPr>
                </a:tc>
                <a:tc>
                  <a:txBody>
                    <a:bodyPr/>
                    <a:lstStyle/>
                    <a:p>
                      <a:r>
                        <a:rPr sz="1300">
                          <a:solidFill>
                            <a:srgbClr val="333333"/>
                          </a:solidFill>
                          <a:latin typeface="微软雅黑"/>
                          <a:ea typeface="微软雅黑"/>
                          <a:cs typeface="微软雅黑"/>
                        </a:rPr>
                        <a:t>0 dB EER：10.11&gt;8.39;</a:t>
                      </a:r>
                    </a:p>
                    <a:p>
                      <a:r>
                        <a:rPr sz="1300">
                          <a:solidFill>
                            <a:srgbClr val="333333"/>
                          </a:solidFill>
                          <a:latin typeface="微软雅黑"/>
                          <a:ea typeface="微软雅黑"/>
                          <a:cs typeface="微软雅黑"/>
                        </a:rPr>
                        <a:t>目标分 LLR：0.422→0.391;否决</a:t>
                      </a:r>
                    </a:p>
                  </a:txBody>
                  <a:tcPr anchor="ctr">
                    <a:solidFill>
                      <a:srgbClr val="F2F6FC"/>
                    </a:solidFill>
                  </a:tcPr>
                </a:tc>
                <a:extLst>
                  <a:ext uri="{0D108BD9-81ED-4DB2-BD59-A6C34878D82A}">
                    <a16:rowId xmlns:a16="http://schemas.microsoft.com/office/drawing/2014/main" val="10002"/>
                  </a:ext>
                </a:extLst>
              </a:tr>
              <a:tr h="533400">
                <a:tc>
                  <a:txBody>
                    <a:bodyPr/>
                    <a:lstStyle/>
                    <a:p>
                      <a:r>
                        <a:rPr sz="1300">
                          <a:solidFill>
                            <a:srgbClr val="333333"/>
                          </a:solidFill>
                          <a:latin typeface="微软雅黑"/>
                          <a:ea typeface="微软雅黑"/>
                          <a:cs typeface="微软雅黑"/>
                        </a:rPr>
                        <a:t>注册条件化 TSE</a:t>
                      </a:r>
                    </a:p>
                  </a:txBody>
                  <a:tcPr anchor="ctr">
                    <a:solidFill>
                      <a:srgbClr val="FFFFFF"/>
                    </a:solidFill>
                  </a:tcPr>
                </a:tc>
                <a:tc>
                  <a:txBody>
                    <a:bodyPr/>
                    <a:lstStyle/>
                    <a:p>
                      <a:r>
                        <a:rPr sz="1300">
                          <a:solidFill>
                            <a:srgbClr val="333333"/>
                          </a:solidFill>
                          <a:latin typeface="微软雅黑"/>
                          <a:ea typeface="微软雅黑"/>
                          <a:cs typeface="微软雅黑"/>
                        </a:rPr>
                        <a:t>TSE Curriculum(2024):注册语音条件用于目标提取</a:t>
                      </a:r>
                    </a:p>
                  </a:txBody>
                  <a:tcPr anchor="ctr">
                    <a:solidFill>
                      <a:srgbClr val="FFFFFF"/>
                    </a:solidFill>
                  </a:tcPr>
                </a:tc>
                <a:tc>
                  <a:txBody>
                    <a:bodyPr/>
                    <a:lstStyle/>
                    <a:p>
                      <a:r>
                        <a:rPr sz="1300">
                          <a:solidFill>
                            <a:srgbClr val="333333"/>
                          </a:solidFill>
                          <a:latin typeface="微软雅黑"/>
                          <a:ea typeface="微软雅黑"/>
                          <a:cs typeface="微软雅黑"/>
                        </a:rPr>
                        <a:t>任务定义匹配;0/-5 dB 达标;保留</a:t>
                      </a:r>
                    </a:p>
                  </a:txBody>
                  <a:tcPr anchor="ctr">
                    <a:solidFill>
                      <a:srgbClr val="FFFFFF"/>
                    </a:solidFill>
                  </a:tcPr>
                </a:tc>
                <a:extLst>
                  <a:ext uri="{0D108BD9-81ED-4DB2-BD59-A6C34878D82A}">
                    <a16:rowId xmlns:a16="http://schemas.microsoft.com/office/drawing/2014/main" val="10003"/>
                  </a:ext>
                </a:extLst>
              </a:tr>
              <a:tr h="533400">
                <a:tc>
                  <a:txBody>
                    <a:bodyPr/>
                    <a:lstStyle/>
                    <a:p>
                      <a:r>
                        <a:rPr sz="1300">
                          <a:solidFill>
                            <a:srgbClr val="333333"/>
                          </a:solidFill>
                          <a:latin typeface="微软雅黑"/>
                          <a:ea typeface="微软雅黑"/>
                          <a:cs typeface="微软雅黑"/>
                        </a:rPr>
                        <a:t>判决纪律</a:t>
                      </a:r>
                    </a:p>
                  </a:txBody>
                  <a:tcPr anchor="ctr">
                    <a:solidFill>
                      <a:srgbClr val="F2F6FC"/>
                    </a:solidFill>
                  </a:tcPr>
                </a:tc>
                <a:tc>
                  <a:txBody>
                    <a:bodyPr/>
                    <a:lstStyle/>
                    <a:p>
                      <a:r>
                        <a:rPr sz="1300">
                          <a:solidFill>
                            <a:srgbClr val="333333"/>
                          </a:solidFill>
                          <a:latin typeface="微软雅黑"/>
                          <a:ea typeface="微软雅黑"/>
                          <a:cs typeface="微软雅黑"/>
                        </a:rPr>
                        <a:t>文献用于说明路线依据,不替代本课题证据</a:t>
                      </a:r>
                    </a:p>
                  </a:txBody>
                  <a:tcPr anchor="ctr">
                    <a:solidFill>
                      <a:srgbClr val="F2F6FC"/>
                    </a:solidFill>
                  </a:tcPr>
                </a:tc>
                <a:tc>
                  <a:txBody>
                    <a:bodyPr/>
                    <a:lstStyle/>
                    <a:p>
                      <a:r>
                        <a:rPr sz="1300">
                          <a:solidFill>
                            <a:srgbClr val="333333"/>
                          </a:solidFill>
                          <a:latin typeface="微软雅黑"/>
                          <a:ea typeface="微软雅黑"/>
                          <a:cs typeface="微软雅黑"/>
                        </a:rPr>
                        <a:t>同一 trial / 后端 / 阈值口径比较</a:t>
                      </a:r>
                    </a:p>
                  </a:txBody>
                  <a:tcPr anchor="ctr">
                    <a:solidFill>
                      <a:srgbClr val="F2F6FC"/>
                    </a:solidFill>
                  </a:tcPr>
                </a:tc>
                <a:extLst>
                  <a:ext uri="{0D108BD9-81ED-4DB2-BD59-A6C34878D82A}">
                    <a16:rowId xmlns:a16="http://schemas.microsoft.com/office/drawing/2014/main" val="10004"/>
                  </a:ext>
                </a:extLst>
              </a:tr>
            </a:tbl>
          </a:graphicData>
        </a:graphic>
      </p:graphicFrame>
      <p:sp>
        <p:nvSpPr>
          <p:cNvPr id="9" name="文本框 8">
            <a:extLst>
              <a:ext uri="{FF2B5EF4-FFF2-40B4-BE49-F238E27FC236}">
                <a16:creationId xmlns:a16="http://schemas.microsoft.com/office/drawing/2014/main" id="{DA42D20D-A474-4E99-8FA9-7D568033641A}"/>
              </a:ext>
            </a:extLst>
          </p:cNvPr>
          <p:cNvSpPr>
            <a:spLocks noGrp="1"/>
          </p:cNvSpPr>
          <p:nvPr/>
        </p:nvSpPr>
        <p:spPr>
          <a:xfrm>
            <a:off x="482600" y="6394343"/>
            <a:ext cx="11144250" cy="338554"/>
          </a:xfrm>
          <a:prstGeom prst="rect">
            <a:avLst/>
          </a:prstGeom>
          <a:noFill/>
        </p:spPr>
        <p:txBody>
          <a:bodyPr vert="horz">
            <a:spAutoFit/>
          </a:bodyPr>
          <a:lstStyle/>
          <a:p>
            <a:pPr>
              <a:spcAft>
                <a:spcPts val="600"/>
              </a:spcAft>
            </a:pPr>
            <a:r>
              <a:rPr sz="1450" dirty="0">
                <a:solidFill>
                  <a:srgbClr val="333333"/>
                </a:solidFill>
                <a:latin typeface="微软雅黑"/>
                <a:ea typeface="微软雅黑"/>
                <a:cs typeface="微软雅黑"/>
              </a:rPr>
              <a:t>[1] Tabatabaee et al., </a:t>
            </a:r>
            <a:r>
              <a:rPr sz="1450" dirty="0" err="1">
                <a:solidFill>
                  <a:srgbClr val="333333"/>
                </a:solidFill>
                <a:latin typeface="微软雅黑"/>
                <a:ea typeface="微软雅黑"/>
                <a:cs typeface="微软雅黑"/>
              </a:rPr>
              <a:t>Interspeech</a:t>
            </a:r>
            <a:r>
              <a:rPr sz="1450" dirty="0">
                <a:solidFill>
                  <a:srgbClr val="333333"/>
                </a:solidFill>
                <a:latin typeface="微软雅黑"/>
                <a:ea typeface="微软雅黑"/>
                <a:cs typeface="微软雅黑"/>
              </a:rPr>
              <a:t> 2025.  [2] </a:t>
            </a:r>
            <a:r>
              <a:rPr lang="nl-NL" altLang="zh-CN" sz="1600" dirty="0">
                <a:solidFill>
                  <a:srgbClr val="666666"/>
                </a:solidFill>
                <a:latin typeface="微软雅黑"/>
                <a:ea typeface="微软雅黑"/>
                <a:cs typeface="微软雅黑"/>
              </a:rPr>
              <a:t>Lim et al., Interspeech 2024, 2665-2669</a:t>
            </a:r>
            <a:r>
              <a:rPr sz="1450" dirty="0">
                <a:solidFill>
                  <a:srgbClr val="333333"/>
                </a:solidFill>
                <a:latin typeface="微软雅黑"/>
                <a:ea typeface="微软雅黑"/>
                <a:cs typeface="微软雅黑"/>
              </a:rPr>
              <a:t>.  </a:t>
            </a:r>
          </a:p>
        </p:txBody>
      </p:sp>
      <p:sp>
        <p:nvSpPr>
          <p:cNvPr id="11" name="矩形: 圆角 10">
            <a:extLst>
              <a:ext uri="{FF2B5EF4-FFF2-40B4-BE49-F238E27FC236}">
                <a16:creationId xmlns:a16="http://schemas.microsoft.com/office/drawing/2014/main" id="{8A909F80-B2C6-4906-8C6F-1E798231A0B2}"/>
              </a:ext>
            </a:extLst>
          </p:cNvPr>
          <p:cNvSpPr>
            <a:spLocks noGrp="1"/>
          </p:cNvSpPr>
          <p:nvPr/>
        </p:nvSpPr>
        <p:spPr>
          <a:xfrm>
            <a:off x="1306476" y="2096310"/>
            <a:ext cx="1809750" cy="838200"/>
          </a:xfrm>
          <a:prstGeom prst="roundRect">
            <a:avLst>
              <a:gd name="adj" fmla="val 9091"/>
            </a:avLst>
          </a:prstGeom>
          <a:solidFill>
            <a:srgbClr val="C43C35"/>
          </a:solidFill>
          <a:ln w="13335">
            <a:solidFill>
              <a:srgbClr val="C43C35"/>
            </a:solidFill>
            <a:prstDash val="solid"/>
          </a:ln>
        </p:spPr>
        <p:txBody>
          <a:bodyPr anchor="ctr"/>
          <a:lstStyle/>
          <a:p>
            <a:pPr algn="ctr">
              <a:defRPr sz="1125" b="1">
                <a:solidFill>
                  <a:srgbClr val="FFFFFF"/>
                </a:solidFill>
              </a:defRPr>
            </a:pPr>
            <a:r>
              <a:rPr sz="1125" b="1">
                <a:solidFill>
                  <a:srgbClr val="FFFFFF"/>
                </a:solidFill>
              </a:rPr>
              <a:t>路线 A</a:t>
            </a:r>
          </a:p>
          <a:p>
            <a:pPr algn="ctr">
              <a:defRPr sz="1125" b="1">
                <a:solidFill>
                  <a:srgbClr val="FFFFFF"/>
                </a:solidFill>
              </a:defRPr>
            </a:pPr>
            <a:r>
              <a:rPr sz="1125" b="1">
                <a:solidFill>
                  <a:srgbClr val="FFFFFF"/>
                </a:solidFill>
              </a:rPr>
              <a:t>后端鲁棒微调</a:t>
            </a:r>
          </a:p>
        </p:txBody>
      </p:sp>
      <p:sp>
        <p:nvSpPr>
          <p:cNvPr id="12" name="矩形: 圆角 11">
            <a:extLst>
              <a:ext uri="{FF2B5EF4-FFF2-40B4-BE49-F238E27FC236}">
                <a16:creationId xmlns:a16="http://schemas.microsoft.com/office/drawing/2014/main" id="{3FA3A7E8-01F6-4778-B57A-822ECA4638C7}"/>
              </a:ext>
            </a:extLst>
          </p:cNvPr>
          <p:cNvSpPr>
            <a:spLocks noGrp="1"/>
          </p:cNvSpPr>
          <p:nvPr/>
        </p:nvSpPr>
        <p:spPr>
          <a:xfrm>
            <a:off x="4736805" y="2001876"/>
            <a:ext cx="2530069" cy="872817"/>
          </a:xfrm>
          <a:prstGeom prst="roundRect">
            <a:avLst>
              <a:gd name="adj" fmla="val 9091"/>
            </a:avLst>
          </a:prstGeom>
          <a:solidFill>
            <a:srgbClr val="F7F9FC"/>
          </a:solidFill>
          <a:ln w="13335">
            <a:solidFill>
              <a:srgbClr val="C43C35"/>
            </a:solidFill>
            <a:prstDash val="solid"/>
          </a:ln>
        </p:spPr>
        <p:txBody>
          <a:bodyPr anchor="ctr"/>
          <a:lstStyle/>
          <a:p>
            <a:pPr algn="ctr">
              <a:defRPr sz="1125" b="0">
                <a:solidFill>
                  <a:srgbClr val="333333"/>
                </a:solidFill>
              </a:defRPr>
            </a:pPr>
            <a:r>
              <a:rPr sz="1125" dirty="0">
                <a:solidFill>
                  <a:srgbClr val="333333"/>
                </a:solidFill>
              </a:rPr>
              <a:t>文献依据</a:t>
            </a:r>
            <a:r>
              <a:rPr lang="en-US" altLang="zh-CN" sz="1125" dirty="0">
                <a:solidFill>
                  <a:srgbClr val="333333"/>
                </a:solidFill>
              </a:rPr>
              <a:t>【</a:t>
            </a:r>
            <a:r>
              <a:rPr lang="en-US" sz="1125" dirty="0">
                <a:solidFill>
                  <a:srgbClr val="333333"/>
                </a:solidFill>
              </a:rPr>
              <a:t>1</a:t>
            </a:r>
            <a:r>
              <a:rPr lang="en-US" altLang="zh-CN" sz="1125" dirty="0">
                <a:solidFill>
                  <a:srgbClr val="333333"/>
                </a:solidFill>
              </a:rPr>
              <a:t>】</a:t>
            </a:r>
            <a:endParaRPr sz="1125" dirty="0">
              <a:solidFill>
                <a:srgbClr val="333333"/>
              </a:solidFill>
            </a:endParaRPr>
          </a:p>
          <a:p>
            <a:pPr algn="ctr">
              <a:defRPr sz="1125" b="0">
                <a:solidFill>
                  <a:srgbClr val="333333"/>
                </a:solidFill>
              </a:defRPr>
            </a:pPr>
            <a:r>
              <a:rPr sz="1125" dirty="0">
                <a:solidFill>
                  <a:srgbClr val="333333"/>
                </a:solidFill>
              </a:rPr>
              <a:t>FT-Boosted SV 2025</a:t>
            </a:r>
          </a:p>
          <a:p>
            <a:pPr algn="ctr">
              <a:defRPr sz="1125" b="0">
                <a:solidFill>
                  <a:srgbClr val="333333"/>
                </a:solidFill>
              </a:defRPr>
            </a:pPr>
            <a:r>
              <a:rPr sz="1125" dirty="0" err="1">
                <a:solidFill>
                  <a:srgbClr val="333333"/>
                </a:solidFill>
              </a:rPr>
              <a:t>带噪数据适配后端</a:t>
            </a:r>
            <a:endParaRPr sz="1125" dirty="0">
              <a:solidFill>
                <a:srgbClr val="333333"/>
              </a:solidFill>
            </a:endParaRPr>
          </a:p>
        </p:txBody>
      </p:sp>
      <p:sp>
        <p:nvSpPr>
          <p:cNvPr id="14" name="矩形: 圆角 13">
            <a:extLst>
              <a:ext uri="{FF2B5EF4-FFF2-40B4-BE49-F238E27FC236}">
                <a16:creationId xmlns:a16="http://schemas.microsoft.com/office/drawing/2014/main" id="{C60E04F0-4914-464F-BBE4-DCA9552880AF}"/>
              </a:ext>
            </a:extLst>
          </p:cNvPr>
          <p:cNvSpPr>
            <a:spLocks noGrp="1"/>
          </p:cNvSpPr>
          <p:nvPr/>
        </p:nvSpPr>
        <p:spPr>
          <a:xfrm>
            <a:off x="5129544" y="4733117"/>
            <a:ext cx="2762250" cy="838200"/>
          </a:xfrm>
          <a:prstGeom prst="roundRect">
            <a:avLst>
              <a:gd name="adj" fmla="val 9091"/>
            </a:avLst>
          </a:prstGeom>
          <a:solidFill>
            <a:srgbClr val="FFF1F0"/>
          </a:solidFill>
          <a:ln w="13335">
            <a:solidFill>
              <a:srgbClr val="C43C35"/>
            </a:solidFill>
            <a:prstDash val="solid"/>
          </a:ln>
        </p:spPr>
        <p:txBody>
          <a:bodyPr anchor="ctr"/>
          <a:lstStyle/>
          <a:p>
            <a:pPr algn="ctr">
              <a:defRPr sz="1200" b="1">
                <a:solidFill>
                  <a:srgbClr val="C43C35"/>
                </a:solidFill>
              </a:defRPr>
            </a:pPr>
            <a:r>
              <a:rPr sz="1200" b="1">
                <a:solidFill>
                  <a:srgbClr val="C43C35"/>
                </a:solidFill>
              </a:rPr>
              <a:t>淘汰</a:t>
            </a:r>
          </a:p>
          <a:p>
            <a:pPr algn="ctr">
              <a:defRPr sz="1200" b="1">
                <a:solidFill>
                  <a:srgbClr val="C43C35"/>
                </a:solidFill>
              </a:defRPr>
            </a:pPr>
            <a:r>
              <a:rPr sz="1200" b="1">
                <a:solidFill>
                  <a:srgbClr val="C43C35"/>
                </a:solidFill>
              </a:rPr>
              <a:t>本课题冻结后端更稳定</a:t>
            </a:r>
          </a:p>
        </p:txBody>
      </p:sp>
      <p:cxnSp>
        <p:nvCxnSpPr>
          <p:cNvPr id="44" name="直接箭头连接符 43"/>
          <p:cNvCxnSpPr>
            <a:cxnSpLocks/>
            <a:stCxn id="11" idx="3"/>
          </p:cNvCxnSpPr>
          <p:nvPr/>
        </p:nvCxnSpPr>
        <p:spPr>
          <a:xfrm>
            <a:off x="3116226" y="2515410"/>
            <a:ext cx="1081751" cy="0"/>
          </a:xfrm>
          <a:prstGeom prst="straightConnector1">
            <a:avLst/>
          </a:prstGeom>
          <a:ln w="19050">
            <a:solidFill>
              <a:srgbClr val="C43C35"/>
            </a:solidFill>
            <a:prstDash val="solid"/>
            <a:tailEnd type="triangle" w="sm" len="sm"/>
          </a:ln>
        </p:spPr>
      </p:cxnSp>
      <p:cxnSp>
        <p:nvCxnSpPr>
          <p:cNvPr id="46" name="直接箭头连接符 45"/>
          <p:cNvCxnSpPr>
            <a:cxnSpLocks/>
            <a:stCxn id="29" idx="1"/>
            <a:endCxn id="14" idx="3"/>
          </p:cNvCxnSpPr>
          <p:nvPr/>
        </p:nvCxnSpPr>
        <p:spPr>
          <a:xfrm flipH="1">
            <a:off x="7891794" y="5152217"/>
            <a:ext cx="825795" cy="0"/>
          </a:xfrm>
          <a:prstGeom prst="straightConnector1">
            <a:avLst/>
          </a:prstGeom>
          <a:ln w="19050">
            <a:solidFill>
              <a:srgbClr val="C43C35"/>
            </a:solidFill>
            <a:prstDash val="solid"/>
            <a:tailEnd type="triangle" w="sm" len="sm"/>
          </a:ln>
        </p:spPr>
      </p:cxnSp>
      <p:sp>
        <p:nvSpPr>
          <p:cNvPr id="10" name="矩形 9">
            <a:extLst>
              <a:ext uri="{FF2B5EF4-FFF2-40B4-BE49-F238E27FC236}">
                <a16:creationId xmlns:a16="http://schemas.microsoft.com/office/drawing/2014/main" id="{97661B54-0C38-5117-6F24-3A38074430B6}"/>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2" name="矩形: 圆角 21">
            <a:extLst>
              <a:ext uri="{FF2B5EF4-FFF2-40B4-BE49-F238E27FC236}">
                <a16:creationId xmlns:a16="http://schemas.microsoft.com/office/drawing/2014/main" id="{57BC014C-0460-FC5B-8EB7-5692A2BB1878}"/>
              </a:ext>
            </a:extLst>
          </p:cNvPr>
          <p:cNvSpPr>
            <a:spLocks noGrp="1"/>
          </p:cNvSpPr>
          <p:nvPr/>
        </p:nvSpPr>
        <p:spPr>
          <a:xfrm>
            <a:off x="846469" y="4683665"/>
            <a:ext cx="3333750" cy="952500"/>
          </a:xfrm>
          <a:prstGeom prst="roundRect">
            <a:avLst>
              <a:gd name="adj" fmla="val 8000"/>
            </a:avLst>
          </a:prstGeom>
          <a:solidFill>
            <a:srgbClr val="FFF8F0"/>
          </a:solidFill>
          <a:ln w="13335">
            <a:solidFill>
              <a:srgbClr val="C43C35"/>
            </a:solidFill>
            <a:prstDash val="solid"/>
          </a:ln>
        </p:spPr>
        <p:txBody>
          <a:bodyPr anchor="ctr"/>
          <a:lstStyle/>
          <a:p>
            <a:pPr algn="ctr">
              <a:defRPr sz="1050" b="1">
                <a:solidFill>
                  <a:srgbClr val="C43C35"/>
                </a:solidFill>
              </a:defRPr>
            </a:pPr>
            <a:r>
              <a:rPr sz="1050" b="1">
                <a:solidFill>
                  <a:srgbClr val="C43C35"/>
                </a:solidFill>
              </a:rPr>
              <a:t>本课题启示</a:t>
            </a:r>
          </a:p>
          <a:p>
            <a:pPr algn="ctr">
              <a:defRPr sz="1050" b="1">
                <a:solidFill>
                  <a:srgbClr val="C43C35"/>
                </a:solidFill>
              </a:defRPr>
            </a:pPr>
            <a:r>
              <a:rPr sz="1050" b="1">
                <a:solidFill>
                  <a:srgbClr val="C43C35"/>
                </a:solidFill>
              </a:rPr>
              <a:t>适配后端必须显式保护身份</a:t>
            </a:r>
          </a:p>
          <a:p>
            <a:pPr algn="ctr">
              <a:defRPr sz="1050" b="1">
                <a:solidFill>
                  <a:srgbClr val="C43C35"/>
                </a:solidFill>
              </a:defRPr>
            </a:pPr>
            <a:r>
              <a:rPr sz="1050" b="1">
                <a:solidFill>
                  <a:srgbClr val="C43C35"/>
                </a:solidFill>
              </a:rPr>
              <a:t>简单带噪微调不足 → 淘汰</a:t>
            </a:r>
          </a:p>
        </p:txBody>
      </p:sp>
      <p:cxnSp>
        <p:nvCxnSpPr>
          <p:cNvPr id="23" name="直接箭头连接符 22">
            <a:extLst>
              <a:ext uri="{FF2B5EF4-FFF2-40B4-BE49-F238E27FC236}">
                <a16:creationId xmlns:a16="http://schemas.microsoft.com/office/drawing/2014/main" id="{4F0C9CB4-3CB1-BA71-138D-56239EEDABEC}"/>
              </a:ext>
            </a:extLst>
          </p:cNvPr>
          <p:cNvCxnSpPr>
            <a:cxnSpLocks/>
            <a:stCxn id="14" idx="1"/>
            <a:endCxn id="22" idx="3"/>
          </p:cNvCxnSpPr>
          <p:nvPr/>
        </p:nvCxnSpPr>
        <p:spPr>
          <a:xfrm flipH="1">
            <a:off x="4180219" y="5152217"/>
            <a:ext cx="949325" cy="7698"/>
          </a:xfrm>
          <a:prstGeom prst="straightConnector1">
            <a:avLst/>
          </a:prstGeom>
          <a:ln w="19050">
            <a:solidFill>
              <a:srgbClr val="C43C35"/>
            </a:solidFill>
            <a:prstDash val="solid"/>
            <a:tailEnd type="triangle" w="sm" len="sm"/>
          </a:ln>
        </p:spPr>
      </p:cxnSp>
      <p:sp>
        <p:nvSpPr>
          <p:cNvPr id="29" name="矩形: 圆角 28">
            <a:extLst>
              <a:ext uri="{FF2B5EF4-FFF2-40B4-BE49-F238E27FC236}">
                <a16:creationId xmlns:a16="http://schemas.microsoft.com/office/drawing/2014/main" id="{1D958194-5E16-AC9F-C821-AB554D332F1F}"/>
              </a:ext>
            </a:extLst>
          </p:cNvPr>
          <p:cNvSpPr>
            <a:spLocks noGrp="1"/>
          </p:cNvSpPr>
          <p:nvPr/>
        </p:nvSpPr>
        <p:spPr>
          <a:xfrm>
            <a:off x="8717589" y="4733117"/>
            <a:ext cx="2857500" cy="838200"/>
          </a:xfrm>
          <a:prstGeom prst="roundRect">
            <a:avLst>
              <a:gd name="adj" fmla="val 9091"/>
            </a:avLst>
          </a:prstGeom>
          <a:solidFill>
            <a:srgbClr val="F7F9FC"/>
          </a:solidFill>
          <a:ln w="13335">
            <a:solidFill>
              <a:srgbClr val="C43C35"/>
            </a:solidFill>
            <a:prstDash val="solid"/>
          </a:ln>
        </p:spPr>
        <p:txBody>
          <a:bodyPr anchor="ctr"/>
          <a:lstStyle/>
          <a:p>
            <a:pPr algn="ctr">
              <a:defRPr sz="1125" b="0">
                <a:solidFill>
                  <a:srgbClr val="333333"/>
                </a:solidFill>
              </a:defRPr>
            </a:pPr>
            <a:r>
              <a:rPr sz="1125">
                <a:solidFill>
                  <a:srgbClr val="333333"/>
                </a:solidFill>
              </a:rPr>
              <a:t>统一验证</a:t>
            </a:r>
          </a:p>
          <a:p>
            <a:pPr algn="ctr">
              <a:defRPr sz="1125" b="0">
                <a:solidFill>
                  <a:srgbClr val="333333"/>
                </a:solidFill>
              </a:defRPr>
            </a:pPr>
            <a:r>
              <a:rPr sz="1125">
                <a:solidFill>
                  <a:srgbClr val="333333"/>
                </a:solidFill>
              </a:rPr>
              <a:t>8 条件中 6 个变差</a:t>
            </a:r>
          </a:p>
          <a:p>
            <a:pPr algn="ctr">
              <a:defRPr sz="1125" b="0">
                <a:solidFill>
                  <a:srgbClr val="333333"/>
                </a:solidFill>
              </a:defRPr>
            </a:pPr>
            <a:r>
              <a:rPr sz="1125">
                <a:solidFill>
                  <a:srgbClr val="333333"/>
                </a:solidFill>
              </a:rPr>
              <a:t>0 dB: 8.39 → 9.71</a:t>
            </a:r>
          </a:p>
        </p:txBody>
      </p:sp>
      <p:sp>
        <p:nvSpPr>
          <p:cNvPr id="33" name="矩形: 圆角 32">
            <a:extLst>
              <a:ext uri="{FF2B5EF4-FFF2-40B4-BE49-F238E27FC236}">
                <a16:creationId xmlns:a16="http://schemas.microsoft.com/office/drawing/2014/main" id="{114438B4-5D5C-9955-E549-491424E79836}"/>
              </a:ext>
            </a:extLst>
          </p:cNvPr>
          <p:cNvSpPr>
            <a:spLocks noGrp="1"/>
          </p:cNvSpPr>
          <p:nvPr/>
        </p:nvSpPr>
        <p:spPr>
          <a:xfrm>
            <a:off x="4736805" y="3228759"/>
            <a:ext cx="2476500" cy="838200"/>
          </a:xfrm>
          <a:prstGeom prst="roundRect">
            <a:avLst>
              <a:gd name="adj" fmla="val 9091"/>
            </a:avLst>
          </a:prstGeom>
          <a:solidFill>
            <a:srgbClr val="F7F9FC"/>
          </a:solidFill>
          <a:ln w="13335">
            <a:solidFill>
              <a:srgbClr val="C43C35"/>
            </a:solidFill>
            <a:prstDash val="solid"/>
          </a:ln>
        </p:spPr>
        <p:txBody>
          <a:bodyPr anchor="ctr"/>
          <a:lstStyle/>
          <a:p>
            <a:pPr algn="ctr">
              <a:defRPr sz="1125" b="0">
                <a:solidFill>
                  <a:srgbClr val="333333"/>
                </a:solidFill>
              </a:defRPr>
            </a:pPr>
            <a:r>
              <a:rPr sz="1125" dirty="0">
                <a:solidFill>
                  <a:srgbClr val="333333"/>
                </a:solidFill>
              </a:rPr>
              <a:t>文献依据</a:t>
            </a:r>
            <a:r>
              <a:rPr lang="en-US" altLang="zh-CN" sz="1125" dirty="0">
                <a:solidFill>
                  <a:srgbClr val="333333"/>
                </a:solidFill>
              </a:rPr>
              <a:t>【</a:t>
            </a:r>
            <a:r>
              <a:rPr lang="en-US" sz="1125" dirty="0">
                <a:solidFill>
                  <a:srgbClr val="333333"/>
                </a:solidFill>
              </a:rPr>
              <a:t>2</a:t>
            </a:r>
            <a:r>
              <a:rPr lang="en-US" altLang="zh-CN" sz="1125" dirty="0">
                <a:solidFill>
                  <a:srgbClr val="333333"/>
                </a:solidFill>
              </a:rPr>
              <a:t>】</a:t>
            </a:r>
            <a:endParaRPr sz="1125" dirty="0">
              <a:solidFill>
                <a:srgbClr val="333333"/>
              </a:solidFill>
            </a:endParaRPr>
          </a:p>
          <a:p>
            <a:pPr algn="ctr">
              <a:defRPr sz="1125" b="0">
                <a:solidFill>
                  <a:srgbClr val="333333"/>
                </a:solidFill>
              </a:defRPr>
            </a:pPr>
            <a:r>
              <a:rPr lang="zh-CN" altLang="en-US" sz="1125" dirty="0">
                <a:solidFill>
                  <a:srgbClr val="333333"/>
                </a:solidFill>
              </a:rPr>
              <a:t>后端适配 </a:t>
            </a:r>
            <a:r>
              <a:rPr lang="en-US" altLang="zh-CN" sz="1125" dirty="0">
                <a:solidFill>
                  <a:srgbClr val="333333"/>
                </a:solidFill>
              </a:rPr>
              <a:t>| NAW-SV</a:t>
            </a:r>
            <a:endParaRPr sz="1125" dirty="0">
              <a:solidFill>
                <a:srgbClr val="333333"/>
              </a:solidFill>
            </a:endParaRPr>
          </a:p>
        </p:txBody>
      </p:sp>
      <p:cxnSp>
        <p:nvCxnSpPr>
          <p:cNvPr id="62" name="直接箭头连接符 61">
            <a:extLst>
              <a:ext uri="{FF2B5EF4-FFF2-40B4-BE49-F238E27FC236}">
                <a16:creationId xmlns:a16="http://schemas.microsoft.com/office/drawing/2014/main" id="{D6F0F178-FC76-12C7-E5A8-BFDD95D3E402}"/>
              </a:ext>
            </a:extLst>
          </p:cNvPr>
          <p:cNvCxnSpPr>
            <a:cxnSpLocks/>
          </p:cNvCxnSpPr>
          <p:nvPr/>
        </p:nvCxnSpPr>
        <p:spPr>
          <a:xfrm>
            <a:off x="7213305" y="3647859"/>
            <a:ext cx="914695" cy="0"/>
          </a:xfrm>
          <a:prstGeom prst="straightConnector1">
            <a:avLst/>
          </a:prstGeom>
          <a:ln w="19050">
            <a:solidFill>
              <a:srgbClr val="C43C35"/>
            </a:solidFill>
            <a:prstDash val="solid"/>
            <a:tailEnd type="triangle" w="sm" len="sm"/>
          </a:ln>
        </p:spPr>
      </p:cxnSp>
    </p:spTree>
    <p:extLst>
      <p:ext uri="{BB962C8B-B14F-4D97-AF65-F5344CB8AC3E}">
        <p14:creationId xmlns:p14="http://schemas.microsoft.com/office/powerpoint/2010/main" val="13783363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DD573-3F0C-E918-AA45-3274B794F93E}"/>
            </a:ext>
          </a:extLst>
        </p:cNvPr>
        <p:cNvGrpSpPr/>
        <p:nvPr/>
      </p:nvGrpSpPr>
      <p:grpSpPr>
        <a:xfrm>
          <a:off x="0" y="0"/>
          <a:ext cx="0" cy="0"/>
          <a:chOff x="0" y="0"/>
          <a:chExt cx="0" cy="0"/>
        </a:xfrm>
      </p:grpSpPr>
      <p:sp>
        <p:nvSpPr>
          <p:cNvPr id="65" name="圆角矩形 105">
            <a:extLst>
              <a:ext uri="{FF2B5EF4-FFF2-40B4-BE49-F238E27FC236}">
                <a16:creationId xmlns:a16="http://schemas.microsoft.com/office/drawing/2014/main" id="{C5995488-6DF8-3085-3365-E489A5AF8ADC}"/>
              </a:ext>
            </a:extLst>
          </p:cNvPr>
          <p:cNvSpPr/>
          <p:nvPr/>
        </p:nvSpPr>
        <p:spPr>
          <a:xfrm>
            <a:off x="8128001" y="1802413"/>
            <a:ext cx="3179726" cy="2397053"/>
          </a:xfrm>
          <a:prstGeom prst="roundRect">
            <a:avLst>
              <a:gd name="adj" fmla="val 6000"/>
            </a:avLst>
          </a:prstGeom>
          <a:solidFill>
            <a:srgbClr val="F7F9FC"/>
          </a:solidFill>
          <a:ln w="13335">
            <a:solidFill>
              <a:srgbClr val="B58B2B"/>
            </a:solidFill>
            <a:prstDash val="solid"/>
          </a:ln>
        </p:spPr>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125">
              <a:solidFill>
                <a:srgbClr val="333333"/>
              </a:solidFill>
            </a:endParaRPr>
          </a:p>
        </p:txBody>
      </p:sp>
      <p:sp>
        <p:nvSpPr>
          <p:cNvPr id="35" name="圆角矩形 105">
            <a:extLst>
              <a:ext uri="{FF2B5EF4-FFF2-40B4-BE49-F238E27FC236}">
                <a16:creationId xmlns:a16="http://schemas.microsoft.com/office/drawing/2014/main" id="{14DD8AB9-1E54-BC0F-D614-F31F45FE089A}"/>
              </a:ext>
            </a:extLst>
          </p:cNvPr>
          <p:cNvSpPr/>
          <p:nvPr/>
        </p:nvSpPr>
        <p:spPr>
          <a:xfrm>
            <a:off x="4197977" y="1820457"/>
            <a:ext cx="3477107" cy="2397053"/>
          </a:xfrm>
          <a:prstGeom prst="roundRect">
            <a:avLst>
              <a:gd name="adj" fmla="val 6000"/>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9DC94B7D-9A16-5D89-04E0-E771107B84C6}"/>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三条路线经过同一协议验证,最终只保留注册条件化 TSE</a:t>
            </a:r>
          </a:p>
        </p:txBody>
      </p:sp>
      <p:sp>
        <p:nvSpPr>
          <p:cNvPr id="4" name="文本框 3">
            <a:extLst>
              <a:ext uri="{FF2B5EF4-FFF2-40B4-BE49-F238E27FC236}">
                <a16:creationId xmlns:a16="http://schemas.microsoft.com/office/drawing/2014/main" id="{E25F7894-DA98-6EFE-E77A-4737BC4A169C}"/>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04 文献调研与判决</a:t>
            </a:r>
          </a:p>
        </p:txBody>
      </p:sp>
      <p:sp>
        <p:nvSpPr>
          <p:cNvPr id="5" name="矩形 4">
            <a:extLst>
              <a:ext uri="{FF2B5EF4-FFF2-40B4-BE49-F238E27FC236}">
                <a16:creationId xmlns:a16="http://schemas.microsoft.com/office/drawing/2014/main" id="{02E6628A-404A-47F4-C9F5-CEDA84688014}"/>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矩形 5">
            <a:extLst>
              <a:ext uri="{FF2B5EF4-FFF2-40B4-BE49-F238E27FC236}">
                <a16:creationId xmlns:a16="http://schemas.microsoft.com/office/drawing/2014/main" id="{99AA1A67-8889-E547-6A85-2BFDA3DDF9B7}"/>
              </a:ext>
            </a:extLst>
          </p:cNvPr>
          <p:cNvSpPr>
            <a:spLocks noGrp="1"/>
          </p:cNvSpPr>
          <p:nvPr/>
        </p:nvSpPr>
        <p:spPr>
          <a:xfrm>
            <a:off x="482600" y="905498"/>
            <a:ext cx="11303000" cy="711200"/>
          </a:xfrm>
          <a:prstGeom prst="rect">
            <a:avLst/>
          </a:prstGeom>
          <a:solidFill>
            <a:srgbClr val="EAF0FA"/>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1F5D78C5-18CC-9483-782D-0A0D2FFBB9DE}"/>
              </a:ext>
            </a:extLst>
          </p:cNvPr>
          <p:cNvSpPr>
            <a:spLocks noGrp="1"/>
          </p:cNvSpPr>
          <p:nvPr/>
        </p:nvSpPr>
        <p:spPr>
          <a:xfrm>
            <a:off x="514350" y="990602"/>
            <a:ext cx="11144250" cy="384721"/>
          </a:xfrm>
          <a:prstGeom prst="rect">
            <a:avLst/>
          </a:prstGeom>
          <a:noFill/>
        </p:spPr>
        <p:txBody>
          <a:bodyPr vert="horz">
            <a:spAutoFit/>
          </a:bodyPr>
          <a:lstStyle/>
          <a:p>
            <a:pPr algn="ctr">
              <a:buNone/>
            </a:pPr>
            <a:r>
              <a:rPr sz="1900" b="1">
                <a:solidFill>
                  <a:srgbClr val="1F3864"/>
                </a:solidFill>
                <a:latin typeface="微软雅黑"/>
                <a:ea typeface="微软雅黑"/>
                <a:cs typeface="微软雅黑"/>
              </a:rPr>
              <a:t>文献提出假设  →  同 Trial / 同冻结后端 / 同脚本验证  →  由 EER 与身份保持决定去留</a:t>
            </a:r>
          </a:p>
        </p:txBody>
      </p:sp>
      <p:graphicFrame>
        <p:nvGraphicFramePr>
          <p:cNvPr id="38" name="表格 7">
            <a:extLst>
              <a:ext uri="{FF2B5EF4-FFF2-40B4-BE49-F238E27FC236}">
                <a16:creationId xmlns:a16="http://schemas.microsoft.com/office/drawing/2014/main" id="{7C4AF269-2423-8616-F5A3-423EEA973BAC}"/>
              </a:ext>
            </a:extLst>
          </p:cNvPr>
          <p:cNvGraphicFramePr/>
          <p:nvPr/>
        </p:nvGraphicFramePr>
        <p:xfrm>
          <a:off x="-15240000" y="-8572500"/>
          <a:ext cx="11303001" cy="2667000"/>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533400">
                <a:tc>
                  <a:txBody>
                    <a:bodyPr/>
                    <a:lstStyle/>
                    <a:p>
                      <a:r>
                        <a:rPr sz="1300" b="1">
                          <a:solidFill>
                            <a:srgbClr val="FFFFFF"/>
                          </a:solidFill>
                          <a:latin typeface="微软雅黑"/>
                          <a:ea typeface="微软雅黑"/>
                          <a:cs typeface="微软雅黑"/>
                        </a:rPr>
                        <a:t>路线</a:t>
                      </a:r>
                    </a:p>
                  </a:txBody>
                  <a:tcPr anchor="ctr">
                    <a:solidFill>
                      <a:srgbClr val="2F5496"/>
                    </a:solidFill>
                  </a:tcPr>
                </a:tc>
                <a:tc>
                  <a:txBody>
                    <a:bodyPr/>
                    <a:lstStyle/>
                    <a:p>
                      <a:r>
                        <a:rPr sz="1300" b="1">
                          <a:solidFill>
                            <a:srgbClr val="FFFFFF"/>
                          </a:solidFill>
                          <a:latin typeface="微软雅黑"/>
                          <a:ea typeface="微软雅黑"/>
                          <a:cs typeface="微软雅黑"/>
                        </a:rPr>
                        <a:t>代表文献与选取依据</a:t>
                      </a:r>
                    </a:p>
                  </a:txBody>
                  <a:tcPr anchor="ctr">
                    <a:solidFill>
                      <a:srgbClr val="2F5496"/>
                    </a:solidFill>
                  </a:tcPr>
                </a:tc>
                <a:tc>
                  <a:txBody>
                    <a:bodyPr/>
                    <a:lstStyle/>
                    <a:p>
                      <a:r>
                        <a:rPr sz="1300" b="1">
                          <a:solidFill>
                            <a:srgbClr val="FFFFFF"/>
                          </a:solidFill>
                          <a:latin typeface="微软雅黑"/>
                          <a:ea typeface="微软雅黑"/>
                          <a:cs typeface="微软雅黑"/>
                        </a:rPr>
                        <a:t>本课题结果 / 判决</a:t>
                      </a:r>
                    </a:p>
                  </a:txBody>
                  <a:tcPr anchor="ctr">
                    <a:solidFill>
                      <a:srgbClr val="2F5496"/>
                    </a:solidFill>
                  </a:tcPr>
                </a:tc>
                <a:extLst>
                  <a:ext uri="{0D108BD9-81ED-4DB2-BD59-A6C34878D82A}">
                    <a16:rowId xmlns:a16="http://schemas.microsoft.com/office/drawing/2014/main" val="10000"/>
                  </a:ext>
                </a:extLst>
              </a:tr>
              <a:tr h="533400">
                <a:tc>
                  <a:txBody>
                    <a:bodyPr/>
                    <a:lstStyle/>
                    <a:p>
                      <a:r>
                        <a:rPr sz="1300">
                          <a:solidFill>
                            <a:srgbClr val="333333"/>
                          </a:solidFill>
                          <a:latin typeface="微软雅黑"/>
                          <a:ea typeface="微软雅黑"/>
                          <a:cs typeface="微软雅黑"/>
                        </a:rPr>
                        <a:t>后端鲁棒微调</a:t>
                      </a:r>
                    </a:p>
                  </a:txBody>
                  <a:tcPr anchor="ctr">
                    <a:solidFill>
                      <a:srgbClr val="FFFFFF"/>
                    </a:solidFill>
                  </a:tcPr>
                </a:tc>
                <a:tc>
                  <a:txBody>
                    <a:bodyPr/>
                    <a:lstStyle/>
                    <a:p>
                      <a:r>
                        <a:rPr sz="1300">
                          <a:solidFill>
                            <a:srgbClr val="333333"/>
                          </a:solidFill>
                          <a:latin typeface="微软雅黑"/>
                          <a:ea typeface="微软雅黑"/>
                          <a:cs typeface="微软雅黑"/>
                        </a:rPr>
                        <a:t>FT-Boosted SV(2025):噪声增强数据微调后端</a:t>
                      </a:r>
                    </a:p>
                  </a:txBody>
                  <a:tcPr anchor="ctr">
                    <a:solidFill>
                      <a:srgbClr val="FFFFFF"/>
                    </a:solidFill>
                  </a:tcPr>
                </a:tc>
                <a:tc>
                  <a:txBody>
                    <a:bodyPr/>
                    <a:lstStyle/>
                    <a:p>
                      <a:r>
                        <a:rPr sz="1300">
                          <a:solidFill>
                            <a:srgbClr val="333333"/>
                          </a:solidFill>
                          <a:latin typeface="微软雅黑"/>
                          <a:ea typeface="微软雅黑"/>
                          <a:cs typeface="微软雅黑"/>
                        </a:rPr>
                        <a:t>6/8 条件变差;0 dB EER：8.39→9.71;否决</a:t>
                      </a:r>
                    </a:p>
                  </a:txBody>
                  <a:tcPr anchor="ctr">
                    <a:solidFill>
                      <a:srgbClr val="FFFFFF"/>
                    </a:solidFill>
                  </a:tcPr>
                </a:tc>
                <a:extLst>
                  <a:ext uri="{0D108BD9-81ED-4DB2-BD59-A6C34878D82A}">
                    <a16:rowId xmlns:a16="http://schemas.microsoft.com/office/drawing/2014/main" val="10001"/>
                  </a:ext>
                </a:extLst>
              </a:tr>
              <a:tr h="533400">
                <a:tc>
                  <a:txBody>
                    <a:bodyPr/>
                    <a:lstStyle/>
                    <a:p>
                      <a:r>
                        <a:rPr sz="1300">
                          <a:solidFill>
                            <a:srgbClr val="333333"/>
                          </a:solidFill>
                          <a:latin typeface="微软雅黑"/>
                          <a:ea typeface="微软雅黑"/>
                          <a:cs typeface="微软雅黑"/>
                        </a:rPr>
                        <a:t>增强后再验证</a:t>
                      </a:r>
                    </a:p>
                  </a:txBody>
                  <a:tcPr anchor="ctr">
                    <a:solidFill>
                      <a:srgbClr val="F2F6FC"/>
                    </a:solidFill>
                  </a:tcPr>
                </a:tc>
                <a:tc>
                  <a:txBody>
                    <a:bodyPr/>
                    <a:lstStyle/>
                    <a:p>
                      <a:r>
                        <a:rPr sz="1300">
                          <a:solidFill>
                            <a:srgbClr val="333333"/>
                          </a:solidFill>
                          <a:latin typeface="微软雅黑"/>
                          <a:ea typeface="微软雅黑"/>
                          <a:cs typeface="微软雅黑"/>
                        </a:rPr>
                        <a:t>ParaNoise-SV(2025):增强与声纹联合建模</a:t>
                      </a:r>
                    </a:p>
                  </a:txBody>
                  <a:tcPr anchor="ctr">
                    <a:solidFill>
                      <a:srgbClr val="F2F6FC"/>
                    </a:solidFill>
                  </a:tcPr>
                </a:tc>
                <a:tc>
                  <a:txBody>
                    <a:bodyPr/>
                    <a:lstStyle/>
                    <a:p>
                      <a:r>
                        <a:rPr sz="1300">
                          <a:solidFill>
                            <a:srgbClr val="333333"/>
                          </a:solidFill>
                          <a:latin typeface="微软雅黑"/>
                          <a:ea typeface="微软雅黑"/>
                          <a:cs typeface="微软雅黑"/>
                        </a:rPr>
                        <a:t>0 dB EER：10.11&gt;8.39;</a:t>
                      </a:r>
                    </a:p>
                    <a:p>
                      <a:r>
                        <a:rPr sz="1300">
                          <a:solidFill>
                            <a:srgbClr val="333333"/>
                          </a:solidFill>
                          <a:latin typeface="微软雅黑"/>
                          <a:ea typeface="微软雅黑"/>
                          <a:cs typeface="微软雅黑"/>
                        </a:rPr>
                        <a:t>目标分 LLR：0.422→0.391;否决</a:t>
                      </a:r>
                    </a:p>
                  </a:txBody>
                  <a:tcPr anchor="ctr">
                    <a:solidFill>
                      <a:srgbClr val="F2F6FC"/>
                    </a:solidFill>
                  </a:tcPr>
                </a:tc>
                <a:extLst>
                  <a:ext uri="{0D108BD9-81ED-4DB2-BD59-A6C34878D82A}">
                    <a16:rowId xmlns:a16="http://schemas.microsoft.com/office/drawing/2014/main" val="10002"/>
                  </a:ext>
                </a:extLst>
              </a:tr>
              <a:tr h="533400">
                <a:tc>
                  <a:txBody>
                    <a:bodyPr/>
                    <a:lstStyle/>
                    <a:p>
                      <a:r>
                        <a:rPr sz="1300">
                          <a:solidFill>
                            <a:srgbClr val="333333"/>
                          </a:solidFill>
                          <a:latin typeface="微软雅黑"/>
                          <a:ea typeface="微软雅黑"/>
                          <a:cs typeface="微软雅黑"/>
                        </a:rPr>
                        <a:t>注册条件化 TSE</a:t>
                      </a:r>
                    </a:p>
                  </a:txBody>
                  <a:tcPr anchor="ctr">
                    <a:solidFill>
                      <a:srgbClr val="FFFFFF"/>
                    </a:solidFill>
                  </a:tcPr>
                </a:tc>
                <a:tc>
                  <a:txBody>
                    <a:bodyPr/>
                    <a:lstStyle/>
                    <a:p>
                      <a:r>
                        <a:rPr sz="1300">
                          <a:solidFill>
                            <a:srgbClr val="333333"/>
                          </a:solidFill>
                          <a:latin typeface="微软雅黑"/>
                          <a:ea typeface="微软雅黑"/>
                          <a:cs typeface="微软雅黑"/>
                        </a:rPr>
                        <a:t>TSE Curriculum(2024):注册语音条件用于目标提取</a:t>
                      </a:r>
                    </a:p>
                  </a:txBody>
                  <a:tcPr anchor="ctr">
                    <a:solidFill>
                      <a:srgbClr val="FFFFFF"/>
                    </a:solidFill>
                  </a:tcPr>
                </a:tc>
                <a:tc>
                  <a:txBody>
                    <a:bodyPr/>
                    <a:lstStyle/>
                    <a:p>
                      <a:r>
                        <a:rPr sz="1300">
                          <a:solidFill>
                            <a:srgbClr val="333333"/>
                          </a:solidFill>
                          <a:latin typeface="微软雅黑"/>
                          <a:ea typeface="微软雅黑"/>
                          <a:cs typeface="微软雅黑"/>
                        </a:rPr>
                        <a:t>任务定义匹配;0/-5 dB 达标;保留</a:t>
                      </a:r>
                    </a:p>
                  </a:txBody>
                  <a:tcPr anchor="ctr">
                    <a:solidFill>
                      <a:srgbClr val="FFFFFF"/>
                    </a:solidFill>
                  </a:tcPr>
                </a:tc>
                <a:extLst>
                  <a:ext uri="{0D108BD9-81ED-4DB2-BD59-A6C34878D82A}">
                    <a16:rowId xmlns:a16="http://schemas.microsoft.com/office/drawing/2014/main" val="10003"/>
                  </a:ext>
                </a:extLst>
              </a:tr>
              <a:tr h="533400">
                <a:tc>
                  <a:txBody>
                    <a:bodyPr/>
                    <a:lstStyle/>
                    <a:p>
                      <a:r>
                        <a:rPr sz="1300">
                          <a:solidFill>
                            <a:srgbClr val="333333"/>
                          </a:solidFill>
                          <a:latin typeface="微软雅黑"/>
                          <a:ea typeface="微软雅黑"/>
                          <a:cs typeface="微软雅黑"/>
                        </a:rPr>
                        <a:t>判决纪律</a:t>
                      </a:r>
                    </a:p>
                  </a:txBody>
                  <a:tcPr anchor="ctr">
                    <a:solidFill>
                      <a:srgbClr val="F2F6FC"/>
                    </a:solidFill>
                  </a:tcPr>
                </a:tc>
                <a:tc>
                  <a:txBody>
                    <a:bodyPr/>
                    <a:lstStyle/>
                    <a:p>
                      <a:r>
                        <a:rPr sz="1300">
                          <a:solidFill>
                            <a:srgbClr val="333333"/>
                          </a:solidFill>
                          <a:latin typeface="微软雅黑"/>
                          <a:ea typeface="微软雅黑"/>
                          <a:cs typeface="微软雅黑"/>
                        </a:rPr>
                        <a:t>文献用于说明路线依据,不替代本课题证据</a:t>
                      </a:r>
                    </a:p>
                  </a:txBody>
                  <a:tcPr anchor="ctr">
                    <a:solidFill>
                      <a:srgbClr val="F2F6FC"/>
                    </a:solidFill>
                  </a:tcPr>
                </a:tc>
                <a:tc>
                  <a:txBody>
                    <a:bodyPr/>
                    <a:lstStyle/>
                    <a:p>
                      <a:r>
                        <a:rPr sz="1300">
                          <a:solidFill>
                            <a:srgbClr val="333333"/>
                          </a:solidFill>
                          <a:latin typeface="微软雅黑"/>
                          <a:ea typeface="微软雅黑"/>
                          <a:cs typeface="微软雅黑"/>
                        </a:rPr>
                        <a:t>同一 trial / 后端 / 阈值口径比较</a:t>
                      </a:r>
                    </a:p>
                  </a:txBody>
                  <a:tcPr anchor="ctr">
                    <a:solidFill>
                      <a:srgbClr val="F2F6FC"/>
                    </a:solidFill>
                  </a:tcPr>
                </a:tc>
                <a:extLst>
                  <a:ext uri="{0D108BD9-81ED-4DB2-BD59-A6C34878D82A}">
                    <a16:rowId xmlns:a16="http://schemas.microsoft.com/office/drawing/2014/main" val="10004"/>
                  </a:ext>
                </a:extLst>
              </a:tr>
            </a:tbl>
          </a:graphicData>
        </a:graphic>
      </p:graphicFrame>
      <p:sp>
        <p:nvSpPr>
          <p:cNvPr id="9" name="文本框 8">
            <a:extLst>
              <a:ext uri="{FF2B5EF4-FFF2-40B4-BE49-F238E27FC236}">
                <a16:creationId xmlns:a16="http://schemas.microsoft.com/office/drawing/2014/main" id="{7A04DEA5-3461-E5DF-2886-FE60A548C710}"/>
              </a:ext>
            </a:extLst>
          </p:cNvPr>
          <p:cNvSpPr>
            <a:spLocks noGrp="1"/>
          </p:cNvSpPr>
          <p:nvPr/>
        </p:nvSpPr>
        <p:spPr>
          <a:xfrm>
            <a:off x="482600" y="6394343"/>
            <a:ext cx="11144250" cy="338554"/>
          </a:xfrm>
          <a:prstGeom prst="rect">
            <a:avLst/>
          </a:prstGeom>
          <a:noFill/>
        </p:spPr>
        <p:txBody>
          <a:bodyPr vert="horz">
            <a:spAutoFit/>
          </a:bodyPr>
          <a:lstStyle/>
          <a:p>
            <a:pPr>
              <a:spcAft>
                <a:spcPts val="600"/>
              </a:spcAft>
            </a:pPr>
            <a:r>
              <a:rPr sz="1450" dirty="0">
                <a:solidFill>
                  <a:srgbClr val="333333"/>
                </a:solidFill>
                <a:latin typeface="微软雅黑"/>
                <a:ea typeface="微软雅黑"/>
                <a:cs typeface="微软雅黑"/>
              </a:rPr>
              <a:t>[1] </a:t>
            </a:r>
            <a:r>
              <a:rPr lang="en-US" altLang="zh-CN" sz="1450" dirty="0">
                <a:solidFill>
                  <a:srgbClr val="333333"/>
                </a:solidFill>
                <a:latin typeface="微软雅黑"/>
                <a:ea typeface="微软雅黑"/>
                <a:cs typeface="微软雅黑"/>
              </a:rPr>
              <a:t>Kim et al., </a:t>
            </a:r>
            <a:r>
              <a:rPr lang="en-US" altLang="zh-CN" sz="1450" dirty="0" err="1">
                <a:solidFill>
                  <a:srgbClr val="333333"/>
                </a:solidFill>
                <a:latin typeface="微软雅黑"/>
                <a:ea typeface="微软雅黑"/>
                <a:cs typeface="微软雅黑"/>
              </a:rPr>
              <a:t>Interspeech</a:t>
            </a:r>
            <a:r>
              <a:rPr lang="en-US" altLang="zh-CN" sz="1450" dirty="0">
                <a:solidFill>
                  <a:srgbClr val="333333"/>
                </a:solidFill>
                <a:latin typeface="微软雅黑"/>
                <a:ea typeface="微软雅黑"/>
                <a:cs typeface="微软雅黑"/>
              </a:rPr>
              <a:t> 2025.  </a:t>
            </a:r>
            <a:r>
              <a:rPr sz="1450" dirty="0">
                <a:solidFill>
                  <a:srgbClr val="333333"/>
                </a:solidFill>
                <a:latin typeface="微软雅黑"/>
                <a:ea typeface="微软雅黑"/>
                <a:cs typeface="微软雅黑"/>
              </a:rPr>
              <a:t>[2] </a:t>
            </a:r>
            <a:r>
              <a:rPr lang="en-US" altLang="zh-CN" sz="1600" dirty="0">
                <a:solidFill>
                  <a:srgbClr val="666666"/>
                </a:solidFill>
                <a:latin typeface="微软雅黑"/>
                <a:ea typeface="微软雅黑"/>
                <a:cs typeface="微软雅黑"/>
              </a:rPr>
              <a:t>Zhang et al., </a:t>
            </a:r>
            <a:r>
              <a:rPr lang="en-US" altLang="zh-CN" sz="1600" dirty="0" err="1">
                <a:solidFill>
                  <a:srgbClr val="666666"/>
                </a:solidFill>
                <a:latin typeface="微软雅黑"/>
                <a:ea typeface="微软雅黑"/>
                <a:cs typeface="微软雅黑"/>
              </a:rPr>
              <a:t>Interspeech</a:t>
            </a:r>
            <a:r>
              <a:rPr lang="en-US" altLang="zh-CN" sz="1600" dirty="0">
                <a:solidFill>
                  <a:srgbClr val="666666"/>
                </a:solidFill>
                <a:latin typeface="微软雅黑"/>
                <a:ea typeface="微软雅黑"/>
                <a:cs typeface="微软雅黑"/>
              </a:rPr>
              <a:t> 2024, 4868-4872. </a:t>
            </a:r>
            <a:endParaRPr sz="1450" dirty="0">
              <a:solidFill>
                <a:srgbClr val="333333"/>
              </a:solidFill>
              <a:latin typeface="微软雅黑"/>
              <a:ea typeface="微软雅黑"/>
              <a:cs typeface="微软雅黑"/>
            </a:endParaRPr>
          </a:p>
        </p:txBody>
      </p:sp>
      <p:cxnSp>
        <p:nvCxnSpPr>
          <p:cNvPr id="44" name="直接箭头连接符 43">
            <a:extLst>
              <a:ext uri="{FF2B5EF4-FFF2-40B4-BE49-F238E27FC236}">
                <a16:creationId xmlns:a16="http://schemas.microsoft.com/office/drawing/2014/main" id="{48806FD6-2F15-260A-26A8-3161AB48C93E}"/>
              </a:ext>
            </a:extLst>
          </p:cNvPr>
          <p:cNvCxnSpPr>
            <a:cxnSpLocks/>
          </p:cNvCxnSpPr>
          <p:nvPr/>
        </p:nvCxnSpPr>
        <p:spPr>
          <a:xfrm>
            <a:off x="3116226" y="2515410"/>
            <a:ext cx="1081751" cy="0"/>
          </a:xfrm>
          <a:prstGeom prst="straightConnector1">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直接箭头连接符 45">
            <a:extLst>
              <a:ext uri="{FF2B5EF4-FFF2-40B4-BE49-F238E27FC236}">
                <a16:creationId xmlns:a16="http://schemas.microsoft.com/office/drawing/2014/main" id="{679C6C95-16D5-B384-9635-9F7D157CB57C}"/>
              </a:ext>
            </a:extLst>
          </p:cNvPr>
          <p:cNvCxnSpPr>
            <a:cxnSpLocks/>
          </p:cNvCxnSpPr>
          <p:nvPr/>
        </p:nvCxnSpPr>
        <p:spPr>
          <a:xfrm flipH="1">
            <a:off x="7891794" y="5152217"/>
            <a:ext cx="825795" cy="0"/>
          </a:xfrm>
          <a:prstGeom prst="straightConnector1">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cxnSp>
      <p:sp>
        <p:nvSpPr>
          <p:cNvPr id="10" name="矩形 9">
            <a:extLst>
              <a:ext uri="{FF2B5EF4-FFF2-40B4-BE49-F238E27FC236}">
                <a16:creationId xmlns:a16="http://schemas.microsoft.com/office/drawing/2014/main" id="{368C66DE-6A44-276F-136B-959A3B6D8E18}"/>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23" name="直接箭头连接符 22">
            <a:extLst>
              <a:ext uri="{FF2B5EF4-FFF2-40B4-BE49-F238E27FC236}">
                <a16:creationId xmlns:a16="http://schemas.microsoft.com/office/drawing/2014/main" id="{2C4F750D-D83A-A772-3950-280697A070F4}"/>
              </a:ext>
            </a:extLst>
          </p:cNvPr>
          <p:cNvCxnSpPr>
            <a:cxnSpLocks/>
          </p:cNvCxnSpPr>
          <p:nvPr/>
        </p:nvCxnSpPr>
        <p:spPr>
          <a:xfrm flipH="1">
            <a:off x="4180219" y="5152217"/>
            <a:ext cx="949325" cy="7698"/>
          </a:xfrm>
          <a:prstGeom prst="straightConnector1">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cxnSp>
      <p:sp>
        <p:nvSpPr>
          <p:cNvPr id="33" name="矩形: 圆角 32">
            <a:extLst>
              <a:ext uri="{FF2B5EF4-FFF2-40B4-BE49-F238E27FC236}">
                <a16:creationId xmlns:a16="http://schemas.microsoft.com/office/drawing/2014/main" id="{C1A6813D-E08B-58A7-A4CA-7B3E9F1E79B4}"/>
              </a:ext>
            </a:extLst>
          </p:cNvPr>
          <p:cNvSpPr>
            <a:spLocks noGrp="1"/>
          </p:cNvSpPr>
          <p:nvPr/>
        </p:nvSpPr>
        <p:spPr>
          <a:xfrm>
            <a:off x="4698280" y="3207331"/>
            <a:ext cx="2476500" cy="838200"/>
          </a:xfrm>
          <a:prstGeom prst="roundRect">
            <a:avLst>
              <a:gd name="adj" fmla="val 9091"/>
            </a:avLst>
          </a:prstGeom>
          <a:solidFill>
            <a:srgbClr val="F7F9FC"/>
          </a:solidFill>
          <a:ln w="13335">
            <a:solidFill>
              <a:srgbClr val="B58B2B"/>
            </a:solidFill>
            <a:prstDash val="solid"/>
          </a:ln>
        </p:spPr>
        <p:txBody>
          <a:bodyPr anchor="ctr"/>
          <a:lstStyle/>
          <a:p>
            <a:pPr algn="ctr"/>
            <a:r>
              <a:rPr sz="1125">
                <a:solidFill>
                  <a:srgbClr val="333333"/>
                </a:solidFill>
              </a:rPr>
              <a:t>文献依据</a:t>
            </a:r>
            <a:r>
              <a:rPr lang="en-US" altLang="zh-CN" sz="1125">
                <a:solidFill>
                  <a:srgbClr val="333333"/>
                </a:solidFill>
              </a:rPr>
              <a:t>【</a:t>
            </a:r>
            <a:r>
              <a:rPr lang="en-US" sz="1125">
                <a:solidFill>
                  <a:srgbClr val="333333"/>
                </a:solidFill>
              </a:rPr>
              <a:t>2</a:t>
            </a:r>
            <a:r>
              <a:rPr lang="en-US" altLang="zh-CN" sz="1125" dirty="0">
                <a:solidFill>
                  <a:srgbClr val="333333"/>
                </a:solidFill>
              </a:rPr>
              <a:t>】</a:t>
            </a:r>
            <a:endParaRPr sz="1125" dirty="0">
              <a:solidFill>
                <a:srgbClr val="333333"/>
              </a:solidFill>
            </a:endParaRPr>
          </a:p>
          <a:p>
            <a:pPr algn="ctr"/>
            <a:r>
              <a:rPr lang="zh-CN" altLang="en-US" sz="1125" dirty="0">
                <a:solidFill>
                  <a:srgbClr val="333333"/>
                </a:solidFill>
              </a:rPr>
              <a:t>通用增</a:t>
            </a:r>
            <a:r>
              <a:rPr lang="zh-CN" altLang="en-US" sz="1125">
                <a:solidFill>
                  <a:srgbClr val="333333"/>
                </a:solidFill>
              </a:rPr>
              <a:t>强 </a:t>
            </a:r>
            <a:r>
              <a:rPr lang="en-US" altLang="zh-CN" sz="1125" dirty="0">
                <a:solidFill>
                  <a:srgbClr val="333333"/>
                </a:solidFill>
              </a:rPr>
              <a:t>| URGENT</a:t>
            </a:r>
            <a:endParaRPr sz="1125" dirty="0">
              <a:solidFill>
                <a:srgbClr val="333333"/>
              </a:solidFill>
            </a:endParaRPr>
          </a:p>
        </p:txBody>
      </p:sp>
      <p:cxnSp>
        <p:nvCxnSpPr>
          <p:cNvPr id="62" name="直接箭头连接符 61">
            <a:extLst>
              <a:ext uri="{FF2B5EF4-FFF2-40B4-BE49-F238E27FC236}">
                <a16:creationId xmlns:a16="http://schemas.microsoft.com/office/drawing/2014/main" id="{BF9DDF16-18CE-6507-848D-9E7E5E03D00A}"/>
              </a:ext>
            </a:extLst>
          </p:cNvPr>
          <p:cNvCxnSpPr>
            <a:cxnSpLocks/>
          </p:cNvCxnSpPr>
          <p:nvPr/>
        </p:nvCxnSpPr>
        <p:spPr>
          <a:xfrm>
            <a:off x="7213305" y="3647859"/>
            <a:ext cx="914695" cy="0"/>
          </a:xfrm>
          <a:prstGeom prst="straightConnector1">
            <a:avLst/>
          </a:prstGeom>
          <a:solidFill>
            <a:srgbClr val="FAF6EA"/>
          </a:solidFill>
          <a:ln w="15875">
            <a:solidFill>
              <a:srgbClr val="8B6414"/>
            </a:solidFill>
          </a:ln>
        </p:spPr>
        <p:style>
          <a:lnRef idx="2">
            <a:schemeClr val="accent1">
              <a:shade val="50000"/>
            </a:schemeClr>
          </a:lnRef>
          <a:fillRef idx="1">
            <a:schemeClr val="accent1"/>
          </a:fillRef>
          <a:effectRef idx="0">
            <a:schemeClr val="accent1"/>
          </a:effectRef>
          <a:fontRef idx="minor">
            <a:schemeClr val="lt1"/>
          </a:fontRef>
        </p:style>
      </p:cxnSp>
      <p:sp>
        <p:nvSpPr>
          <p:cNvPr id="8" name="矩形: 圆角 7">
            <a:extLst>
              <a:ext uri="{FF2B5EF4-FFF2-40B4-BE49-F238E27FC236}">
                <a16:creationId xmlns:a16="http://schemas.microsoft.com/office/drawing/2014/main" id="{158A87A7-1167-3750-A106-079D322510F8}"/>
              </a:ext>
            </a:extLst>
          </p:cNvPr>
          <p:cNvSpPr>
            <a:spLocks noGrp="1"/>
          </p:cNvSpPr>
          <p:nvPr/>
        </p:nvSpPr>
        <p:spPr>
          <a:xfrm>
            <a:off x="1306476" y="2092948"/>
            <a:ext cx="1809750" cy="838200"/>
          </a:xfrm>
          <a:prstGeom prst="roundRect">
            <a:avLst>
              <a:gd name="adj" fmla="val 9091"/>
            </a:avLst>
          </a:prstGeom>
          <a:solidFill>
            <a:srgbClr val="B58B2B"/>
          </a:solidFill>
          <a:ln w="13335">
            <a:solidFill>
              <a:srgbClr val="B58B2B"/>
            </a:solidFill>
            <a:prstDash val="solid"/>
          </a:ln>
        </p:spPr>
        <p:txBody>
          <a:bodyPr anchor="ctr"/>
          <a:lstStyle/>
          <a:p>
            <a:pPr algn="ctr">
              <a:defRPr sz="1125" b="1">
                <a:solidFill>
                  <a:srgbClr val="FFFFFF"/>
                </a:solidFill>
              </a:defRPr>
            </a:pPr>
            <a:r>
              <a:rPr sz="1125" b="1" dirty="0" err="1">
                <a:solidFill>
                  <a:srgbClr val="FFFFFF"/>
                </a:solidFill>
              </a:rPr>
              <a:t>路线</a:t>
            </a:r>
            <a:r>
              <a:rPr sz="1125" b="1" dirty="0">
                <a:solidFill>
                  <a:srgbClr val="FFFFFF"/>
                </a:solidFill>
              </a:rPr>
              <a:t> B</a:t>
            </a:r>
          </a:p>
          <a:p>
            <a:pPr algn="ctr">
              <a:defRPr sz="1125" b="1">
                <a:solidFill>
                  <a:srgbClr val="FFFFFF"/>
                </a:solidFill>
              </a:defRPr>
            </a:pPr>
            <a:r>
              <a:rPr sz="1125" b="1" dirty="0" err="1">
                <a:solidFill>
                  <a:srgbClr val="FFFFFF"/>
                </a:solidFill>
              </a:rPr>
              <a:t>通用增强后验证</a:t>
            </a:r>
            <a:endParaRPr sz="1125" b="1" dirty="0">
              <a:solidFill>
                <a:srgbClr val="FFFFFF"/>
              </a:solidFill>
            </a:endParaRPr>
          </a:p>
        </p:txBody>
      </p:sp>
      <p:sp>
        <p:nvSpPr>
          <p:cNvPr id="15" name="矩形: 圆角 14">
            <a:extLst>
              <a:ext uri="{FF2B5EF4-FFF2-40B4-BE49-F238E27FC236}">
                <a16:creationId xmlns:a16="http://schemas.microsoft.com/office/drawing/2014/main" id="{416E059E-5D85-DC16-A1C5-2B1BF33B20F1}"/>
              </a:ext>
            </a:extLst>
          </p:cNvPr>
          <p:cNvSpPr>
            <a:spLocks noGrp="1"/>
          </p:cNvSpPr>
          <p:nvPr/>
        </p:nvSpPr>
        <p:spPr>
          <a:xfrm>
            <a:off x="4698280" y="2085250"/>
            <a:ext cx="2476500" cy="838200"/>
          </a:xfrm>
          <a:prstGeom prst="roundRect">
            <a:avLst>
              <a:gd name="adj" fmla="val 9091"/>
            </a:avLst>
          </a:prstGeom>
          <a:solidFill>
            <a:srgbClr val="F7F9FC"/>
          </a:solidFill>
          <a:ln w="13335">
            <a:solidFill>
              <a:srgbClr val="B58B2B"/>
            </a:solidFill>
            <a:prstDash val="solid"/>
          </a:ln>
        </p:spPr>
        <p:txBody>
          <a:bodyPr anchor="ctr"/>
          <a:lstStyle/>
          <a:p>
            <a:pPr algn="ctr">
              <a:defRPr sz="1125" b="0">
                <a:solidFill>
                  <a:srgbClr val="333333"/>
                </a:solidFill>
              </a:defRPr>
            </a:pPr>
            <a:r>
              <a:rPr sz="1125" dirty="0">
                <a:solidFill>
                  <a:srgbClr val="333333"/>
                </a:solidFill>
              </a:rPr>
              <a:t>文献依据</a:t>
            </a:r>
            <a:r>
              <a:rPr lang="en-US" altLang="zh-CN" sz="1125" dirty="0">
                <a:solidFill>
                  <a:srgbClr val="333333"/>
                </a:solidFill>
              </a:rPr>
              <a:t>【1】</a:t>
            </a:r>
            <a:endParaRPr sz="1125" dirty="0">
              <a:solidFill>
                <a:srgbClr val="333333"/>
              </a:solidFill>
            </a:endParaRPr>
          </a:p>
          <a:p>
            <a:pPr algn="ctr">
              <a:defRPr sz="1125" b="0">
                <a:solidFill>
                  <a:srgbClr val="333333"/>
                </a:solidFill>
              </a:defRPr>
            </a:pPr>
            <a:r>
              <a:rPr sz="1125" dirty="0">
                <a:solidFill>
                  <a:srgbClr val="333333"/>
                </a:solidFill>
              </a:rPr>
              <a:t>ParaNoise-SV 2025</a:t>
            </a:r>
          </a:p>
          <a:p>
            <a:pPr algn="ctr">
              <a:defRPr sz="1125" b="0">
                <a:solidFill>
                  <a:srgbClr val="333333"/>
                </a:solidFill>
              </a:defRPr>
            </a:pPr>
            <a:r>
              <a:rPr sz="1125" dirty="0" err="1">
                <a:solidFill>
                  <a:srgbClr val="333333"/>
                </a:solidFill>
              </a:rPr>
              <a:t>增强需与声纹任务协同</a:t>
            </a:r>
            <a:endParaRPr sz="1125" dirty="0">
              <a:solidFill>
                <a:srgbClr val="333333"/>
              </a:solidFill>
            </a:endParaRPr>
          </a:p>
        </p:txBody>
      </p:sp>
      <p:pic>
        <p:nvPicPr>
          <p:cNvPr id="18" name="图片 17">
            <a:extLst>
              <a:ext uri="{FF2B5EF4-FFF2-40B4-BE49-F238E27FC236}">
                <a16:creationId xmlns:a16="http://schemas.microsoft.com/office/drawing/2014/main" id="{FB6B5C54-AB5B-707C-64DC-3B55148FDA63}"/>
              </a:ext>
            </a:extLst>
          </p:cNvPr>
          <p:cNvPicPr>
            <a:picLocks noChangeAspect="1"/>
          </p:cNvPicPr>
          <p:nvPr/>
        </p:nvPicPr>
        <p:blipFill>
          <a:blip r:embed="rId3"/>
          <a:srcRect t="27007" r="50440"/>
          <a:stretch>
            <a:fillRect/>
          </a:stretch>
        </p:blipFill>
        <p:spPr>
          <a:xfrm>
            <a:off x="8636998" y="1875820"/>
            <a:ext cx="2161732" cy="1141793"/>
          </a:xfrm>
          <a:prstGeom prst="rect">
            <a:avLst/>
          </a:prstGeom>
        </p:spPr>
      </p:pic>
      <p:pic>
        <p:nvPicPr>
          <p:cNvPr id="20" name="图片 19">
            <a:extLst>
              <a:ext uri="{FF2B5EF4-FFF2-40B4-BE49-F238E27FC236}">
                <a16:creationId xmlns:a16="http://schemas.microsoft.com/office/drawing/2014/main" id="{48D8DEF0-8A8E-9EB3-DDF0-CC4AB93EB56E}"/>
              </a:ext>
            </a:extLst>
          </p:cNvPr>
          <p:cNvPicPr>
            <a:picLocks noChangeAspect="1"/>
          </p:cNvPicPr>
          <p:nvPr/>
        </p:nvPicPr>
        <p:blipFill>
          <a:blip r:embed="rId3"/>
          <a:srcRect l="49161" t="32107"/>
          <a:stretch>
            <a:fillRect/>
          </a:stretch>
        </p:blipFill>
        <p:spPr>
          <a:xfrm>
            <a:off x="8636998" y="3121055"/>
            <a:ext cx="2169927" cy="1039235"/>
          </a:xfrm>
          <a:prstGeom prst="rect">
            <a:avLst/>
          </a:prstGeom>
        </p:spPr>
      </p:pic>
      <p:sp>
        <p:nvSpPr>
          <p:cNvPr id="24" name="矩形: 圆角 23">
            <a:extLst>
              <a:ext uri="{FF2B5EF4-FFF2-40B4-BE49-F238E27FC236}">
                <a16:creationId xmlns:a16="http://schemas.microsoft.com/office/drawing/2014/main" id="{E9BCE335-0611-0325-38F3-484BF58A5503}"/>
              </a:ext>
            </a:extLst>
          </p:cNvPr>
          <p:cNvSpPr>
            <a:spLocks noGrp="1"/>
          </p:cNvSpPr>
          <p:nvPr/>
        </p:nvSpPr>
        <p:spPr>
          <a:xfrm>
            <a:off x="8717589" y="4733117"/>
            <a:ext cx="2857500" cy="838200"/>
          </a:xfrm>
          <a:prstGeom prst="roundRect">
            <a:avLst>
              <a:gd name="adj" fmla="val 9091"/>
            </a:avLst>
          </a:prstGeom>
          <a:solidFill>
            <a:srgbClr val="F7F9FC"/>
          </a:solidFill>
          <a:ln w="13335">
            <a:solidFill>
              <a:srgbClr val="B58B2B"/>
            </a:solidFill>
            <a:prstDash val="solid"/>
          </a:ln>
        </p:spPr>
        <p:txBody>
          <a:bodyPr anchor="ctr"/>
          <a:lstStyle/>
          <a:p>
            <a:pPr algn="ctr">
              <a:defRPr sz="1125" b="0">
                <a:solidFill>
                  <a:srgbClr val="333333"/>
                </a:solidFill>
              </a:defRPr>
            </a:pPr>
            <a:r>
              <a:rPr sz="1125" dirty="0" err="1">
                <a:solidFill>
                  <a:srgbClr val="333333"/>
                </a:solidFill>
              </a:rPr>
              <a:t>统一验证</a:t>
            </a:r>
            <a:endParaRPr sz="1125" dirty="0">
              <a:solidFill>
                <a:srgbClr val="333333"/>
              </a:solidFill>
            </a:endParaRPr>
          </a:p>
          <a:p>
            <a:pPr algn="ctr">
              <a:defRPr sz="1125" b="0">
                <a:solidFill>
                  <a:srgbClr val="333333"/>
                </a:solidFill>
              </a:defRPr>
            </a:pPr>
            <a:r>
              <a:rPr sz="1125" dirty="0">
                <a:solidFill>
                  <a:srgbClr val="333333"/>
                </a:solidFill>
              </a:rPr>
              <a:t>0 dB: 10.11 &gt; 8.39</a:t>
            </a:r>
          </a:p>
          <a:p>
            <a:pPr algn="ctr">
              <a:defRPr sz="1125" b="0">
                <a:solidFill>
                  <a:srgbClr val="333333"/>
                </a:solidFill>
              </a:defRPr>
            </a:pPr>
            <a:r>
              <a:rPr sz="1125" dirty="0" err="1">
                <a:solidFill>
                  <a:srgbClr val="333333"/>
                </a:solidFill>
              </a:rPr>
              <a:t>目标均值</a:t>
            </a:r>
            <a:r>
              <a:rPr sz="1125" dirty="0">
                <a:solidFill>
                  <a:srgbClr val="333333"/>
                </a:solidFill>
              </a:rPr>
              <a:t>: 0.422 → 0.391</a:t>
            </a:r>
          </a:p>
        </p:txBody>
      </p:sp>
      <p:sp>
        <p:nvSpPr>
          <p:cNvPr id="26" name="矩形: 圆角 25">
            <a:extLst>
              <a:ext uri="{FF2B5EF4-FFF2-40B4-BE49-F238E27FC236}">
                <a16:creationId xmlns:a16="http://schemas.microsoft.com/office/drawing/2014/main" id="{1C81317E-2045-9D7B-98FA-3EF127232579}"/>
              </a:ext>
            </a:extLst>
          </p:cNvPr>
          <p:cNvSpPr>
            <a:spLocks noGrp="1"/>
          </p:cNvSpPr>
          <p:nvPr/>
        </p:nvSpPr>
        <p:spPr>
          <a:xfrm>
            <a:off x="5129544" y="4725530"/>
            <a:ext cx="2762250" cy="838200"/>
          </a:xfrm>
          <a:prstGeom prst="roundRect">
            <a:avLst>
              <a:gd name="adj" fmla="val 9091"/>
            </a:avLst>
          </a:prstGeom>
          <a:solidFill>
            <a:srgbClr val="FFF1F0"/>
          </a:solidFill>
          <a:ln w="13335">
            <a:solidFill>
              <a:srgbClr val="B58B2B"/>
            </a:solidFill>
            <a:prstDash val="solid"/>
          </a:ln>
        </p:spPr>
        <p:txBody>
          <a:bodyPr anchor="ctr"/>
          <a:lstStyle/>
          <a:p>
            <a:pPr algn="ctr">
              <a:defRPr sz="1200" b="1">
                <a:solidFill>
                  <a:srgbClr val="B58B2B"/>
                </a:solidFill>
              </a:defRPr>
            </a:pPr>
            <a:r>
              <a:rPr sz="1200" b="1">
                <a:solidFill>
                  <a:srgbClr val="B58B2B"/>
                </a:solidFill>
              </a:rPr>
              <a:t>淘汰</a:t>
            </a:r>
          </a:p>
          <a:p>
            <a:pPr algn="ctr">
              <a:defRPr sz="1200" b="1">
                <a:solidFill>
                  <a:srgbClr val="B58B2B"/>
                </a:solidFill>
              </a:defRPr>
            </a:pPr>
            <a:r>
              <a:rPr sz="1200" b="1">
                <a:solidFill>
                  <a:srgbClr val="B58B2B"/>
                </a:solidFill>
              </a:rPr>
              <a:t>听感改善≠身份保持</a:t>
            </a:r>
          </a:p>
        </p:txBody>
      </p:sp>
      <p:sp>
        <p:nvSpPr>
          <p:cNvPr id="28" name="矩形: 圆角 27">
            <a:extLst>
              <a:ext uri="{FF2B5EF4-FFF2-40B4-BE49-F238E27FC236}">
                <a16:creationId xmlns:a16="http://schemas.microsoft.com/office/drawing/2014/main" id="{675FBB94-488E-EBF1-2C41-1D02690E8CB9}"/>
              </a:ext>
            </a:extLst>
          </p:cNvPr>
          <p:cNvSpPr>
            <a:spLocks noGrp="1"/>
          </p:cNvSpPr>
          <p:nvPr/>
        </p:nvSpPr>
        <p:spPr>
          <a:xfrm>
            <a:off x="846469" y="4668380"/>
            <a:ext cx="3333750" cy="952500"/>
          </a:xfrm>
          <a:prstGeom prst="roundRect">
            <a:avLst>
              <a:gd name="adj" fmla="val 8000"/>
            </a:avLst>
          </a:prstGeom>
          <a:solidFill>
            <a:srgbClr val="FFF8F0"/>
          </a:solidFill>
          <a:ln w="13335">
            <a:solidFill>
              <a:srgbClr val="B58B2B"/>
            </a:solidFill>
            <a:prstDash val="solid"/>
          </a:ln>
        </p:spPr>
        <p:txBody>
          <a:bodyPr anchor="ctr"/>
          <a:lstStyle/>
          <a:p>
            <a:pPr algn="ctr">
              <a:defRPr sz="1050" b="1">
                <a:solidFill>
                  <a:srgbClr val="B58B2B"/>
                </a:solidFill>
              </a:defRPr>
            </a:pPr>
            <a:r>
              <a:rPr sz="1050" b="1">
                <a:solidFill>
                  <a:srgbClr val="B58B2B"/>
                </a:solidFill>
              </a:rPr>
              <a:t>本课题启示</a:t>
            </a:r>
          </a:p>
          <a:p>
            <a:pPr algn="ctr">
              <a:defRPr sz="1050" b="1">
                <a:solidFill>
                  <a:srgbClr val="B58B2B"/>
                </a:solidFill>
              </a:defRPr>
            </a:pPr>
            <a:r>
              <a:rPr sz="1050" b="1">
                <a:solidFill>
                  <a:srgbClr val="B58B2B"/>
                </a:solidFill>
              </a:rPr>
              <a:t>增强质量必须同时看身份指标</a:t>
            </a:r>
          </a:p>
          <a:p>
            <a:pPr algn="ctr">
              <a:defRPr sz="1050" b="1">
                <a:solidFill>
                  <a:srgbClr val="B58B2B"/>
                </a:solidFill>
              </a:defRPr>
            </a:pPr>
            <a:r>
              <a:rPr sz="1050" b="1">
                <a:solidFill>
                  <a:srgbClr val="B58B2B"/>
                </a:solidFill>
              </a:rPr>
              <a:t>通用增强使 EER 变差 → 淘汰</a:t>
            </a:r>
          </a:p>
        </p:txBody>
      </p:sp>
    </p:spTree>
    <p:extLst>
      <p:ext uri="{BB962C8B-B14F-4D97-AF65-F5344CB8AC3E}">
        <p14:creationId xmlns:p14="http://schemas.microsoft.com/office/powerpoint/2010/main" val="14930632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19773-EE1C-91E0-E124-42CA09BEB66C}"/>
            </a:ext>
          </a:extLst>
        </p:cNvPr>
        <p:cNvGrpSpPr/>
        <p:nvPr/>
      </p:nvGrpSpPr>
      <p:grpSpPr>
        <a:xfrm>
          <a:off x="0" y="0"/>
          <a:ext cx="0" cy="0"/>
          <a:chOff x="0" y="0"/>
          <a:chExt cx="0" cy="0"/>
        </a:xfrm>
      </p:grpSpPr>
      <p:sp>
        <p:nvSpPr>
          <p:cNvPr id="65" name="圆角矩形 105">
            <a:extLst>
              <a:ext uri="{FF2B5EF4-FFF2-40B4-BE49-F238E27FC236}">
                <a16:creationId xmlns:a16="http://schemas.microsoft.com/office/drawing/2014/main" id="{2C435064-65AF-EF07-1202-ED2DECD397F6}"/>
              </a:ext>
            </a:extLst>
          </p:cNvPr>
          <p:cNvSpPr/>
          <p:nvPr/>
        </p:nvSpPr>
        <p:spPr>
          <a:xfrm>
            <a:off x="8128001" y="1802413"/>
            <a:ext cx="3179726" cy="2397053"/>
          </a:xfrm>
          <a:prstGeom prst="roundRect">
            <a:avLst>
              <a:gd name="adj" fmla="val 6000"/>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sp>
        <p:nvSpPr>
          <p:cNvPr id="35" name="圆角矩形 105">
            <a:extLst>
              <a:ext uri="{FF2B5EF4-FFF2-40B4-BE49-F238E27FC236}">
                <a16:creationId xmlns:a16="http://schemas.microsoft.com/office/drawing/2014/main" id="{05E2EC78-2220-9F66-B5E0-41EE9B83BBE9}"/>
              </a:ext>
            </a:extLst>
          </p:cNvPr>
          <p:cNvSpPr/>
          <p:nvPr/>
        </p:nvSpPr>
        <p:spPr>
          <a:xfrm>
            <a:off x="4197977" y="1820457"/>
            <a:ext cx="3477107" cy="2397053"/>
          </a:xfrm>
          <a:prstGeom prst="roundRect">
            <a:avLst>
              <a:gd name="adj" fmla="val 6000"/>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6602A305-F9F9-AA5D-AECD-F66A2873EA4D}"/>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三条路线经过同一协议验证,最终只保留注册条件化 TSE</a:t>
            </a:r>
          </a:p>
        </p:txBody>
      </p:sp>
      <p:sp>
        <p:nvSpPr>
          <p:cNvPr id="4" name="文本框 3">
            <a:extLst>
              <a:ext uri="{FF2B5EF4-FFF2-40B4-BE49-F238E27FC236}">
                <a16:creationId xmlns:a16="http://schemas.microsoft.com/office/drawing/2014/main" id="{E3D23684-24FE-1880-4937-4CD84C387EAE}"/>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04 文献调研与判决</a:t>
            </a:r>
          </a:p>
        </p:txBody>
      </p:sp>
      <p:sp>
        <p:nvSpPr>
          <p:cNvPr id="5" name="矩形 4">
            <a:extLst>
              <a:ext uri="{FF2B5EF4-FFF2-40B4-BE49-F238E27FC236}">
                <a16:creationId xmlns:a16="http://schemas.microsoft.com/office/drawing/2014/main" id="{5E733C98-1537-8125-18AF-DD0A0183A3FA}"/>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矩形 5">
            <a:extLst>
              <a:ext uri="{FF2B5EF4-FFF2-40B4-BE49-F238E27FC236}">
                <a16:creationId xmlns:a16="http://schemas.microsoft.com/office/drawing/2014/main" id="{1AC3E4F6-5472-F796-9861-25547F9D4E94}"/>
              </a:ext>
            </a:extLst>
          </p:cNvPr>
          <p:cNvSpPr>
            <a:spLocks noGrp="1"/>
          </p:cNvSpPr>
          <p:nvPr/>
        </p:nvSpPr>
        <p:spPr>
          <a:xfrm>
            <a:off x="482600" y="905498"/>
            <a:ext cx="11303000" cy="711200"/>
          </a:xfrm>
          <a:prstGeom prst="rect">
            <a:avLst/>
          </a:prstGeom>
          <a:solidFill>
            <a:srgbClr val="EAF0FA"/>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7D81E1C9-7A70-68D8-7822-35B11FA1F571}"/>
              </a:ext>
            </a:extLst>
          </p:cNvPr>
          <p:cNvSpPr>
            <a:spLocks noGrp="1"/>
          </p:cNvSpPr>
          <p:nvPr/>
        </p:nvSpPr>
        <p:spPr>
          <a:xfrm>
            <a:off x="514350" y="990602"/>
            <a:ext cx="11144250" cy="384721"/>
          </a:xfrm>
          <a:prstGeom prst="rect">
            <a:avLst/>
          </a:prstGeom>
          <a:noFill/>
        </p:spPr>
        <p:txBody>
          <a:bodyPr vert="horz">
            <a:spAutoFit/>
          </a:bodyPr>
          <a:lstStyle/>
          <a:p>
            <a:pPr algn="ctr">
              <a:buNone/>
            </a:pPr>
            <a:r>
              <a:rPr sz="1900" b="1">
                <a:solidFill>
                  <a:srgbClr val="1F3864"/>
                </a:solidFill>
                <a:latin typeface="微软雅黑"/>
                <a:ea typeface="微软雅黑"/>
                <a:cs typeface="微软雅黑"/>
              </a:rPr>
              <a:t>文献提出假设  →  同 Trial / 同冻结后端 / 同脚本验证  →  由 EER 与身份保持决定去留</a:t>
            </a:r>
          </a:p>
        </p:txBody>
      </p:sp>
      <p:graphicFrame>
        <p:nvGraphicFramePr>
          <p:cNvPr id="38" name="表格 7">
            <a:extLst>
              <a:ext uri="{FF2B5EF4-FFF2-40B4-BE49-F238E27FC236}">
                <a16:creationId xmlns:a16="http://schemas.microsoft.com/office/drawing/2014/main" id="{F0E5A034-E52E-8769-92C8-9312AE5CE295}"/>
              </a:ext>
            </a:extLst>
          </p:cNvPr>
          <p:cNvGraphicFramePr/>
          <p:nvPr/>
        </p:nvGraphicFramePr>
        <p:xfrm>
          <a:off x="-15240000" y="-8572500"/>
          <a:ext cx="11303001" cy="2667000"/>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533400">
                <a:tc>
                  <a:txBody>
                    <a:bodyPr/>
                    <a:lstStyle/>
                    <a:p>
                      <a:r>
                        <a:rPr sz="1300" b="1">
                          <a:solidFill>
                            <a:srgbClr val="FFFFFF"/>
                          </a:solidFill>
                          <a:latin typeface="微软雅黑"/>
                          <a:ea typeface="微软雅黑"/>
                          <a:cs typeface="微软雅黑"/>
                        </a:rPr>
                        <a:t>路线</a:t>
                      </a:r>
                    </a:p>
                  </a:txBody>
                  <a:tcPr anchor="ctr">
                    <a:solidFill>
                      <a:srgbClr val="2F5496"/>
                    </a:solidFill>
                  </a:tcPr>
                </a:tc>
                <a:tc>
                  <a:txBody>
                    <a:bodyPr/>
                    <a:lstStyle/>
                    <a:p>
                      <a:r>
                        <a:rPr sz="1300" b="1">
                          <a:solidFill>
                            <a:srgbClr val="FFFFFF"/>
                          </a:solidFill>
                          <a:latin typeface="微软雅黑"/>
                          <a:ea typeface="微软雅黑"/>
                          <a:cs typeface="微软雅黑"/>
                        </a:rPr>
                        <a:t>代表文献与选取依据</a:t>
                      </a:r>
                    </a:p>
                  </a:txBody>
                  <a:tcPr anchor="ctr">
                    <a:solidFill>
                      <a:srgbClr val="2F5496"/>
                    </a:solidFill>
                  </a:tcPr>
                </a:tc>
                <a:tc>
                  <a:txBody>
                    <a:bodyPr/>
                    <a:lstStyle/>
                    <a:p>
                      <a:r>
                        <a:rPr sz="1300" b="1">
                          <a:solidFill>
                            <a:srgbClr val="FFFFFF"/>
                          </a:solidFill>
                          <a:latin typeface="微软雅黑"/>
                          <a:ea typeface="微软雅黑"/>
                          <a:cs typeface="微软雅黑"/>
                        </a:rPr>
                        <a:t>本课题结果 / 判决</a:t>
                      </a:r>
                    </a:p>
                  </a:txBody>
                  <a:tcPr anchor="ctr">
                    <a:solidFill>
                      <a:srgbClr val="2F5496"/>
                    </a:solidFill>
                  </a:tcPr>
                </a:tc>
                <a:extLst>
                  <a:ext uri="{0D108BD9-81ED-4DB2-BD59-A6C34878D82A}">
                    <a16:rowId xmlns:a16="http://schemas.microsoft.com/office/drawing/2014/main" val="10000"/>
                  </a:ext>
                </a:extLst>
              </a:tr>
              <a:tr h="533400">
                <a:tc>
                  <a:txBody>
                    <a:bodyPr/>
                    <a:lstStyle/>
                    <a:p>
                      <a:r>
                        <a:rPr sz="1300">
                          <a:solidFill>
                            <a:srgbClr val="333333"/>
                          </a:solidFill>
                          <a:latin typeface="微软雅黑"/>
                          <a:ea typeface="微软雅黑"/>
                          <a:cs typeface="微软雅黑"/>
                        </a:rPr>
                        <a:t>后端鲁棒微调</a:t>
                      </a:r>
                    </a:p>
                  </a:txBody>
                  <a:tcPr anchor="ctr">
                    <a:solidFill>
                      <a:srgbClr val="FFFFFF"/>
                    </a:solidFill>
                  </a:tcPr>
                </a:tc>
                <a:tc>
                  <a:txBody>
                    <a:bodyPr/>
                    <a:lstStyle/>
                    <a:p>
                      <a:r>
                        <a:rPr sz="1300">
                          <a:solidFill>
                            <a:srgbClr val="333333"/>
                          </a:solidFill>
                          <a:latin typeface="微软雅黑"/>
                          <a:ea typeface="微软雅黑"/>
                          <a:cs typeface="微软雅黑"/>
                        </a:rPr>
                        <a:t>FT-Boosted SV(2025):噪声增强数据微调后端</a:t>
                      </a:r>
                    </a:p>
                  </a:txBody>
                  <a:tcPr anchor="ctr">
                    <a:solidFill>
                      <a:srgbClr val="FFFFFF"/>
                    </a:solidFill>
                  </a:tcPr>
                </a:tc>
                <a:tc>
                  <a:txBody>
                    <a:bodyPr/>
                    <a:lstStyle/>
                    <a:p>
                      <a:r>
                        <a:rPr sz="1300">
                          <a:solidFill>
                            <a:srgbClr val="333333"/>
                          </a:solidFill>
                          <a:latin typeface="微软雅黑"/>
                          <a:ea typeface="微软雅黑"/>
                          <a:cs typeface="微软雅黑"/>
                        </a:rPr>
                        <a:t>6/8 条件变差;0 dB EER：8.39→9.71;否决</a:t>
                      </a:r>
                    </a:p>
                  </a:txBody>
                  <a:tcPr anchor="ctr">
                    <a:solidFill>
                      <a:srgbClr val="FFFFFF"/>
                    </a:solidFill>
                  </a:tcPr>
                </a:tc>
                <a:extLst>
                  <a:ext uri="{0D108BD9-81ED-4DB2-BD59-A6C34878D82A}">
                    <a16:rowId xmlns:a16="http://schemas.microsoft.com/office/drawing/2014/main" val="10001"/>
                  </a:ext>
                </a:extLst>
              </a:tr>
              <a:tr h="533400">
                <a:tc>
                  <a:txBody>
                    <a:bodyPr/>
                    <a:lstStyle/>
                    <a:p>
                      <a:r>
                        <a:rPr sz="1300">
                          <a:solidFill>
                            <a:srgbClr val="333333"/>
                          </a:solidFill>
                          <a:latin typeface="微软雅黑"/>
                          <a:ea typeface="微软雅黑"/>
                          <a:cs typeface="微软雅黑"/>
                        </a:rPr>
                        <a:t>增强后再验证</a:t>
                      </a:r>
                    </a:p>
                  </a:txBody>
                  <a:tcPr anchor="ctr">
                    <a:solidFill>
                      <a:srgbClr val="F2F6FC"/>
                    </a:solidFill>
                  </a:tcPr>
                </a:tc>
                <a:tc>
                  <a:txBody>
                    <a:bodyPr/>
                    <a:lstStyle/>
                    <a:p>
                      <a:r>
                        <a:rPr sz="1300">
                          <a:solidFill>
                            <a:srgbClr val="333333"/>
                          </a:solidFill>
                          <a:latin typeface="微软雅黑"/>
                          <a:ea typeface="微软雅黑"/>
                          <a:cs typeface="微软雅黑"/>
                        </a:rPr>
                        <a:t>ParaNoise-SV(2025):增强与声纹联合建模</a:t>
                      </a:r>
                    </a:p>
                  </a:txBody>
                  <a:tcPr anchor="ctr">
                    <a:solidFill>
                      <a:srgbClr val="F2F6FC"/>
                    </a:solidFill>
                  </a:tcPr>
                </a:tc>
                <a:tc>
                  <a:txBody>
                    <a:bodyPr/>
                    <a:lstStyle/>
                    <a:p>
                      <a:r>
                        <a:rPr sz="1300">
                          <a:solidFill>
                            <a:srgbClr val="333333"/>
                          </a:solidFill>
                          <a:latin typeface="微软雅黑"/>
                          <a:ea typeface="微软雅黑"/>
                          <a:cs typeface="微软雅黑"/>
                        </a:rPr>
                        <a:t>0 dB EER：10.11&gt;8.39;</a:t>
                      </a:r>
                    </a:p>
                    <a:p>
                      <a:r>
                        <a:rPr sz="1300">
                          <a:solidFill>
                            <a:srgbClr val="333333"/>
                          </a:solidFill>
                          <a:latin typeface="微软雅黑"/>
                          <a:ea typeface="微软雅黑"/>
                          <a:cs typeface="微软雅黑"/>
                        </a:rPr>
                        <a:t>目标分 LLR：0.422→0.391;否决</a:t>
                      </a:r>
                    </a:p>
                  </a:txBody>
                  <a:tcPr anchor="ctr">
                    <a:solidFill>
                      <a:srgbClr val="F2F6FC"/>
                    </a:solidFill>
                  </a:tcPr>
                </a:tc>
                <a:extLst>
                  <a:ext uri="{0D108BD9-81ED-4DB2-BD59-A6C34878D82A}">
                    <a16:rowId xmlns:a16="http://schemas.microsoft.com/office/drawing/2014/main" val="10002"/>
                  </a:ext>
                </a:extLst>
              </a:tr>
              <a:tr h="533400">
                <a:tc>
                  <a:txBody>
                    <a:bodyPr/>
                    <a:lstStyle/>
                    <a:p>
                      <a:r>
                        <a:rPr sz="1300">
                          <a:solidFill>
                            <a:srgbClr val="333333"/>
                          </a:solidFill>
                          <a:latin typeface="微软雅黑"/>
                          <a:ea typeface="微软雅黑"/>
                          <a:cs typeface="微软雅黑"/>
                        </a:rPr>
                        <a:t>注册条件化 TSE</a:t>
                      </a:r>
                    </a:p>
                  </a:txBody>
                  <a:tcPr anchor="ctr">
                    <a:solidFill>
                      <a:srgbClr val="FFFFFF"/>
                    </a:solidFill>
                  </a:tcPr>
                </a:tc>
                <a:tc>
                  <a:txBody>
                    <a:bodyPr/>
                    <a:lstStyle/>
                    <a:p>
                      <a:r>
                        <a:rPr sz="1300">
                          <a:solidFill>
                            <a:srgbClr val="333333"/>
                          </a:solidFill>
                          <a:latin typeface="微软雅黑"/>
                          <a:ea typeface="微软雅黑"/>
                          <a:cs typeface="微软雅黑"/>
                        </a:rPr>
                        <a:t>TSE Curriculum(2024):注册语音条件用于目标提取</a:t>
                      </a:r>
                    </a:p>
                  </a:txBody>
                  <a:tcPr anchor="ctr">
                    <a:solidFill>
                      <a:srgbClr val="FFFFFF"/>
                    </a:solidFill>
                  </a:tcPr>
                </a:tc>
                <a:tc>
                  <a:txBody>
                    <a:bodyPr/>
                    <a:lstStyle/>
                    <a:p>
                      <a:r>
                        <a:rPr sz="1300">
                          <a:solidFill>
                            <a:srgbClr val="333333"/>
                          </a:solidFill>
                          <a:latin typeface="微软雅黑"/>
                          <a:ea typeface="微软雅黑"/>
                          <a:cs typeface="微软雅黑"/>
                        </a:rPr>
                        <a:t>任务定义匹配;0/-5 dB 达标;保留</a:t>
                      </a:r>
                    </a:p>
                  </a:txBody>
                  <a:tcPr anchor="ctr">
                    <a:solidFill>
                      <a:srgbClr val="FFFFFF"/>
                    </a:solidFill>
                  </a:tcPr>
                </a:tc>
                <a:extLst>
                  <a:ext uri="{0D108BD9-81ED-4DB2-BD59-A6C34878D82A}">
                    <a16:rowId xmlns:a16="http://schemas.microsoft.com/office/drawing/2014/main" val="10003"/>
                  </a:ext>
                </a:extLst>
              </a:tr>
              <a:tr h="533400">
                <a:tc>
                  <a:txBody>
                    <a:bodyPr/>
                    <a:lstStyle/>
                    <a:p>
                      <a:r>
                        <a:rPr sz="1300">
                          <a:solidFill>
                            <a:srgbClr val="333333"/>
                          </a:solidFill>
                          <a:latin typeface="微软雅黑"/>
                          <a:ea typeface="微软雅黑"/>
                          <a:cs typeface="微软雅黑"/>
                        </a:rPr>
                        <a:t>判决纪律</a:t>
                      </a:r>
                    </a:p>
                  </a:txBody>
                  <a:tcPr anchor="ctr">
                    <a:solidFill>
                      <a:srgbClr val="F2F6FC"/>
                    </a:solidFill>
                  </a:tcPr>
                </a:tc>
                <a:tc>
                  <a:txBody>
                    <a:bodyPr/>
                    <a:lstStyle/>
                    <a:p>
                      <a:r>
                        <a:rPr sz="1300">
                          <a:solidFill>
                            <a:srgbClr val="333333"/>
                          </a:solidFill>
                          <a:latin typeface="微软雅黑"/>
                          <a:ea typeface="微软雅黑"/>
                          <a:cs typeface="微软雅黑"/>
                        </a:rPr>
                        <a:t>文献用于说明路线依据,不替代本课题证据</a:t>
                      </a:r>
                    </a:p>
                  </a:txBody>
                  <a:tcPr anchor="ctr">
                    <a:solidFill>
                      <a:srgbClr val="F2F6FC"/>
                    </a:solidFill>
                  </a:tcPr>
                </a:tc>
                <a:tc>
                  <a:txBody>
                    <a:bodyPr/>
                    <a:lstStyle/>
                    <a:p>
                      <a:r>
                        <a:rPr sz="1300">
                          <a:solidFill>
                            <a:srgbClr val="333333"/>
                          </a:solidFill>
                          <a:latin typeface="微软雅黑"/>
                          <a:ea typeface="微软雅黑"/>
                          <a:cs typeface="微软雅黑"/>
                        </a:rPr>
                        <a:t>同一 trial / 后端 / 阈值口径比较</a:t>
                      </a:r>
                    </a:p>
                  </a:txBody>
                  <a:tcPr anchor="ctr">
                    <a:solidFill>
                      <a:srgbClr val="F2F6FC"/>
                    </a:solidFill>
                  </a:tcPr>
                </a:tc>
                <a:extLst>
                  <a:ext uri="{0D108BD9-81ED-4DB2-BD59-A6C34878D82A}">
                    <a16:rowId xmlns:a16="http://schemas.microsoft.com/office/drawing/2014/main" val="10004"/>
                  </a:ext>
                </a:extLst>
              </a:tr>
            </a:tbl>
          </a:graphicData>
        </a:graphic>
      </p:graphicFrame>
      <p:sp>
        <p:nvSpPr>
          <p:cNvPr id="9" name="文本框 8">
            <a:extLst>
              <a:ext uri="{FF2B5EF4-FFF2-40B4-BE49-F238E27FC236}">
                <a16:creationId xmlns:a16="http://schemas.microsoft.com/office/drawing/2014/main" id="{48C5A1AF-6B10-C49E-F765-F621E86B96B3}"/>
              </a:ext>
            </a:extLst>
          </p:cNvPr>
          <p:cNvSpPr>
            <a:spLocks noGrp="1"/>
          </p:cNvSpPr>
          <p:nvPr/>
        </p:nvSpPr>
        <p:spPr>
          <a:xfrm>
            <a:off x="482600" y="6394343"/>
            <a:ext cx="11144250" cy="338554"/>
          </a:xfrm>
          <a:prstGeom prst="rect">
            <a:avLst/>
          </a:prstGeom>
          <a:noFill/>
        </p:spPr>
        <p:txBody>
          <a:bodyPr vert="horz">
            <a:spAutoFit/>
          </a:bodyPr>
          <a:lstStyle/>
          <a:p>
            <a:pPr>
              <a:spcAft>
                <a:spcPts val="600"/>
              </a:spcAft>
            </a:pPr>
            <a:r>
              <a:rPr sz="1450" dirty="0">
                <a:solidFill>
                  <a:srgbClr val="333333"/>
                </a:solidFill>
                <a:latin typeface="微软雅黑"/>
                <a:ea typeface="微软雅黑"/>
                <a:cs typeface="微软雅黑"/>
              </a:rPr>
              <a:t>[1] </a:t>
            </a:r>
            <a:r>
              <a:rPr lang="en-US" altLang="zh-CN" sz="1450" dirty="0">
                <a:solidFill>
                  <a:srgbClr val="333333"/>
                </a:solidFill>
                <a:latin typeface="微软雅黑"/>
                <a:ea typeface="微软雅黑"/>
                <a:cs typeface="微软雅黑"/>
              </a:rPr>
              <a:t>Liu et al., </a:t>
            </a:r>
            <a:r>
              <a:rPr lang="en-US" altLang="zh-CN" sz="1450" dirty="0" err="1">
                <a:solidFill>
                  <a:srgbClr val="333333"/>
                </a:solidFill>
                <a:latin typeface="微软雅黑"/>
                <a:ea typeface="微软雅黑"/>
                <a:cs typeface="微软雅黑"/>
              </a:rPr>
              <a:t>Interspeech</a:t>
            </a:r>
            <a:r>
              <a:rPr lang="en-US" altLang="zh-CN" sz="1450" dirty="0">
                <a:solidFill>
                  <a:srgbClr val="333333"/>
                </a:solidFill>
                <a:latin typeface="微软雅黑"/>
                <a:ea typeface="微软雅黑"/>
                <a:cs typeface="微软雅黑"/>
              </a:rPr>
              <a:t> 2024.  </a:t>
            </a:r>
            <a:r>
              <a:rPr sz="1450" dirty="0">
                <a:solidFill>
                  <a:srgbClr val="333333"/>
                </a:solidFill>
                <a:latin typeface="微软雅黑"/>
                <a:ea typeface="微软雅黑"/>
                <a:cs typeface="微软雅黑"/>
              </a:rPr>
              <a:t>[2] </a:t>
            </a:r>
            <a:r>
              <a:rPr lang="en-US" altLang="zh-CN" sz="1600" dirty="0">
                <a:solidFill>
                  <a:srgbClr val="666666"/>
                </a:solidFill>
                <a:latin typeface="微软雅黑"/>
                <a:ea typeface="微软雅黑"/>
                <a:cs typeface="微软雅黑"/>
              </a:rPr>
              <a:t>Wang et al., </a:t>
            </a:r>
            <a:r>
              <a:rPr lang="en-US" altLang="zh-CN" sz="1600" dirty="0" err="1">
                <a:solidFill>
                  <a:srgbClr val="666666"/>
                </a:solidFill>
                <a:latin typeface="微软雅黑"/>
                <a:ea typeface="微软雅黑"/>
                <a:cs typeface="微软雅黑"/>
              </a:rPr>
              <a:t>Interspeech</a:t>
            </a:r>
            <a:r>
              <a:rPr lang="en-US" altLang="zh-CN" sz="1600" dirty="0">
                <a:solidFill>
                  <a:srgbClr val="666666"/>
                </a:solidFill>
                <a:latin typeface="微软雅黑"/>
                <a:ea typeface="微软雅黑"/>
                <a:cs typeface="微软雅黑"/>
              </a:rPr>
              <a:t> 2024, 4273-4277.</a:t>
            </a:r>
            <a:endParaRPr sz="1450" dirty="0">
              <a:solidFill>
                <a:srgbClr val="333333"/>
              </a:solidFill>
              <a:latin typeface="微软雅黑"/>
              <a:ea typeface="微软雅黑"/>
              <a:cs typeface="微软雅黑"/>
            </a:endParaRPr>
          </a:p>
        </p:txBody>
      </p:sp>
      <p:cxnSp>
        <p:nvCxnSpPr>
          <p:cNvPr id="44" name="直接箭头连接符 43">
            <a:extLst>
              <a:ext uri="{FF2B5EF4-FFF2-40B4-BE49-F238E27FC236}">
                <a16:creationId xmlns:a16="http://schemas.microsoft.com/office/drawing/2014/main" id="{582E993D-CE3F-7482-2A57-99AA774F0B0F}"/>
              </a:ext>
            </a:extLst>
          </p:cNvPr>
          <p:cNvCxnSpPr>
            <a:cxnSpLocks/>
          </p:cNvCxnSpPr>
          <p:nvPr/>
        </p:nvCxnSpPr>
        <p:spPr>
          <a:xfrm>
            <a:off x="3116226" y="2515410"/>
            <a:ext cx="1081751" cy="0"/>
          </a:xfrm>
          <a:prstGeom prst="straightConnector1">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cxnSp>
      <p:cxnSp>
        <p:nvCxnSpPr>
          <p:cNvPr id="46" name="直接箭头连接符 45">
            <a:extLst>
              <a:ext uri="{FF2B5EF4-FFF2-40B4-BE49-F238E27FC236}">
                <a16:creationId xmlns:a16="http://schemas.microsoft.com/office/drawing/2014/main" id="{000204F2-6921-48AE-9F67-71A75FA79FFD}"/>
              </a:ext>
            </a:extLst>
          </p:cNvPr>
          <p:cNvCxnSpPr>
            <a:cxnSpLocks/>
          </p:cNvCxnSpPr>
          <p:nvPr/>
        </p:nvCxnSpPr>
        <p:spPr>
          <a:xfrm flipH="1">
            <a:off x="7891794" y="5152217"/>
            <a:ext cx="825795" cy="0"/>
          </a:xfrm>
          <a:prstGeom prst="straightConnector1">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cxnSp>
      <p:sp>
        <p:nvSpPr>
          <p:cNvPr id="10" name="矩形 9">
            <a:extLst>
              <a:ext uri="{FF2B5EF4-FFF2-40B4-BE49-F238E27FC236}">
                <a16:creationId xmlns:a16="http://schemas.microsoft.com/office/drawing/2014/main" id="{2F44976C-50D8-A101-07A2-7AC1D3ED42AF}"/>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cxnSp>
        <p:nvCxnSpPr>
          <p:cNvPr id="23" name="直接箭头连接符 22">
            <a:extLst>
              <a:ext uri="{FF2B5EF4-FFF2-40B4-BE49-F238E27FC236}">
                <a16:creationId xmlns:a16="http://schemas.microsoft.com/office/drawing/2014/main" id="{23C387AF-4A8F-F39E-707E-79BB6F75AD7A}"/>
              </a:ext>
            </a:extLst>
          </p:cNvPr>
          <p:cNvCxnSpPr>
            <a:cxnSpLocks/>
          </p:cNvCxnSpPr>
          <p:nvPr/>
        </p:nvCxnSpPr>
        <p:spPr>
          <a:xfrm flipH="1">
            <a:off x="4180219" y="5152217"/>
            <a:ext cx="949325" cy="7698"/>
          </a:xfrm>
          <a:prstGeom prst="straightConnector1">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cxnSp>
      <p:sp>
        <p:nvSpPr>
          <p:cNvPr id="33" name="矩形: 圆角 32">
            <a:extLst>
              <a:ext uri="{FF2B5EF4-FFF2-40B4-BE49-F238E27FC236}">
                <a16:creationId xmlns:a16="http://schemas.microsoft.com/office/drawing/2014/main" id="{2F14DB2C-A837-4BD4-E4D0-EB95C0504F29}"/>
              </a:ext>
            </a:extLst>
          </p:cNvPr>
          <p:cNvSpPr>
            <a:spLocks noGrp="1"/>
          </p:cNvSpPr>
          <p:nvPr/>
        </p:nvSpPr>
        <p:spPr>
          <a:xfrm>
            <a:off x="4698280" y="3207331"/>
            <a:ext cx="2476500" cy="838200"/>
          </a:xfrm>
          <a:prstGeom prst="roundRect">
            <a:avLst>
              <a:gd name="adj" fmla="val 9091"/>
            </a:avLst>
          </a:prstGeom>
          <a:solidFill>
            <a:srgbClr val="F7F9FC"/>
          </a:solidFill>
          <a:ln w="13335">
            <a:solidFill>
              <a:srgbClr val="5B9B43"/>
            </a:solidFill>
            <a:prstDash val="solid"/>
          </a:ln>
        </p:spPr>
        <p:txBody>
          <a:bodyPr anchor="ctr"/>
          <a:lstStyle/>
          <a:p>
            <a:pPr algn="ctr"/>
            <a:r>
              <a:rPr sz="1125">
                <a:solidFill>
                  <a:srgbClr val="333333"/>
                </a:solidFill>
              </a:rPr>
              <a:t>文献依据</a:t>
            </a:r>
            <a:r>
              <a:rPr lang="en-US" altLang="zh-CN" sz="1125">
                <a:solidFill>
                  <a:srgbClr val="333333"/>
                </a:solidFill>
              </a:rPr>
              <a:t>【</a:t>
            </a:r>
            <a:r>
              <a:rPr lang="en-US" sz="1125">
                <a:solidFill>
                  <a:srgbClr val="333333"/>
                </a:solidFill>
              </a:rPr>
              <a:t>2</a:t>
            </a:r>
            <a:r>
              <a:rPr lang="en-US" altLang="zh-CN" sz="1125" dirty="0">
                <a:solidFill>
                  <a:srgbClr val="333333"/>
                </a:solidFill>
              </a:rPr>
              <a:t>】</a:t>
            </a:r>
            <a:endParaRPr sz="1125" dirty="0">
              <a:solidFill>
                <a:srgbClr val="333333"/>
              </a:solidFill>
            </a:endParaRPr>
          </a:p>
          <a:p>
            <a:pPr algn="ctr"/>
            <a:r>
              <a:rPr lang="zh-CN" altLang="en-US" sz="1125" dirty="0">
                <a:solidFill>
                  <a:srgbClr val="333333"/>
                </a:solidFill>
              </a:rPr>
              <a:t>条件</a:t>
            </a:r>
            <a:r>
              <a:rPr lang="zh-CN" altLang="en-US" sz="1125">
                <a:solidFill>
                  <a:srgbClr val="333333"/>
                </a:solidFill>
              </a:rPr>
              <a:t>化 </a:t>
            </a:r>
            <a:r>
              <a:rPr lang="en-US" altLang="zh-CN" sz="1125" dirty="0">
                <a:solidFill>
                  <a:srgbClr val="333333"/>
                </a:solidFill>
              </a:rPr>
              <a:t>TSE </a:t>
            </a:r>
            <a:r>
              <a:rPr lang="en-US" altLang="zh-CN" sz="1125">
                <a:solidFill>
                  <a:srgbClr val="333333"/>
                </a:solidFill>
              </a:rPr>
              <a:t>| </a:t>
            </a:r>
            <a:r>
              <a:rPr lang="en-US" altLang="zh-CN" sz="1125" dirty="0" err="1">
                <a:solidFill>
                  <a:srgbClr val="333333"/>
                </a:solidFill>
              </a:rPr>
              <a:t>WeSep</a:t>
            </a:r>
            <a:endParaRPr sz="1125" dirty="0">
              <a:solidFill>
                <a:srgbClr val="333333"/>
              </a:solidFill>
            </a:endParaRPr>
          </a:p>
        </p:txBody>
      </p:sp>
      <p:cxnSp>
        <p:nvCxnSpPr>
          <p:cNvPr id="62" name="直接箭头连接符 61">
            <a:extLst>
              <a:ext uri="{FF2B5EF4-FFF2-40B4-BE49-F238E27FC236}">
                <a16:creationId xmlns:a16="http://schemas.microsoft.com/office/drawing/2014/main" id="{44BDBE80-FD67-EE60-6E62-A97675B3A042}"/>
              </a:ext>
            </a:extLst>
          </p:cNvPr>
          <p:cNvCxnSpPr>
            <a:cxnSpLocks/>
          </p:cNvCxnSpPr>
          <p:nvPr/>
        </p:nvCxnSpPr>
        <p:spPr>
          <a:xfrm>
            <a:off x="7213305" y="3647859"/>
            <a:ext cx="914695" cy="0"/>
          </a:xfrm>
          <a:prstGeom prst="straightConnector1">
            <a:avLst/>
          </a:prstGeom>
          <a:solidFill>
            <a:srgbClr val="F0F5EB"/>
          </a:solidFill>
          <a:ln w="15875">
            <a:solidFill>
              <a:srgbClr val="4E7B3A"/>
            </a:solidFill>
          </a:ln>
        </p:spPr>
        <p:style>
          <a:lnRef idx="2">
            <a:schemeClr val="accent1">
              <a:shade val="50000"/>
            </a:schemeClr>
          </a:lnRef>
          <a:fillRef idx="1">
            <a:schemeClr val="accent1"/>
          </a:fillRef>
          <a:effectRef idx="0">
            <a:schemeClr val="accent1"/>
          </a:effectRef>
          <a:fontRef idx="minor">
            <a:schemeClr val="lt1"/>
          </a:fontRef>
        </p:style>
      </p:cxnSp>
      <p:sp>
        <p:nvSpPr>
          <p:cNvPr id="11" name="矩形: 圆角 10">
            <a:extLst>
              <a:ext uri="{FF2B5EF4-FFF2-40B4-BE49-F238E27FC236}">
                <a16:creationId xmlns:a16="http://schemas.microsoft.com/office/drawing/2014/main" id="{A9E29369-C454-D6EF-C142-462620204EC7}"/>
              </a:ext>
            </a:extLst>
          </p:cNvPr>
          <p:cNvSpPr>
            <a:spLocks noGrp="1"/>
          </p:cNvSpPr>
          <p:nvPr/>
        </p:nvSpPr>
        <p:spPr>
          <a:xfrm>
            <a:off x="1306476" y="2100645"/>
            <a:ext cx="1809750" cy="838200"/>
          </a:xfrm>
          <a:prstGeom prst="roundRect">
            <a:avLst>
              <a:gd name="adj" fmla="val 9091"/>
            </a:avLst>
          </a:prstGeom>
          <a:solidFill>
            <a:srgbClr val="5B9B43"/>
          </a:solidFill>
          <a:ln w="13335">
            <a:solidFill>
              <a:srgbClr val="5B9B43"/>
            </a:solidFill>
            <a:prstDash val="solid"/>
          </a:ln>
        </p:spPr>
        <p:txBody>
          <a:bodyPr anchor="ctr"/>
          <a:lstStyle/>
          <a:p>
            <a:pPr algn="ctr">
              <a:defRPr sz="1125" b="1">
                <a:solidFill>
                  <a:srgbClr val="FFFFFF"/>
                </a:solidFill>
              </a:defRPr>
            </a:pPr>
            <a:r>
              <a:rPr sz="1125" b="1">
                <a:solidFill>
                  <a:srgbClr val="FFFFFF"/>
                </a:solidFill>
              </a:rPr>
              <a:t>路线 C</a:t>
            </a:r>
          </a:p>
          <a:p>
            <a:pPr algn="ctr">
              <a:defRPr sz="1125" b="1">
                <a:solidFill>
                  <a:srgbClr val="FFFFFF"/>
                </a:solidFill>
              </a:defRPr>
            </a:pPr>
            <a:r>
              <a:rPr sz="1125" b="1">
                <a:solidFill>
                  <a:srgbClr val="FFFFFF"/>
                </a:solidFill>
              </a:rPr>
              <a:t>注册条件化 TSE</a:t>
            </a:r>
          </a:p>
        </p:txBody>
      </p:sp>
      <p:sp>
        <p:nvSpPr>
          <p:cNvPr id="13" name="矩形: 圆角 12">
            <a:extLst>
              <a:ext uri="{FF2B5EF4-FFF2-40B4-BE49-F238E27FC236}">
                <a16:creationId xmlns:a16="http://schemas.microsoft.com/office/drawing/2014/main" id="{BE5A74A3-8A09-8361-F99D-965F58B0C60B}"/>
              </a:ext>
            </a:extLst>
          </p:cNvPr>
          <p:cNvSpPr>
            <a:spLocks noGrp="1"/>
          </p:cNvSpPr>
          <p:nvPr/>
        </p:nvSpPr>
        <p:spPr>
          <a:xfrm>
            <a:off x="4698280" y="2096310"/>
            <a:ext cx="2476500" cy="838200"/>
          </a:xfrm>
          <a:prstGeom prst="roundRect">
            <a:avLst>
              <a:gd name="adj" fmla="val 9091"/>
            </a:avLst>
          </a:prstGeom>
          <a:solidFill>
            <a:srgbClr val="F7F9FC"/>
          </a:solidFill>
          <a:ln w="13335">
            <a:solidFill>
              <a:srgbClr val="5B9B43"/>
            </a:solidFill>
            <a:prstDash val="solid"/>
          </a:ln>
        </p:spPr>
        <p:txBody>
          <a:bodyPr anchor="ctr"/>
          <a:lstStyle/>
          <a:p>
            <a:pPr algn="ctr">
              <a:defRPr sz="1125" b="0">
                <a:solidFill>
                  <a:srgbClr val="333333"/>
                </a:solidFill>
              </a:defRPr>
            </a:pPr>
            <a:r>
              <a:rPr sz="1125" dirty="0">
                <a:solidFill>
                  <a:srgbClr val="333333"/>
                </a:solidFill>
              </a:rPr>
              <a:t>文献依据</a:t>
            </a:r>
            <a:r>
              <a:rPr lang="en-US" altLang="zh-CN" sz="1125" dirty="0">
                <a:solidFill>
                  <a:srgbClr val="333333"/>
                </a:solidFill>
              </a:rPr>
              <a:t>【1】</a:t>
            </a:r>
            <a:endParaRPr sz="1125" dirty="0">
              <a:solidFill>
                <a:srgbClr val="333333"/>
              </a:solidFill>
            </a:endParaRPr>
          </a:p>
          <a:p>
            <a:pPr algn="ctr">
              <a:defRPr sz="1125" b="0">
                <a:solidFill>
                  <a:srgbClr val="333333"/>
                </a:solidFill>
              </a:defRPr>
            </a:pPr>
            <a:r>
              <a:rPr sz="1125" dirty="0">
                <a:solidFill>
                  <a:srgbClr val="333333"/>
                </a:solidFill>
              </a:rPr>
              <a:t>TSE Curriculum 2024</a:t>
            </a:r>
          </a:p>
          <a:p>
            <a:pPr algn="ctr">
              <a:defRPr sz="1125" b="0">
                <a:solidFill>
                  <a:srgbClr val="333333"/>
                </a:solidFill>
              </a:defRPr>
            </a:pPr>
            <a:r>
              <a:rPr sz="1125" dirty="0" err="1">
                <a:solidFill>
                  <a:srgbClr val="333333"/>
                </a:solidFill>
              </a:rPr>
              <a:t>注册线索指定"保留谁</a:t>
            </a:r>
            <a:r>
              <a:rPr sz="1125" dirty="0">
                <a:solidFill>
                  <a:srgbClr val="333333"/>
                </a:solidFill>
              </a:rPr>
              <a:t>"</a:t>
            </a:r>
          </a:p>
        </p:txBody>
      </p:sp>
      <p:pic>
        <p:nvPicPr>
          <p:cNvPr id="16" name="图片 15">
            <a:extLst>
              <a:ext uri="{FF2B5EF4-FFF2-40B4-BE49-F238E27FC236}">
                <a16:creationId xmlns:a16="http://schemas.microsoft.com/office/drawing/2014/main" id="{2B8ADE6F-EC6A-165F-DF30-362BFAADDF11}"/>
              </a:ext>
            </a:extLst>
          </p:cNvPr>
          <p:cNvPicPr>
            <a:picLocks noChangeAspect="1"/>
          </p:cNvPicPr>
          <p:nvPr/>
        </p:nvPicPr>
        <p:blipFill>
          <a:blip r:embed="rId3"/>
          <a:srcRect t="28184" r="49668"/>
          <a:stretch>
            <a:fillRect/>
          </a:stretch>
        </p:blipFill>
        <p:spPr>
          <a:xfrm>
            <a:off x="8588448" y="1877431"/>
            <a:ext cx="2107905" cy="1078597"/>
          </a:xfrm>
          <a:prstGeom prst="rect">
            <a:avLst/>
          </a:prstGeom>
        </p:spPr>
      </p:pic>
      <p:pic>
        <p:nvPicPr>
          <p:cNvPr id="19" name="图片 18">
            <a:extLst>
              <a:ext uri="{FF2B5EF4-FFF2-40B4-BE49-F238E27FC236}">
                <a16:creationId xmlns:a16="http://schemas.microsoft.com/office/drawing/2014/main" id="{F3FB65E2-17CA-78C3-95AB-CF01E8A69242}"/>
              </a:ext>
            </a:extLst>
          </p:cNvPr>
          <p:cNvPicPr>
            <a:picLocks noChangeAspect="1"/>
          </p:cNvPicPr>
          <p:nvPr/>
        </p:nvPicPr>
        <p:blipFill>
          <a:blip r:embed="rId3"/>
          <a:srcRect l="51802" t="28184"/>
          <a:stretch>
            <a:fillRect/>
          </a:stretch>
        </p:blipFill>
        <p:spPr>
          <a:xfrm>
            <a:off x="8588449" y="3000939"/>
            <a:ext cx="2107904" cy="1126365"/>
          </a:xfrm>
          <a:prstGeom prst="rect">
            <a:avLst/>
          </a:prstGeom>
        </p:spPr>
      </p:pic>
      <p:sp>
        <p:nvSpPr>
          <p:cNvPr id="22" name="矩形: 圆角 21">
            <a:extLst>
              <a:ext uri="{FF2B5EF4-FFF2-40B4-BE49-F238E27FC236}">
                <a16:creationId xmlns:a16="http://schemas.microsoft.com/office/drawing/2014/main" id="{A49BD567-06E0-7F0C-B543-3888AF602A61}"/>
              </a:ext>
            </a:extLst>
          </p:cNvPr>
          <p:cNvSpPr>
            <a:spLocks noGrp="1"/>
          </p:cNvSpPr>
          <p:nvPr/>
        </p:nvSpPr>
        <p:spPr>
          <a:xfrm>
            <a:off x="8717589" y="4721737"/>
            <a:ext cx="2857500" cy="838200"/>
          </a:xfrm>
          <a:prstGeom prst="roundRect">
            <a:avLst>
              <a:gd name="adj" fmla="val 9091"/>
            </a:avLst>
          </a:prstGeom>
          <a:solidFill>
            <a:srgbClr val="F7F9FC"/>
          </a:solidFill>
          <a:ln w="13335">
            <a:solidFill>
              <a:srgbClr val="5B9B43"/>
            </a:solidFill>
            <a:prstDash val="solid"/>
          </a:ln>
        </p:spPr>
        <p:txBody>
          <a:bodyPr anchor="ctr"/>
          <a:lstStyle/>
          <a:p>
            <a:pPr algn="ctr">
              <a:defRPr sz="1125" b="0">
                <a:solidFill>
                  <a:srgbClr val="333333"/>
                </a:solidFill>
              </a:defRPr>
            </a:pPr>
            <a:r>
              <a:rPr sz="1125">
                <a:solidFill>
                  <a:srgbClr val="333333"/>
                </a:solidFill>
              </a:rPr>
              <a:t>统一验证</a:t>
            </a:r>
          </a:p>
          <a:p>
            <a:pPr algn="ctr">
              <a:defRPr sz="1125" b="0">
                <a:solidFill>
                  <a:srgbClr val="333333"/>
                </a:solidFill>
              </a:defRPr>
            </a:pPr>
            <a:r>
              <a:rPr sz="1125">
                <a:solidFill>
                  <a:srgbClr val="333333"/>
                </a:solidFill>
              </a:rPr>
              <a:t>任务定义匹配</a:t>
            </a:r>
          </a:p>
          <a:p>
            <a:pPr algn="ctr">
              <a:defRPr sz="1125" b="0">
                <a:solidFill>
                  <a:srgbClr val="333333"/>
                </a:solidFill>
              </a:defRPr>
            </a:pPr>
            <a:r>
              <a:rPr sz="1125">
                <a:solidFill>
                  <a:srgbClr val="333333"/>
                </a:solidFill>
              </a:rPr>
              <a:t>0 / -5 dB 达到验收要求</a:t>
            </a:r>
          </a:p>
        </p:txBody>
      </p:sp>
      <p:sp>
        <p:nvSpPr>
          <p:cNvPr id="27" name="矩形: 圆角 26">
            <a:extLst>
              <a:ext uri="{FF2B5EF4-FFF2-40B4-BE49-F238E27FC236}">
                <a16:creationId xmlns:a16="http://schemas.microsoft.com/office/drawing/2014/main" id="{B0DC8EFE-E593-E4E0-DCEE-C8FA2779E2C7}"/>
              </a:ext>
            </a:extLst>
          </p:cNvPr>
          <p:cNvSpPr>
            <a:spLocks noGrp="1"/>
          </p:cNvSpPr>
          <p:nvPr/>
        </p:nvSpPr>
        <p:spPr>
          <a:xfrm>
            <a:off x="5129544" y="4750312"/>
            <a:ext cx="2762250" cy="838200"/>
          </a:xfrm>
          <a:prstGeom prst="roundRect">
            <a:avLst>
              <a:gd name="adj" fmla="val 9091"/>
            </a:avLst>
          </a:prstGeom>
          <a:solidFill>
            <a:srgbClr val="EEF7EA"/>
          </a:solidFill>
          <a:ln w="13335">
            <a:solidFill>
              <a:srgbClr val="5B9B43"/>
            </a:solidFill>
            <a:prstDash val="solid"/>
          </a:ln>
        </p:spPr>
        <p:txBody>
          <a:bodyPr anchor="ctr"/>
          <a:lstStyle/>
          <a:p>
            <a:pPr algn="ctr">
              <a:defRPr sz="1200" b="1">
                <a:solidFill>
                  <a:srgbClr val="5B9B43"/>
                </a:solidFill>
              </a:defRPr>
            </a:pPr>
            <a:r>
              <a:rPr sz="1200" b="1">
                <a:solidFill>
                  <a:srgbClr val="5B9B43"/>
                </a:solidFill>
              </a:rPr>
              <a:t>保留</a:t>
            </a:r>
          </a:p>
          <a:p>
            <a:pPr algn="ctr">
              <a:defRPr sz="1200" b="1">
                <a:solidFill>
                  <a:srgbClr val="5B9B43"/>
                </a:solidFill>
              </a:defRPr>
            </a:pPr>
            <a:r>
              <a:rPr sz="1200" b="1">
                <a:solidFill>
                  <a:srgbClr val="5B9B43"/>
                </a:solidFill>
              </a:rPr>
              <a:t>进入最终前端</a:t>
            </a:r>
          </a:p>
        </p:txBody>
      </p:sp>
      <p:sp>
        <p:nvSpPr>
          <p:cNvPr id="30" name="矩形: 圆角 29">
            <a:extLst>
              <a:ext uri="{FF2B5EF4-FFF2-40B4-BE49-F238E27FC236}">
                <a16:creationId xmlns:a16="http://schemas.microsoft.com/office/drawing/2014/main" id="{D990439A-52F8-28AC-3820-B38354E736C3}"/>
              </a:ext>
            </a:extLst>
          </p:cNvPr>
          <p:cNvSpPr>
            <a:spLocks noGrp="1"/>
          </p:cNvSpPr>
          <p:nvPr/>
        </p:nvSpPr>
        <p:spPr>
          <a:xfrm>
            <a:off x="840044" y="4675967"/>
            <a:ext cx="3333750" cy="952500"/>
          </a:xfrm>
          <a:prstGeom prst="roundRect">
            <a:avLst>
              <a:gd name="adj" fmla="val 8000"/>
            </a:avLst>
          </a:prstGeom>
          <a:solidFill>
            <a:srgbClr val="EEF7EA"/>
          </a:solidFill>
          <a:ln w="13335">
            <a:solidFill>
              <a:srgbClr val="5B9B43"/>
            </a:solidFill>
            <a:prstDash val="solid"/>
          </a:ln>
        </p:spPr>
        <p:txBody>
          <a:bodyPr anchor="ctr"/>
          <a:lstStyle/>
          <a:p>
            <a:pPr algn="ctr">
              <a:defRPr sz="1050" b="1">
                <a:solidFill>
                  <a:srgbClr val="5B9B43"/>
                </a:solidFill>
              </a:defRPr>
            </a:pPr>
            <a:r>
              <a:rPr sz="1050" b="1">
                <a:solidFill>
                  <a:srgbClr val="5B9B43"/>
                </a:solidFill>
              </a:rPr>
              <a:t>本课题启示</a:t>
            </a:r>
          </a:p>
          <a:p>
            <a:pPr algn="ctr">
              <a:defRPr sz="1050" b="1">
                <a:solidFill>
                  <a:srgbClr val="5B9B43"/>
                </a:solidFill>
              </a:defRPr>
            </a:pPr>
            <a:r>
              <a:rPr sz="1050" b="1">
                <a:solidFill>
                  <a:srgbClr val="5B9B43"/>
                </a:solidFill>
              </a:rPr>
              <a:t>注册条件直接指定目标说话人</a:t>
            </a:r>
          </a:p>
          <a:p>
            <a:pPr algn="ctr">
              <a:defRPr sz="1050" b="1">
                <a:solidFill>
                  <a:srgbClr val="5B9B43"/>
                </a:solidFill>
              </a:defRPr>
            </a:pPr>
            <a:r>
              <a:rPr sz="1050" b="1">
                <a:solidFill>
                  <a:srgbClr val="5B9B43"/>
                </a:solidFill>
              </a:rPr>
              <a:t>与最终任务一致 → 保留</a:t>
            </a:r>
          </a:p>
        </p:txBody>
      </p:sp>
    </p:spTree>
    <p:extLst>
      <p:ext uri="{BB962C8B-B14F-4D97-AF65-F5344CB8AC3E}">
        <p14:creationId xmlns:p14="http://schemas.microsoft.com/office/powerpoint/2010/main" val="739375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E9F29-F9BD-A003-70F2-8A7DDD9379B8}"/>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5858207C-3044-1E93-BE19-490A610D87E7}"/>
              </a:ext>
            </a:extLst>
          </p:cNvPr>
          <p:cNvSpPr txBox="1"/>
          <p:nvPr/>
        </p:nvSpPr>
        <p:spPr>
          <a:xfrm>
            <a:off x="762000" y="431800"/>
            <a:ext cx="3810000" cy="553998"/>
          </a:xfrm>
          <a:prstGeom prst="rect">
            <a:avLst/>
          </a:prstGeom>
          <a:noFill/>
        </p:spPr>
        <p:txBody>
          <a:bodyPr vert="horz" rtlCol="0">
            <a:spAutoFit/>
          </a:bodyPr>
          <a:lstStyle/>
          <a:p>
            <a:r>
              <a:rPr lang="zh-CN" altLang="en-US" sz="3000" b="1">
                <a:solidFill>
                  <a:srgbClr val="1F3864"/>
                </a:solidFill>
                <a:latin typeface="微软雅黑" panose="020B0503020204020204" pitchFamily="34" charset="-122"/>
                <a:ea typeface="微软雅黑" panose="020B0503020204020204" pitchFamily="34" charset="-122"/>
              </a:rPr>
              <a:t>提  纲</a:t>
            </a:r>
          </a:p>
        </p:txBody>
      </p:sp>
      <p:sp>
        <p:nvSpPr>
          <p:cNvPr id="3" name="矩形 2">
            <a:extLst>
              <a:ext uri="{FF2B5EF4-FFF2-40B4-BE49-F238E27FC236}">
                <a16:creationId xmlns:a16="http://schemas.microsoft.com/office/drawing/2014/main" id="{C7DF3360-3FEC-475E-8441-250ED4AA4D69}"/>
              </a:ext>
            </a:extLst>
          </p:cNvPr>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2E07E06-BAD1-541F-6F10-C82636C976D8}"/>
              </a:ext>
            </a:extLst>
          </p:cNvPr>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01</a:t>
            </a:r>
            <a:endParaRPr lang="zh-CN" altLang="en-US" b="1">
              <a:solidFill>
                <a:srgbClr val="1F3864"/>
              </a:solidFill>
              <a:ea typeface="微软雅黑" panose="020B0503020204020204" pitchFamily="34" charset="-122"/>
            </a:endParaRPr>
          </a:p>
        </p:txBody>
      </p:sp>
      <p:sp>
        <p:nvSpPr>
          <p:cNvPr id="5" name="文本框 4">
            <a:extLst>
              <a:ext uri="{FF2B5EF4-FFF2-40B4-BE49-F238E27FC236}">
                <a16:creationId xmlns:a16="http://schemas.microsoft.com/office/drawing/2014/main" id="{2A3BAF13-FFC5-4ED5-BA32-C36724788BFC}"/>
              </a:ext>
            </a:extLst>
          </p:cNvPr>
          <p:cNvSpPr txBox="1"/>
          <p:nvPr/>
        </p:nvSpPr>
        <p:spPr>
          <a:xfrm>
            <a:off x="2235200" y="1828800"/>
            <a:ext cx="5334000" cy="415498"/>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数据协议与构建</a:t>
            </a:r>
          </a:p>
        </p:txBody>
      </p:sp>
      <p:sp>
        <p:nvSpPr>
          <p:cNvPr id="6" name="矩形 5">
            <a:extLst>
              <a:ext uri="{FF2B5EF4-FFF2-40B4-BE49-F238E27FC236}">
                <a16:creationId xmlns:a16="http://schemas.microsoft.com/office/drawing/2014/main" id="{37E00401-CB8A-2DFE-EA46-77A7E01C21A1}"/>
              </a:ext>
            </a:extLst>
          </p:cNvPr>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02</a:t>
            </a:r>
            <a:endParaRPr lang="zh-CN" altLang="en-US" b="1">
              <a:solidFill>
                <a:srgbClr val="1F3864"/>
              </a:solidFill>
              <a:ea typeface="微软雅黑" panose="020B0503020204020204" pitchFamily="34" charset="-122"/>
            </a:endParaRPr>
          </a:p>
        </p:txBody>
      </p:sp>
      <p:sp>
        <p:nvSpPr>
          <p:cNvPr id="7" name="文本框 6">
            <a:extLst>
              <a:ext uri="{FF2B5EF4-FFF2-40B4-BE49-F238E27FC236}">
                <a16:creationId xmlns:a16="http://schemas.microsoft.com/office/drawing/2014/main" id="{4E7A57AB-B127-7BF6-2A86-B3A8B58AC87F}"/>
              </a:ext>
            </a:extLst>
          </p:cNvPr>
          <p:cNvSpPr txBox="1"/>
          <p:nvPr/>
        </p:nvSpPr>
        <p:spPr>
          <a:xfrm>
            <a:off x="2235200" y="26162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数据可信性</a:t>
            </a:r>
            <a:r>
              <a:rPr lang="en-US" altLang="zh-CN" sz="1900" dirty="0">
                <a:solidFill>
                  <a:srgbClr val="44546A"/>
                </a:solidFill>
                <a:latin typeface="微软雅黑" panose="020B0503020204020204" pitchFamily="34" charset="-122"/>
                <a:ea typeface="微软雅黑" panose="020B0503020204020204" pitchFamily="34" charset="-122"/>
              </a:rPr>
              <a:t>-</a:t>
            </a:r>
            <a:r>
              <a:rPr lang="zh-CN" altLang="en-US" sz="1900" dirty="0">
                <a:solidFill>
                  <a:srgbClr val="44546A"/>
                </a:solidFill>
                <a:latin typeface="微软雅黑" panose="020B0503020204020204" pitchFamily="34" charset="-122"/>
                <a:ea typeface="微软雅黑" panose="020B0503020204020204" pitchFamily="34" charset="-122"/>
              </a:rPr>
              <a:t>泄露性检查</a:t>
            </a:r>
          </a:p>
        </p:txBody>
      </p:sp>
      <p:sp>
        <p:nvSpPr>
          <p:cNvPr id="8" name="矩形 7">
            <a:extLst>
              <a:ext uri="{FF2B5EF4-FFF2-40B4-BE49-F238E27FC236}">
                <a16:creationId xmlns:a16="http://schemas.microsoft.com/office/drawing/2014/main" id="{C941AFB9-39F9-EA9E-5FFD-B2763B02A5AA}"/>
              </a:ext>
            </a:extLst>
          </p:cNvPr>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03</a:t>
            </a:r>
            <a:endParaRPr lang="zh-CN" altLang="en-US" b="1">
              <a:solidFill>
                <a:srgbClr val="1F3864"/>
              </a:solidFill>
              <a:ea typeface="微软雅黑" panose="020B0503020204020204" pitchFamily="34" charset="-122"/>
            </a:endParaRPr>
          </a:p>
        </p:txBody>
      </p:sp>
      <p:sp>
        <p:nvSpPr>
          <p:cNvPr id="9" name="文本框 8">
            <a:extLst>
              <a:ext uri="{FF2B5EF4-FFF2-40B4-BE49-F238E27FC236}">
                <a16:creationId xmlns:a16="http://schemas.microsoft.com/office/drawing/2014/main" id="{1B4BDDAC-699A-9D89-0475-DFF1110F9065}"/>
              </a:ext>
            </a:extLst>
          </p:cNvPr>
          <p:cNvSpPr txBox="1"/>
          <p:nvPr/>
        </p:nvSpPr>
        <p:spPr>
          <a:xfrm>
            <a:off x="2235200" y="3403600"/>
            <a:ext cx="5334000" cy="384721"/>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统一评测协议构建</a:t>
            </a:r>
          </a:p>
        </p:txBody>
      </p:sp>
      <p:sp>
        <p:nvSpPr>
          <p:cNvPr id="10" name="矩形 9">
            <a:extLst>
              <a:ext uri="{FF2B5EF4-FFF2-40B4-BE49-F238E27FC236}">
                <a16:creationId xmlns:a16="http://schemas.microsoft.com/office/drawing/2014/main" id="{97C017FC-DA55-626F-01B2-EBD09A5639EE}"/>
              </a:ext>
            </a:extLst>
          </p:cNvPr>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1F3864"/>
                </a:solidFill>
                <a:ea typeface="微软雅黑" panose="020B0503020204020204" pitchFamily="34" charset="-122"/>
              </a:rPr>
              <a:t>04</a:t>
            </a:r>
            <a:endParaRPr lang="zh-CN" altLang="en-US" b="1" dirty="0">
              <a:solidFill>
                <a:srgbClr val="1F3864"/>
              </a:solidFill>
              <a:ea typeface="微软雅黑" panose="020B0503020204020204" pitchFamily="34" charset="-122"/>
            </a:endParaRPr>
          </a:p>
        </p:txBody>
      </p:sp>
      <p:sp>
        <p:nvSpPr>
          <p:cNvPr id="11" name="文本框 10">
            <a:extLst>
              <a:ext uri="{FF2B5EF4-FFF2-40B4-BE49-F238E27FC236}">
                <a16:creationId xmlns:a16="http://schemas.microsoft.com/office/drawing/2014/main" id="{5EB2DA91-8B34-763C-8E3D-B6F58995491F}"/>
              </a:ext>
            </a:extLst>
          </p:cNvPr>
          <p:cNvSpPr txBox="1"/>
          <p:nvPr/>
        </p:nvSpPr>
        <p:spPr>
          <a:xfrm>
            <a:off x="2235200" y="4191000"/>
            <a:ext cx="5334000" cy="384721"/>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文献调研与判决</a:t>
            </a:r>
          </a:p>
        </p:txBody>
      </p:sp>
      <p:sp>
        <p:nvSpPr>
          <p:cNvPr id="12" name="矩形 11">
            <a:extLst>
              <a:ext uri="{FF2B5EF4-FFF2-40B4-BE49-F238E27FC236}">
                <a16:creationId xmlns:a16="http://schemas.microsoft.com/office/drawing/2014/main" id="{649BFA9B-65D1-E6E0-D9DA-9BC3F45DABD2}"/>
              </a:ext>
            </a:extLst>
          </p:cNvPr>
          <p:cNvSpPr/>
          <p:nvPr/>
        </p:nvSpPr>
        <p:spPr>
          <a:xfrm>
            <a:off x="1143000" y="49276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FFFFFF"/>
                </a:solidFill>
                <a:ea typeface="微软雅黑" panose="020B0503020204020204" pitchFamily="34" charset="-122"/>
              </a:rPr>
              <a:t>05</a:t>
            </a:r>
            <a:endParaRPr lang="zh-CN" altLang="en-US" b="1">
              <a:solidFill>
                <a:srgbClr val="FFFFFF"/>
              </a:solidFill>
              <a:ea typeface="微软雅黑" panose="020B0503020204020204" pitchFamily="34" charset="-122"/>
            </a:endParaRPr>
          </a:p>
        </p:txBody>
      </p:sp>
      <p:sp>
        <p:nvSpPr>
          <p:cNvPr id="13" name="文本框 12">
            <a:extLst>
              <a:ext uri="{FF2B5EF4-FFF2-40B4-BE49-F238E27FC236}">
                <a16:creationId xmlns:a16="http://schemas.microsoft.com/office/drawing/2014/main" id="{8DE48EE8-21A3-B538-C02F-85434522B7F5}"/>
              </a:ext>
            </a:extLst>
          </p:cNvPr>
          <p:cNvSpPr txBox="1"/>
          <p:nvPr/>
        </p:nvSpPr>
        <p:spPr>
          <a:xfrm>
            <a:off x="2235200" y="4978400"/>
            <a:ext cx="5334000" cy="384721"/>
          </a:xfrm>
          <a:prstGeom prst="rect">
            <a:avLst/>
          </a:prstGeom>
          <a:noFill/>
        </p:spPr>
        <p:txBody>
          <a:bodyPr vert="horz" rtlCol="0">
            <a:spAutoFit/>
          </a:bodyPr>
          <a:lstStyle>
            <a:defPPr>
              <a:defRPr lang="zh-CN"/>
            </a:defPPr>
            <a:lvl1pPr>
              <a:defRPr sz="2100" b="1">
                <a:solidFill>
                  <a:srgbClr val="ED7D31"/>
                </a:solidFill>
                <a:latin typeface="微软雅黑" panose="020B0503020204020204" pitchFamily="34" charset="-122"/>
                <a:ea typeface="微软雅黑" panose="020B0503020204020204" pitchFamily="34" charset="-122"/>
              </a:defRPr>
            </a:lvl1pPr>
          </a:lstStyle>
          <a:p>
            <a:r>
              <a:rPr lang="zh-CN" altLang="en-US" dirty="0"/>
              <a:t>前端结构与原理</a:t>
            </a:r>
          </a:p>
        </p:txBody>
      </p:sp>
      <p:sp>
        <p:nvSpPr>
          <p:cNvPr id="14" name="矩形 13">
            <a:extLst>
              <a:ext uri="{FF2B5EF4-FFF2-40B4-BE49-F238E27FC236}">
                <a16:creationId xmlns:a16="http://schemas.microsoft.com/office/drawing/2014/main" id="{8DB112D6-D108-09A8-B3CA-F9769BE853F3}"/>
              </a:ext>
            </a:extLst>
          </p:cNvPr>
          <p:cNvSpPr/>
          <p:nvPr/>
        </p:nvSpPr>
        <p:spPr>
          <a:xfrm>
            <a:off x="1143000" y="5715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06</a:t>
            </a:r>
            <a:endParaRPr lang="zh-CN" altLang="en-US" b="1">
              <a:solidFill>
                <a:srgbClr val="1F3864"/>
              </a:solidFill>
              <a:ea typeface="微软雅黑" panose="020B0503020204020204" pitchFamily="34" charset="-122"/>
            </a:endParaRPr>
          </a:p>
        </p:txBody>
      </p:sp>
      <p:sp>
        <p:nvSpPr>
          <p:cNvPr id="15" name="文本框 14">
            <a:extLst>
              <a:ext uri="{FF2B5EF4-FFF2-40B4-BE49-F238E27FC236}">
                <a16:creationId xmlns:a16="http://schemas.microsoft.com/office/drawing/2014/main" id="{6CA70704-60A0-29AD-3AE4-926C7E59D9FB}"/>
              </a:ext>
            </a:extLst>
          </p:cNvPr>
          <p:cNvSpPr txBox="1"/>
          <p:nvPr/>
        </p:nvSpPr>
        <p:spPr>
          <a:xfrm>
            <a:off x="2235200" y="57658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展望与规划</a:t>
            </a:r>
          </a:p>
        </p:txBody>
      </p:sp>
      <p:sp>
        <p:nvSpPr>
          <p:cNvPr id="16" name="文本框 15">
            <a:extLst>
              <a:ext uri="{FF2B5EF4-FFF2-40B4-BE49-F238E27FC236}">
                <a16:creationId xmlns:a16="http://schemas.microsoft.com/office/drawing/2014/main" id="{AA55463B-94A1-8EB8-572F-9D22344B7473}"/>
              </a:ext>
            </a:extLst>
          </p:cNvPr>
          <p:cNvSpPr txBox="1"/>
          <p:nvPr/>
        </p:nvSpPr>
        <p:spPr>
          <a:xfrm>
            <a:off x="7112000" y="1905000"/>
            <a:ext cx="4064000" cy="1785104"/>
          </a:xfrm>
          <a:prstGeom prst="rect">
            <a:avLst/>
          </a:prstGeom>
          <a:noFill/>
        </p:spPr>
        <p:txBody>
          <a:bodyPr vert="horz" rtlCol="0">
            <a:spAutoFit/>
          </a:bodyPr>
          <a:lstStyle/>
          <a:p>
            <a:pPr algn="ctr"/>
            <a:r>
              <a:rPr lang="en-US" altLang="zh-CN" sz="11000" b="1" dirty="0">
                <a:solidFill>
                  <a:srgbClr val="E2E8F5"/>
                </a:solidFill>
                <a:latin typeface="微软雅黑" panose="020B0503020204020204" pitchFamily="34" charset="-122"/>
                <a:ea typeface="微软雅黑" panose="020B0503020204020204" pitchFamily="34" charset="-122"/>
              </a:rPr>
              <a:t>05</a:t>
            </a:r>
            <a:endParaRPr lang="zh-CN" altLang="en-US" sz="11000" b="1" dirty="0">
              <a:solidFill>
                <a:srgbClr val="E2E8F5"/>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E0271538-7C03-2721-EC7B-7E244C4A7E7A}"/>
              </a:ext>
            </a:extLst>
          </p:cNvPr>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微软雅黑" panose="020B0503020204020204" pitchFamily="34" charset="-122"/>
                <a:ea typeface="微软雅黑" panose="020B0503020204020204" pitchFamily="34" charset="-122"/>
              </a:rPr>
              <a:t>前端结构与原理</a:t>
            </a:r>
          </a:p>
        </p:txBody>
      </p:sp>
      <p:sp>
        <p:nvSpPr>
          <p:cNvPr id="18" name="矩形 17">
            <a:extLst>
              <a:ext uri="{FF2B5EF4-FFF2-40B4-BE49-F238E27FC236}">
                <a16:creationId xmlns:a16="http://schemas.microsoft.com/office/drawing/2014/main" id="{107BF41B-8F38-DA2A-3FFD-5442423D6BA1}"/>
              </a:ext>
            </a:extLst>
          </p:cNvPr>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3071582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923080FA-14D6-49A8-9D76-CC27EABAE414}"/>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最终前端由注册条件支路、增强支路和固定打分接口组成</a:t>
            </a:r>
          </a:p>
        </p:txBody>
      </p:sp>
      <p:sp>
        <p:nvSpPr>
          <p:cNvPr id="4" name="文本框 3">
            <a:extLst>
              <a:ext uri="{FF2B5EF4-FFF2-40B4-BE49-F238E27FC236}">
                <a16:creationId xmlns:a16="http://schemas.microsoft.com/office/drawing/2014/main" id="{94C7F462-0446-4AA2-8397-F48E342A5908}"/>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076338AB-019B-4294-B48A-CE6FD0597AAC}"/>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文本框 5">
            <a:extLst>
              <a:ext uri="{FF2B5EF4-FFF2-40B4-BE49-F238E27FC236}">
                <a16:creationId xmlns:a16="http://schemas.microsoft.com/office/drawing/2014/main" id="{05D54691-2997-491D-98F4-A6204EFC5A0E}"/>
              </a:ext>
            </a:extLst>
          </p:cNvPr>
          <p:cNvSpPr>
            <a:spLocks noGrp="1"/>
          </p:cNvSpPr>
          <p:nvPr/>
        </p:nvSpPr>
        <p:spPr>
          <a:xfrm>
            <a:off x="508000" y="1041402"/>
            <a:ext cx="11303000" cy="915635"/>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 条件支路:2条 clean 注册语音 → 冻结声纹后端 → 512维 e_enr → 小MLP生成 FiLM 的 γ、β</a:t>
            </a:r>
          </a:p>
          <a:p>
            <a:pPr>
              <a:spcAft>
                <a:spcPts val="600"/>
              </a:spcAft>
            </a:pPr>
            <a:r>
              <a:rPr sz="1450">
                <a:solidFill>
                  <a:srgbClr val="333333"/>
                </a:solidFill>
                <a:latin typeface="微软雅黑"/>
                <a:ea typeface="微软雅黑"/>
                <a:cs typeface="微软雅黑"/>
              </a:rPr>
              <a:t>• 增强支路:16 kHz 带噪语音 → STFT 257维复谱 → 条件化 FullSubNet+ → cIRM → iSTFT</a:t>
            </a:r>
          </a:p>
          <a:p>
            <a:pPr>
              <a:spcAft>
                <a:spcPts val="600"/>
              </a:spcAft>
            </a:pPr>
            <a:r>
              <a:rPr sz="1450">
                <a:solidFill>
                  <a:srgbClr val="333333"/>
                </a:solidFill>
                <a:latin typeface="微软雅黑"/>
                <a:ea typeface="微软雅黑"/>
                <a:cs typeface="微软雅黑"/>
              </a:rPr>
              <a:t>• 打分接口:增强语音 → 同一冻结后端得到 e_enh → 与 e_enr 计算余弦相似度</a:t>
            </a:r>
          </a:p>
        </p:txBody>
      </p:sp>
      <p:pic>
        <p:nvPicPr>
          <p:cNvPr id="15" name="图片 6"/>
          <p:cNvPicPr>
            <a:picLocks noChangeAspect="1"/>
          </p:cNvPicPr>
          <p:nvPr/>
        </p:nvPicPr>
        <p:blipFill>
          <a:blip r:embed="rId3"/>
          <a:stretch>
            <a:fillRect/>
          </a:stretch>
        </p:blipFill>
        <p:spPr>
          <a:xfrm>
            <a:off x="1422820" y="2489200"/>
            <a:ext cx="9346363" cy="3759200"/>
          </a:xfrm>
          <a:prstGeom prst="rect">
            <a:avLst/>
          </a:prstGeom>
        </p:spPr>
      </p:pic>
      <p:sp>
        <p:nvSpPr>
          <p:cNvPr id="8" name="文本框 7">
            <a:extLst>
              <a:ext uri="{FF2B5EF4-FFF2-40B4-BE49-F238E27FC236}">
                <a16:creationId xmlns:a16="http://schemas.microsoft.com/office/drawing/2014/main" id="{C0E0B056-AD76-41F6-9880-3740B61A173B}"/>
              </a:ext>
            </a:extLst>
          </p:cNvPr>
          <p:cNvSpPr>
            <a:spLocks noGrp="1"/>
          </p:cNvSpPr>
          <p:nvPr/>
        </p:nvSpPr>
        <p:spPr>
          <a:xfrm>
            <a:off x="762000" y="6350000"/>
            <a:ext cx="10668000" cy="269304"/>
          </a:xfrm>
          <a:prstGeom prst="rect">
            <a:avLst/>
          </a:prstGeom>
          <a:noFill/>
        </p:spPr>
        <p:txBody>
          <a:bodyPr vert="horz">
            <a:spAutoFit/>
          </a:bodyPr>
          <a:lstStyle/>
          <a:p>
            <a:pPr algn="ctr">
              <a:buNone/>
            </a:pPr>
            <a:r>
              <a:rPr sz="1150">
                <a:solidFill>
                  <a:srgbClr val="7F7F7F"/>
                </a:solidFill>
                <a:latin typeface="微软雅黑"/>
                <a:ea typeface="微软雅黑"/>
                <a:cs typeface="微软雅黑"/>
              </a:rPr>
              <a:t>图 | 可训练部分仅为 SpeakerFiLM + FullSubNet+（9.20M）;声纹后端始终冻结。数据:技术报告第4.1。</a:t>
            </a:r>
          </a:p>
        </p:txBody>
      </p:sp>
      <p:sp>
        <p:nvSpPr>
          <p:cNvPr id="9" name="矩形 8">
            <a:extLst>
              <a:ext uri="{FF2B5EF4-FFF2-40B4-BE49-F238E27FC236}">
                <a16:creationId xmlns:a16="http://schemas.microsoft.com/office/drawing/2014/main" id="{D0C8A441-B984-D182-29B9-984A67551F08}"/>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45166469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F23103-C458-462F-9943-8157F3261C87}"/>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图 A 解释三分支复谱结构,图 B 解释全带—子带时序融合</a:t>
            </a:r>
          </a:p>
        </p:txBody>
      </p:sp>
      <p:sp>
        <p:nvSpPr>
          <p:cNvPr id="4" name="文本框 3">
            <a:extLst>
              <a:ext uri="{FF2B5EF4-FFF2-40B4-BE49-F238E27FC236}">
                <a16:creationId xmlns:a16="http://schemas.microsoft.com/office/drawing/2014/main" id="{A5C173E3-7713-4FF6-A6EC-902DB330D29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4579032E-73E4-45A0-8808-B4116ED79C3A}"/>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31" name="表格 5"/>
          <p:cNvGraphicFramePr/>
          <p:nvPr/>
        </p:nvGraphicFramePr>
        <p:xfrm>
          <a:off x="-15240000" y="-8572500"/>
          <a:ext cx="11303001" cy="2794002"/>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465667">
                <a:tc>
                  <a:txBody>
                    <a:bodyPr/>
                    <a:lstStyle/>
                    <a:p>
                      <a:r>
                        <a:rPr sz="1300" b="1">
                          <a:solidFill>
                            <a:srgbClr val="FFFFFF"/>
                          </a:solidFill>
                          <a:latin typeface="微软雅黑"/>
                          <a:ea typeface="微软雅黑"/>
                          <a:cs typeface="微软雅黑"/>
                        </a:rPr>
                        <a:t>模块</a:t>
                      </a:r>
                    </a:p>
                  </a:txBody>
                  <a:tcPr anchor="ctr">
                    <a:solidFill>
                      <a:srgbClr val="2F5496"/>
                    </a:solidFill>
                  </a:tcPr>
                </a:tc>
                <a:tc>
                  <a:txBody>
                    <a:bodyPr/>
                    <a:lstStyle/>
                    <a:p>
                      <a:r>
                        <a:rPr sz="1300" b="1">
                          <a:solidFill>
                            <a:srgbClr val="FFFFFF"/>
                          </a:solidFill>
                          <a:latin typeface="微软雅黑"/>
                          <a:ea typeface="微软雅黑"/>
                          <a:cs typeface="微软雅黑"/>
                        </a:rPr>
                        <a:t>输入 → 输出</a:t>
                      </a:r>
                    </a:p>
                  </a:txBody>
                  <a:tcPr anchor="ctr">
                    <a:solidFill>
                      <a:srgbClr val="2F5496"/>
                    </a:solidFill>
                  </a:tcPr>
                </a:tc>
                <a:tc>
                  <a:txBody>
                    <a:bodyPr/>
                    <a:lstStyle/>
                    <a:p>
                      <a:r>
                        <a:rPr sz="1300" b="1">
                          <a:solidFill>
                            <a:srgbClr val="FFFFFF"/>
                          </a:solidFill>
                          <a:latin typeface="微软雅黑"/>
                          <a:ea typeface="微软雅黑"/>
                          <a:cs typeface="微软雅黑"/>
                        </a:rPr>
                        <a:t>原理与优势</a:t>
                      </a:r>
                    </a:p>
                  </a:txBody>
                  <a:tcPr anchor="ctr">
                    <a:solidFill>
                      <a:srgbClr val="2F5496"/>
                    </a:solidFill>
                  </a:tcPr>
                </a:tc>
                <a:extLst>
                  <a:ext uri="{0D108BD9-81ED-4DB2-BD59-A6C34878D82A}">
                    <a16:rowId xmlns:a16="http://schemas.microsoft.com/office/drawing/2014/main" val="10000"/>
                  </a:ext>
                </a:extLst>
              </a:tr>
              <a:tr h="465667">
                <a:tc>
                  <a:txBody>
                    <a:bodyPr/>
                    <a:lstStyle/>
                    <a:p>
                      <a:r>
                        <a:rPr sz="1300">
                          <a:solidFill>
                            <a:srgbClr val="333333"/>
                          </a:solidFill>
                          <a:latin typeface="微软雅黑"/>
                          <a:ea typeface="微软雅黑"/>
                          <a:cs typeface="微软雅黑"/>
                        </a:rPr>
                        <a:t>STFT</a:t>
                      </a:r>
                    </a:p>
                  </a:txBody>
                  <a:tcPr anchor="ctr">
                    <a:solidFill>
                      <a:srgbClr val="FFFFFF"/>
                    </a:solidFill>
                  </a:tcPr>
                </a:tc>
                <a:tc>
                  <a:txBody>
                    <a:bodyPr/>
                    <a:lstStyle/>
                    <a:p>
                      <a:r>
                        <a:rPr sz="1300">
                          <a:solidFill>
                            <a:srgbClr val="333333"/>
                          </a:solidFill>
                          <a:latin typeface="微软雅黑"/>
                          <a:ea typeface="微软雅黑"/>
                          <a:cs typeface="微软雅黑"/>
                        </a:rPr>
                        <a:t>16 kHz waveform → 257 维复频谱(512 / 256)</a:t>
                      </a:r>
                    </a:p>
                  </a:txBody>
                  <a:tcPr anchor="ctr">
                    <a:solidFill>
                      <a:srgbClr val="FFFFFF"/>
                    </a:solidFill>
                  </a:tcPr>
                </a:tc>
                <a:tc>
                  <a:txBody>
                    <a:bodyPr/>
                    <a:lstStyle/>
                    <a:p>
                      <a:r>
                        <a:rPr sz="1300">
                          <a:solidFill>
                            <a:srgbClr val="333333"/>
                          </a:solidFill>
                          <a:latin typeface="微软雅黑"/>
                          <a:ea typeface="微软雅黑"/>
                          <a:cs typeface="微软雅黑"/>
                        </a:rPr>
                        <a:t>把非平稳语音转为时频序列</a:t>
                      </a:r>
                    </a:p>
                  </a:txBody>
                  <a:tcPr anchor="ctr">
                    <a:solidFill>
                      <a:srgbClr val="FFFFFF"/>
                    </a:solidFill>
                  </a:tcPr>
                </a:tc>
                <a:extLst>
                  <a:ext uri="{0D108BD9-81ED-4DB2-BD59-A6C34878D82A}">
                    <a16:rowId xmlns:a16="http://schemas.microsoft.com/office/drawing/2014/main" val="10001"/>
                  </a:ext>
                </a:extLst>
              </a:tr>
              <a:tr h="465667">
                <a:tc>
                  <a:txBody>
                    <a:bodyPr/>
                    <a:lstStyle/>
                    <a:p>
                      <a:r>
                        <a:rPr sz="1300">
                          <a:solidFill>
                            <a:srgbClr val="333333"/>
                          </a:solidFill>
                          <a:latin typeface="微软雅黑"/>
                          <a:ea typeface="微软雅黑"/>
                          <a:cs typeface="微软雅黑"/>
                        </a:rPr>
                        <a:t>全带 LSTM</a:t>
                      </a:r>
                    </a:p>
                  </a:txBody>
                  <a:tcPr anchor="ctr">
                    <a:solidFill>
                      <a:srgbClr val="F2F6FC"/>
                    </a:solidFill>
                  </a:tcPr>
                </a:tc>
                <a:tc>
                  <a:txBody>
                    <a:bodyPr/>
                    <a:lstStyle/>
                    <a:p>
                      <a:r>
                        <a:rPr sz="1300">
                          <a:solidFill>
                            <a:srgbClr val="333333"/>
                          </a:solidFill>
                          <a:latin typeface="微软雅黑"/>
                          <a:ea typeface="微软雅黑"/>
                          <a:cs typeface="微软雅黑"/>
                        </a:rPr>
                        <a:t>全频带序列 → 512 维全局表征</a:t>
                      </a:r>
                    </a:p>
                  </a:txBody>
                  <a:tcPr anchor="ctr">
                    <a:solidFill>
                      <a:srgbClr val="F2F6FC"/>
                    </a:solidFill>
                  </a:tcPr>
                </a:tc>
                <a:tc>
                  <a:txBody>
                    <a:bodyPr/>
                    <a:lstStyle/>
                    <a:p>
                      <a:r>
                        <a:rPr sz="1300">
                          <a:solidFill>
                            <a:srgbClr val="333333"/>
                          </a:solidFill>
                          <a:latin typeface="微软雅黑"/>
                          <a:ea typeface="微软雅黑"/>
                          <a:cs typeface="微软雅黑"/>
                        </a:rPr>
                        <a:t>LSTM 建模整体噪声上下文</a:t>
                      </a:r>
                    </a:p>
                  </a:txBody>
                  <a:tcPr anchor="ctr">
                    <a:solidFill>
                      <a:srgbClr val="F2F6FC"/>
                    </a:solidFill>
                  </a:tcPr>
                </a:tc>
                <a:extLst>
                  <a:ext uri="{0D108BD9-81ED-4DB2-BD59-A6C34878D82A}">
                    <a16:rowId xmlns:a16="http://schemas.microsoft.com/office/drawing/2014/main" val="10002"/>
                  </a:ext>
                </a:extLst>
              </a:tr>
              <a:tr h="465667">
                <a:tc>
                  <a:txBody>
                    <a:bodyPr/>
                    <a:lstStyle/>
                    <a:p>
                      <a:r>
                        <a:rPr sz="1300">
                          <a:solidFill>
                            <a:srgbClr val="333333"/>
                          </a:solidFill>
                          <a:latin typeface="微软雅黑"/>
                          <a:ea typeface="微软雅黑"/>
                          <a:cs typeface="微软雅黑"/>
                        </a:rPr>
                        <a:t>子带模型</a:t>
                      </a:r>
                    </a:p>
                  </a:txBody>
                  <a:tcPr anchor="ctr">
                    <a:solidFill>
                      <a:srgbClr val="FFFFFF"/>
                    </a:solidFill>
                  </a:tcPr>
                </a:tc>
                <a:tc>
                  <a:txBody>
                    <a:bodyPr/>
                    <a:lstStyle/>
                    <a:p>
                      <a:r>
                        <a:rPr sz="1300">
                          <a:solidFill>
                            <a:srgbClr val="333333"/>
                          </a:solidFill>
                          <a:latin typeface="微软雅黑"/>
                          <a:ea typeface="微软雅黑"/>
                          <a:cs typeface="微软雅黑"/>
                        </a:rPr>
                        <a:t>每频带及相邻 15 带 → 384 维局部表征</a:t>
                      </a:r>
                    </a:p>
                  </a:txBody>
                  <a:tcPr anchor="ctr">
                    <a:solidFill>
                      <a:srgbClr val="FFFFFF"/>
                    </a:solidFill>
                  </a:tcPr>
                </a:tc>
                <a:tc>
                  <a:txBody>
                    <a:bodyPr/>
                    <a:lstStyle/>
                    <a:p>
                      <a:r>
                        <a:rPr sz="1300">
                          <a:solidFill>
                            <a:srgbClr val="333333"/>
                          </a:solidFill>
                          <a:latin typeface="微软雅黑"/>
                          <a:ea typeface="微软雅黑"/>
                          <a:cs typeface="微软雅黑"/>
                        </a:rPr>
                        <a:t>重点建模局部频带结构</a:t>
                      </a:r>
                    </a:p>
                  </a:txBody>
                  <a:tcPr anchor="ctr">
                    <a:solidFill>
                      <a:srgbClr val="FFFFFF"/>
                    </a:solidFill>
                  </a:tcPr>
                </a:tc>
                <a:extLst>
                  <a:ext uri="{0D108BD9-81ED-4DB2-BD59-A6C34878D82A}">
                    <a16:rowId xmlns:a16="http://schemas.microsoft.com/office/drawing/2014/main" val="10003"/>
                  </a:ext>
                </a:extLst>
              </a:tr>
              <a:tr h="465667">
                <a:tc>
                  <a:txBody>
                    <a:bodyPr/>
                    <a:lstStyle/>
                    <a:p>
                      <a:r>
                        <a:rPr sz="1300">
                          <a:solidFill>
                            <a:srgbClr val="333333"/>
                          </a:solidFill>
                          <a:latin typeface="微软雅黑"/>
                          <a:ea typeface="微软雅黑"/>
                          <a:cs typeface="微软雅黑"/>
                        </a:rPr>
                        <a:t>cIRM 估计</a:t>
                      </a:r>
                    </a:p>
                  </a:txBody>
                  <a:tcPr anchor="ctr">
                    <a:solidFill>
                      <a:srgbClr val="F2F6FC"/>
                    </a:solidFill>
                  </a:tcPr>
                </a:tc>
                <a:tc>
                  <a:txBody>
                    <a:bodyPr/>
                    <a:lstStyle/>
                    <a:p>
                      <a:r>
                        <a:rPr sz="1300">
                          <a:solidFill>
                            <a:srgbClr val="333333"/>
                          </a:solidFill>
                          <a:latin typeface="微软雅黑"/>
                          <a:ea typeface="微软雅黑"/>
                          <a:cs typeface="微软雅黑"/>
                        </a:rPr>
                        <a:t>融合表征 → 复数理想比例掩码</a:t>
                      </a:r>
                    </a:p>
                  </a:txBody>
                  <a:tcPr anchor="ctr">
                    <a:solidFill>
                      <a:srgbClr val="F2F6FC"/>
                    </a:solidFill>
                  </a:tcPr>
                </a:tc>
                <a:tc>
                  <a:txBody>
                    <a:bodyPr/>
                    <a:lstStyle/>
                    <a:p>
                      <a:r>
                        <a:rPr sz="1300">
                          <a:solidFill>
                            <a:srgbClr val="333333"/>
                          </a:solidFill>
                          <a:latin typeface="微软雅黑"/>
                          <a:ea typeface="微软雅黑"/>
                          <a:cs typeface="微软雅黑"/>
                        </a:rPr>
                        <a:t>同时修正频谱幅度和相位</a:t>
                      </a:r>
                    </a:p>
                  </a:txBody>
                  <a:tcPr anchor="ctr">
                    <a:solidFill>
                      <a:srgbClr val="F2F6FC"/>
                    </a:solidFill>
                  </a:tcPr>
                </a:tc>
                <a:extLst>
                  <a:ext uri="{0D108BD9-81ED-4DB2-BD59-A6C34878D82A}">
                    <a16:rowId xmlns:a16="http://schemas.microsoft.com/office/drawing/2014/main" val="10004"/>
                  </a:ext>
                </a:extLst>
              </a:tr>
              <a:tr h="465667">
                <a:tc>
                  <a:txBody>
                    <a:bodyPr/>
                    <a:lstStyle/>
                    <a:p>
                      <a:r>
                        <a:rPr sz="1300">
                          <a:solidFill>
                            <a:srgbClr val="333333"/>
                          </a:solidFill>
                          <a:latin typeface="微软雅黑"/>
                          <a:ea typeface="微软雅黑"/>
                          <a:cs typeface="微软雅黑"/>
                        </a:rPr>
                        <a:t>iSTFT</a:t>
                      </a:r>
                    </a:p>
                  </a:txBody>
                  <a:tcPr anchor="ctr">
                    <a:solidFill>
                      <a:srgbClr val="FFFFFF"/>
                    </a:solidFill>
                  </a:tcPr>
                </a:tc>
                <a:tc>
                  <a:txBody>
                    <a:bodyPr/>
                    <a:lstStyle/>
                    <a:p>
                      <a:r>
                        <a:rPr sz="1300">
                          <a:solidFill>
                            <a:srgbClr val="333333"/>
                          </a:solidFill>
                          <a:latin typeface="微软雅黑"/>
                          <a:ea typeface="微软雅黑"/>
                          <a:cs typeface="微软雅黑"/>
                        </a:rPr>
                        <a:t>cIRM × 带噪复谱 → 增强时域语音</a:t>
                      </a:r>
                    </a:p>
                  </a:txBody>
                  <a:tcPr anchor="ctr">
                    <a:solidFill>
                      <a:srgbClr val="FFFFFF"/>
                    </a:solidFill>
                  </a:tcPr>
                </a:tc>
                <a:tc>
                  <a:txBody>
                    <a:bodyPr/>
                    <a:lstStyle/>
                    <a:p>
                      <a:r>
                        <a:rPr sz="1300">
                          <a:solidFill>
                            <a:srgbClr val="333333"/>
                          </a:solidFill>
                          <a:latin typeface="微软雅黑"/>
                          <a:ea typeface="微软雅黑"/>
                          <a:cs typeface="微软雅黑"/>
                        </a:rPr>
                        <a:t>输出可直接送入冻结声纹后端</a:t>
                      </a: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文本框 6">
            <a:extLst>
              <a:ext uri="{FF2B5EF4-FFF2-40B4-BE49-F238E27FC236}">
                <a16:creationId xmlns:a16="http://schemas.microsoft.com/office/drawing/2014/main" id="{A41F65AB-82A0-4926-AED9-941F10B35284}"/>
              </a:ext>
            </a:extLst>
          </p:cNvPr>
          <p:cNvSpPr>
            <a:spLocks noGrp="1"/>
          </p:cNvSpPr>
          <p:nvPr/>
        </p:nvSpPr>
        <p:spPr>
          <a:xfrm>
            <a:off x="-15240000" y="-8572500"/>
            <a:ext cx="95250" cy="3785652"/>
          </a:xfrm>
          <a:prstGeom prst="rect">
            <a:avLst/>
          </a:prstGeom>
          <a:noFill/>
        </p:spPr>
        <p:txBody>
          <a:bodyPr vert="horz">
            <a:spAutoFit/>
          </a:bodyPr>
          <a:lstStyle/>
          <a:p>
            <a:r>
              <a:rPr sz="1600" b="1">
                <a:solidFill>
                  <a:srgbClr val="1F3864"/>
                </a:solidFill>
                <a:latin typeface="微软雅黑"/>
                <a:ea typeface="微软雅黑"/>
                <a:cs typeface="微软雅黑"/>
              </a:rPr>
              <a:t>为什么选 FullSubNet+</a:t>
            </a:r>
          </a:p>
        </p:txBody>
      </p:sp>
      <p:sp>
        <p:nvSpPr>
          <p:cNvPr id="8" name="文本框 7">
            <a:extLst>
              <a:ext uri="{FF2B5EF4-FFF2-40B4-BE49-F238E27FC236}">
                <a16:creationId xmlns:a16="http://schemas.microsoft.com/office/drawing/2014/main" id="{5D896F50-277B-4057-B6F9-F55F016D3F0E}"/>
              </a:ext>
            </a:extLst>
          </p:cNvPr>
          <p:cNvSpPr>
            <a:spLocks noGrp="1"/>
          </p:cNvSpPr>
          <p:nvPr/>
        </p:nvSpPr>
        <p:spPr>
          <a:xfrm>
            <a:off x="-15240000" y="-8572500"/>
            <a:ext cx="95250" cy="21667470"/>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 全带建模全局,子带建模细节,比单路建模更适合语音频谱</a:t>
            </a:r>
          </a:p>
          <a:p>
            <a:pPr>
              <a:spcAft>
                <a:spcPts val="600"/>
              </a:spcAft>
            </a:pPr>
            <a:r>
              <a:rPr sz="1450">
                <a:solidFill>
                  <a:srgbClr val="333333"/>
                </a:solidFill>
                <a:latin typeface="微软雅黑"/>
                <a:ea typeface="微软雅黑"/>
                <a:cs typeface="微软雅黑"/>
              </a:rPr>
              <a:t>• 因果、实时、参数量小;可直接复用通用降噪阶段积累的骨干与失败数据</a:t>
            </a:r>
          </a:p>
          <a:p>
            <a:pPr>
              <a:spcAft>
                <a:spcPts val="600"/>
              </a:spcAft>
            </a:pPr>
            <a:r>
              <a:rPr sz="1450">
                <a:solidFill>
                  <a:srgbClr val="333333"/>
                </a:solidFill>
                <a:latin typeface="微软雅黑"/>
                <a:ea typeface="微软雅黑"/>
                <a:cs typeface="微软雅黑"/>
              </a:rPr>
              <a:t>• 本课题前端总参数 9.20M,其中 FullSubNet+ 骨干约 8.68M</a:t>
            </a:r>
          </a:p>
        </p:txBody>
      </p:sp>
      <p:sp>
        <p:nvSpPr>
          <p:cNvPr id="10" name="矩形: 圆角 9">
            <a:extLst>
              <a:ext uri="{FF2B5EF4-FFF2-40B4-BE49-F238E27FC236}">
                <a16:creationId xmlns:a16="http://schemas.microsoft.com/office/drawing/2014/main" id="{B7DBB072-52C6-453B-A20F-AC2D2682A245}"/>
              </a:ext>
            </a:extLst>
          </p:cNvPr>
          <p:cNvSpPr>
            <a:spLocks noGrp="1"/>
          </p:cNvSpPr>
          <p:nvPr/>
        </p:nvSpPr>
        <p:spPr>
          <a:xfrm>
            <a:off x="514350" y="1285875"/>
            <a:ext cx="1809750" cy="800100"/>
          </a:xfrm>
          <a:prstGeom prst="roundRect">
            <a:avLst>
              <a:gd name="adj" fmla="val 9524"/>
            </a:avLst>
          </a:prstGeom>
          <a:solidFill>
            <a:srgbClr val="EEF3FB"/>
          </a:solidFill>
          <a:ln w="13335">
            <a:solidFill>
              <a:srgbClr val="355E9E"/>
            </a:solidFill>
            <a:prstDash val="solid"/>
          </a:ln>
        </p:spPr>
        <p:txBody>
          <a:bodyPr anchor="ctr"/>
          <a:lstStyle/>
          <a:p>
            <a:pPr algn="ctr">
              <a:defRPr sz="1125" b="1">
                <a:solidFill>
                  <a:srgbClr val="203D6B"/>
                </a:solidFill>
              </a:defRPr>
            </a:pPr>
            <a:r>
              <a:rPr sz="1125" b="1">
                <a:solidFill>
                  <a:srgbClr val="203D6B"/>
                </a:solidFill>
              </a:rPr>
              <a:t>16 kHz 波形</a:t>
            </a:r>
          </a:p>
          <a:p>
            <a:pPr algn="ctr">
              <a:defRPr sz="1125" b="1">
                <a:solidFill>
                  <a:srgbClr val="203D6B"/>
                </a:solidFill>
              </a:defRPr>
            </a:pPr>
            <a:r>
              <a:rPr sz="1125" b="1">
                <a:solidFill>
                  <a:srgbClr val="203D6B"/>
                </a:solidFill>
              </a:rPr>
              <a:t>STFT 512 / 256</a:t>
            </a:r>
          </a:p>
          <a:p>
            <a:pPr algn="ctr">
              <a:defRPr sz="1125" b="1">
                <a:solidFill>
                  <a:srgbClr val="203D6B"/>
                </a:solidFill>
              </a:defRPr>
            </a:pPr>
            <a:r>
              <a:rPr sz="1125" b="1">
                <a:solidFill>
                  <a:srgbClr val="203D6B"/>
                </a:solidFill>
              </a:rPr>
              <a:t>257 维复频谱</a:t>
            </a:r>
          </a:p>
        </p:txBody>
      </p:sp>
      <p:sp>
        <p:nvSpPr>
          <p:cNvPr id="11" name="矩形: 圆角 10">
            <a:extLst>
              <a:ext uri="{FF2B5EF4-FFF2-40B4-BE49-F238E27FC236}">
                <a16:creationId xmlns:a16="http://schemas.microsoft.com/office/drawing/2014/main" id="{D24CB1A0-2FFB-4F94-BC1A-FE1B9144C265}"/>
              </a:ext>
            </a:extLst>
          </p:cNvPr>
          <p:cNvSpPr>
            <a:spLocks noGrp="1"/>
          </p:cNvSpPr>
          <p:nvPr/>
        </p:nvSpPr>
        <p:spPr>
          <a:xfrm>
            <a:off x="514350" y="2343150"/>
            <a:ext cx="1809750" cy="800100"/>
          </a:xfrm>
          <a:prstGeom prst="roundRect">
            <a:avLst>
              <a:gd name="adj" fmla="val 9524"/>
            </a:avLst>
          </a:prstGeom>
          <a:solidFill>
            <a:srgbClr val="EEF3FB"/>
          </a:solidFill>
          <a:ln w="13335">
            <a:solidFill>
              <a:srgbClr val="355E9E"/>
            </a:solidFill>
            <a:prstDash val="solid"/>
          </a:ln>
        </p:spPr>
        <p:txBody>
          <a:bodyPr anchor="ctr"/>
          <a:lstStyle/>
          <a:p>
            <a:pPr algn="ctr">
              <a:defRPr sz="1125" b="1">
                <a:solidFill>
                  <a:srgbClr val="203D6B"/>
                </a:solidFill>
              </a:defRPr>
            </a:pPr>
            <a:r>
              <a:rPr sz="1125" b="1">
                <a:solidFill>
                  <a:srgbClr val="203D6B"/>
                </a:solidFill>
              </a:rPr>
              <a:t>三路输入</a:t>
            </a:r>
          </a:p>
          <a:p>
            <a:pPr algn="ctr">
              <a:defRPr sz="1125" b="1">
                <a:solidFill>
                  <a:srgbClr val="203D6B"/>
                </a:solidFill>
              </a:defRPr>
            </a:pPr>
            <a:r>
              <a:rPr sz="1125" b="1">
                <a:solidFill>
                  <a:srgbClr val="203D6B"/>
                </a:solidFill>
              </a:rPr>
              <a:t>幅度 Xm / 实部 Xr / 虚部 Xi</a:t>
            </a:r>
          </a:p>
        </p:txBody>
      </p:sp>
      <p:sp>
        <p:nvSpPr>
          <p:cNvPr id="12" name="矩形: 圆角 11">
            <a:extLst>
              <a:ext uri="{FF2B5EF4-FFF2-40B4-BE49-F238E27FC236}">
                <a16:creationId xmlns:a16="http://schemas.microsoft.com/office/drawing/2014/main" id="{60889BF8-AACA-486F-9034-E65AE61F6915}"/>
              </a:ext>
            </a:extLst>
          </p:cNvPr>
          <p:cNvSpPr>
            <a:spLocks noGrp="1"/>
          </p:cNvSpPr>
          <p:nvPr/>
        </p:nvSpPr>
        <p:spPr>
          <a:xfrm>
            <a:off x="514350" y="3400425"/>
            <a:ext cx="1809750" cy="800100"/>
          </a:xfrm>
          <a:prstGeom prst="roundRect">
            <a:avLst>
              <a:gd name="adj" fmla="val 9524"/>
            </a:avLst>
          </a:prstGeom>
          <a:solidFill>
            <a:srgbClr val="FFF4E8"/>
          </a:solidFill>
          <a:ln w="13335">
            <a:solidFill>
              <a:srgbClr val="F47A27"/>
            </a:solidFill>
            <a:prstDash val="solid"/>
          </a:ln>
        </p:spPr>
        <p:txBody>
          <a:bodyPr anchor="ctr"/>
          <a:lstStyle/>
          <a:p>
            <a:pPr algn="ctr">
              <a:defRPr sz="1125" b="1">
                <a:solidFill>
                  <a:srgbClr val="203D6B"/>
                </a:solidFill>
              </a:defRPr>
            </a:pPr>
            <a:r>
              <a:rPr sz="1125" b="1" dirty="0" err="1">
                <a:solidFill>
                  <a:srgbClr val="203D6B"/>
                </a:solidFill>
              </a:rPr>
              <a:t>MulCA</a:t>
            </a:r>
            <a:r>
              <a:rPr lang="zh-CN" altLang="en-US" sz="1125" b="1" dirty="0">
                <a:solidFill>
                  <a:srgbClr val="203D6B"/>
                </a:solidFill>
              </a:rPr>
              <a:t>通道注意力增强</a:t>
            </a:r>
            <a:endParaRPr lang="en-US" sz="1125" b="1" dirty="0">
              <a:solidFill>
                <a:srgbClr val="203D6B"/>
              </a:solidFill>
            </a:endParaRPr>
          </a:p>
          <a:p>
            <a:pPr algn="ctr">
              <a:defRPr sz="1125" b="1">
                <a:solidFill>
                  <a:srgbClr val="203D6B"/>
                </a:solidFill>
              </a:defRPr>
            </a:pPr>
            <a:r>
              <a:rPr sz="1125" b="1" dirty="0">
                <a:solidFill>
                  <a:srgbClr val="203D6B"/>
                </a:solidFill>
              </a:rPr>
              <a:t> + </a:t>
            </a:r>
            <a:endParaRPr lang="en-US" sz="1125" b="1" dirty="0">
              <a:solidFill>
                <a:srgbClr val="203D6B"/>
              </a:solidFill>
            </a:endParaRPr>
          </a:p>
          <a:p>
            <a:pPr algn="ctr">
              <a:defRPr sz="1125" b="1">
                <a:solidFill>
                  <a:srgbClr val="203D6B"/>
                </a:solidFill>
              </a:defRPr>
            </a:pPr>
            <a:r>
              <a:rPr sz="1125" b="1" dirty="0">
                <a:solidFill>
                  <a:srgbClr val="203D6B"/>
                </a:solidFill>
              </a:rPr>
              <a:t>Full-band</a:t>
            </a:r>
            <a:r>
              <a:rPr lang="en-US" sz="1125" b="1" dirty="0">
                <a:solidFill>
                  <a:srgbClr val="203D6B"/>
                </a:solidFill>
              </a:rPr>
              <a:t> </a:t>
            </a:r>
            <a:r>
              <a:rPr lang="en-US" altLang="zh-CN" sz="1125" b="1" dirty="0">
                <a:solidFill>
                  <a:srgbClr val="203D6B"/>
                </a:solidFill>
              </a:rPr>
              <a:t>LSTM</a:t>
            </a:r>
            <a:endParaRPr sz="1125" b="1" dirty="0">
              <a:solidFill>
                <a:srgbClr val="203D6B"/>
              </a:solidFill>
            </a:endParaRPr>
          </a:p>
          <a:p>
            <a:pPr algn="ctr">
              <a:defRPr sz="1125" b="1">
                <a:solidFill>
                  <a:srgbClr val="203D6B"/>
                </a:solidFill>
              </a:defRPr>
            </a:pPr>
            <a:r>
              <a:rPr sz="1125" b="1" dirty="0" err="1">
                <a:solidFill>
                  <a:srgbClr val="203D6B"/>
                </a:solidFill>
              </a:rPr>
              <a:t>提取全局频谱上下文</a:t>
            </a:r>
            <a:endParaRPr sz="1125" b="1" dirty="0">
              <a:solidFill>
                <a:srgbClr val="203D6B"/>
              </a:solidFill>
            </a:endParaRPr>
          </a:p>
        </p:txBody>
      </p:sp>
      <p:sp>
        <p:nvSpPr>
          <p:cNvPr id="13" name="矩形: 圆角 12">
            <a:extLst>
              <a:ext uri="{FF2B5EF4-FFF2-40B4-BE49-F238E27FC236}">
                <a16:creationId xmlns:a16="http://schemas.microsoft.com/office/drawing/2014/main" id="{501E508F-DF32-4071-9BD8-1E56CDBE5188}"/>
              </a:ext>
            </a:extLst>
          </p:cNvPr>
          <p:cNvSpPr>
            <a:spLocks noGrp="1"/>
          </p:cNvSpPr>
          <p:nvPr/>
        </p:nvSpPr>
        <p:spPr>
          <a:xfrm>
            <a:off x="514350" y="4457700"/>
            <a:ext cx="1809750" cy="800100"/>
          </a:xfrm>
          <a:prstGeom prst="roundRect">
            <a:avLst>
              <a:gd name="adj" fmla="val 9524"/>
            </a:avLst>
          </a:prstGeom>
          <a:solidFill>
            <a:srgbClr val="FFF4E8"/>
          </a:solidFill>
          <a:ln w="13335">
            <a:solidFill>
              <a:srgbClr val="F47A27"/>
            </a:solidFill>
            <a:prstDash val="solid"/>
          </a:ln>
        </p:spPr>
        <p:txBody>
          <a:bodyPr anchor="ctr"/>
          <a:lstStyle/>
          <a:p>
            <a:pPr algn="ctr">
              <a:defRPr sz="1125" b="1">
                <a:solidFill>
                  <a:srgbClr val="203D6B"/>
                </a:solidFill>
              </a:defRPr>
            </a:pPr>
            <a:r>
              <a:rPr sz="1125" b="1">
                <a:solidFill>
                  <a:srgbClr val="203D6B"/>
                </a:solidFill>
              </a:rPr>
              <a:t>unfold + concat</a:t>
            </a:r>
          </a:p>
          <a:p>
            <a:pPr algn="ctr">
              <a:defRPr sz="1125" b="1">
                <a:solidFill>
                  <a:srgbClr val="203D6B"/>
                </a:solidFill>
              </a:defRPr>
            </a:pPr>
            <a:r>
              <a:rPr sz="1125" b="1">
                <a:solidFill>
                  <a:srgbClr val="203D6B"/>
                </a:solidFill>
              </a:rPr>
              <a:t>局部邻带与全带输出融合</a:t>
            </a:r>
          </a:p>
        </p:txBody>
      </p:sp>
      <p:sp>
        <p:nvSpPr>
          <p:cNvPr id="14" name="矩形: 圆角 13">
            <a:extLst>
              <a:ext uri="{FF2B5EF4-FFF2-40B4-BE49-F238E27FC236}">
                <a16:creationId xmlns:a16="http://schemas.microsoft.com/office/drawing/2014/main" id="{E68C1ABC-A0EA-4FE9-BB76-1931849884F0}"/>
              </a:ext>
            </a:extLst>
          </p:cNvPr>
          <p:cNvSpPr>
            <a:spLocks noGrp="1"/>
          </p:cNvSpPr>
          <p:nvPr/>
        </p:nvSpPr>
        <p:spPr>
          <a:xfrm>
            <a:off x="514350" y="5410200"/>
            <a:ext cx="1809750" cy="666750"/>
          </a:xfrm>
          <a:prstGeom prst="roundRect">
            <a:avLst>
              <a:gd name="adj" fmla="val 11429"/>
            </a:avLst>
          </a:prstGeom>
          <a:solidFill>
            <a:srgbClr val="EEF7EA"/>
          </a:solidFill>
          <a:ln w="13335">
            <a:solidFill>
              <a:srgbClr val="5B9B43"/>
            </a:solidFill>
            <a:prstDash val="solid"/>
          </a:ln>
        </p:spPr>
        <p:txBody>
          <a:bodyPr anchor="ctr"/>
          <a:lstStyle/>
          <a:p>
            <a:pPr algn="ctr">
              <a:defRPr sz="1125" b="1">
                <a:solidFill>
                  <a:srgbClr val="203D6B"/>
                </a:solidFill>
              </a:defRPr>
            </a:pPr>
            <a:r>
              <a:rPr sz="1125" b="1" dirty="0">
                <a:solidFill>
                  <a:srgbClr val="203D6B"/>
                </a:solidFill>
              </a:rPr>
              <a:t>Sub-band LSTM</a:t>
            </a:r>
          </a:p>
          <a:p>
            <a:pPr algn="ctr">
              <a:defRPr sz="1125" b="1">
                <a:solidFill>
                  <a:srgbClr val="203D6B"/>
                </a:solidFill>
              </a:defRPr>
            </a:pPr>
            <a:r>
              <a:rPr sz="1125" b="1" dirty="0" err="1">
                <a:solidFill>
                  <a:srgbClr val="203D6B"/>
                </a:solidFill>
              </a:rPr>
              <a:t>输出</a:t>
            </a:r>
            <a:r>
              <a:rPr sz="1125" b="1" dirty="0">
                <a:solidFill>
                  <a:srgbClr val="203D6B"/>
                </a:solidFill>
              </a:rPr>
              <a:t> </a:t>
            </a:r>
            <a:r>
              <a:rPr sz="1125" b="1" dirty="0" err="1">
                <a:solidFill>
                  <a:srgbClr val="203D6B"/>
                </a:solidFill>
              </a:rPr>
              <a:t>Mr</a:t>
            </a:r>
            <a:r>
              <a:rPr sz="1125" b="1" dirty="0">
                <a:solidFill>
                  <a:srgbClr val="203D6B"/>
                </a:solidFill>
              </a:rPr>
              <a:t> / Mi → </a:t>
            </a:r>
            <a:r>
              <a:rPr sz="1125" b="1" dirty="0" err="1">
                <a:solidFill>
                  <a:srgbClr val="203D6B"/>
                </a:solidFill>
              </a:rPr>
              <a:t>cIRM</a:t>
            </a:r>
            <a:r>
              <a:rPr sz="1125" b="1" dirty="0">
                <a:solidFill>
                  <a:srgbClr val="203D6B"/>
                </a:solidFill>
              </a:rPr>
              <a:t> → </a:t>
            </a:r>
            <a:r>
              <a:rPr sz="1125" b="1" dirty="0" err="1">
                <a:solidFill>
                  <a:srgbClr val="203D6B"/>
                </a:solidFill>
              </a:rPr>
              <a:t>iSTFT</a:t>
            </a:r>
            <a:endParaRPr sz="1125" b="1" dirty="0">
              <a:solidFill>
                <a:srgbClr val="203D6B"/>
              </a:solidFill>
            </a:endParaRPr>
          </a:p>
        </p:txBody>
      </p:sp>
      <p:cxnSp>
        <p:nvCxnSpPr>
          <p:cNvPr id="39" name="直接箭头连接符 38"/>
          <p:cNvCxnSpPr>
            <a:cxnSpLocks/>
          </p:cNvCxnSpPr>
          <p:nvPr/>
        </p:nvCxnSpPr>
        <p:spPr>
          <a:xfrm>
            <a:off x="1367834" y="2085975"/>
            <a:ext cx="0" cy="257175"/>
          </a:xfrm>
          <a:prstGeom prst="straightConnector1">
            <a:avLst/>
          </a:prstGeom>
          <a:ln w="19050">
            <a:solidFill>
              <a:srgbClr val="64748B"/>
            </a:solidFill>
            <a:prstDash val="solid"/>
            <a:tailEnd type="triangle" w="sm" len="sm"/>
          </a:ln>
        </p:spPr>
      </p:cxnSp>
      <p:cxnSp>
        <p:nvCxnSpPr>
          <p:cNvPr id="40" name="直接箭头连接符 39"/>
          <p:cNvCxnSpPr>
            <a:cxnSpLocks/>
          </p:cNvCxnSpPr>
          <p:nvPr/>
        </p:nvCxnSpPr>
        <p:spPr>
          <a:xfrm>
            <a:off x="1367834" y="3143250"/>
            <a:ext cx="0" cy="257175"/>
          </a:xfrm>
          <a:prstGeom prst="straightConnector1">
            <a:avLst/>
          </a:prstGeom>
          <a:ln w="19050">
            <a:solidFill>
              <a:srgbClr val="F47A27"/>
            </a:solidFill>
            <a:prstDash val="solid"/>
            <a:tailEnd type="triangle" w="sm" len="sm"/>
          </a:ln>
        </p:spPr>
      </p:cxnSp>
      <p:cxnSp>
        <p:nvCxnSpPr>
          <p:cNvPr id="41" name="直接箭头连接符 40"/>
          <p:cNvCxnSpPr>
            <a:cxnSpLocks/>
          </p:cNvCxnSpPr>
          <p:nvPr/>
        </p:nvCxnSpPr>
        <p:spPr>
          <a:xfrm>
            <a:off x="1367834" y="4200525"/>
            <a:ext cx="0" cy="257175"/>
          </a:xfrm>
          <a:prstGeom prst="straightConnector1">
            <a:avLst/>
          </a:prstGeom>
          <a:ln w="19050">
            <a:solidFill>
              <a:srgbClr val="F47A27"/>
            </a:solidFill>
            <a:prstDash val="solid"/>
            <a:tailEnd type="triangle" w="sm" len="sm"/>
          </a:ln>
        </p:spPr>
      </p:cxnSp>
      <p:cxnSp>
        <p:nvCxnSpPr>
          <p:cNvPr id="42" name="直接箭头连接符 41"/>
          <p:cNvCxnSpPr>
            <a:cxnSpLocks/>
          </p:cNvCxnSpPr>
          <p:nvPr/>
        </p:nvCxnSpPr>
        <p:spPr>
          <a:xfrm>
            <a:off x="1367834" y="5257798"/>
            <a:ext cx="0" cy="152400"/>
          </a:xfrm>
          <a:prstGeom prst="straightConnector1">
            <a:avLst/>
          </a:prstGeom>
          <a:ln w="19050">
            <a:solidFill>
              <a:srgbClr val="5B9B43"/>
            </a:solidFill>
            <a:prstDash val="solid"/>
            <a:tailEnd type="triangle" w="sm" len="sm"/>
          </a:ln>
        </p:spPr>
      </p:cxnSp>
      <p:pic>
        <p:nvPicPr>
          <p:cNvPr id="43" name="图片 42"/>
          <p:cNvPicPr>
            <a:picLocks noChangeAspect="1"/>
          </p:cNvPicPr>
          <p:nvPr/>
        </p:nvPicPr>
        <p:blipFill>
          <a:blip r:embed="rId3"/>
          <a:stretch/>
        </p:blipFill>
        <p:spPr>
          <a:xfrm>
            <a:off x="2714625" y="1219530"/>
            <a:ext cx="4000500" cy="2151993"/>
          </a:xfrm>
          <a:prstGeom prst="rect">
            <a:avLst/>
          </a:prstGeom>
        </p:spPr>
      </p:pic>
      <p:sp>
        <p:nvSpPr>
          <p:cNvPr id="20" name="矩形: 圆角 19">
            <a:extLst>
              <a:ext uri="{FF2B5EF4-FFF2-40B4-BE49-F238E27FC236}">
                <a16:creationId xmlns:a16="http://schemas.microsoft.com/office/drawing/2014/main" id="{70291153-1E4B-4050-8C50-57351323D1D3}"/>
              </a:ext>
            </a:extLst>
          </p:cNvPr>
          <p:cNvSpPr>
            <a:spLocks noGrp="1"/>
          </p:cNvSpPr>
          <p:nvPr/>
        </p:nvSpPr>
        <p:spPr>
          <a:xfrm>
            <a:off x="6905627" y="1238250"/>
            <a:ext cx="4619625" cy="381000"/>
          </a:xfrm>
          <a:prstGeom prst="roundRect">
            <a:avLst>
              <a:gd name="adj" fmla="val 20000"/>
            </a:avLst>
          </a:prstGeom>
          <a:solidFill>
            <a:srgbClr val="355E9E"/>
          </a:solidFill>
          <a:ln w="13335">
            <a:solidFill>
              <a:srgbClr val="355E9E"/>
            </a:solidFill>
            <a:prstDash val="solid"/>
          </a:ln>
        </p:spPr>
        <p:txBody>
          <a:bodyPr anchor="ctr"/>
          <a:lstStyle/>
          <a:p>
            <a:pPr algn="ctr">
              <a:defRPr sz="1125" b="1">
                <a:solidFill>
                  <a:srgbClr val="FFFFFF"/>
                </a:solidFill>
              </a:defRPr>
            </a:pPr>
            <a:r>
              <a:rPr sz="1125" b="1">
                <a:solidFill>
                  <a:srgbClr val="FFFFFF"/>
                </a:solidFill>
              </a:rPr>
              <a:t>图 A｜FullSubNet+ 总体结构</a:t>
            </a:r>
          </a:p>
        </p:txBody>
      </p:sp>
      <p:sp>
        <p:nvSpPr>
          <p:cNvPr id="21" name="矩形 20">
            <a:extLst>
              <a:ext uri="{FF2B5EF4-FFF2-40B4-BE49-F238E27FC236}">
                <a16:creationId xmlns:a16="http://schemas.microsoft.com/office/drawing/2014/main" id="{893AFA1E-17A3-476D-B642-DB496E8F928F}"/>
              </a:ext>
            </a:extLst>
          </p:cNvPr>
          <p:cNvSpPr>
            <a:spLocks noGrp="1"/>
          </p:cNvSpPr>
          <p:nvPr/>
        </p:nvSpPr>
        <p:spPr>
          <a:xfrm>
            <a:off x="7000877" y="1733552"/>
            <a:ext cx="4524375" cy="1476375"/>
          </a:xfrm>
          <a:prstGeom prst="rect">
            <a:avLst/>
          </a:prstGeom>
          <a:noFill/>
          <a:ln w="0">
            <a:noFill/>
            <a:prstDash val="solid"/>
          </a:ln>
        </p:spPr>
        <p:txBody>
          <a:bodyPr anchor="ctr"/>
          <a:lstStyle/>
          <a:p>
            <a:pPr algn="l">
              <a:defRPr sz="1050" b="0">
                <a:solidFill>
                  <a:srgbClr val="333333"/>
                </a:solidFill>
              </a:defRPr>
            </a:pPr>
            <a:r>
              <a:rPr sz="1050">
                <a:solidFill>
                  <a:srgbClr val="333333"/>
                </a:solidFill>
              </a:rPr>
              <a:t>• Xm、Xr、Xi 分别表示幅度、实部和虚部</a:t>
            </a:r>
          </a:p>
          <a:p>
            <a:pPr algn="l">
              <a:defRPr sz="1050" b="0">
                <a:solidFill>
                  <a:srgbClr val="333333"/>
                </a:solidFill>
              </a:defRPr>
            </a:pPr>
            <a:r>
              <a:rPr sz="1050">
                <a:solidFill>
                  <a:srgbClr val="333333"/>
                </a:solidFill>
              </a:rPr>
              <a:t>• 每路先经 MulCA,再由 Full-band Extractor 建模全频上下文</a:t>
            </a:r>
          </a:p>
          <a:p>
            <a:pPr algn="l">
              <a:defRPr sz="1050" b="0">
                <a:solidFill>
                  <a:srgbClr val="333333"/>
                </a:solidFill>
              </a:defRPr>
            </a:pPr>
            <a:r>
              <a:rPr sz="1050">
                <a:solidFill>
                  <a:srgbClr val="333333"/>
                </a:solidFill>
              </a:rPr>
              <a:t>• unfold 后把局部邻带与全带输出拼接,Sub-band Model 输出 Mr、Mi</a:t>
            </a:r>
          </a:p>
          <a:p>
            <a:pPr algn="l">
              <a:defRPr sz="1050" b="0">
                <a:solidFill>
                  <a:srgbClr val="333333"/>
                </a:solidFill>
              </a:defRPr>
            </a:pPr>
            <a:r>
              <a:rPr sz="1050">
                <a:solidFill>
                  <a:srgbClr val="333333"/>
                </a:solidFill>
              </a:rPr>
              <a:t>• 对本课题:对应三路 FiLM 注入后的增强骨干</a:t>
            </a:r>
          </a:p>
        </p:txBody>
      </p:sp>
      <p:pic>
        <p:nvPicPr>
          <p:cNvPr id="46" name="图片 45"/>
          <p:cNvPicPr>
            <a:picLocks noChangeAspect="1"/>
          </p:cNvPicPr>
          <p:nvPr/>
        </p:nvPicPr>
        <p:blipFill>
          <a:blip r:embed="rId4"/>
          <a:stretch/>
        </p:blipFill>
        <p:spPr>
          <a:xfrm>
            <a:off x="3876675" y="3714750"/>
            <a:ext cx="1676400" cy="2095500"/>
          </a:xfrm>
          <a:prstGeom prst="rect">
            <a:avLst/>
          </a:prstGeom>
        </p:spPr>
      </p:pic>
      <p:sp>
        <p:nvSpPr>
          <p:cNvPr id="23" name="矩形: 圆角 22">
            <a:extLst>
              <a:ext uri="{FF2B5EF4-FFF2-40B4-BE49-F238E27FC236}">
                <a16:creationId xmlns:a16="http://schemas.microsoft.com/office/drawing/2014/main" id="{34D6772E-6538-437F-8680-313C52A388A8}"/>
              </a:ext>
            </a:extLst>
          </p:cNvPr>
          <p:cNvSpPr>
            <a:spLocks noGrp="1"/>
          </p:cNvSpPr>
          <p:nvPr/>
        </p:nvSpPr>
        <p:spPr>
          <a:xfrm>
            <a:off x="6905627" y="3676650"/>
            <a:ext cx="4619625" cy="381000"/>
          </a:xfrm>
          <a:prstGeom prst="roundRect">
            <a:avLst>
              <a:gd name="adj" fmla="val 20000"/>
            </a:avLst>
          </a:prstGeom>
          <a:solidFill>
            <a:srgbClr val="F47A27"/>
          </a:solidFill>
          <a:ln w="13335">
            <a:solidFill>
              <a:srgbClr val="F47A27"/>
            </a:solidFill>
            <a:prstDash val="solid"/>
          </a:ln>
        </p:spPr>
        <p:txBody>
          <a:bodyPr anchor="ctr"/>
          <a:lstStyle/>
          <a:p>
            <a:pPr algn="ctr">
              <a:defRPr sz="1125" b="1">
                <a:solidFill>
                  <a:srgbClr val="FFFFFF"/>
                </a:solidFill>
              </a:defRPr>
            </a:pPr>
            <a:r>
              <a:rPr sz="1125" b="1">
                <a:solidFill>
                  <a:srgbClr val="FFFFFF"/>
                </a:solidFill>
              </a:rPr>
              <a:t>图 B｜FullSubNet 基本时序机制</a:t>
            </a:r>
          </a:p>
        </p:txBody>
      </p:sp>
      <p:sp>
        <p:nvSpPr>
          <p:cNvPr id="24" name="矩形 23">
            <a:extLst>
              <a:ext uri="{FF2B5EF4-FFF2-40B4-BE49-F238E27FC236}">
                <a16:creationId xmlns:a16="http://schemas.microsoft.com/office/drawing/2014/main" id="{A1E02E78-672D-422A-B23B-66E0367EDF08}"/>
              </a:ext>
            </a:extLst>
          </p:cNvPr>
          <p:cNvSpPr>
            <a:spLocks noGrp="1"/>
          </p:cNvSpPr>
          <p:nvPr/>
        </p:nvSpPr>
        <p:spPr>
          <a:xfrm>
            <a:off x="7000877" y="4171950"/>
            <a:ext cx="4524375" cy="1524000"/>
          </a:xfrm>
          <a:prstGeom prst="rect">
            <a:avLst/>
          </a:prstGeom>
          <a:noFill/>
          <a:ln w="0">
            <a:noFill/>
            <a:prstDash val="solid"/>
          </a:ln>
        </p:spPr>
        <p:txBody>
          <a:bodyPr anchor="ctr"/>
          <a:lstStyle/>
          <a:p>
            <a:pPr algn="l">
              <a:defRPr sz="1050" b="0">
                <a:solidFill>
                  <a:srgbClr val="333333"/>
                </a:solidFill>
              </a:defRPr>
            </a:pPr>
            <a:r>
              <a:rPr sz="1050">
                <a:solidFill>
                  <a:srgbClr val="333333"/>
                </a:solidFill>
              </a:rPr>
              <a:t>• 每个时刻 t:全带模型先读取整帧频谱 X(t)</a:t>
            </a:r>
          </a:p>
          <a:p>
            <a:pPr algn="l">
              <a:defRPr sz="1050" b="0">
                <a:solidFill>
                  <a:srgbClr val="333333"/>
                </a:solidFill>
              </a:defRPr>
            </a:pPr>
            <a:r>
              <a:rPr sz="1050">
                <a:solidFill>
                  <a:srgbClr val="333333"/>
                </a:solidFill>
              </a:rPr>
              <a:t>• 全带输出与当前频点的相邻子带单元拼接</a:t>
            </a:r>
          </a:p>
          <a:p>
            <a:pPr algn="l">
              <a:defRPr sz="1050" b="0">
                <a:solidFill>
                  <a:srgbClr val="333333"/>
                </a:solidFill>
              </a:defRPr>
            </a:pPr>
            <a:r>
              <a:rPr sz="1050">
                <a:solidFill>
                  <a:srgbClr val="333333"/>
                </a:solidFill>
              </a:rPr>
              <a:t>• 子带 LSTM 产生该频点的掩码输出,隐藏状态沿时间传递</a:t>
            </a:r>
          </a:p>
          <a:p>
            <a:pPr algn="l">
              <a:defRPr sz="1050" b="0">
                <a:solidFill>
                  <a:srgbClr val="333333"/>
                </a:solidFill>
              </a:defRPr>
            </a:pPr>
            <a:r>
              <a:rPr sz="1050">
                <a:solidFill>
                  <a:srgbClr val="333333"/>
                </a:solidFill>
              </a:rPr>
              <a:t>• 对本课题:全带 512、子带 384、相邻 15 带,兼顾全局噪声与局部谐波</a:t>
            </a:r>
          </a:p>
        </p:txBody>
      </p:sp>
      <p:sp>
        <p:nvSpPr>
          <p:cNvPr id="25" name="矩形 24">
            <a:extLst>
              <a:ext uri="{FF2B5EF4-FFF2-40B4-BE49-F238E27FC236}">
                <a16:creationId xmlns:a16="http://schemas.microsoft.com/office/drawing/2014/main" id="{5EAE09A4-7C56-441F-99A3-AD0B075BA905}"/>
              </a:ext>
            </a:extLst>
          </p:cNvPr>
          <p:cNvSpPr>
            <a:spLocks noGrp="1"/>
          </p:cNvSpPr>
          <p:nvPr/>
        </p:nvSpPr>
        <p:spPr>
          <a:xfrm>
            <a:off x="2714627" y="6076950"/>
            <a:ext cx="8810625" cy="266700"/>
          </a:xfrm>
          <a:prstGeom prst="rect">
            <a:avLst/>
          </a:prstGeom>
          <a:noFill/>
          <a:ln w="0">
            <a:noFill/>
            <a:prstDash val="solid"/>
          </a:ln>
        </p:spPr>
        <p:txBody>
          <a:bodyPr anchor="ctr"/>
          <a:lstStyle/>
          <a:p>
            <a:pPr algn="ctr">
              <a:defRPr sz="975" b="1">
                <a:solidFill>
                  <a:srgbClr val="203D6B"/>
                </a:solidFill>
              </a:defRPr>
            </a:pPr>
            <a:r>
              <a:rPr sz="975" b="1">
                <a:solidFill>
                  <a:srgbClr val="203D6B"/>
                </a:solidFill>
              </a:rPr>
              <a:t>本课题采用图 A 的 FullSubNet+ 三分支复谱结构;图 B 用于解释其继承的全带—子带融合原理。</a:t>
            </a:r>
          </a:p>
        </p:txBody>
      </p:sp>
      <p:sp>
        <p:nvSpPr>
          <p:cNvPr id="26" name="矩形 25">
            <a:extLst>
              <a:ext uri="{FF2B5EF4-FFF2-40B4-BE49-F238E27FC236}">
                <a16:creationId xmlns:a16="http://schemas.microsoft.com/office/drawing/2014/main" id="{D7DAAC49-C743-4BC4-B53D-A1AA4A516546}"/>
              </a:ext>
            </a:extLst>
          </p:cNvPr>
          <p:cNvSpPr>
            <a:spLocks noGrp="1"/>
          </p:cNvSpPr>
          <p:nvPr/>
        </p:nvSpPr>
        <p:spPr>
          <a:xfrm>
            <a:off x="523876" y="6457950"/>
            <a:ext cx="11096625" cy="190500"/>
          </a:xfrm>
          <a:prstGeom prst="rect">
            <a:avLst/>
          </a:prstGeom>
          <a:noFill/>
        </p:spPr>
        <p:txBody>
          <a:bodyPr vert="horz">
            <a:spAutoFit/>
          </a:bodyPr>
          <a:lstStyle/>
          <a:p>
            <a:pPr>
              <a:spcAft>
                <a:spcPts val="600"/>
              </a:spcAft>
            </a:pPr>
            <a:r>
              <a:rPr sz="1450">
                <a:solidFill>
                  <a:srgbClr val="333333"/>
                </a:solidFill>
                <a:latin typeface="微软雅黑"/>
                <a:ea typeface="微软雅黑"/>
              </a:rPr>
              <a:t>[1] Hao et al., ICASSP 2021.  [2] Chen et al., ICASSP 2022.</a:t>
            </a:r>
          </a:p>
        </p:txBody>
      </p:sp>
      <p:sp>
        <p:nvSpPr>
          <p:cNvPr id="9" name="矩形 8">
            <a:extLst>
              <a:ext uri="{FF2B5EF4-FFF2-40B4-BE49-F238E27FC236}">
                <a16:creationId xmlns:a16="http://schemas.microsoft.com/office/drawing/2014/main" id="{6E9D18CD-F5E1-AFD4-F134-05E352CB8687}"/>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3952245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F23103-C458-462F-9943-8157F3261C87}"/>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SpeakerFiLM用小MLP把声纹向量翻译成调制指令</a:t>
            </a:r>
          </a:p>
        </p:txBody>
      </p:sp>
      <p:sp>
        <p:nvSpPr>
          <p:cNvPr id="4" name="文本框 3">
            <a:extLst>
              <a:ext uri="{FF2B5EF4-FFF2-40B4-BE49-F238E27FC236}">
                <a16:creationId xmlns:a16="http://schemas.microsoft.com/office/drawing/2014/main" id="{A5C173E3-7713-4FF6-A6EC-902DB330D29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4579032E-73E4-45A0-8808-B4116ED79C3A}"/>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20" name="表格 5"/>
          <p:cNvGraphicFramePr/>
          <p:nvPr/>
        </p:nvGraphicFramePr>
        <p:xfrm>
          <a:off x="504826" y="1219200"/>
          <a:ext cx="11303001" cy="2794002"/>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465667">
                <a:tc>
                  <a:txBody>
                    <a:bodyPr/>
                    <a:lstStyle/>
                    <a:p>
                      <a:r>
                        <a:rPr sz="1050" b="1">
                          <a:solidFill>
                            <a:srgbClr val="FFFFFF"/>
                          </a:solidFill>
                          <a:latin typeface="微软雅黑"/>
                          <a:ea typeface="微软雅黑"/>
                          <a:cs typeface="微软雅黑"/>
                        </a:rPr>
                        <a:t>步骤</a:t>
                      </a:r>
                    </a:p>
                  </a:txBody>
                  <a:tcPr anchor="ctr">
                    <a:solidFill>
                      <a:srgbClr val="2F5496"/>
                    </a:solidFill>
                  </a:tcPr>
                </a:tc>
                <a:tc>
                  <a:txBody>
                    <a:bodyPr/>
                    <a:lstStyle/>
                    <a:p>
                      <a:r>
                        <a:rPr sz="1050" b="1">
                          <a:solidFill>
                            <a:srgbClr val="FFFFFF"/>
                          </a:solidFill>
                          <a:latin typeface="微软雅黑"/>
                          <a:ea typeface="微软雅黑"/>
                          <a:cs typeface="微软雅黑"/>
                        </a:rPr>
                        <a:t>输入 → 输出</a:t>
                      </a:r>
                    </a:p>
                  </a:txBody>
                  <a:tcPr anchor="ctr">
                    <a:solidFill>
                      <a:srgbClr val="2F5496"/>
                    </a:solidFill>
                  </a:tcPr>
                </a:tc>
                <a:tc>
                  <a:txBody>
                    <a:bodyPr/>
                    <a:lstStyle/>
                    <a:p>
                      <a:r>
                        <a:rPr sz="1050" b="1">
                          <a:solidFill>
                            <a:srgbClr val="FFFFFF"/>
                          </a:solidFill>
                          <a:latin typeface="微软雅黑"/>
                          <a:ea typeface="微软雅黑"/>
                          <a:cs typeface="微软雅黑"/>
                        </a:rPr>
                        <a:t>定义 / 原理</a:t>
                      </a:r>
                    </a:p>
                  </a:txBody>
                  <a:tcPr anchor="ctr">
                    <a:solidFill>
                      <a:srgbClr val="2F5496"/>
                    </a:solidFill>
                  </a:tcPr>
                </a:tc>
                <a:extLst>
                  <a:ext uri="{0D108BD9-81ED-4DB2-BD59-A6C34878D82A}">
                    <a16:rowId xmlns:a16="http://schemas.microsoft.com/office/drawing/2014/main" val="10000"/>
                  </a:ext>
                </a:extLst>
              </a:tr>
              <a:tr h="465667">
                <a:tc>
                  <a:txBody>
                    <a:bodyPr/>
                    <a:lstStyle/>
                    <a:p>
                      <a:r>
                        <a:rPr sz="975" b="0">
                          <a:solidFill>
                            <a:srgbClr val="333333"/>
                          </a:solidFill>
                          <a:latin typeface="微软雅黑"/>
                          <a:ea typeface="微软雅黑"/>
                          <a:cs typeface="微软雅黑"/>
                        </a:rPr>
                        <a:t>1 条件提取</a:t>
                      </a:r>
                    </a:p>
                  </a:txBody>
                  <a:tcPr anchor="ctr">
                    <a:solidFill>
                      <a:srgbClr val="FFFFFF"/>
                    </a:solidFill>
                  </a:tcPr>
                </a:tc>
                <a:tc>
                  <a:txBody>
                    <a:bodyPr/>
                    <a:lstStyle/>
                    <a:p>
                      <a:r>
                        <a:rPr sz="975" b="0">
                          <a:solidFill>
                            <a:srgbClr val="333333"/>
                          </a:solidFill>
                          <a:latin typeface="微软雅黑"/>
                          <a:ea typeface="微软雅黑"/>
                          <a:cs typeface="微软雅黑"/>
                        </a:rPr>
                        <a:t>2条clean注册语音 → 512维 e_enr</a:t>
                      </a:r>
                    </a:p>
                  </a:txBody>
                  <a:tcPr anchor="ctr">
                    <a:solidFill>
                      <a:srgbClr val="FFFFFF"/>
                    </a:solidFill>
                  </a:tcPr>
                </a:tc>
                <a:tc>
                  <a:txBody>
                    <a:bodyPr/>
                    <a:lstStyle/>
                    <a:p>
                      <a:r>
                        <a:rPr sz="975" b="0">
                          <a:solidFill>
                            <a:srgbClr val="333333"/>
                          </a:solidFill>
                          <a:latin typeface="微软雅黑"/>
                          <a:ea typeface="微软雅黑"/>
                          <a:cs typeface="微软雅黑"/>
                        </a:rPr>
                        <a:t>冻结后端提供稳定身份表征</a:t>
                      </a:r>
                    </a:p>
                  </a:txBody>
                  <a:tcPr anchor="ctr">
                    <a:solidFill>
                      <a:srgbClr val="FFFFFF"/>
                    </a:solidFill>
                  </a:tcPr>
                </a:tc>
                <a:extLst>
                  <a:ext uri="{0D108BD9-81ED-4DB2-BD59-A6C34878D82A}">
                    <a16:rowId xmlns:a16="http://schemas.microsoft.com/office/drawing/2014/main" val="10001"/>
                  </a:ext>
                </a:extLst>
              </a:tr>
              <a:tr h="465667">
                <a:tc>
                  <a:txBody>
                    <a:bodyPr/>
                    <a:lstStyle/>
                    <a:p>
                      <a:r>
                        <a:rPr sz="975" b="0">
                          <a:solidFill>
                            <a:srgbClr val="333333"/>
                          </a:solidFill>
                          <a:latin typeface="微软雅黑"/>
                          <a:ea typeface="微软雅黑"/>
                          <a:cs typeface="微软雅黑"/>
                        </a:rPr>
                        <a:t>2 参数生成</a:t>
                      </a:r>
                    </a:p>
                  </a:txBody>
                  <a:tcPr anchor="ctr">
                    <a:solidFill>
                      <a:srgbClr val="F2F6FC"/>
                    </a:solidFill>
                  </a:tcPr>
                </a:tc>
                <a:tc>
                  <a:txBody>
                    <a:bodyPr/>
                    <a:lstStyle/>
                    <a:p>
                      <a:r>
                        <a:rPr sz="975" b="0" dirty="0" err="1">
                          <a:solidFill>
                            <a:srgbClr val="333333"/>
                          </a:solidFill>
                          <a:latin typeface="微软雅黑"/>
                          <a:ea typeface="微软雅黑"/>
                          <a:cs typeface="微软雅黑"/>
                        </a:rPr>
                        <a:t>e_enr</a:t>
                      </a:r>
                      <a:r>
                        <a:rPr sz="975" b="0" dirty="0">
                          <a:solidFill>
                            <a:srgbClr val="333333"/>
                          </a:solidFill>
                          <a:latin typeface="微软雅黑"/>
                          <a:ea typeface="微软雅黑"/>
                          <a:cs typeface="微软雅黑"/>
                        </a:rPr>
                        <a:t> → </a:t>
                      </a:r>
                      <a:r>
                        <a:rPr sz="975" b="0" dirty="0" err="1">
                          <a:solidFill>
                            <a:srgbClr val="333333"/>
                          </a:solidFill>
                          <a:latin typeface="微软雅黑"/>
                          <a:ea typeface="微软雅黑"/>
                          <a:cs typeface="微软雅黑"/>
                        </a:rPr>
                        <a:t>ReLU</a:t>
                      </a:r>
                      <a:r>
                        <a:rPr sz="975" b="0" dirty="0">
                          <a:solidFill>
                            <a:srgbClr val="333333"/>
                          </a:solidFill>
                          <a:latin typeface="微软雅黑"/>
                          <a:ea typeface="微软雅黑"/>
                          <a:cs typeface="微软雅黑"/>
                        </a:rPr>
                        <a:t>(W1e+b1) → W2h+b2</a:t>
                      </a:r>
                    </a:p>
                  </a:txBody>
                  <a:tcPr anchor="ctr">
                    <a:solidFill>
                      <a:srgbClr val="F2F6FC"/>
                    </a:solidFill>
                  </a:tcPr>
                </a:tc>
                <a:tc>
                  <a:txBody>
                    <a:bodyPr/>
                    <a:lstStyle/>
                    <a:p>
                      <a:r>
                        <a:rPr sz="975" b="0">
                          <a:solidFill>
                            <a:srgbClr val="333333"/>
                          </a:solidFill>
                          <a:latin typeface="微软雅黑"/>
                          <a:ea typeface="微软雅黑"/>
                          <a:cs typeface="微软雅黑"/>
                        </a:rPr>
                        <a:t>两层小MLP输出与待调制特征同维的γ、β</a:t>
                      </a:r>
                    </a:p>
                  </a:txBody>
                  <a:tcPr anchor="ctr">
                    <a:solidFill>
                      <a:srgbClr val="F2F6FC"/>
                    </a:solidFill>
                  </a:tcPr>
                </a:tc>
                <a:extLst>
                  <a:ext uri="{0D108BD9-81ED-4DB2-BD59-A6C34878D82A}">
                    <a16:rowId xmlns:a16="http://schemas.microsoft.com/office/drawing/2014/main" val="10002"/>
                  </a:ext>
                </a:extLst>
              </a:tr>
              <a:tr h="465667">
                <a:tc>
                  <a:txBody>
                    <a:bodyPr/>
                    <a:lstStyle/>
                    <a:p>
                      <a:r>
                        <a:rPr sz="975" b="0">
                          <a:solidFill>
                            <a:srgbClr val="333333"/>
                          </a:solidFill>
                          <a:latin typeface="微软雅黑"/>
                          <a:ea typeface="微软雅黑"/>
                          <a:cs typeface="微软雅黑"/>
                        </a:rPr>
                        <a:t>3 仿射调制</a:t>
                      </a:r>
                    </a:p>
                  </a:txBody>
                  <a:tcPr anchor="ctr">
                    <a:solidFill>
                      <a:srgbClr val="FFFFFF"/>
                    </a:solidFill>
                  </a:tcPr>
                </a:tc>
                <a:tc>
                  <a:txBody>
                    <a:bodyPr/>
                    <a:lstStyle/>
                    <a:p>
                      <a:r>
                        <a:rPr sz="975" b="0">
                          <a:solidFill>
                            <a:srgbClr val="333333"/>
                          </a:solidFill>
                          <a:latin typeface="微软雅黑"/>
                          <a:ea typeface="微软雅黑"/>
                          <a:cs typeface="微软雅黑"/>
                        </a:rPr>
                        <a:t>F' = γ(e_enr)⊙F + β(e_enr)</a:t>
                      </a:r>
                    </a:p>
                  </a:txBody>
                  <a:tcPr anchor="ctr">
                    <a:solidFill>
                      <a:srgbClr val="FFFFFF"/>
                    </a:solidFill>
                  </a:tcPr>
                </a:tc>
                <a:tc>
                  <a:txBody>
                    <a:bodyPr/>
                    <a:lstStyle/>
                    <a:p>
                      <a:r>
                        <a:rPr sz="975" b="0">
                          <a:solidFill>
                            <a:srgbClr val="333333"/>
                          </a:solidFill>
                          <a:latin typeface="微软雅黑"/>
                          <a:ea typeface="微软雅黑"/>
                          <a:cs typeface="微软雅黑"/>
                        </a:rPr>
                        <a:t>逐特征缩放与平移;让同一带噪输入随注册人变化</a:t>
                      </a:r>
                    </a:p>
                  </a:txBody>
                  <a:tcPr anchor="ctr">
                    <a:solidFill>
                      <a:srgbClr val="FFFFFF"/>
                    </a:solidFill>
                  </a:tcPr>
                </a:tc>
                <a:extLst>
                  <a:ext uri="{0D108BD9-81ED-4DB2-BD59-A6C34878D82A}">
                    <a16:rowId xmlns:a16="http://schemas.microsoft.com/office/drawing/2014/main" val="10003"/>
                  </a:ext>
                </a:extLst>
              </a:tr>
              <a:tr h="465667">
                <a:tc>
                  <a:txBody>
                    <a:bodyPr/>
                    <a:lstStyle/>
                    <a:p>
                      <a:r>
                        <a:rPr sz="975" b="0">
                          <a:solidFill>
                            <a:srgbClr val="333333"/>
                          </a:solidFill>
                          <a:latin typeface="微软雅黑"/>
                          <a:ea typeface="微软雅黑"/>
                          <a:cs typeface="微软雅黑"/>
                        </a:rPr>
                        <a:t>4 注入位置</a:t>
                      </a:r>
                    </a:p>
                  </a:txBody>
                  <a:tcPr anchor="ctr">
                    <a:solidFill>
                      <a:srgbClr val="F2F6FC"/>
                    </a:solidFill>
                  </a:tcPr>
                </a:tc>
                <a:tc>
                  <a:txBody>
                    <a:bodyPr/>
                    <a:lstStyle/>
                    <a:p>
                      <a:r>
                        <a:rPr sz="975" b="0">
                          <a:solidFill>
                            <a:srgbClr val="333333"/>
                          </a:solidFill>
                          <a:latin typeface="微软雅黑"/>
                          <a:ea typeface="微软雅黑"/>
                          <a:cs typeface="微软雅黑"/>
                        </a:rPr>
                        <a:t>γ、β → FullSubNet+三路全带输入</a:t>
                      </a:r>
                    </a:p>
                  </a:txBody>
                  <a:tcPr anchor="ctr">
                    <a:solidFill>
                      <a:srgbClr val="F2F6FC"/>
                    </a:solidFill>
                  </a:tcPr>
                </a:tc>
                <a:tc>
                  <a:txBody>
                    <a:bodyPr/>
                    <a:lstStyle/>
                    <a:p>
                      <a:r>
                        <a:rPr sz="975" b="0">
                          <a:solidFill>
                            <a:srgbClr val="333333"/>
                          </a:solidFill>
                          <a:latin typeface="微软雅黑"/>
                          <a:ea typeface="微软雅黑"/>
                          <a:cs typeface="微软雅黑"/>
                        </a:rPr>
                        <a:t>在全局建模之前写入目标身份,再估计cIRM</a:t>
                      </a:r>
                    </a:p>
                  </a:txBody>
                  <a:tcPr anchor="ctr">
                    <a:solidFill>
                      <a:srgbClr val="F2F6FC"/>
                    </a:solidFill>
                  </a:tcPr>
                </a:tc>
                <a:extLst>
                  <a:ext uri="{0D108BD9-81ED-4DB2-BD59-A6C34878D82A}">
                    <a16:rowId xmlns:a16="http://schemas.microsoft.com/office/drawing/2014/main" val="10004"/>
                  </a:ext>
                </a:extLst>
              </a:tr>
              <a:tr h="465667">
                <a:tc>
                  <a:txBody>
                    <a:bodyPr/>
                    <a:lstStyle/>
                    <a:p>
                      <a:r>
                        <a:rPr sz="975" b="0">
                          <a:solidFill>
                            <a:srgbClr val="333333"/>
                          </a:solidFill>
                          <a:latin typeface="微软雅黑"/>
                          <a:ea typeface="微软雅黑"/>
                          <a:cs typeface="微软雅黑"/>
                        </a:rPr>
                        <a:t>5 稳定起点</a:t>
                      </a:r>
                    </a:p>
                  </a:txBody>
                  <a:tcPr anchor="ctr">
                    <a:solidFill>
                      <a:srgbClr val="FFFFFF"/>
                    </a:solidFill>
                  </a:tcPr>
                </a:tc>
                <a:tc>
                  <a:txBody>
                    <a:bodyPr/>
                    <a:lstStyle/>
                    <a:p>
                      <a:r>
                        <a:rPr sz="975" b="0">
                          <a:solidFill>
                            <a:srgbClr val="333333"/>
                          </a:solidFill>
                          <a:latin typeface="微软雅黑"/>
                          <a:ea typeface="微软雅黑"/>
                          <a:cs typeface="微软雅黑"/>
                        </a:rPr>
                        <a:t>末层零初始化:γ=1,β=0</a:t>
                      </a:r>
                    </a:p>
                  </a:txBody>
                  <a:tcPr anchor="ctr">
                    <a:solidFill>
                      <a:srgbClr val="FFFFFF"/>
                    </a:solidFill>
                  </a:tcPr>
                </a:tc>
                <a:tc>
                  <a:txBody>
                    <a:bodyPr/>
                    <a:lstStyle/>
                    <a:p>
                      <a:r>
                        <a:rPr sz="975" b="0" dirty="0" err="1">
                          <a:solidFill>
                            <a:srgbClr val="333333"/>
                          </a:solidFill>
                          <a:latin typeface="微软雅黑"/>
                          <a:ea typeface="微软雅黑"/>
                          <a:cs typeface="微软雅黑"/>
                        </a:rPr>
                        <a:t>初始严格等价于通用前端,条件作用随训练逐步形成</a:t>
                      </a:r>
                      <a:endParaRPr sz="1300" dirty="0">
                        <a:solidFill>
                          <a:srgbClr val="333333"/>
                        </a:solidFill>
                        <a:latin typeface="微软雅黑"/>
                        <a:ea typeface="微软雅黑"/>
                        <a:cs typeface="微软雅黑"/>
                      </a:endParaRP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文本框 6">
            <a:extLst>
              <a:ext uri="{FF2B5EF4-FFF2-40B4-BE49-F238E27FC236}">
                <a16:creationId xmlns:a16="http://schemas.microsoft.com/office/drawing/2014/main" id="{A41F65AB-82A0-4926-AED9-941F10B35284}"/>
              </a:ext>
            </a:extLst>
          </p:cNvPr>
          <p:cNvSpPr>
            <a:spLocks noGrp="1"/>
          </p:cNvSpPr>
          <p:nvPr/>
        </p:nvSpPr>
        <p:spPr>
          <a:xfrm>
            <a:off x="504825" y="4591050"/>
            <a:ext cx="6572250" cy="335280"/>
          </a:xfrm>
          <a:prstGeom prst="rect">
            <a:avLst/>
          </a:prstGeom>
          <a:noFill/>
        </p:spPr>
        <p:txBody>
          <a:bodyPr vert="horz">
            <a:spAutoFit/>
          </a:bodyPr>
          <a:lstStyle/>
          <a:p>
            <a:r>
              <a:rPr sz="1600" b="1">
                <a:solidFill>
                  <a:srgbClr val="1F3864"/>
                </a:solidFill>
                <a:latin typeface="微软雅黑"/>
                <a:ea typeface="微软雅黑"/>
                <a:cs typeface="微软雅黑"/>
              </a:rPr>
              <a:t>为什么参数生成器选小MLP</a:t>
            </a:r>
          </a:p>
        </p:txBody>
      </p:sp>
      <p:sp>
        <p:nvSpPr>
          <p:cNvPr id="8" name="文本框 7">
            <a:extLst>
              <a:ext uri="{FF2B5EF4-FFF2-40B4-BE49-F238E27FC236}">
                <a16:creationId xmlns:a16="http://schemas.microsoft.com/office/drawing/2014/main" id="{5D896F50-277B-4057-B6F9-F55F016D3F0E}"/>
              </a:ext>
            </a:extLst>
          </p:cNvPr>
          <p:cNvSpPr>
            <a:spLocks noGrp="1"/>
          </p:cNvSpPr>
          <p:nvPr/>
        </p:nvSpPr>
        <p:spPr>
          <a:xfrm>
            <a:off x="504825" y="4905377"/>
            <a:ext cx="6572250" cy="915635"/>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 足够表达从512维声纹到γ/β的非线性映射,又不会重建一个大条件网络</a:t>
            </a:r>
          </a:p>
          <a:p>
            <a:pPr>
              <a:spcAft>
                <a:spcPts val="600"/>
              </a:spcAft>
            </a:pPr>
            <a:r>
              <a:rPr sz="1450">
                <a:solidFill>
                  <a:srgbClr val="333333"/>
                </a:solidFill>
                <a:latin typeface="微软雅黑"/>
                <a:ea typeface="微软雅黑"/>
                <a:cs typeface="微软雅黑"/>
              </a:rPr>
              <a:t>• FiLM模块仅0.52M:参数少、计算轻,在有限训练说话人下更不易记忆身份</a:t>
            </a:r>
          </a:p>
          <a:p>
            <a:pPr>
              <a:spcAft>
                <a:spcPts val="600"/>
              </a:spcAft>
            </a:pPr>
            <a:r>
              <a:rPr sz="1450">
                <a:solidFill>
                  <a:srgbClr val="333333"/>
                </a:solidFill>
                <a:latin typeface="微软雅黑"/>
                <a:ea typeface="微软雅黑"/>
                <a:cs typeface="微软雅黑"/>
              </a:rPr>
              <a:t>• 与冻结后端解耦,梯度集中优化条件映射和增强骨干</a:t>
            </a:r>
          </a:p>
        </p:txBody>
      </p:sp>
      <p:sp>
        <p:nvSpPr>
          <p:cNvPr id="9" name="矩形 8">
            <a:extLst>
              <a:ext uri="{FF2B5EF4-FFF2-40B4-BE49-F238E27FC236}">
                <a16:creationId xmlns:a16="http://schemas.microsoft.com/office/drawing/2014/main" id="{3827E186-CE4D-93BF-BD85-0AD3E2F53658}"/>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3952245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8F138-51DF-1C73-8AB7-F4CF9B7169B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615E082B-890D-FFBC-23C9-C2D7D6B067A4}"/>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SpeakerFiLM用小MLP把声纹向量翻译成调制指令</a:t>
            </a:r>
          </a:p>
        </p:txBody>
      </p:sp>
      <p:sp>
        <p:nvSpPr>
          <p:cNvPr id="4" name="文本框 3">
            <a:extLst>
              <a:ext uri="{FF2B5EF4-FFF2-40B4-BE49-F238E27FC236}">
                <a16:creationId xmlns:a16="http://schemas.microsoft.com/office/drawing/2014/main" id="{714EAC7D-47A0-0006-6068-0C94FF54990B}"/>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615B4861-28D7-7F3D-F747-C2A84D7957F2}"/>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3" name="图片 22">
            <a:extLst>
              <a:ext uri="{FF2B5EF4-FFF2-40B4-BE49-F238E27FC236}">
                <a16:creationId xmlns:a16="http://schemas.microsoft.com/office/drawing/2014/main" id="{DAC502CB-3B17-7D1B-7813-1F5404700B9E}"/>
              </a:ext>
            </a:extLst>
          </p:cNvPr>
          <p:cNvPicPr>
            <a:picLocks noChangeAspect="1"/>
          </p:cNvPicPr>
          <p:nvPr/>
        </p:nvPicPr>
        <p:blipFill>
          <a:blip r:embed="rId3"/>
          <a:srcRect b="15092"/>
          <a:stretch>
            <a:fillRect/>
          </a:stretch>
        </p:blipFill>
        <p:spPr>
          <a:xfrm>
            <a:off x="6857524" y="960120"/>
            <a:ext cx="2991276" cy="3321339"/>
          </a:xfrm>
          <a:prstGeom prst="rect">
            <a:avLst/>
          </a:prstGeom>
        </p:spPr>
      </p:pic>
      <p:pic>
        <p:nvPicPr>
          <p:cNvPr id="24" name="图片 23">
            <a:extLst>
              <a:ext uri="{FF2B5EF4-FFF2-40B4-BE49-F238E27FC236}">
                <a16:creationId xmlns:a16="http://schemas.microsoft.com/office/drawing/2014/main" id="{B21BF791-C84B-EDE8-C095-FA6DB4643A15}"/>
              </a:ext>
            </a:extLst>
          </p:cNvPr>
          <p:cNvPicPr>
            <a:picLocks noChangeAspect="1"/>
          </p:cNvPicPr>
          <p:nvPr/>
        </p:nvPicPr>
        <p:blipFill>
          <a:blip r:embed="rId4"/>
          <a:srcRect t="15663"/>
          <a:stretch>
            <a:fillRect/>
          </a:stretch>
        </p:blipFill>
        <p:spPr>
          <a:xfrm>
            <a:off x="1472845" y="1226140"/>
            <a:ext cx="4333875" cy="2933689"/>
          </a:xfrm>
          <a:prstGeom prst="rect">
            <a:avLst/>
          </a:prstGeom>
        </p:spPr>
      </p:pic>
      <p:sp>
        <p:nvSpPr>
          <p:cNvPr id="12" name="矩形 11">
            <a:extLst>
              <a:ext uri="{FF2B5EF4-FFF2-40B4-BE49-F238E27FC236}">
                <a16:creationId xmlns:a16="http://schemas.microsoft.com/office/drawing/2014/main" id="{06A2D097-5E0E-E840-AB8A-2889CF334F02}"/>
              </a:ext>
            </a:extLst>
          </p:cNvPr>
          <p:cNvSpPr>
            <a:spLocks noGrp="1"/>
          </p:cNvSpPr>
          <p:nvPr/>
        </p:nvSpPr>
        <p:spPr>
          <a:xfrm>
            <a:off x="7769156" y="4386234"/>
            <a:ext cx="1952625" cy="209550"/>
          </a:xfrm>
          <a:prstGeom prst="rect">
            <a:avLst/>
          </a:prstGeom>
          <a:noFill/>
          <a:ln w="0">
            <a:noFill/>
            <a:prstDash val="solid"/>
          </a:ln>
        </p:spPr>
        <p:txBody>
          <a:bodyPr anchor="ctr"/>
          <a:lstStyle/>
          <a:p>
            <a:pPr algn="ctr">
              <a:defRPr sz="825" b="0">
                <a:solidFill>
                  <a:srgbClr val="666666"/>
                </a:solidFill>
              </a:defRPr>
            </a:pPr>
            <a:r>
              <a:rPr sz="825" dirty="0" err="1">
                <a:solidFill>
                  <a:srgbClr val="666666"/>
                </a:solidFill>
              </a:rPr>
              <a:t>FiLM</a:t>
            </a:r>
            <a:r>
              <a:rPr sz="825" dirty="0">
                <a:solidFill>
                  <a:srgbClr val="666666"/>
                </a:solidFill>
              </a:rPr>
              <a:t> Fig.2</a:t>
            </a:r>
          </a:p>
        </p:txBody>
      </p:sp>
      <p:sp>
        <p:nvSpPr>
          <p:cNvPr id="13" name="矩形 12">
            <a:extLst>
              <a:ext uri="{FF2B5EF4-FFF2-40B4-BE49-F238E27FC236}">
                <a16:creationId xmlns:a16="http://schemas.microsoft.com/office/drawing/2014/main" id="{1A0AF03E-3E07-FC5B-FC25-2F614C61DFD6}"/>
              </a:ext>
            </a:extLst>
          </p:cNvPr>
          <p:cNvSpPr>
            <a:spLocks noGrp="1"/>
          </p:cNvSpPr>
          <p:nvPr/>
        </p:nvSpPr>
        <p:spPr>
          <a:xfrm>
            <a:off x="2472969" y="4491009"/>
            <a:ext cx="2333625" cy="209550"/>
          </a:xfrm>
          <a:prstGeom prst="rect">
            <a:avLst/>
          </a:prstGeom>
          <a:noFill/>
          <a:ln w="0">
            <a:noFill/>
            <a:prstDash val="solid"/>
          </a:ln>
        </p:spPr>
        <p:txBody>
          <a:bodyPr anchor="ctr"/>
          <a:lstStyle/>
          <a:p>
            <a:pPr algn="ctr">
              <a:defRPr sz="825" b="0">
                <a:solidFill>
                  <a:srgbClr val="666666"/>
                </a:solidFill>
              </a:defRPr>
            </a:pPr>
            <a:r>
              <a:rPr sz="825" dirty="0">
                <a:solidFill>
                  <a:srgbClr val="666666"/>
                </a:solidFill>
              </a:rPr>
              <a:t>SCSE-PVAD Fig.1</a:t>
            </a:r>
          </a:p>
        </p:txBody>
      </p:sp>
      <p:sp>
        <p:nvSpPr>
          <p:cNvPr id="14" name="矩形 13">
            <a:extLst>
              <a:ext uri="{FF2B5EF4-FFF2-40B4-BE49-F238E27FC236}">
                <a16:creationId xmlns:a16="http://schemas.microsoft.com/office/drawing/2014/main" id="{B1C8A85E-334F-9B47-4B59-F94B34BEB25E}"/>
              </a:ext>
            </a:extLst>
          </p:cNvPr>
          <p:cNvSpPr>
            <a:spLocks noGrp="1"/>
          </p:cNvSpPr>
          <p:nvPr/>
        </p:nvSpPr>
        <p:spPr>
          <a:xfrm>
            <a:off x="1612934" y="4756438"/>
            <a:ext cx="10579066" cy="1047750"/>
          </a:xfrm>
          <a:prstGeom prst="rect">
            <a:avLst/>
          </a:prstGeom>
          <a:noFill/>
          <a:ln w="0">
            <a:noFill/>
            <a:prstDash val="solid"/>
          </a:ln>
        </p:spPr>
        <p:txBody>
          <a:bodyPr anchor="ctr"/>
          <a:lstStyle/>
          <a:p>
            <a:pPr algn="l">
              <a:defRPr sz="1125" b="0">
                <a:solidFill>
                  <a:srgbClr val="333333"/>
                </a:solidFill>
              </a:defRPr>
            </a:pPr>
            <a:r>
              <a:rPr sz="1600" dirty="0" err="1">
                <a:solidFill>
                  <a:srgbClr val="333333"/>
                </a:solidFill>
              </a:rPr>
              <a:t>文献联系:FiLM给出通用仿射调制;SCSE-PVAD证明声纹条件可通过FiLM直接改变声学特征提取</a:t>
            </a:r>
            <a:r>
              <a:rPr sz="1600" dirty="0">
                <a:solidFill>
                  <a:srgbClr val="333333"/>
                </a:solidFill>
              </a:rPr>
              <a:t>。</a:t>
            </a:r>
          </a:p>
        </p:txBody>
      </p:sp>
      <p:sp>
        <p:nvSpPr>
          <p:cNvPr id="15" name="矩形 14">
            <a:extLst>
              <a:ext uri="{FF2B5EF4-FFF2-40B4-BE49-F238E27FC236}">
                <a16:creationId xmlns:a16="http://schemas.microsoft.com/office/drawing/2014/main" id="{4A7B77EC-E139-0968-769D-B4E30C735206}"/>
              </a:ext>
            </a:extLst>
          </p:cNvPr>
          <p:cNvSpPr>
            <a:spLocks noGrp="1"/>
          </p:cNvSpPr>
          <p:nvPr/>
        </p:nvSpPr>
        <p:spPr>
          <a:xfrm>
            <a:off x="928315" y="6400798"/>
            <a:ext cx="8303016" cy="315471"/>
          </a:xfrm>
          <a:prstGeom prst="rect">
            <a:avLst/>
          </a:prstGeom>
          <a:noFill/>
        </p:spPr>
        <p:txBody>
          <a:bodyPr vert="horz" wrap="square">
            <a:spAutoFit/>
          </a:bodyPr>
          <a:lstStyle/>
          <a:p>
            <a:pPr>
              <a:spcAft>
                <a:spcPts val="600"/>
              </a:spcAft>
            </a:pPr>
            <a:r>
              <a:rPr sz="1450">
                <a:solidFill>
                  <a:srgbClr val="333333"/>
                </a:solidFill>
                <a:latin typeface="微软雅黑"/>
                <a:ea typeface="微软雅黑"/>
              </a:rPr>
              <a:t>[1] Perez et al., AAAI 2018.  [2] Yu et al., Interspeech 2024.</a:t>
            </a:r>
          </a:p>
        </p:txBody>
      </p:sp>
      <p:sp>
        <p:nvSpPr>
          <p:cNvPr id="9" name="矩形 8">
            <a:extLst>
              <a:ext uri="{FF2B5EF4-FFF2-40B4-BE49-F238E27FC236}">
                <a16:creationId xmlns:a16="http://schemas.microsoft.com/office/drawing/2014/main" id="{B89C02DE-E9F0-4C71-309F-552917D673A9}"/>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6106504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EE9E99E-0F67-A553-F493-69282C9CD804}"/>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四项训练目标分别解决本课题前端的重建、保真、冒认与分类</a:t>
            </a:r>
          </a:p>
        </p:txBody>
      </p:sp>
      <p:sp>
        <p:nvSpPr>
          <p:cNvPr id="4" name="文本框 3">
            <a:extLst>
              <a:ext uri="{FF2B5EF4-FFF2-40B4-BE49-F238E27FC236}">
                <a16:creationId xmlns:a16="http://schemas.microsoft.com/office/drawing/2014/main" id="{A5C4D6D6-39A0-C1EA-63BB-0BE30599DD32}"/>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E8049DD4-5F2F-3200-C552-DE61858F33CC}"/>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文本框 8">
            <a:extLst>
              <a:ext uri="{FF2B5EF4-FFF2-40B4-BE49-F238E27FC236}">
                <a16:creationId xmlns:a16="http://schemas.microsoft.com/office/drawing/2014/main" id="{23678FA4-17B4-4259-91B4-FCBDC69D2C6D}"/>
              </a:ext>
            </a:extLst>
          </p:cNvPr>
          <p:cNvSpPr>
            <a:spLocks noGrp="1"/>
          </p:cNvSpPr>
          <p:nvPr/>
        </p:nvSpPr>
        <p:spPr>
          <a:xfrm>
            <a:off x="523875" y="6048375"/>
            <a:ext cx="11144250" cy="260392"/>
          </a:xfrm>
          <a:prstGeom prst="rect">
            <a:avLst/>
          </a:prstGeom>
          <a:noFill/>
        </p:spPr>
        <p:txBody>
          <a:bodyPr vert="horz">
            <a:spAutoFit/>
          </a:bodyPr>
          <a:lstStyle/>
          <a:p>
            <a:pPr>
              <a:lnSpc>
                <a:spcPct val="150000"/>
              </a:lnSpc>
              <a:spcAft>
                <a:spcPts val="600"/>
              </a:spcAft>
              <a:defRPr sz="825">
                <a:solidFill>
                  <a:srgbClr val="666666"/>
                </a:solidFill>
              </a:defRPr>
            </a:pPr>
            <a:r>
              <a:rPr sz="825">
                <a:solidFill>
                  <a:srgbClr val="666666"/>
                </a:solidFill>
                <a:latin typeface="微软雅黑"/>
                <a:ea typeface="微软雅黑"/>
                <a:cs typeface="微软雅黑"/>
              </a:rPr>
              <a:t>说明:这些文献提供各类目标的通用方法依据;本课题的Top-K=8、τ=0.30及四项权重均以技术报告为准。</a:t>
            </a:r>
            <a:endParaRPr sz="2000">
              <a:solidFill>
                <a:srgbClr val="333333"/>
              </a:solidFill>
              <a:latin typeface="微软雅黑"/>
              <a:ea typeface="微软雅黑"/>
              <a:cs typeface="微软雅黑"/>
            </a:endParaRPr>
          </a:p>
        </p:txBody>
      </p:sp>
      <p:sp>
        <p:nvSpPr>
          <p:cNvPr id="10" name="矩形: 圆角 9">
            <a:extLst>
              <a:ext uri="{FF2B5EF4-FFF2-40B4-BE49-F238E27FC236}">
                <a16:creationId xmlns:a16="http://schemas.microsoft.com/office/drawing/2014/main" id="{9B924644-6D95-40D6-8F45-4E5C6CC62AD7}"/>
              </a:ext>
            </a:extLst>
          </p:cNvPr>
          <p:cNvSpPr>
            <a:spLocks noGrp="1"/>
          </p:cNvSpPr>
          <p:nvPr/>
        </p:nvSpPr>
        <p:spPr>
          <a:xfrm>
            <a:off x="523875" y="1066800"/>
            <a:ext cx="5238750" cy="342900"/>
          </a:xfrm>
          <a:prstGeom prst="roundRect">
            <a:avLst>
              <a:gd name="adj" fmla="val 22222"/>
            </a:avLst>
          </a:prstGeom>
          <a:solidFill>
            <a:srgbClr val="355E9E"/>
          </a:solidFill>
          <a:ln w="13335">
            <a:solidFill>
              <a:srgbClr val="355E9E"/>
            </a:solidFill>
            <a:prstDash val="solid"/>
          </a:ln>
        </p:spPr>
        <p:txBody>
          <a:bodyPr anchor="ctr"/>
          <a:lstStyle/>
          <a:p>
            <a:pPr algn="ctr">
              <a:defRPr sz="1125" b="1">
                <a:solidFill>
                  <a:srgbClr val="FFFFFF"/>
                </a:solidFill>
              </a:defRPr>
            </a:pPr>
            <a:r>
              <a:rPr sz="1125" b="1">
                <a:solidFill>
                  <a:srgbClr val="FFFFFF"/>
                </a:solidFill>
              </a:rPr>
              <a:t>L_se｜保证声学重建</a:t>
            </a:r>
          </a:p>
        </p:txBody>
      </p:sp>
      <p:pic>
        <p:nvPicPr>
          <p:cNvPr id="32" name="图片 31"/>
          <p:cNvPicPr>
            <a:picLocks noChangeAspect="1"/>
          </p:cNvPicPr>
          <p:nvPr/>
        </p:nvPicPr>
        <p:blipFill>
          <a:blip r:embed="rId3"/>
          <a:stretch/>
        </p:blipFill>
        <p:spPr>
          <a:xfrm>
            <a:off x="933450" y="1524002"/>
            <a:ext cx="1181100" cy="1476375"/>
          </a:xfrm>
          <a:prstGeom prst="rect">
            <a:avLst/>
          </a:prstGeom>
        </p:spPr>
      </p:pic>
      <p:sp>
        <p:nvSpPr>
          <p:cNvPr id="12" name="矩形: 圆角 11">
            <a:extLst>
              <a:ext uri="{FF2B5EF4-FFF2-40B4-BE49-F238E27FC236}">
                <a16:creationId xmlns:a16="http://schemas.microsoft.com/office/drawing/2014/main" id="{8F640C17-CD4C-4CE1-BE7C-6992D98ABA62}"/>
              </a:ext>
            </a:extLst>
          </p:cNvPr>
          <p:cNvSpPr>
            <a:spLocks noGrp="1"/>
          </p:cNvSpPr>
          <p:nvPr/>
        </p:nvSpPr>
        <p:spPr>
          <a:xfrm>
            <a:off x="2667002" y="1524002"/>
            <a:ext cx="3095625" cy="1476375"/>
          </a:xfrm>
          <a:prstGeom prst="roundRect">
            <a:avLst>
              <a:gd name="adj" fmla="val 5161"/>
            </a:avLst>
          </a:prstGeom>
          <a:solidFill>
            <a:srgbClr val="F7F9FC"/>
          </a:solidFill>
          <a:ln w="13335">
            <a:solidFill>
              <a:srgbClr val="355E9E"/>
            </a:solidFill>
            <a:prstDash val="solid"/>
          </a:ln>
        </p:spPr>
        <p:txBody>
          <a:bodyPr anchor="ctr"/>
          <a:lstStyle/>
          <a:p>
            <a:pPr algn="l">
              <a:defRPr sz="975" b="0">
                <a:solidFill>
                  <a:srgbClr val="333333"/>
                </a:solidFill>
              </a:defRPr>
            </a:pPr>
            <a:r>
              <a:rPr sz="975">
                <a:solidFill>
                  <a:srgbClr val="333333"/>
                </a:solidFill>
              </a:rPr>
              <a:t>本课题输入:</a:t>
            </a:r>
          </a:p>
          <a:p>
            <a:pPr algn="l">
              <a:defRPr sz="975" b="0">
                <a:solidFill>
                  <a:srgbClr val="333333"/>
                </a:solidFill>
              </a:defRPr>
            </a:pPr>
            <a:r>
              <a:rPr sz="975">
                <a:solidFill>
                  <a:srgbClr val="333333"/>
                </a:solidFill>
              </a:rPr>
              <a:t>FullSubNet+预测 M_hat + clean目标 M_cIRM</a:t>
            </a:r>
          </a:p>
          <a:p>
            <a:pPr algn="l">
              <a:defRPr sz="975" b="0">
                <a:solidFill>
                  <a:srgbClr val="333333"/>
                </a:solidFill>
              </a:defRPr>
            </a:pPr>
            <a:r>
              <a:rPr sz="975">
                <a:solidFill>
                  <a:srgbClr val="333333"/>
                </a:solidFill>
              </a:rPr>
              <a:t>作用:用MSE直接更新FiLM与增强骨干</a:t>
            </a:r>
          </a:p>
          <a:p>
            <a:pPr algn="l">
              <a:defRPr sz="975" b="0">
                <a:solidFill>
                  <a:srgbClr val="333333"/>
                </a:solidFill>
              </a:defRPr>
            </a:pPr>
            <a:r>
              <a:rPr sz="975">
                <a:solidFill>
                  <a:srgbClr val="333333"/>
                </a:solidFill>
              </a:rPr>
              <a:t>解决:防止前端任意改写语音</a:t>
            </a:r>
          </a:p>
        </p:txBody>
      </p:sp>
      <p:sp>
        <p:nvSpPr>
          <p:cNvPr id="13" name="矩形 12">
            <a:extLst>
              <a:ext uri="{FF2B5EF4-FFF2-40B4-BE49-F238E27FC236}">
                <a16:creationId xmlns:a16="http://schemas.microsoft.com/office/drawing/2014/main" id="{7356FF34-B607-431C-B52E-D69F7203FBF3}"/>
              </a:ext>
            </a:extLst>
          </p:cNvPr>
          <p:cNvSpPr>
            <a:spLocks noGrp="1"/>
          </p:cNvSpPr>
          <p:nvPr/>
        </p:nvSpPr>
        <p:spPr>
          <a:xfrm>
            <a:off x="2667002" y="3038475"/>
            <a:ext cx="3095625" cy="209550"/>
          </a:xfrm>
          <a:prstGeom prst="rect">
            <a:avLst/>
          </a:prstGeom>
          <a:noFill/>
          <a:ln w="0">
            <a:noFill/>
            <a:prstDash val="solid"/>
          </a:ln>
        </p:spPr>
        <p:txBody>
          <a:bodyPr anchor="ctr"/>
          <a:lstStyle/>
          <a:p>
            <a:pPr algn="l">
              <a:defRPr sz="750" b="0">
                <a:solidFill>
                  <a:srgbClr val="666666"/>
                </a:solidFill>
              </a:defRPr>
            </a:pPr>
            <a:r>
              <a:rPr sz="750">
                <a:solidFill>
                  <a:srgbClr val="666666"/>
                </a:solidFill>
              </a:rPr>
              <a:t>方法依据: Chen et al., ICASSP 2022</a:t>
            </a:r>
          </a:p>
        </p:txBody>
      </p:sp>
      <p:sp>
        <p:nvSpPr>
          <p:cNvPr id="14" name="矩形: 圆角 13">
            <a:extLst>
              <a:ext uri="{FF2B5EF4-FFF2-40B4-BE49-F238E27FC236}">
                <a16:creationId xmlns:a16="http://schemas.microsoft.com/office/drawing/2014/main" id="{727DA135-888B-4704-91FB-0DD27749B401}"/>
              </a:ext>
            </a:extLst>
          </p:cNvPr>
          <p:cNvSpPr>
            <a:spLocks noGrp="1"/>
          </p:cNvSpPr>
          <p:nvPr/>
        </p:nvSpPr>
        <p:spPr>
          <a:xfrm>
            <a:off x="6143625" y="1066800"/>
            <a:ext cx="5238750" cy="342900"/>
          </a:xfrm>
          <a:prstGeom prst="roundRect">
            <a:avLst>
              <a:gd name="adj" fmla="val 22222"/>
            </a:avLst>
          </a:prstGeom>
          <a:solidFill>
            <a:srgbClr val="7B61A8"/>
          </a:solidFill>
          <a:ln w="13335">
            <a:solidFill>
              <a:srgbClr val="7B61A8"/>
            </a:solidFill>
            <a:prstDash val="solid"/>
          </a:ln>
        </p:spPr>
        <p:txBody>
          <a:bodyPr anchor="ctr"/>
          <a:lstStyle/>
          <a:p>
            <a:pPr algn="ctr">
              <a:defRPr sz="1125" b="1">
                <a:solidFill>
                  <a:srgbClr val="FFFFFF"/>
                </a:solidFill>
              </a:defRPr>
            </a:pPr>
            <a:r>
              <a:rPr sz="1125" b="1">
                <a:solidFill>
                  <a:srgbClr val="FFFFFF"/>
                </a:solidFill>
              </a:rPr>
              <a:t>L_spk｜保持目标身份</a:t>
            </a:r>
          </a:p>
        </p:txBody>
      </p:sp>
      <p:pic>
        <p:nvPicPr>
          <p:cNvPr id="36" name="图片 35"/>
          <p:cNvPicPr>
            <a:picLocks noChangeAspect="1"/>
          </p:cNvPicPr>
          <p:nvPr/>
        </p:nvPicPr>
        <p:blipFill>
          <a:blip r:embed="rId4"/>
          <a:stretch/>
        </p:blipFill>
        <p:spPr>
          <a:xfrm>
            <a:off x="6143625" y="1755458"/>
            <a:ext cx="2000250" cy="1013460"/>
          </a:xfrm>
          <a:prstGeom prst="rect">
            <a:avLst/>
          </a:prstGeom>
        </p:spPr>
      </p:pic>
      <p:sp>
        <p:nvSpPr>
          <p:cNvPr id="16" name="矩形: 圆角 15">
            <a:extLst>
              <a:ext uri="{FF2B5EF4-FFF2-40B4-BE49-F238E27FC236}">
                <a16:creationId xmlns:a16="http://schemas.microsoft.com/office/drawing/2014/main" id="{7964D7EE-0650-4719-83C6-00BD1EBAB404}"/>
              </a:ext>
            </a:extLst>
          </p:cNvPr>
          <p:cNvSpPr>
            <a:spLocks noGrp="1"/>
          </p:cNvSpPr>
          <p:nvPr/>
        </p:nvSpPr>
        <p:spPr>
          <a:xfrm>
            <a:off x="8286752" y="1524002"/>
            <a:ext cx="3095625" cy="1476375"/>
          </a:xfrm>
          <a:prstGeom prst="roundRect">
            <a:avLst>
              <a:gd name="adj" fmla="val 5161"/>
            </a:avLst>
          </a:prstGeom>
          <a:solidFill>
            <a:srgbClr val="F7F9FC"/>
          </a:solidFill>
          <a:ln w="13335">
            <a:solidFill>
              <a:srgbClr val="7B61A8"/>
            </a:solidFill>
            <a:prstDash val="solid"/>
          </a:ln>
        </p:spPr>
        <p:txBody>
          <a:bodyPr anchor="ctr"/>
          <a:lstStyle/>
          <a:p>
            <a:pPr algn="l">
              <a:defRPr sz="975" b="0">
                <a:solidFill>
                  <a:srgbClr val="333333"/>
                </a:solidFill>
              </a:defRPr>
            </a:pPr>
            <a:r>
              <a:rPr sz="975">
                <a:solidFill>
                  <a:srgbClr val="333333"/>
                </a:solidFill>
              </a:rPr>
              <a:t>本课题输入:</a:t>
            </a:r>
          </a:p>
          <a:p>
            <a:pPr algn="l">
              <a:defRPr sz="975" b="0">
                <a:solidFill>
                  <a:srgbClr val="333333"/>
                </a:solidFill>
              </a:defRPr>
            </a:pPr>
            <a:r>
              <a:rPr sz="975">
                <a:solidFill>
                  <a:srgbClr val="333333"/>
                </a:solidFill>
              </a:rPr>
              <a:t>增强语音→冻结后端得 e_enh + 注册 e_enr</a:t>
            </a:r>
          </a:p>
          <a:p>
            <a:pPr algn="l">
              <a:defRPr sz="975" b="0">
                <a:solidFill>
                  <a:srgbClr val="333333"/>
                </a:solidFill>
              </a:defRPr>
            </a:pPr>
            <a:r>
              <a:rPr sz="975">
                <a:solidFill>
                  <a:srgbClr val="333333"/>
                </a:solidFill>
              </a:rPr>
              <a:t>作用:最小化 1-cos(e_enh,e_enr)</a:t>
            </a:r>
          </a:p>
          <a:p>
            <a:pPr algn="l">
              <a:defRPr sz="975" b="0">
                <a:solidFill>
                  <a:srgbClr val="333333"/>
                </a:solidFill>
              </a:defRPr>
            </a:pPr>
            <a:r>
              <a:rPr sz="975">
                <a:solidFill>
                  <a:srgbClr val="333333"/>
                </a:solidFill>
              </a:rPr>
              <a:t>解决:听感改善但身份漂移</a:t>
            </a:r>
          </a:p>
        </p:txBody>
      </p:sp>
      <p:sp>
        <p:nvSpPr>
          <p:cNvPr id="17" name="矩形 16">
            <a:extLst>
              <a:ext uri="{FF2B5EF4-FFF2-40B4-BE49-F238E27FC236}">
                <a16:creationId xmlns:a16="http://schemas.microsoft.com/office/drawing/2014/main" id="{A11A1585-D536-4CE3-8340-8CBE5F31E19F}"/>
              </a:ext>
            </a:extLst>
          </p:cNvPr>
          <p:cNvSpPr>
            <a:spLocks noGrp="1"/>
          </p:cNvSpPr>
          <p:nvPr/>
        </p:nvSpPr>
        <p:spPr>
          <a:xfrm>
            <a:off x="8286752" y="3038475"/>
            <a:ext cx="3095625" cy="209550"/>
          </a:xfrm>
          <a:prstGeom prst="rect">
            <a:avLst/>
          </a:prstGeom>
          <a:noFill/>
          <a:ln w="0">
            <a:noFill/>
            <a:prstDash val="solid"/>
          </a:ln>
        </p:spPr>
        <p:txBody>
          <a:bodyPr anchor="ctr"/>
          <a:lstStyle/>
          <a:p>
            <a:pPr algn="l">
              <a:defRPr sz="750" b="0">
                <a:solidFill>
                  <a:srgbClr val="666666"/>
                </a:solidFill>
              </a:defRPr>
            </a:pPr>
            <a:r>
              <a:rPr sz="750">
                <a:solidFill>
                  <a:srgbClr val="666666"/>
                </a:solidFill>
              </a:rPr>
              <a:t>方法依据: Wan et al., ICASSP 2018</a:t>
            </a:r>
          </a:p>
        </p:txBody>
      </p:sp>
      <p:sp>
        <p:nvSpPr>
          <p:cNvPr id="18" name="矩形: 圆角 17">
            <a:extLst>
              <a:ext uri="{FF2B5EF4-FFF2-40B4-BE49-F238E27FC236}">
                <a16:creationId xmlns:a16="http://schemas.microsoft.com/office/drawing/2014/main" id="{1CDE1CBE-105F-4187-9A25-83F761B47E51}"/>
              </a:ext>
            </a:extLst>
          </p:cNvPr>
          <p:cNvSpPr>
            <a:spLocks noGrp="1"/>
          </p:cNvSpPr>
          <p:nvPr/>
        </p:nvSpPr>
        <p:spPr>
          <a:xfrm>
            <a:off x="523875" y="3524250"/>
            <a:ext cx="5238750" cy="342900"/>
          </a:xfrm>
          <a:prstGeom prst="roundRect">
            <a:avLst>
              <a:gd name="adj" fmla="val 22222"/>
            </a:avLst>
          </a:prstGeom>
          <a:solidFill>
            <a:srgbClr val="5B9B43"/>
          </a:solidFill>
          <a:ln w="13335">
            <a:solidFill>
              <a:srgbClr val="5B9B43"/>
            </a:solidFill>
            <a:prstDash val="solid"/>
          </a:ln>
        </p:spPr>
        <p:txBody>
          <a:bodyPr anchor="ctr"/>
          <a:lstStyle/>
          <a:p>
            <a:pPr algn="ctr">
              <a:defRPr sz="1125" b="1">
                <a:solidFill>
                  <a:srgbClr val="FFFFFF"/>
                </a:solidFill>
              </a:defRPr>
            </a:pPr>
            <a:r>
              <a:rPr sz="1125" b="1">
                <a:solidFill>
                  <a:srgbClr val="FFFFFF"/>
                </a:solidFill>
              </a:rPr>
              <a:t>L_ns｜抑制难负冒认</a:t>
            </a:r>
          </a:p>
        </p:txBody>
      </p:sp>
      <p:pic>
        <p:nvPicPr>
          <p:cNvPr id="40" name="图片 39"/>
          <p:cNvPicPr>
            <a:picLocks noChangeAspect="1"/>
          </p:cNvPicPr>
          <p:nvPr/>
        </p:nvPicPr>
        <p:blipFill>
          <a:blip r:embed="rId5"/>
          <a:stretch/>
        </p:blipFill>
        <p:spPr>
          <a:xfrm>
            <a:off x="523875" y="4349223"/>
            <a:ext cx="2000250" cy="740833"/>
          </a:xfrm>
          <a:prstGeom prst="rect">
            <a:avLst/>
          </a:prstGeom>
        </p:spPr>
      </p:pic>
      <p:sp>
        <p:nvSpPr>
          <p:cNvPr id="20" name="矩形: 圆角 19">
            <a:extLst>
              <a:ext uri="{FF2B5EF4-FFF2-40B4-BE49-F238E27FC236}">
                <a16:creationId xmlns:a16="http://schemas.microsoft.com/office/drawing/2014/main" id="{32D7F12C-91A3-4A68-AFD9-942FE54DB419}"/>
              </a:ext>
            </a:extLst>
          </p:cNvPr>
          <p:cNvSpPr>
            <a:spLocks noGrp="1"/>
          </p:cNvSpPr>
          <p:nvPr/>
        </p:nvSpPr>
        <p:spPr>
          <a:xfrm>
            <a:off x="2667002" y="3981452"/>
            <a:ext cx="3095625" cy="1476375"/>
          </a:xfrm>
          <a:prstGeom prst="roundRect">
            <a:avLst>
              <a:gd name="adj" fmla="val 5161"/>
            </a:avLst>
          </a:prstGeom>
          <a:solidFill>
            <a:srgbClr val="F7F9FC"/>
          </a:solidFill>
          <a:ln w="13335">
            <a:solidFill>
              <a:srgbClr val="5B9B43"/>
            </a:solidFill>
            <a:prstDash val="solid"/>
          </a:ln>
        </p:spPr>
        <p:txBody>
          <a:bodyPr anchor="ctr"/>
          <a:lstStyle/>
          <a:p>
            <a:pPr algn="l">
              <a:defRPr sz="975" b="0">
                <a:solidFill>
                  <a:srgbClr val="333333"/>
                </a:solidFill>
              </a:defRPr>
            </a:pPr>
            <a:r>
              <a:rPr sz="975">
                <a:solidFill>
                  <a:srgbClr val="333333"/>
                </a:solidFill>
              </a:rPr>
              <a:t>本课题输入:</a:t>
            </a:r>
          </a:p>
          <a:p>
            <a:pPr algn="l">
              <a:defRPr sz="975" b="0">
                <a:solidFill>
                  <a:srgbClr val="333333"/>
                </a:solidFill>
              </a:defRPr>
            </a:pPr>
            <a:r>
              <a:rPr sz="975">
                <a:solidFill>
                  <a:srgbClr val="333333"/>
                </a:solidFill>
              </a:rPr>
              <a:t>e_enh + 排除真类后的9900类原型库</a:t>
            </a:r>
          </a:p>
          <a:p>
            <a:pPr algn="l">
              <a:defRPr sz="975" b="0">
                <a:solidFill>
                  <a:srgbClr val="333333"/>
                </a:solidFill>
              </a:defRPr>
            </a:pPr>
            <a:r>
              <a:rPr sz="975">
                <a:solidFill>
                  <a:srgbClr val="333333"/>
                </a:solidFill>
              </a:rPr>
              <a:t>作用:Top-K=8,超过τ=0.30才惩罚</a:t>
            </a:r>
          </a:p>
          <a:p>
            <a:pPr algn="l">
              <a:defRPr sz="975" b="0">
                <a:solidFill>
                  <a:srgbClr val="333333"/>
                </a:solidFill>
              </a:defRPr>
            </a:pPr>
            <a:r>
              <a:rPr sz="975">
                <a:solidFill>
                  <a:srgbClr val="333333"/>
                </a:solidFill>
              </a:rPr>
              <a:t>解决:把结果推离最易混淆冒认者</a:t>
            </a:r>
          </a:p>
        </p:txBody>
      </p:sp>
      <p:sp>
        <p:nvSpPr>
          <p:cNvPr id="21" name="矩形 20">
            <a:extLst>
              <a:ext uri="{FF2B5EF4-FFF2-40B4-BE49-F238E27FC236}">
                <a16:creationId xmlns:a16="http://schemas.microsoft.com/office/drawing/2014/main" id="{6F26B101-2943-4C0B-8B14-42FF30C1AF3C}"/>
              </a:ext>
            </a:extLst>
          </p:cNvPr>
          <p:cNvSpPr>
            <a:spLocks noGrp="1"/>
          </p:cNvSpPr>
          <p:nvPr/>
        </p:nvSpPr>
        <p:spPr>
          <a:xfrm>
            <a:off x="2667002" y="5495925"/>
            <a:ext cx="3095625" cy="209550"/>
          </a:xfrm>
          <a:prstGeom prst="rect">
            <a:avLst/>
          </a:prstGeom>
          <a:noFill/>
          <a:ln w="0">
            <a:noFill/>
            <a:prstDash val="solid"/>
          </a:ln>
        </p:spPr>
        <p:txBody>
          <a:bodyPr anchor="ctr"/>
          <a:lstStyle/>
          <a:p>
            <a:pPr algn="l">
              <a:defRPr sz="750" b="0">
                <a:solidFill>
                  <a:srgbClr val="666666"/>
                </a:solidFill>
              </a:defRPr>
            </a:pPr>
            <a:r>
              <a:rPr sz="750">
                <a:solidFill>
                  <a:srgbClr val="666666"/>
                </a:solidFill>
              </a:rPr>
              <a:t>方法依据: Snell et al., NeurIPS 2017</a:t>
            </a:r>
          </a:p>
        </p:txBody>
      </p:sp>
      <p:sp>
        <p:nvSpPr>
          <p:cNvPr id="22" name="矩形: 圆角 21">
            <a:extLst>
              <a:ext uri="{FF2B5EF4-FFF2-40B4-BE49-F238E27FC236}">
                <a16:creationId xmlns:a16="http://schemas.microsoft.com/office/drawing/2014/main" id="{623E644B-E9FB-4F9C-A171-122C2039A0CB}"/>
              </a:ext>
            </a:extLst>
          </p:cNvPr>
          <p:cNvSpPr>
            <a:spLocks noGrp="1"/>
          </p:cNvSpPr>
          <p:nvPr/>
        </p:nvSpPr>
        <p:spPr>
          <a:xfrm>
            <a:off x="6143625" y="3524250"/>
            <a:ext cx="5238750" cy="342900"/>
          </a:xfrm>
          <a:prstGeom prst="roundRect">
            <a:avLst>
              <a:gd name="adj" fmla="val 22222"/>
            </a:avLst>
          </a:prstGeom>
          <a:solidFill>
            <a:srgbClr val="F47A27"/>
          </a:solidFill>
          <a:ln w="13335">
            <a:solidFill>
              <a:srgbClr val="F47A27"/>
            </a:solidFill>
            <a:prstDash val="solid"/>
          </a:ln>
        </p:spPr>
        <p:txBody>
          <a:bodyPr anchor="ctr"/>
          <a:lstStyle/>
          <a:p>
            <a:pPr algn="ctr">
              <a:defRPr sz="1125" b="1">
                <a:solidFill>
                  <a:srgbClr val="FFFFFF"/>
                </a:solidFill>
              </a:defRPr>
            </a:pPr>
            <a:r>
              <a:rPr sz="1125" b="1">
                <a:solidFill>
                  <a:srgbClr val="FFFFFF"/>
                </a:solidFill>
              </a:rPr>
              <a:t>L_ce｜强化角度判别</a:t>
            </a:r>
          </a:p>
        </p:txBody>
      </p:sp>
      <p:pic>
        <p:nvPicPr>
          <p:cNvPr id="44" name="图片 43"/>
          <p:cNvPicPr>
            <a:picLocks noChangeAspect="1"/>
          </p:cNvPicPr>
          <p:nvPr/>
        </p:nvPicPr>
        <p:blipFill>
          <a:blip r:embed="rId6"/>
          <a:stretch/>
        </p:blipFill>
        <p:spPr>
          <a:xfrm>
            <a:off x="6143625" y="4360974"/>
            <a:ext cx="2000250" cy="717331"/>
          </a:xfrm>
          <a:prstGeom prst="rect">
            <a:avLst/>
          </a:prstGeom>
        </p:spPr>
      </p:pic>
      <p:sp>
        <p:nvSpPr>
          <p:cNvPr id="24" name="矩形: 圆角 23">
            <a:extLst>
              <a:ext uri="{FF2B5EF4-FFF2-40B4-BE49-F238E27FC236}">
                <a16:creationId xmlns:a16="http://schemas.microsoft.com/office/drawing/2014/main" id="{BC213453-FE4C-4D37-8FE3-00A8E67F8CC4}"/>
              </a:ext>
            </a:extLst>
          </p:cNvPr>
          <p:cNvSpPr>
            <a:spLocks noGrp="1"/>
          </p:cNvSpPr>
          <p:nvPr/>
        </p:nvSpPr>
        <p:spPr>
          <a:xfrm>
            <a:off x="8286752" y="3981452"/>
            <a:ext cx="3095625" cy="1476375"/>
          </a:xfrm>
          <a:prstGeom prst="roundRect">
            <a:avLst>
              <a:gd name="adj" fmla="val 5161"/>
            </a:avLst>
          </a:prstGeom>
          <a:solidFill>
            <a:srgbClr val="F7F9FC"/>
          </a:solidFill>
          <a:ln w="13335">
            <a:solidFill>
              <a:srgbClr val="F47A27"/>
            </a:solidFill>
            <a:prstDash val="solid"/>
          </a:ln>
        </p:spPr>
        <p:txBody>
          <a:bodyPr anchor="ctr"/>
          <a:lstStyle/>
          <a:p>
            <a:pPr algn="l">
              <a:defRPr sz="975" b="0">
                <a:solidFill>
                  <a:srgbClr val="333333"/>
                </a:solidFill>
              </a:defRPr>
            </a:pPr>
            <a:r>
              <a:rPr sz="975">
                <a:solidFill>
                  <a:srgbClr val="333333"/>
                </a:solidFill>
              </a:rPr>
              <a:t>本课题输入:</a:t>
            </a:r>
          </a:p>
          <a:p>
            <a:pPr algn="l">
              <a:defRPr sz="975" b="0">
                <a:solidFill>
                  <a:srgbClr val="333333"/>
                </a:solidFill>
              </a:defRPr>
            </a:pPr>
            <a:r>
              <a:rPr sz="975">
                <a:solidFill>
                  <a:srgbClr val="333333"/>
                </a:solidFill>
              </a:rPr>
              <a:t>e_enh + 真实说话人标签</a:t>
            </a:r>
          </a:p>
          <a:p>
            <a:pPr algn="l">
              <a:defRPr sz="975" b="0">
                <a:solidFill>
                  <a:srgbClr val="333333"/>
                </a:solidFill>
              </a:defRPr>
            </a:pPr>
            <a:r>
              <a:rPr sz="975">
                <a:solidFill>
                  <a:srgbClr val="333333"/>
                </a:solidFill>
              </a:rPr>
              <a:t>作用:AAM-CE梯度穿过冻结后端回到前端</a:t>
            </a:r>
          </a:p>
          <a:p>
            <a:pPr algn="l">
              <a:defRPr sz="975" b="0">
                <a:solidFill>
                  <a:srgbClr val="333333"/>
                </a:solidFill>
              </a:defRPr>
            </a:pPr>
            <a:r>
              <a:rPr sz="975">
                <a:solidFill>
                  <a:srgbClr val="333333"/>
                </a:solidFill>
              </a:rPr>
              <a:t>解决:增强类内紧凑与类间分离</a:t>
            </a:r>
          </a:p>
        </p:txBody>
      </p:sp>
      <p:sp>
        <p:nvSpPr>
          <p:cNvPr id="25" name="矩形 24">
            <a:extLst>
              <a:ext uri="{FF2B5EF4-FFF2-40B4-BE49-F238E27FC236}">
                <a16:creationId xmlns:a16="http://schemas.microsoft.com/office/drawing/2014/main" id="{078635AD-519F-4C72-B502-F4F9230D7AD8}"/>
              </a:ext>
            </a:extLst>
          </p:cNvPr>
          <p:cNvSpPr>
            <a:spLocks noGrp="1"/>
          </p:cNvSpPr>
          <p:nvPr/>
        </p:nvSpPr>
        <p:spPr>
          <a:xfrm>
            <a:off x="8286752" y="5495925"/>
            <a:ext cx="3095625" cy="209550"/>
          </a:xfrm>
          <a:prstGeom prst="rect">
            <a:avLst/>
          </a:prstGeom>
          <a:noFill/>
          <a:ln w="0">
            <a:noFill/>
            <a:prstDash val="solid"/>
          </a:ln>
        </p:spPr>
        <p:txBody>
          <a:bodyPr anchor="ctr"/>
          <a:lstStyle/>
          <a:p>
            <a:pPr algn="l">
              <a:defRPr sz="750" b="0">
                <a:solidFill>
                  <a:srgbClr val="666666"/>
                </a:solidFill>
              </a:defRPr>
            </a:pPr>
            <a:r>
              <a:rPr sz="750">
                <a:solidFill>
                  <a:srgbClr val="666666"/>
                </a:solidFill>
              </a:rPr>
              <a:t>方法依据: Deng et al., TPAMI 2022</a:t>
            </a:r>
          </a:p>
        </p:txBody>
      </p:sp>
      <p:sp>
        <p:nvSpPr>
          <p:cNvPr id="7" name="矩形 6">
            <a:extLst>
              <a:ext uri="{FF2B5EF4-FFF2-40B4-BE49-F238E27FC236}">
                <a16:creationId xmlns:a16="http://schemas.microsoft.com/office/drawing/2014/main" id="{E87C81A6-55E2-FEC3-0A83-1F3C5768E0BE}"/>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8049449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AC21C9E1-A51A-4440-AFC8-A84729108688}"/>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四项损失从不同输入侧约束同一个可训练前端</a:t>
            </a:r>
          </a:p>
        </p:txBody>
      </p:sp>
      <p:sp>
        <p:nvSpPr>
          <p:cNvPr id="4" name="文本框 3">
            <a:extLst>
              <a:ext uri="{FF2B5EF4-FFF2-40B4-BE49-F238E27FC236}">
                <a16:creationId xmlns:a16="http://schemas.microsoft.com/office/drawing/2014/main" id="{0260555D-8FA1-4096-A247-929A30AC622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1A08951A-CA92-4777-85B3-776E4C294F04}"/>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矩形 5">
            <a:extLst>
              <a:ext uri="{FF2B5EF4-FFF2-40B4-BE49-F238E27FC236}">
                <a16:creationId xmlns:a16="http://schemas.microsoft.com/office/drawing/2014/main" id="{213C4308-A40F-49C1-B2A9-D0097D59EF8A}"/>
              </a:ext>
            </a:extLst>
          </p:cNvPr>
          <p:cNvSpPr>
            <a:spLocks noGrp="1"/>
          </p:cNvSpPr>
          <p:nvPr/>
        </p:nvSpPr>
        <p:spPr>
          <a:xfrm>
            <a:off x="508000" y="1117600"/>
            <a:ext cx="11303000" cy="711200"/>
          </a:xfrm>
          <a:prstGeom prst="rect">
            <a:avLst/>
          </a:prstGeom>
          <a:solidFill>
            <a:srgbClr val="EAF0FA"/>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7" name="文本框 6">
            <a:extLst>
              <a:ext uri="{FF2B5EF4-FFF2-40B4-BE49-F238E27FC236}">
                <a16:creationId xmlns:a16="http://schemas.microsoft.com/office/drawing/2014/main" id="{2F4661BE-8C14-43A5-97DE-FA50823D5C7A}"/>
              </a:ext>
            </a:extLst>
          </p:cNvPr>
          <p:cNvSpPr>
            <a:spLocks noGrp="1"/>
          </p:cNvSpPr>
          <p:nvPr/>
        </p:nvSpPr>
        <p:spPr>
          <a:xfrm>
            <a:off x="711200" y="1295402"/>
            <a:ext cx="10922000" cy="384721"/>
          </a:xfrm>
          <a:prstGeom prst="rect">
            <a:avLst/>
          </a:prstGeom>
          <a:noFill/>
        </p:spPr>
        <p:txBody>
          <a:bodyPr vert="horz">
            <a:spAutoFit/>
          </a:bodyPr>
          <a:lstStyle/>
          <a:p>
            <a:pPr algn="ctr">
              <a:buNone/>
            </a:pPr>
            <a:r>
              <a:rPr sz="1900" b="1">
                <a:solidFill>
                  <a:srgbClr val="1F3864"/>
                </a:solidFill>
                <a:latin typeface="微软雅黑"/>
                <a:ea typeface="微软雅黑"/>
                <a:cs typeface="微软雅黑"/>
              </a:rPr>
              <a:t>L = L_se + 0.3·L_spk + 0.5·L_ns + 1.0·L_ce</a:t>
            </a:r>
          </a:p>
        </p:txBody>
      </p:sp>
      <p:graphicFrame>
        <p:nvGraphicFramePr>
          <p:cNvPr id="17" name="表格 7"/>
          <p:cNvGraphicFramePr/>
          <p:nvPr/>
        </p:nvGraphicFramePr>
        <p:xfrm>
          <a:off x="504826" y="1905000"/>
          <a:ext cx="11303001" cy="2667000"/>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533400">
                <a:tc>
                  <a:txBody>
                    <a:bodyPr/>
                    <a:lstStyle/>
                    <a:p>
                      <a:r>
                        <a:rPr sz="1050" b="1">
                          <a:solidFill>
                            <a:srgbClr val="FFFFFF"/>
                          </a:solidFill>
                          <a:latin typeface="微软雅黑"/>
                          <a:ea typeface="微软雅黑"/>
                          <a:cs typeface="微软雅黑"/>
                        </a:rPr>
                        <a:t>损失</a:t>
                      </a:r>
                    </a:p>
                  </a:txBody>
                  <a:tcPr anchor="ctr">
                    <a:solidFill>
                      <a:srgbClr val="2F5496"/>
                    </a:solidFill>
                  </a:tcPr>
                </a:tc>
                <a:tc>
                  <a:txBody>
                    <a:bodyPr/>
                    <a:lstStyle/>
                    <a:p>
                      <a:r>
                        <a:rPr sz="1050" b="1">
                          <a:solidFill>
                            <a:srgbClr val="FFFFFF"/>
                          </a:solidFill>
                          <a:latin typeface="微软雅黑"/>
                          <a:ea typeface="微软雅黑"/>
                          <a:cs typeface="微软雅黑"/>
                        </a:rPr>
                        <a:t>两侧输入与定义</a:t>
                      </a:r>
                    </a:p>
                  </a:txBody>
                  <a:tcPr anchor="ctr">
                    <a:solidFill>
                      <a:srgbClr val="2F5496"/>
                    </a:solidFill>
                  </a:tcPr>
                </a:tc>
                <a:tc>
                  <a:txBody>
                    <a:bodyPr/>
                    <a:lstStyle/>
                    <a:p>
                      <a:r>
                        <a:rPr sz="1050" b="1">
                          <a:solidFill>
                            <a:srgbClr val="FFFFFF"/>
                          </a:solidFill>
                          <a:latin typeface="微软雅黑"/>
                          <a:ea typeface="微软雅黑"/>
                          <a:cs typeface="微软雅黑"/>
                        </a:rPr>
                        <a:t>如何作用网络 / 优势</a:t>
                      </a:r>
                    </a:p>
                  </a:txBody>
                  <a:tcPr anchor="ctr">
                    <a:solidFill>
                      <a:srgbClr val="2F5496"/>
                    </a:solidFill>
                  </a:tcPr>
                </a:tc>
                <a:extLst>
                  <a:ext uri="{0D108BD9-81ED-4DB2-BD59-A6C34878D82A}">
                    <a16:rowId xmlns:a16="http://schemas.microsoft.com/office/drawing/2014/main" val="10000"/>
                  </a:ext>
                </a:extLst>
              </a:tr>
              <a:tr h="533400">
                <a:tc>
                  <a:txBody>
                    <a:bodyPr/>
                    <a:lstStyle/>
                    <a:p>
                      <a:r>
                        <a:rPr sz="975" b="0">
                          <a:solidFill>
                            <a:srgbClr val="333333"/>
                          </a:solidFill>
                          <a:latin typeface="微软雅黑"/>
                          <a:ea typeface="微软雅黑"/>
                          <a:cs typeface="微软雅黑"/>
                        </a:rPr>
                        <a:t>L_se</a:t>
                      </a:r>
                    </a:p>
                  </a:txBody>
                  <a:tcPr anchor="ctr">
                    <a:solidFill>
                      <a:srgbClr val="FFFFFF"/>
                    </a:solidFill>
                  </a:tcPr>
                </a:tc>
                <a:tc>
                  <a:txBody>
                    <a:bodyPr/>
                    <a:lstStyle/>
                    <a:p>
                      <a:r>
                        <a:rPr sz="975" b="0">
                          <a:solidFill>
                            <a:srgbClr val="333333"/>
                          </a:solidFill>
                          <a:latin typeface="微软雅黑"/>
                          <a:ea typeface="微软雅黑"/>
                          <a:cs typeface="微软雅黑"/>
                        </a:rPr>
                        <a:t>预测掩码 M_hat vs 由clean目标构造的 M_cIRM; ||M_hat-M_cIRM||²</a:t>
                      </a:r>
                    </a:p>
                  </a:txBody>
                  <a:tcPr anchor="ctr">
                    <a:solidFill>
                      <a:srgbClr val="FFFFFF"/>
                    </a:solidFill>
                  </a:tcPr>
                </a:tc>
                <a:tc>
                  <a:txBody>
                    <a:bodyPr/>
                    <a:lstStyle/>
                    <a:p>
                      <a:r>
                        <a:rPr sz="975" b="0">
                          <a:solidFill>
                            <a:srgbClr val="333333"/>
                          </a:solidFill>
                          <a:latin typeface="微软雅黑"/>
                          <a:ea typeface="微软雅黑"/>
                          <a:cs typeface="微软雅黑"/>
                        </a:rPr>
                        <a:t>梯度直接更新FullSubNet+与FiLM;提供声学重建锚,防止前端任意改写语音</a:t>
                      </a:r>
                    </a:p>
                  </a:txBody>
                  <a:tcPr anchor="ctr">
                    <a:solidFill>
                      <a:srgbClr val="FFFFFF"/>
                    </a:solidFill>
                  </a:tcPr>
                </a:tc>
                <a:extLst>
                  <a:ext uri="{0D108BD9-81ED-4DB2-BD59-A6C34878D82A}">
                    <a16:rowId xmlns:a16="http://schemas.microsoft.com/office/drawing/2014/main" val="10001"/>
                  </a:ext>
                </a:extLst>
              </a:tr>
              <a:tr h="533400">
                <a:tc>
                  <a:txBody>
                    <a:bodyPr/>
                    <a:lstStyle/>
                    <a:p>
                      <a:r>
                        <a:rPr sz="975" b="0">
                          <a:solidFill>
                            <a:srgbClr val="333333"/>
                          </a:solidFill>
                          <a:latin typeface="微软雅黑"/>
                          <a:ea typeface="微软雅黑"/>
                          <a:cs typeface="微软雅黑"/>
                        </a:rPr>
                        <a:t>L_spk</a:t>
                      </a:r>
                    </a:p>
                  </a:txBody>
                  <a:tcPr anchor="ctr">
                    <a:solidFill>
                      <a:srgbClr val="F2F6FC"/>
                    </a:solidFill>
                  </a:tcPr>
                </a:tc>
                <a:tc>
                  <a:txBody>
                    <a:bodyPr/>
                    <a:lstStyle/>
                    <a:p>
                      <a:r>
                        <a:rPr sz="975" b="0">
                          <a:solidFill>
                            <a:srgbClr val="333333"/>
                          </a:solidFill>
                          <a:latin typeface="微软雅黑"/>
                          <a:ea typeface="微软雅黑"/>
                          <a:cs typeface="微软雅黑"/>
                        </a:rPr>
                        <a:t>增强波形→冻结后端得e_enh;注册语音→同后端得e_enr; 1-cos(e_enh,e_enr)</a:t>
                      </a:r>
                    </a:p>
                  </a:txBody>
                  <a:tcPr anchor="ctr">
                    <a:solidFill>
                      <a:srgbClr val="F2F6FC"/>
                    </a:solidFill>
                  </a:tcPr>
                </a:tc>
                <a:tc>
                  <a:txBody>
                    <a:bodyPr/>
                    <a:lstStyle/>
                    <a:p>
                      <a:r>
                        <a:rPr sz="975" b="0">
                          <a:solidFill>
                            <a:srgbClr val="333333"/>
                          </a:solidFill>
                          <a:latin typeface="微软雅黑"/>
                          <a:ea typeface="微软雅黑"/>
                          <a:cs typeface="微软雅黑"/>
                        </a:rPr>
                        <a:t>梯度穿过冻结后端回到前端;把增强结果拉向目标身份,与最终余弦打分一致</a:t>
                      </a:r>
                    </a:p>
                  </a:txBody>
                  <a:tcPr anchor="ctr">
                    <a:solidFill>
                      <a:srgbClr val="F2F6FC"/>
                    </a:solidFill>
                  </a:tcPr>
                </a:tc>
                <a:extLst>
                  <a:ext uri="{0D108BD9-81ED-4DB2-BD59-A6C34878D82A}">
                    <a16:rowId xmlns:a16="http://schemas.microsoft.com/office/drawing/2014/main" val="10002"/>
                  </a:ext>
                </a:extLst>
              </a:tr>
              <a:tr h="533400">
                <a:tc>
                  <a:txBody>
                    <a:bodyPr/>
                    <a:lstStyle/>
                    <a:p>
                      <a:r>
                        <a:rPr sz="975" b="0">
                          <a:solidFill>
                            <a:srgbClr val="333333"/>
                          </a:solidFill>
                          <a:latin typeface="微软雅黑"/>
                          <a:ea typeface="微软雅黑"/>
                          <a:cs typeface="微软雅黑"/>
                        </a:rPr>
                        <a:t>L_ns</a:t>
                      </a:r>
                    </a:p>
                  </a:txBody>
                  <a:tcPr anchor="ctr">
                    <a:solidFill>
                      <a:srgbClr val="FFFFFF"/>
                    </a:solidFill>
                  </a:tcPr>
                </a:tc>
                <a:tc>
                  <a:txBody>
                    <a:bodyPr/>
                    <a:lstStyle/>
                    <a:p>
                      <a:r>
                        <a:rPr sz="975" b="0">
                          <a:solidFill>
                            <a:srgbClr val="333333"/>
                          </a:solidFill>
                          <a:latin typeface="微软雅黑"/>
                          <a:ea typeface="微软雅黑"/>
                          <a:cs typeface="微软雅黑"/>
                        </a:rPr>
                        <a:t>e_enh vs 排除真类后的9900类原型库;Top-K=8; max(0,cos(e_enh,p_k)-0.30)</a:t>
                      </a:r>
                    </a:p>
                  </a:txBody>
                  <a:tcPr anchor="ctr">
                    <a:solidFill>
                      <a:srgbClr val="FFFFFF"/>
                    </a:solidFill>
                  </a:tcPr>
                </a:tc>
                <a:tc>
                  <a:txBody>
                    <a:bodyPr/>
                    <a:lstStyle/>
                    <a:p>
                      <a:r>
                        <a:rPr sz="975" b="0">
                          <a:solidFill>
                            <a:srgbClr val="333333"/>
                          </a:solidFill>
                          <a:latin typeface="微软雅黑"/>
                          <a:ea typeface="微软雅黑"/>
                          <a:cs typeface="微软雅黑"/>
                        </a:rPr>
                        <a:t>只对最易混淆负原型产生梯度;主动推离冒认者,比平均惩罚更聚焦难例</a:t>
                      </a:r>
                    </a:p>
                  </a:txBody>
                  <a:tcPr anchor="ctr">
                    <a:solidFill>
                      <a:srgbClr val="FFFFFF"/>
                    </a:solidFill>
                  </a:tcPr>
                </a:tc>
                <a:extLst>
                  <a:ext uri="{0D108BD9-81ED-4DB2-BD59-A6C34878D82A}">
                    <a16:rowId xmlns:a16="http://schemas.microsoft.com/office/drawing/2014/main" val="10003"/>
                  </a:ext>
                </a:extLst>
              </a:tr>
              <a:tr h="533400">
                <a:tc>
                  <a:txBody>
                    <a:bodyPr/>
                    <a:lstStyle/>
                    <a:p>
                      <a:r>
                        <a:rPr sz="975" b="0">
                          <a:solidFill>
                            <a:srgbClr val="333333"/>
                          </a:solidFill>
                          <a:latin typeface="微软雅黑"/>
                          <a:ea typeface="微软雅黑"/>
                          <a:cs typeface="微软雅黑"/>
                        </a:rPr>
                        <a:t>L_ce</a:t>
                      </a:r>
                    </a:p>
                  </a:txBody>
                  <a:tcPr anchor="ctr">
                    <a:solidFill>
                      <a:srgbClr val="F2F6FC"/>
                    </a:solidFill>
                  </a:tcPr>
                </a:tc>
                <a:tc>
                  <a:txBody>
                    <a:bodyPr/>
                    <a:lstStyle/>
                    <a:p>
                      <a:r>
                        <a:rPr sz="975" b="0">
                          <a:solidFill>
                            <a:srgbClr val="333333"/>
                          </a:solidFill>
                          <a:latin typeface="微软雅黑"/>
                          <a:ea typeface="微软雅黑"/>
                          <a:cs typeface="微软雅黑"/>
                        </a:rPr>
                        <a:t>e_enh + 真实说话人标签 → AAM-CE(W,e_enh)</a:t>
                      </a:r>
                    </a:p>
                  </a:txBody>
                  <a:tcPr anchor="ctr">
                    <a:solidFill>
                      <a:srgbClr val="F2F6FC"/>
                    </a:solidFill>
                  </a:tcPr>
                </a:tc>
                <a:tc>
                  <a:txBody>
                    <a:bodyPr/>
                    <a:lstStyle/>
                    <a:p>
                      <a:r>
                        <a:rPr sz="975" b="0">
                          <a:solidFill>
                            <a:srgbClr val="333333"/>
                          </a:solidFill>
                          <a:latin typeface="微软雅黑"/>
                          <a:ea typeface="微软雅黑"/>
                          <a:cs typeface="微软雅黑"/>
                        </a:rPr>
                        <a:t>角度margin强化类内紧凑和类间分离;判别梯度回传前端,后端参数不更新</a:t>
                      </a:r>
                      <a:endParaRPr sz="1300">
                        <a:solidFill>
                          <a:srgbClr val="333333"/>
                        </a:solidFill>
                        <a:latin typeface="微软雅黑"/>
                        <a:ea typeface="微软雅黑"/>
                        <a:cs typeface="微软雅黑"/>
                      </a:endParaRPr>
                    </a:p>
                  </a:txBody>
                  <a:tcPr anchor="ctr">
                    <a:solidFill>
                      <a:srgbClr val="F2F6FC"/>
                    </a:solidFill>
                  </a:tcPr>
                </a:tc>
                <a:extLst>
                  <a:ext uri="{0D108BD9-81ED-4DB2-BD59-A6C34878D82A}">
                    <a16:rowId xmlns:a16="http://schemas.microsoft.com/office/drawing/2014/main" val="10004"/>
                  </a:ext>
                </a:extLst>
              </a:tr>
            </a:tbl>
          </a:graphicData>
        </a:graphic>
      </p:graphicFrame>
      <p:sp>
        <p:nvSpPr>
          <p:cNvPr id="9" name="文本框 8">
            <a:extLst>
              <a:ext uri="{FF2B5EF4-FFF2-40B4-BE49-F238E27FC236}">
                <a16:creationId xmlns:a16="http://schemas.microsoft.com/office/drawing/2014/main" id="{DA42D20D-A474-4E99-8FA9-7D568033641A}"/>
              </a:ext>
            </a:extLst>
          </p:cNvPr>
          <p:cNvSpPr>
            <a:spLocks noGrp="1"/>
          </p:cNvSpPr>
          <p:nvPr/>
        </p:nvSpPr>
        <p:spPr>
          <a:xfrm>
            <a:off x="504826" y="5391152"/>
            <a:ext cx="11306175" cy="838691"/>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共同作用路径:增强语音/掩码 → 四项监督 → 梯度汇总 → SpeakerFiLM + FullSubNet+</a:t>
            </a:r>
          </a:p>
          <a:p>
            <a:pPr>
              <a:spcAft>
                <a:spcPts val="600"/>
              </a:spcAft>
            </a:pPr>
            <a:r>
              <a:rPr sz="1450">
                <a:solidFill>
                  <a:srgbClr val="333333"/>
                </a:solidFill>
                <a:latin typeface="微软雅黑"/>
                <a:ea typeface="微软雅黑"/>
                <a:cs typeface="微软雅黑"/>
              </a:rPr>
              <a:t>冻结后端只充当固定特征标准:允许梯度通过其计算图,但不更新其参数。优势:声学保真与身份判别同时优化,避免出现听感变好而EER变差。</a:t>
            </a:r>
          </a:p>
        </p:txBody>
      </p:sp>
      <p:sp>
        <p:nvSpPr>
          <p:cNvPr id="10" name="矩形 9">
            <a:extLst>
              <a:ext uri="{FF2B5EF4-FFF2-40B4-BE49-F238E27FC236}">
                <a16:creationId xmlns:a16="http://schemas.microsoft.com/office/drawing/2014/main" id="{5FAB2014-56B5-5D38-A031-4C6068911B5A}"/>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3783363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DF23103-C458-462F-9943-8157F3261C87}"/>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余弦相似度用嵌入方向衡量是否为同一说话人</a:t>
            </a:r>
          </a:p>
        </p:txBody>
      </p:sp>
      <p:sp>
        <p:nvSpPr>
          <p:cNvPr id="4" name="文本框 3">
            <a:extLst>
              <a:ext uri="{FF2B5EF4-FFF2-40B4-BE49-F238E27FC236}">
                <a16:creationId xmlns:a16="http://schemas.microsoft.com/office/drawing/2014/main" id="{A5C173E3-7713-4FF6-A6EC-902DB330D294}"/>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05 前端结构与原理</a:t>
            </a:r>
          </a:p>
        </p:txBody>
      </p:sp>
      <p:sp>
        <p:nvSpPr>
          <p:cNvPr id="5" name="矩形 4">
            <a:extLst>
              <a:ext uri="{FF2B5EF4-FFF2-40B4-BE49-F238E27FC236}">
                <a16:creationId xmlns:a16="http://schemas.microsoft.com/office/drawing/2014/main" id="{4579032E-73E4-45A0-8808-B4116ED79C3A}"/>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graphicFrame>
        <p:nvGraphicFramePr>
          <p:cNvPr id="14" name="表格 5"/>
          <p:cNvGraphicFramePr/>
          <p:nvPr/>
        </p:nvGraphicFramePr>
        <p:xfrm>
          <a:off x="508001" y="1270000"/>
          <a:ext cx="11303001" cy="2794002"/>
        </p:xfrm>
        <a:graphic>
          <a:graphicData uri="http://schemas.openxmlformats.org/drawingml/2006/table">
            <a:tbl>
              <a:tblPr firstRow="1" bandRow="1">
                <a:tableStyleId>{5C22544A-7EE6-4342-B048-85BDC9FD1C3A}</a:tableStyleId>
              </a:tblPr>
              <a:tblGrid>
                <a:gridCol w="3767667">
                  <a:extLst>
                    <a:ext uri="{9D8B030D-6E8A-4147-A177-3AD203B41FA5}">
                      <a16:colId xmlns:a16="http://schemas.microsoft.com/office/drawing/2014/main" val="20000"/>
                    </a:ext>
                  </a:extLst>
                </a:gridCol>
                <a:gridCol w="3767667">
                  <a:extLst>
                    <a:ext uri="{9D8B030D-6E8A-4147-A177-3AD203B41FA5}">
                      <a16:colId xmlns:a16="http://schemas.microsoft.com/office/drawing/2014/main" val="20001"/>
                    </a:ext>
                  </a:extLst>
                </a:gridCol>
                <a:gridCol w="3767667">
                  <a:extLst>
                    <a:ext uri="{9D8B030D-6E8A-4147-A177-3AD203B41FA5}">
                      <a16:colId xmlns:a16="http://schemas.microsoft.com/office/drawing/2014/main" val="20002"/>
                    </a:ext>
                  </a:extLst>
                </a:gridCol>
              </a:tblGrid>
              <a:tr h="465667">
                <a:tc>
                  <a:txBody>
                    <a:bodyPr/>
                    <a:lstStyle/>
                    <a:p>
                      <a:r>
                        <a:rPr sz="1125" b="1">
                          <a:solidFill>
                            <a:srgbClr val="FFFFFF"/>
                          </a:solidFill>
                          <a:latin typeface="微软雅黑"/>
                          <a:ea typeface="微软雅黑"/>
                          <a:cs typeface="微软雅黑"/>
                        </a:rPr>
                        <a:t>环节</a:t>
                      </a:r>
                    </a:p>
                  </a:txBody>
                  <a:tcPr anchor="ctr">
                    <a:solidFill>
                      <a:srgbClr val="2F5496"/>
                    </a:solidFill>
                  </a:tcPr>
                </a:tc>
                <a:tc>
                  <a:txBody>
                    <a:bodyPr/>
                    <a:lstStyle/>
                    <a:p>
                      <a:r>
                        <a:rPr sz="1125" b="1">
                          <a:solidFill>
                            <a:srgbClr val="FFFFFF"/>
                          </a:solidFill>
                          <a:latin typeface="微软雅黑"/>
                          <a:ea typeface="微软雅黑"/>
                          <a:cs typeface="微软雅黑"/>
                        </a:rPr>
                        <a:t>输入 → 输出</a:t>
                      </a:r>
                    </a:p>
                  </a:txBody>
                  <a:tcPr anchor="ctr">
                    <a:solidFill>
                      <a:srgbClr val="2F5496"/>
                    </a:solidFill>
                  </a:tcPr>
                </a:tc>
                <a:tc>
                  <a:txBody>
                    <a:bodyPr/>
                    <a:lstStyle/>
                    <a:p>
                      <a:r>
                        <a:rPr sz="1125" b="1">
                          <a:solidFill>
                            <a:srgbClr val="FFFFFF"/>
                          </a:solidFill>
                          <a:latin typeface="微软雅黑"/>
                          <a:ea typeface="微软雅黑"/>
                          <a:cs typeface="微软雅黑"/>
                        </a:rPr>
                        <a:t>定义 / 优势</a:t>
                      </a:r>
                    </a:p>
                  </a:txBody>
                  <a:tcPr anchor="ctr">
                    <a:solidFill>
                      <a:srgbClr val="2F5496"/>
                    </a:solidFill>
                  </a:tcPr>
                </a:tc>
                <a:extLst>
                  <a:ext uri="{0D108BD9-81ED-4DB2-BD59-A6C34878D82A}">
                    <a16:rowId xmlns:a16="http://schemas.microsoft.com/office/drawing/2014/main" val="10000"/>
                  </a:ext>
                </a:extLst>
              </a:tr>
              <a:tr h="465667">
                <a:tc>
                  <a:txBody>
                    <a:bodyPr/>
                    <a:lstStyle/>
                    <a:p>
                      <a:r>
                        <a:rPr sz="1050" b="0">
                          <a:solidFill>
                            <a:srgbClr val="333333"/>
                          </a:solidFill>
                          <a:latin typeface="微软雅黑"/>
                          <a:ea typeface="微软雅黑"/>
                          <a:cs typeface="微软雅黑"/>
                        </a:rPr>
                        <a:t>注册模板</a:t>
                      </a:r>
                    </a:p>
                  </a:txBody>
                  <a:tcPr anchor="ctr">
                    <a:solidFill>
                      <a:srgbClr val="FFFFFF"/>
                    </a:solidFill>
                  </a:tcPr>
                </a:tc>
                <a:tc>
                  <a:txBody>
                    <a:bodyPr/>
                    <a:lstStyle/>
                    <a:p>
                      <a:r>
                        <a:rPr sz="1050" b="0">
                          <a:solidFill>
                            <a:srgbClr val="333333"/>
                          </a:solidFill>
                          <a:latin typeface="微软雅黑"/>
                          <a:ea typeface="微软雅黑"/>
                          <a:cs typeface="微软雅黑"/>
                        </a:rPr>
                        <a:t>clean注册语音 → 冻结后端 → e_enr</a:t>
                      </a:r>
                    </a:p>
                  </a:txBody>
                  <a:tcPr anchor="ctr">
                    <a:solidFill>
                      <a:srgbClr val="FFFFFF"/>
                    </a:solidFill>
                  </a:tcPr>
                </a:tc>
                <a:tc>
                  <a:txBody>
                    <a:bodyPr/>
                    <a:lstStyle/>
                    <a:p>
                      <a:r>
                        <a:rPr sz="1050" b="0">
                          <a:solidFill>
                            <a:srgbClr val="333333"/>
                          </a:solidFill>
                          <a:latin typeface="微软雅黑"/>
                          <a:ea typeface="微软雅黑"/>
                          <a:cs typeface="微软雅黑"/>
                        </a:rPr>
                        <a:t>固定目标说话人的参考方向</a:t>
                      </a:r>
                    </a:p>
                  </a:txBody>
                  <a:tcPr anchor="ctr">
                    <a:solidFill>
                      <a:srgbClr val="FFFFFF"/>
                    </a:solidFill>
                  </a:tcPr>
                </a:tc>
                <a:extLst>
                  <a:ext uri="{0D108BD9-81ED-4DB2-BD59-A6C34878D82A}">
                    <a16:rowId xmlns:a16="http://schemas.microsoft.com/office/drawing/2014/main" val="10001"/>
                  </a:ext>
                </a:extLst>
              </a:tr>
              <a:tr h="465667">
                <a:tc>
                  <a:txBody>
                    <a:bodyPr/>
                    <a:lstStyle/>
                    <a:p>
                      <a:r>
                        <a:rPr sz="1050" b="0">
                          <a:solidFill>
                            <a:srgbClr val="333333"/>
                          </a:solidFill>
                          <a:latin typeface="微软雅黑"/>
                          <a:ea typeface="微软雅黑"/>
                          <a:cs typeface="微软雅黑"/>
                        </a:rPr>
                        <a:t>测试表征</a:t>
                      </a:r>
                    </a:p>
                  </a:txBody>
                  <a:tcPr anchor="ctr">
                    <a:solidFill>
                      <a:srgbClr val="F2F6FC"/>
                    </a:solidFill>
                  </a:tcPr>
                </a:tc>
                <a:tc>
                  <a:txBody>
                    <a:bodyPr/>
                    <a:lstStyle/>
                    <a:p>
                      <a:r>
                        <a:rPr sz="1050" b="0">
                          <a:solidFill>
                            <a:srgbClr val="333333"/>
                          </a:solidFill>
                          <a:latin typeface="微软雅黑"/>
                          <a:ea typeface="微软雅黑"/>
                          <a:cs typeface="微软雅黑"/>
                        </a:rPr>
                        <a:t>增强语音 → 同一冻结后端 → e_enh</a:t>
                      </a:r>
                    </a:p>
                  </a:txBody>
                  <a:tcPr anchor="ctr">
                    <a:solidFill>
                      <a:srgbClr val="F2F6FC"/>
                    </a:solidFill>
                  </a:tcPr>
                </a:tc>
                <a:tc>
                  <a:txBody>
                    <a:bodyPr/>
                    <a:lstStyle/>
                    <a:p>
                      <a:r>
                        <a:rPr sz="1050" b="0">
                          <a:solidFill>
                            <a:srgbClr val="333333"/>
                          </a:solidFill>
                          <a:latin typeface="微软雅黑"/>
                          <a:ea typeface="微软雅黑"/>
                          <a:cs typeface="微软雅黑"/>
                        </a:rPr>
                        <a:t>与注册端保持同一特征空间</a:t>
                      </a:r>
                    </a:p>
                  </a:txBody>
                  <a:tcPr anchor="ctr">
                    <a:solidFill>
                      <a:srgbClr val="F2F6FC"/>
                    </a:solidFill>
                  </a:tcPr>
                </a:tc>
                <a:extLst>
                  <a:ext uri="{0D108BD9-81ED-4DB2-BD59-A6C34878D82A}">
                    <a16:rowId xmlns:a16="http://schemas.microsoft.com/office/drawing/2014/main" val="10002"/>
                  </a:ext>
                </a:extLst>
              </a:tr>
              <a:tr h="465667">
                <a:tc>
                  <a:txBody>
                    <a:bodyPr/>
                    <a:lstStyle/>
                    <a:p>
                      <a:r>
                        <a:rPr sz="1050" b="0">
                          <a:solidFill>
                            <a:srgbClr val="333333"/>
                          </a:solidFill>
                          <a:latin typeface="微软雅黑"/>
                          <a:ea typeface="微软雅黑"/>
                          <a:cs typeface="微软雅黑"/>
                        </a:rPr>
                        <a:t>Cosine score</a:t>
                      </a:r>
                    </a:p>
                  </a:txBody>
                  <a:tcPr anchor="ctr">
                    <a:solidFill>
                      <a:srgbClr val="FFFFFF"/>
                    </a:solidFill>
                  </a:tcPr>
                </a:tc>
                <a:tc>
                  <a:txBody>
                    <a:bodyPr/>
                    <a:lstStyle/>
                    <a:p>
                      <a:r>
                        <a:rPr sz="1050" b="0">
                          <a:solidFill>
                            <a:srgbClr val="333333"/>
                          </a:solidFill>
                          <a:latin typeface="微软雅黑"/>
                          <a:ea typeface="微软雅黑"/>
                          <a:cs typeface="微软雅黑"/>
                        </a:rPr>
                        <a:t>s=(e_enr·e_enh)/(||e_enr||₂||e_enh||₂)</a:t>
                      </a:r>
                    </a:p>
                  </a:txBody>
                  <a:tcPr anchor="ctr">
                    <a:solidFill>
                      <a:srgbClr val="FFFFFF"/>
                    </a:solidFill>
                  </a:tcPr>
                </a:tc>
                <a:tc>
                  <a:txBody>
                    <a:bodyPr/>
                    <a:lstStyle/>
                    <a:p>
                      <a:r>
                        <a:rPr sz="1050" b="0">
                          <a:solidFill>
                            <a:srgbClr val="333333"/>
                          </a:solidFill>
                          <a:latin typeface="微软雅黑"/>
                          <a:ea typeface="微软雅黑"/>
                          <a:cs typeface="微软雅黑"/>
                        </a:rPr>
                        <a:t>范围[-1,1];夹角越小,分数越高</a:t>
                      </a:r>
                    </a:p>
                  </a:txBody>
                  <a:tcPr anchor="ctr">
                    <a:solidFill>
                      <a:srgbClr val="FFFFFF"/>
                    </a:solidFill>
                  </a:tcPr>
                </a:tc>
                <a:extLst>
                  <a:ext uri="{0D108BD9-81ED-4DB2-BD59-A6C34878D82A}">
                    <a16:rowId xmlns:a16="http://schemas.microsoft.com/office/drawing/2014/main" val="10003"/>
                  </a:ext>
                </a:extLst>
              </a:tr>
              <a:tr h="465667">
                <a:tc>
                  <a:txBody>
                    <a:bodyPr/>
                    <a:lstStyle/>
                    <a:p>
                      <a:r>
                        <a:rPr sz="1050" b="0">
                          <a:solidFill>
                            <a:srgbClr val="333333"/>
                          </a:solidFill>
                          <a:latin typeface="微软雅黑"/>
                          <a:ea typeface="微软雅黑"/>
                          <a:cs typeface="微软雅黑"/>
                        </a:rPr>
                        <a:t>阈值判决</a:t>
                      </a:r>
                    </a:p>
                  </a:txBody>
                  <a:tcPr anchor="ctr">
                    <a:solidFill>
                      <a:srgbClr val="F2F6FC"/>
                    </a:solidFill>
                  </a:tcPr>
                </a:tc>
                <a:tc>
                  <a:txBody>
                    <a:bodyPr/>
                    <a:lstStyle/>
                    <a:p>
                      <a:r>
                        <a:rPr sz="1050" b="0">
                          <a:solidFill>
                            <a:srgbClr val="333333"/>
                          </a:solidFill>
                          <a:latin typeface="微软雅黑"/>
                          <a:ea typeface="微软雅黑"/>
                          <a:cs typeface="微软雅黑"/>
                        </a:rPr>
                        <a:t>s ≥ T_dev 判目标;s &lt; T_dev 判非目标</a:t>
                      </a:r>
                    </a:p>
                  </a:txBody>
                  <a:tcPr anchor="ctr">
                    <a:solidFill>
                      <a:srgbClr val="F2F6FC"/>
                    </a:solidFill>
                  </a:tcPr>
                </a:tc>
                <a:tc>
                  <a:txBody>
                    <a:bodyPr/>
                    <a:lstStyle/>
                    <a:p>
                      <a:r>
                        <a:rPr sz="1050" b="0">
                          <a:solidFill>
                            <a:srgbClr val="333333"/>
                          </a:solidFill>
                          <a:latin typeface="微软雅黑"/>
                          <a:ea typeface="微软雅黑"/>
                          <a:cs typeface="微软雅黑"/>
                        </a:rPr>
                        <a:t>阈值只在Dev确定,Eval固定复用</a:t>
                      </a:r>
                    </a:p>
                  </a:txBody>
                  <a:tcPr anchor="ctr">
                    <a:solidFill>
                      <a:srgbClr val="F2F6FC"/>
                    </a:solidFill>
                  </a:tcPr>
                </a:tc>
                <a:extLst>
                  <a:ext uri="{0D108BD9-81ED-4DB2-BD59-A6C34878D82A}">
                    <a16:rowId xmlns:a16="http://schemas.microsoft.com/office/drawing/2014/main" val="10004"/>
                  </a:ext>
                </a:extLst>
              </a:tr>
              <a:tr h="465667">
                <a:tc>
                  <a:txBody>
                    <a:bodyPr/>
                    <a:lstStyle/>
                    <a:p>
                      <a:r>
                        <a:rPr sz="1050" b="0">
                          <a:solidFill>
                            <a:srgbClr val="333333"/>
                          </a:solidFill>
                          <a:latin typeface="微软雅黑"/>
                          <a:ea typeface="微软雅黑"/>
                          <a:cs typeface="微软雅黑"/>
                        </a:rPr>
                        <a:t>统计输出</a:t>
                      </a:r>
                    </a:p>
                  </a:txBody>
                  <a:tcPr anchor="ctr">
                    <a:solidFill>
                      <a:srgbClr val="FFFFFF"/>
                    </a:solidFill>
                  </a:tcPr>
                </a:tc>
                <a:tc>
                  <a:txBody>
                    <a:bodyPr/>
                    <a:lstStyle/>
                    <a:p>
                      <a:r>
                        <a:rPr sz="1050" b="0">
                          <a:solidFill>
                            <a:srgbClr val="333333"/>
                          </a:solidFill>
                          <a:latin typeface="微软雅黑"/>
                          <a:ea typeface="微软雅黑"/>
                          <a:cs typeface="微软雅黑"/>
                        </a:rPr>
                        <a:t>全量score+label → EER/minDCF/ROC/DET</a:t>
                      </a:r>
                    </a:p>
                  </a:txBody>
                  <a:tcPr anchor="ctr">
                    <a:solidFill>
                      <a:srgbClr val="FFFFFF"/>
                    </a:solidFill>
                  </a:tcPr>
                </a:tc>
                <a:tc>
                  <a:txBody>
                    <a:bodyPr/>
                    <a:lstStyle/>
                    <a:p>
                      <a:r>
                        <a:rPr sz="1050" b="0">
                          <a:solidFill>
                            <a:srgbClr val="333333"/>
                          </a:solidFill>
                          <a:latin typeface="微软雅黑"/>
                          <a:ea typeface="微软雅黑"/>
                          <a:cs typeface="微软雅黑"/>
                        </a:rPr>
                        <a:t>计算简单、无需额外可训练打分器</a:t>
                      </a:r>
                      <a:endParaRPr sz="1300">
                        <a:solidFill>
                          <a:srgbClr val="333333"/>
                        </a:solidFill>
                        <a:latin typeface="微软雅黑"/>
                        <a:ea typeface="微软雅黑"/>
                        <a:cs typeface="微软雅黑"/>
                      </a:endParaRPr>
                    </a:p>
                  </a:txBody>
                  <a:tcPr anchor="ctr">
                    <a:solidFill>
                      <a:srgbClr val="FFFFFF"/>
                    </a:solidFill>
                  </a:tcPr>
                </a:tc>
                <a:extLst>
                  <a:ext uri="{0D108BD9-81ED-4DB2-BD59-A6C34878D82A}">
                    <a16:rowId xmlns:a16="http://schemas.microsoft.com/office/drawing/2014/main" val="10005"/>
                  </a:ext>
                </a:extLst>
              </a:tr>
            </a:tbl>
          </a:graphicData>
        </a:graphic>
      </p:graphicFrame>
      <p:sp>
        <p:nvSpPr>
          <p:cNvPr id="7" name="文本框 6">
            <a:extLst>
              <a:ext uri="{FF2B5EF4-FFF2-40B4-BE49-F238E27FC236}">
                <a16:creationId xmlns:a16="http://schemas.microsoft.com/office/drawing/2014/main" id="{A41F65AB-82A0-4926-AED9-941F10B35284}"/>
              </a:ext>
            </a:extLst>
          </p:cNvPr>
          <p:cNvSpPr>
            <a:spLocks noGrp="1"/>
          </p:cNvSpPr>
          <p:nvPr/>
        </p:nvSpPr>
        <p:spPr>
          <a:xfrm>
            <a:off x="508000" y="4318000"/>
            <a:ext cx="5080000" cy="338554"/>
          </a:xfrm>
          <a:prstGeom prst="rect">
            <a:avLst/>
          </a:prstGeom>
          <a:noFill/>
        </p:spPr>
        <p:txBody>
          <a:bodyPr vert="horz">
            <a:spAutoFit/>
          </a:bodyPr>
          <a:lstStyle/>
          <a:p>
            <a:r>
              <a:rPr sz="1600" b="1">
                <a:solidFill>
                  <a:srgbClr val="1F3864"/>
                </a:solidFill>
                <a:latin typeface="微软雅黑"/>
                <a:ea typeface="微软雅黑"/>
                <a:cs typeface="微软雅黑"/>
              </a:rPr>
              <a:t>原理与优势</a:t>
            </a:r>
          </a:p>
        </p:txBody>
      </p:sp>
      <p:sp>
        <p:nvSpPr>
          <p:cNvPr id="8" name="文本框 7">
            <a:extLst>
              <a:ext uri="{FF2B5EF4-FFF2-40B4-BE49-F238E27FC236}">
                <a16:creationId xmlns:a16="http://schemas.microsoft.com/office/drawing/2014/main" id="{5D896F50-277B-4057-B6F9-F55F016D3F0E}"/>
              </a:ext>
            </a:extLst>
          </p:cNvPr>
          <p:cNvSpPr>
            <a:spLocks noGrp="1"/>
          </p:cNvSpPr>
          <p:nvPr/>
        </p:nvSpPr>
        <p:spPr>
          <a:xfrm>
            <a:off x="508000" y="4724402"/>
            <a:ext cx="11303000" cy="915635"/>
          </a:xfrm>
          <a:prstGeom prst="rect">
            <a:avLst/>
          </a:prstGeom>
          <a:noFill/>
        </p:spPr>
        <p:txBody>
          <a:bodyPr vert="horz">
            <a:spAutoFit/>
          </a:bodyPr>
          <a:lstStyle/>
          <a:p>
            <a:pPr>
              <a:spcAft>
                <a:spcPts val="600"/>
              </a:spcAft>
            </a:pPr>
            <a:r>
              <a:rPr sz="1450">
                <a:solidFill>
                  <a:srgbClr val="333333"/>
                </a:solidFill>
                <a:latin typeface="微软雅黑"/>
                <a:ea typeface="微软雅黑"/>
                <a:cs typeface="微软雅黑"/>
              </a:rPr>
              <a:t>• L2归一化后只比较向量方向,降低整体幅值或嵌入模长变化的影响</a:t>
            </a:r>
          </a:p>
          <a:p>
            <a:pPr>
              <a:spcAft>
                <a:spcPts val="600"/>
              </a:spcAft>
            </a:pPr>
            <a:r>
              <a:rPr sz="1450">
                <a:solidFill>
                  <a:srgbClr val="333333"/>
                </a:solidFill>
                <a:latin typeface="微软雅黑"/>
                <a:ea typeface="微软雅黑"/>
                <a:cs typeface="微软雅黑"/>
              </a:rPr>
              <a:t>• Raw与增强语音使用同一个冻结后端和同一个公式,结果可直接比较</a:t>
            </a:r>
          </a:p>
          <a:p>
            <a:pPr>
              <a:spcAft>
                <a:spcPts val="600"/>
              </a:spcAft>
            </a:pPr>
            <a:r>
              <a:rPr sz="1450">
                <a:solidFill>
                  <a:srgbClr val="333333"/>
                </a:solidFill>
                <a:latin typeface="微软雅黑"/>
                <a:ea typeface="微软雅黑"/>
                <a:cs typeface="微软雅黑"/>
              </a:rPr>
              <a:t>• 它同时连接训练与评测:L_spk用1-cos保持身份,最终验证仍用cosine score判决</a:t>
            </a:r>
          </a:p>
        </p:txBody>
      </p:sp>
      <p:sp>
        <p:nvSpPr>
          <p:cNvPr id="9" name="矩形 8">
            <a:extLst>
              <a:ext uri="{FF2B5EF4-FFF2-40B4-BE49-F238E27FC236}">
                <a16:creationId xmlns:a16="http://schemas.microsoft.com/office/drawing/2014/main" id="{72296AA7-02D5-434A-BB85-C846707C635C}"/>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23952245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E280-1AFC-D558-65DC-52DEA45065A5}"/>
            </a:ext>
          </a:extLst>
        </p:cNvPr>
        <p:cNvGrpSpPr/>
        <p:nvPr/>
      </p:nvGrpSpPr>
      <p:grpSpPr>
        <a:xfrm>
          <a:off x="0" y="0"/>
          <a:ext cx="0" cy="0"/>
          <a:chOff x="0" y="0"/>
          <a:chExt cx="0" cy="0"/>
        </a:xfrm>
      </p:grpSpPr>
      <p:sp>
        <p:nvSpPr>
          <p:cNvPr id="2" name="文本框 1">
            <a:extLst>
              <a:ext uri="{FF2B5EF4-FFF2-40B4-BE49-F238E27FC236}">
                <a16:creationId xmlns:a16="http://schemas.microsoft.com/office/drawing/2014/main" id="{D33321BC-ED81-1DED-2094-030FC15D5516}"/>
              </a:ext>
            </a:extLst>
          </p:cNvPr>
          <p:cNvSpPr txBox="1"/>
          <p:nvPr/>
        </p:nvSpPr>
        <p:spPr>
          <a:xfrm>
            <a:off x="762000" y="431800"/>
            <a:ext cx="3810000" cy="553998"/>
          </a:xfrm>
          <a:prstGeom prst="rect">
            <a:avLst/>
          </a:prstGeom>
          <a:noFill/>
        </p:spPr>
        <p:txBody>
          <a:bodyPr vert="horz" rtlCol="0">
            <a:spAutoFit/>
          </a:bodyPr>
          <a:lstStyle/>
          <a:p>
            <a:r>
              <a:rPr lang="zh-CN" altLang="en-US" sz="3000" b="1">
                <a:solidFill>
                  <a:srgbClr val="1F3864"/>
                </a:solidFill>
                <a:latin typeface="微软雅黑" panose="020B0503020204020204" pitchFamily="34" charset="-122"/>
                <a:ea typeface="微软雅黑" panose="020B0503020204020204" pitchFamily="34" charset="-122"/>
              </a:rPr>
              <a:t>提  纲</a:t>
            </a:r>
          </a:p>
        </p:txBody>
      </p:sp>
      <p:sp>
        <p:nvSpPr>
          <p:cNvPr id="3" name="矩形 2">
            <a:extLst>
              <a:ext uri="{FF2B5EF4-FFF2-40B4-BE49-F238E27FC236}">
                <a16:creationId xmlns:a16="http://schemas.microsoft.com/office/drawing/2014/main" id="{F9A4EF3A-8F8B-401E-54AD-CAA5748EDFEE}"/>
              </a:ext>
            </a:extLst>
          </p:cNvPr>
          <p:cNvSpPr/>
          <p:nvPr/>
        </p:nvSpPr>
        <p:spPr>
          <a:xfrm>
            <a:off x="787400" y="1168400"/>
            <a:ext cx="1117600" cy="381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2B2DEF39-B580-0630-326B-2C8E94AD3C65}"/>
              </a:ext>
            </a:extLst>
          </p:cNvPr>
          <p:cNvSpPr/>
          <p:nvPr/>
        </p:nvSpPr>
        <p:spPr>
          <a:xfrm>
            <a:off x="1143000" y="17780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01</a:t>
            </a:r>
            <a:endParaRPr lang="zh-CN" altLang="en-US" b="1">
              <a:solidFill>
                <a:srgbClr val="1F3864"/>
              </a:solidFill>
              <a:ea typeface="微软雅黑" panose="020B0503020204020204" pitchFamily="34" charset="-122"/>
            </a:endParaRPr>
          </a:p>
        </p:txBody>
      </p:sp>
      <p:sp>
        <p:nvSpPr>
          <p:cNvPr id="5" name="文本框 4">
            <a:extLst>
              <a:ext uri="{FF2B5EF4-FFF2-40B4-BE49-F238E27FC236}">
                <a16:creationId xmlns:a16="http://schemas.microsoft.com/office/drawing/2014/main" id="{BF2D1291-1C88-C73C-ECC4-80FFE8F5695C}"/>
              </a:ext>
            </a:extLst>
          </p:cNvPr>
          <p:cNvSpPr txBox="1"/>
          <p:nvPr/>
        </p:nvSpPr>
        <p:spPr>
          <a:xfrm>
            <a:off x="2235200" y="1828800"/>
            <a:ext cx="5334000" cy="415498"/>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数据协议与构建</a:t>
            </a:r>
          </a:p>
        </p:txBody>
      </p:sp>
      <p:sp>
        <p:nvSpPr>
          <p:cNvPr id="6" name="矩形 5">
            <a:extLst>
              <a:ext uri="{FF2B5EF4-FFF2-40B4-BE49-F238E27FC236}">
                <a16:creationId xmlns:a16="http://schemas.microsoft.com/office/drawing/2014/main" id="{3D0A21A0-2BAD-CFD8-682F-CA61528755B2}"/>
              </a:ext>
            </a:extLst>
          </p:cNvPr>
          <p:cNvSpPr/>
          <p:nvPr/>
        </p:nvSpPr>
        <p:spPr>
          <a:xfrm>
            <a:off x="1143000" y="25654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02</a:t>
            </a:r>
            <a:endParaRPr lang="zh-CN" altLang="en-US" b="1">
              <a:solidFill>
                <a:srgbClr val="1F3864"/>
              </a:solidFill>
              <a:ea typeface="微软雅黑" panose="020B0503020204020204" pitchFamily="34" charset="-122"/>
            </a:endParaRPr>
          </a:p>
        </p:txBody>
      </p:sp>
      <p:sp>
        <p:nvSpPr>
          <p:cNvPr id="7" name="文本框 6">
            <a:extLst>
              <a:ext uri="{FF2B5EF4-FFF2-40B4-BE49-F238E27FC236}">
                <a16:creationId xmlns:a16="http://schemas.microsoft.com/office/drawing/2014/main" id="{FA9FB0FE-77CD-9176-8E11-9BF1BCF4E3EA}"/>
              </a:ext>
            </a:extLst>
          </p:cNvPr>
          <p:cNvSpPr txBox="1"/>
          <p:nvPr/>
        </p:nvSpPr>
        <p:spPr>
          <a:xfrm>
            <a:off x="2235200" y="26162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数据可信性</a:t>
            </a:r>
            <a:r>
              <a:rPr lang="en-US" altLang="zh-CN" sz="1900" dirty="0">
                <a:solidFill>
                  <a:srgbClr val="44546A"/>
                </a:solidFill>
                <a:latin typeface="微软雅黑" panose="020B0503020204020204" pitchFamily="34" charset="-122"/>
                <a:ea typeface="微软雅黑" panose="020B0503020204020204" pitchFamily="34" charset="-122"/>
              </a:rPr>
              <a:t>-</a:t>
            </a:r>
            <a:r>
              <a:rPr lang="zh-CN" altLang="en-US" sz="1900" dirty="0">
                <a:solidFill>
                  <a:srgbClr val="44546A"/>
                </a:solidFill>
                <a:latin typeface="微软雅黑" panose="020B0503020204020204" pitchFamily="34" charset="-122"/>
                <a:ea typeface="微软雅黑" panose="020B0503020204020204" pitchFamily="34" charset="-122"/>
              </a:rPr>
              <a:t>泄露性检查</a:t>
            </a:r>
          </a:p>
        </p:txBody>
      </p:sp>
      <p:sp>
        <p:nvSpPr>
          <p:cNvPr id="8" name="矩形 7">
            <a:extLst>
              <a:ext uri="{FF2B5EF4-FFF2-40B4-BE49-F238E27FC236}">
                <a16:creationId xmlns:a16="http://schemas.microsoft.com/office/drawing/2014/main" id="{B78C1D2F-2CD0-4CF4-A30F-5D212F3F8B37}"/>
              </a:ext>
            </a:extLst>
          </p:cNvPr>
          <p:cNvSpPr/>
          <p:nvPr/>
        </p:nvSpPr>
        <p:spPr>
          <a:xfrm>
            <a:off x="1143000" y="33528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03</a:t>
            </a:r>
            <a:endParaRPr lang="zh-CN" altLang="en-US" b="1">
              <a:solidFill>
                <a:srgbClr val="1F3864"/>
              </a:solidFill>
              <a:ea typeface="微软雅黑" panose="020B0503020204020204" pitchFamily="34" charset="-122"/>
            </a:endParaRPr>
          </a:p>
        </p:txBody>
      </p:sp>
      <p:sp>
        <p:nvSpPr>
          <p:cNvPr id="9" name="文本框 8">
            <a:extLst>
              <a:ext uri="{FF2B5EF4-FFF2-40B4-BE49-F238E27FC236}">
                <a16:creationId xmlns:a16="http://schemas.microsoft.com/office/drawing/2014/main" id="{7E819216-F11E-ABE7-39EF-42B5C39B035D}"/>
              </a:ext>
            </a:extLst>
          </p:cNvPr>
          <p:cNvSpPr txBox="1"/>
          <p:nvPr/>
        </p:nvSpPr>
        <p:spPr>
          <a:xfrm>
            <a:off x="2235200" y="3403600"/>
            <a:ext cx="5334000" cy="384721"/>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统一评测协议构建</a:t>
            </a:r>
          </a:p>
        </p:txBody>
      </p:sp>
      <p:sp>
        <p:nvSpPr>
          <p:cNvPr id="10" name="矩形 9">
            <a:extLst>
              <a:ext uri="{FF2B5EF4-FFF2-40B4-BE49-F238E27FC236}">
                <a16:creationId xmlns:a16="http://schemas.microsoft.com/office/drawing/2014/main" id="{447AE5ED-66D3-3C4C-8A2D-68F4EED0BE65}"/>
              </a:ext>
            </a:extLst>
          </p:cNvPr>
          <p:cNvSpPr/>
          <p:nvPr/>
        </p:nvSpPr>
        <p:spPr>
          <a:xfrm>
            <a:off x="1143000" y="41402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1F3864"/>
                </a:solidFill>
                <a:ea typeface="微软雅黑" panose="020B0503020204020204" pitchFamily="34" charset="-122"/>
              </a:rPr>
              <a:t>04</a:t>
            </a:r>
            <a:endParaRPr lang="zh-CN" altLang="en-US" b="1" dirty="0">
              <a:solidFill>
                <a:srgbClr val="1F3864"/>
              </a:solidFill>
              <a:ea typeface="微软雅黑" panose="020B0503020204020204" pitchFamily="34" charset="-122"/>
            </a:endParaRPr>
          </a:p>
        </p:txBody>
      </p:sp>
      <p:sp>
        <p:nvSpPr>
          <p:cNvPr id="11" name="文本框 10">
            <a:extLst>
              <a:ext uri="{FF2B5EF4-FFF2-40B4-BE49-F238E27FC236}">
                <a16:creationId xmlns:a16="http://schemas.microsoft.com/office/drawing/2014/main" id="{6AE0E0C0-2B27-4F9E-DA04-413953320E34}"/>
              </a:ext>
            </a:extLst>
          </p:cNvPr>
          <p:cNvSpPr txBox="1"/>
          <p:nvPr/>
        </p:nvSpPr>
        <p:spPr>
          <a:xfrm>
            <a:off x="2235200" y="4191000"/>
            <a:ext cx="5334000" cy="384721"/>
          </a:xfrm>
          <a:prstGeom prst="rect">
            <a:avLst/>
          </a:prstGeom>
          <a:noFill/>
        </p:spPr>
        <p:txBody>
          <a:bodyPr vert="horz" rtlCol="0">
            <a:spAutoFit/>
          </a:bodyPr>
          <a:lstStyle>
            <a:defPPr>
              <a:defRPr lang="zh-CN"/>
            </a:defPPr>
            <a:lvl1pPr>
              <a:defRPr sz="1900">
                <a:solidFill>
                  <a:srgbClr val="44546A"/>
                </a:solidFill>
                <a:latin typeface="微软雅黑" panose="020B0503020204020204" pitchFamily="34" charset="-122"/>
                <a:ea typeface="微软雅黑" panose="020B0503020204020204" pitchFamily="34" charset="-122"/>
              </a:defRPr>
            </a:lvl1pPr>
          </a:lstStyle>
          <a:p>
            <a:r>
              <a:rPr lang="zh-CN" altLang="en-US" dirty="0"/>
              <a:t>文献调研与判决</a:t>
            </a:r>
          </a:p>
        </p:txBody>
      </p:sp>
      <p:sp>
        <p:nvSpPr>
          <p:cNvPr id="12" name="矩形 11">
            <a:extLst>
              <a:ext uri="{FF2B5EF4-FFF2-40B4-BE49-F238E27FC236}">
                <a16:creationId xmlns:a16="http://schemas.microsoft.com/office/drawing/2014/main" id="{0C6EA1F9-4DF6-5E5D-A57F-485BB7077018}"/>
              </a:ext>
            </a:extLst>
          </p:cNvPr>
          <p:cNvSpPr/>
          <p:nvPr/>
        </p:nvSpPr>
        <p:spPr>
          <a:xfrm>
            <a:off x="1143000" y="4927600"/>
            <a:ext cx="812800" cy="508000"/>
          </a:xfrm>
          <a:prstGeom prst="rect">
            <a:avLst/>
          </a:prstGeom>
          <a:solidFill>
            <a:srgbClr val="D9E2F3"/>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1F3864"/>
                </a:solidFill>
                <a:ea typeface="微软雅黑" panose="020B0503020204020204" pitchFamily="34" charset="-122"/>
              </a:rPr>
              <a:t>05</a:t>
            </a:r>
            <a:endParaRPr lang="zh-CN" altLang="en-US" b="1">
              <a:solidFill>
                <a:srgbClr val="1F3864"/>
              </a:solidFill>
              <a:ea typeface="微软雅黑" panose="020B0503020204020204" pitchFamily="34" charset="-122"/>
            </a:endParaRPr>
          </a:p>
        </p:txBody>
      </p:sp>
      <p:sp>
        <p:nvSpPr>
          <p:cNvPr id="13" name="文本框 12">
            <a:extLst>
              <a:ext uri="{FF2B5EF4-FFF2-40B4-BE49-F238E27FC236}">
                <a16:creationId xmlns:a16="http://schemas.microsoft.com/office/drawing/2014/main" id="{5A0F6DDA-FF9D-255E-5F1B-9302BE6C744C}"/>
              </a:ext>
            </a:extLst>
          </p:cNvPr>
          <p:cNvSpPr txBox="1"/>
          <p:nvPr/>
        </p:nvSpPr>
        <p:spPr>
          <a:xfrm>
            <a:off x="2235200" y="4978400"/>
            <a:ext cx="5334000" cy="384721"/>
          </a:xfrm>
          <a:prstGeom prst="rect">
            <a:avLst/>
          </a:prstGeom>
          <a:noFill/>
        </p:spPr>
        <p:txBody>
          <a:bodyPr vert="horz" rtlCol="0">
            <a:spAutoFit/>
          </a:bodyPr>
          <a:lstStyle/>
          <a:p>
            <a:r>
              <a:rPr lang="zh-CN" altLang="en-US" sz="1900" dirty="0">
                <a:solidFill>
                  <a:srgbClr val="44546A"/>
                </a:solidFill>
                <a:latin typeface="微软雅黑" panose="020B0503020204020204" pitchFamily="34" charset="-122"/>
                <a:ea typeface="微软雅黑" panose="020B0503020204020204" pitchFamily="34" charset="-122"/>
              </a:rPr>
              <a:t>前端结构与原理</a:t>
            </a:r>
          </a:p>
        </p:txBody>
      </p:sp>
      <p:sp>
        <p:nvSpPr>
          <p:cNvPr id="14" name="矩形 13">
            <a:extLst>
              <a:ext uri="{FF2B5EF4-FFF2-40B4-BE49-F238E27FC236}">
                <a16:creationId xmlns:a16="http://schemas.microsoft.com/office/drawing/2014/main" id="{7EAED089-82D2-3B1F-C597-09CBB217A192}"/>
              </a:ext>
            </a:extLst>
          </p:cNvPr>
          <p:cNvSpPr/>
          <p:nvPr/>
        </p:nvSpPr>
        <p:spPr>
          <a:xfrm>
            <a:off x="1143000" y="5715000"/>
            <a:ext cx="812800" cy="5080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a:solidFill>
                  <a:srgbClr val="FFFFFF"/>
                </a:solidFill>
                <a:ea typeface="微软雅黑" panose="020B0503020204020204" pitchFamily="34" charset="-122"/>
              </a:rPr>
              <a:t>06</a:t>
            </a:r>
            <a:endParaRPr lang="zh-CN" altLang="en-US" b="1">
              <a:solidFill>
                <a:srgbClr val="FFFFFF"/>
              </a:solidFill>
              <a:ea typeface="微软雅黑" panose="020B0503020204020204" pitchFamily="34" charset="-122"/>
            </a:endParaRPr>
          </a:p>
        </p:txBody>
      </p:sp>
      <p:sp>
        <p:nvSpPr>
          <p:cNvPr id="15" name="文本框 14">
            <a:extLst>
              <a:ext uri="{FF2B5EF4-FFF2-40B4-BE49-F238E27FC236}">
                <a16:creationId xmlns:a16="http://schemas.microsoft.com/office/drawing/2014/main" id="{C4AFD89B-A6F5-0635-29D9-2DC0198EC80B}"/>
              </a:ext>
            </a:extLst>
          </p:cNvPr>
          <p:cNvSpPr txBox="1"/>
          <p:nvPr/>
        </p:nvSpPr>
        <p:spPr>
          <a:xfrm>
            <a:off x="2235200" y="5765800"/>
            <a:ext cx="5334000" cy="384721"/>
          </a:xfrm>
          <a:prstGeom prst="rect">
            <a:avLst/>
          </a:prstGeom>
          <a:noFill/>
        </p:spPr>
        <p:txBody>
          <a:bodyPr vert="horz" rtlCol="0">
            <a:spAutoFit/>
          </a:bodyPr>
          <a:lstStyle>
            <a:defPPr>
              <a:defRPr lang="zh-CN"/>
            </a:defPPr>
            <a:lvl1pPr>
              <a:defRPr sz="2100" b="1">
                <a:solidFill>
                  <a:srgbClr val="ED7D31"/>
                </a:solidFill>
                <a:latin typeface="微软雅黑" panose="020B0503020204020204" pitchFamily="34" charset="-122"/>
                <a:ea typeface="微软雅黑" panose="020B0503020204020204" pitchFamily="34" charset="-122"/>
              </a:defRPr>
            </a:lvl1pPr>
          </a:lstStyle>
          <a:p>
            <a:r>
              <a:rPr lang="zh-CN" altLang="en-US" dirty="0"/>
              <a:t>展望与规划</a:t>
            </a:r>
          </a:p>
        </p:txBody>
      </p:sp>
      <p:sp>
        <p:nvSpPr>
          <p:cNvPr id="16" name="文本框 15">
            <a:extLst>
              <a:ext uri="{FF2B5EF4-FFF2-40B4-BE49-F238E27FC236}">
                <a16:creationId xmlns:a16="http://schemas.microsoft.com/office/drawing/2014/main" id="{C41B19B5-5649-429A-6E17-EC13CD788D8D}"/>
              </a:ext>
            </a:extLst>
          </p:cNvPr>
          <p:cNvSpPr txBox="1"/>
          <p:nvPr/>
        </p:nvSpPr>
        <p:spPr>
          <a:xfrm>
            <a:off x="7112000" y="1905000"/>
            <a:ext cx="4064000" cy="1785104"/>
          </a:xfrm>
          <a:prstGeom prst="rect">
            <a:avLst/>
          </a:prstGeom>
          <a:noFill/>
        </p:spPr>
        <p:txBody>
          <a:bodyPr vert="horz" rtlCol="0">
            <a:spAutoFit/>
          </a:bodyPr>
          <a:lstStyle/>
          <a:p>
            <a:pPr algn="ctr"/>
            <a:r>
              <a:rPr lang="en-US" altLang="zh-CN" sz="11000" b="1" dirty="0">
                <a:solidFill>
                  <a:srgbClr val="E2E8F5"/>
                </a:solidFill>
                <a:latin typeface="微软雅黑" panose="020B0503020204020204" pitchFamily="34" charset="-122"/>
                <a:ea typeface="微软雅黑" panose="020B0503020204020204" pitchFamily="34" charset="-122"/>
              </a:rPr>
              <a:t>06</a:t>
            </a:r>
            <a:endParaRPr lang="zh-CN" altLang="en-US" sz="11000" b="1" dirty="0">
              <a:solidFill>
                <a:srgbClr val="E2E8F5"/>
              </a:solidFill>
              <a:latin typeface="微软雅黑" panose="020B0503020204020204" pitchFamily="34" charset="-122"/>
              <a:ea typeface="微软雅黑" panose="020B0503020204020204" pitchFamily="34" charset="-122"/>
            </a:endParaRPr>
          </a:p>
        </p:txBody>
      </p:sp>
      <p:sp>
        <p:nvSpPr>
          <p:cNvPr id="17" name="文本框 16">
            <a:extLst>
              <a:ext uri="{FF2B5EF4-FFF2-40B4-BE49-F238E27FC236}">
                <a16:creationId xmlns:a16="http://schemas.microsoft.com/office/drawing/2014/main" id="{5D020433-7B1E-E96A-5572-509FEA22CC33}"/>
              </a:ext>
            </a:extLst>
          </p:cNvPr>
          <p:cNvSpPr txBox="1"/>
          <p:nvPr/>
        </p:nvSpPr>
        <p:spPr>
          <a:xfrm>
            <a:off x="7112000" y="4064000"/>
            <a:ext cx="4318000" cy="553998"/>
          </a:xfrm>
          <a:prstGeom prst="rect">
            <a:avLst/>
          </a:prstGeom>
          <a:noFill/>
        </p:spPr>
        <p:txBody>
          <a:bodyPr vert="horz" rtlCol="0">
            <a:spAutoFit/>
          </a:bodyPr>
          <a:lstStyle/>
          <a:p>
            <a:r>
              <a:rPr lang="zh-CN" altLang="en-US" sz="3000" b="1" dirty="0">
                <a:solidFill>
                  <a:srgbClr val="1F3864"/>
                </a:solidFill>
                <a:latin typeface="微软雅黑" panose="020B0503020204020204" pitchFamily="34" charset="-122"/>
                <a:ea typeface="微软雅黑" panose="020B0503020204020204" pitchFamily="34" charset="-122"/>
              </a:rPr>
              <a:t>展望与规划</a:t>
            </a:r>
          </a:p>
        </p:txBody>
      </p:sp>
      <p:sp>
        <p:nvSpPr>
          <p:cNvPr id="18" name="矩形 17">
            <a:extLst>
              <a:ext uri="{FF2B5EF4-FFF2-40B4-BE49-F238E27FC236}">
                <a16:creationId xmlns:a16="http://schemas.microsoft.com/office/drawing/2014/main" id="{29CB29C2-42B8-6740-8B65-252ED1425593}"/>
              </a:ext>
            </a:extLst>
          </p:cNvPr>
          <p:cNvSpPr/>
          <p:nvPr/>
        </p:nvSpPr>
        <p:spPr>
          <a:xfrm>
            <a:off x="7137400" y="4927600"/>
            <a:ext cx="1524000" cy="50800"/>
          </a:xfrm>
          <a:prstGeom prst="rect">
            <a:avLst/>
          </a:prstGeom>
          <a:solidFill>
            <a:srgbClr val="ED7D3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605999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501FA017-A888-48D6-AD54-C8243E448709}"/>
              </a:ext>
            </a:extLst>
          </p:cNvPr>
          <p:cNvSpPr>
            <a:spLocks noGrp="1"/>
          </p:cNvSpPr>
          <p:nvPr/>
        </p:nvSpPr>
        <p:spPr>
          <a:xfrm>
            <a:off x="584200" y="228602"/>
            <a:ext cx="8890000" cy="461665"/>
          </a:xfrm>
          <a:prstGeom prst="rect">
            <a:avLst/>
          </a:prstGeom>
          <a:noFill/>
        </p:spPr>
        <p:txBody>
          <a:bodyPr vert="horz">
            <a:spAutoFit/>
          </a:bodyPr>
          <a:lstStyle/>
          <a:p>
            <a:r>
              <a:rPr sz="2400" b="1">
                <a:solidFill>
                  <a:srgbClr val="1F3864"/>
                </a:solidFill>
                <a:latin typeface="微软雅黑"/>
                <a:ea typeface="微软雅黑"/>
                <a:cs typeface="微软雅黑"/>
              </a:rPr>
              <a:t>未来职业规划</a:t>
            </a:r>
          </a:p>
        </p:txBody>
      </p:sp>
      <p:sp>
        <p:nvSpPr>
          <p:cNvPr id="4" name="文本框 3">
            <a:extLst>
              <a:ext uri="{FF2B5EF4-FFF2-40B4-BE49-F238E27FC236}">
                <a16:creationId xmlns:a16="http://schemas.microsoft.com/office/drawing/2014/main" id="{65DCB9C6-72B2-499D-B0CE-C63FC0D3AA0D}"/>
              </a:ext>
            </a:extLst>
          </p:cNvPr>
          <p:cNvSpPr>
            <a:spLocks noGrp="1"/>
          </p:cNvSpPr>
          <p:nvPr/>
        </p:nvSpPr>
        <p:spPr>
          <a:xfrm>
            <a:off x="8128000" y="330200"/>
            <a:ext cx="3683000" cy="292388"/>
          </a:xfrm>
          <a:prstGeom prst="rect">
            <a:avLst/>
          </a:prstGeom>
          <a:noFill/>
        </p:spPr>
        <p:txBody>
          <a:bodyPr vert="horz">
            <a:spAutoFit/>
          </a:bodyPr>
          <a:lstStyle/>
          <a:p>
            <a:pPr algn="r">
              <a:buNone/>
            </a:pPr>
            <a:r>
              <a:rPr sz="1300">
                <a:solidFill>
                  <a:srgbClr val="7F7F7F"/>
                </a:solidFill>
                <a:latin typeface="微软雅黑"/>
                <a:ea typeface="微软雅黑"/>
                <a:cs typeface="微软雅黑"/>
              </a:rPr>
              <a:t>06 未来职业规划</a:t>
            </a:r>
          </a:p>
        </p:txBody>
      </p:sp>
      <p:sp>
        <p:nvSpPr>
          <p:cNvPr id="5" name="矩形 4">
            <a:extLst>
              <a:ext uri="{FF2B5EF4-FFF2-40B4-BE49-F238E27FC236}">
                <a16:creationId xmlns:a16="http://schemas.microsoft.com/office/drawing/2014/main" id="{03A164BC-697A-4D3A-8E96-6650C67969EB}"/>
              </a:ext>
            </a:extLst>
          </p:cNvPr>
          <p:cNvSpPr>
            <a:spLocks noGrp="1"/>
          </p:cNvSpPr>
          <p:nvPr/>
        </p:nvSpPr>
        <p:spPr>
          <a:xfrm>
            <a:off x="381000" y="838200"/>
            <a:ext cx="11430000" cy="20320"/>
          </a:xfrm>
          <a:prstGeom prst="rect">
            <a:avLst/>
          </a:prstGeom>
          <a:solidFill>
            <a:srgbClr val="4472C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矩形 5">
            <a:extLst>
              <a:ext uri="{FF2B5EF4-FFF2-40B4-BE49-F238E27FC236}">
                <a16:creationId xmlns:a16="http://schemas.microsoft.com/office/drawing/2014/main" id="{ED1B00AF-22BA-436B-A616-DAB19ABBA950}"/>
              </a:ext>
            </a:extLst>
          </p:cNvPr>
          <p:cNvSpPr>
            <a:spLocks noGrp="1"/>
          </p:cNvSpPr>
          <p:nvPr/>
        </p:nvSpPr>
        <p:spPr>
          <a:xfrm>
            <a:off x="508000" y="1270000"/>
            <a:ext cx="3606800" cy="508000"/>
          </a:xfrm>
          <a:prstGeom prst="rect">
            <a:avLst/>
          </a:prstGeom>
          <a:solidFill>
            <a:srgbClr val="1F386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400" b="1">
                <a:solidFill>
                  <a:srgbClr val="FFFFFF"/>
                </a:solidFill>
              </a:rPr>
              <a:t>未来规划</a:t>
            </a:r>
          </a:p>
        </p:txBody>
      </p:sp>
      <p:sp>
        <p:nvSpPr>
          <p:cNvPr id="7" name="矩形 6">
            <a:extLst>
              <a:ext uri="{FF2B5EF4-FFF2-40B4-BE49-F238E27FC236}">
                <a16:creationId xmlns:a16="http://schemas.microsoft.com/office/drawing/2014/main" id="{53E17FA8-A9DB-4CA4-AAE2-ED23B1FD6A74}"/>
              </a:ext>
            </a:extLst>
          </p:cNvPr>
          <p:cNvSpPr>
            <a:spLocks noGrp="1"/>
          </p:cNvSpPr>
          <p:nvPr/>
        </p:nvSpPr>
        <p:spPr>
          <a:xfrm>
            <a:off x="508000" y="1778000"/>
            <a:ext cx="11226800" cy="3810000"/>
          </a:xfrm>
          <a:prstGeom prst="rect">
            <a:avLst/>
          </a:prstGeom>
          <a:solidFill>
            <a:srgbClr val="F2F6FC"/>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文本框 7">
            <a:extLst>
              <a:ext uri="{FF2B5EF4-FFF2-40B4-BE49-F238E27FC236}">
                <a16:creationId xmlns:a16="http://schemas.microsoft.com/office/drawing/2014/main" id="{01FFD8FE-E747-4F5D-B193-06DE45C07512}"/>
              </a:ext>
            </a:extLst>
          </p:cNvPr>
          <p:cNvSpPr>
            <a:spLocks noGrp="1"/>
          </p:cNvSpPr>
          <p:nvPr/>
        </p:nvSpPr>
        <p:spPr>
          <a:xfrm>
            <a:off x="736600" y="2006602"/>
            <a:ext cx="10675718" cy="3311291"/>
          </a:xfrm>
          <a:prstGeom prst="rect">
            <a:avLst/>
          </a:prstGeom>
          <a:noFill/>
        </p:spPr>
        <p:txBody>
          <a:bodyPr vert="horz" wrap="square">
            <a:spAutoFit/>
          </a:bodyPr>
          <a:lstStyle/>
          <a:p>
            <a:pPr>
              <a:lnSpc>
                <a:spcPct val="150000"/>
              </a:lnSpc>
              <a:spcAft>
                <a:spcPts val="800"/>
              </a:spcAft>
            </a:pPr>
            <a:r>
              <a:rPr sz="1600">
                <a:solidFill>
                  <a:srgbClr val="333333"/>
                </a:solidFill>
                <a:latin typeface="微软雅黑"/>
                <a:ea typeface="微软雅黑"/>
                <a:cs typeface="微软雅黑"/>
              </a:rPr>
              <a:t>• 继续完善课题研究，进一步优化面向复杂噪声与多人重叠场景的目标说话人增强前端，提高系统在不同声学条件和不同声纹后端下的稳定性。 </a:t>
            </a:r>
          </a:p>
          <a:p>
            <a:pPr>
              <a:lnSpc>
                <a:spcPct val="150000"/>
              </a:lnSpc>
              <a:spcAft>
                <a:spcPts val="800"/>
              </a:spcAft>
            </a:pPr>
            <a:r>
              <a:rPr sz="1600">
                <a:solidFill>
                  <a:srgbClr val="333333"/>
                </a:solidFill>
                <a:latin typeface="微软雅黑"/>
                <a:ea typeface="微软雅黑"/>
                <a:cs typeface="微软雅黑"/>
              </a:rPr>
              <a:t>• 补充更丰富的噪声、混响和多人干扰实验，完善数据协议、统一评测与交叉验证流程，使实验结论更加全面、可靠。</a:t>
            </a:r>
          </a:p>
          <a:p>
            <a:pPr>
              <a:lnSpc>
                <a:spcPct val="150000"/>
              </a:lnSpc>
              <a:spcAft>
                <a:spcPts val="800"/>
              </a:spcAft>
            </a:pPr>
            <a:r>
              <a:rPr sz="1600">
                <a:solidFill>
                  <a:srgbClr val="333333"/>
                </a:solidFill>
                <a:latin typeface="微软雅黑"/>
                <a:ea typeface="微软雅黑"/>
                <a:cs typeface="微软雅黑"/>
              </a:rPr>
              <a:t>• 深入研究语音增强与声纹识别之间的协同机制，重点关注增强过程中说话人身份信息的保留，探索更有效的条件化建模与联合优化方法。 </a:t>
            </a:r>
          </a:p>
          <a:p>
            <a:pPr>
              <a:lnSpc>
                <a:spcPct val="150000"/>
              </a:lnSpc>
              <a:spcAft>
                <a:spcPts val="800"/>
              </a:spcAft>
            </a:pPr>
            <a:r>
              <a:rPr sz="1600">
                <a:solidFill>
                  <a:srgbClr val="333333"/>
                </a:solidFill>
                <a:latin typeface="微软雅黑"/>
                <a:ea typeface="微软雅黑"/>
                <a:cs typeface="微软雅黑"/>
              </a:rPr>
              <a:t>• 通过本课题，对语音增强、声纹识别和鲁棒语音处理产生了浓厚兴趣，未来希望继续深耕该方向，持续跟踪相关前沿研究并提升工程实践能力。</a:t>
            </a:r>
          </a:p>
        </p:txBody>
      </p:sp>
      <p:sp>
        <p:nvSpPr>
          <p:cNvPr id="15" name="矩形 14">
            <a:extLst>
              <a:ext uri="{FF2B5EF4-FFF2-40B4-BE49-F238E27FC236}">
                <a16:creationId xmlns:a16="http://schemas.microsoft.com/office/drawing/2014/main" id="{A3737370-D027-45E8-93D6-204085E1DB2F}"/>
              </a:ext>
            </a:extLst>
          </p:cNvPr>
          <p:cNvSpPr>
            <a:spLocks noGrp="1"/>
          </p:cNvSpPr>
          <p:nvPr/>
        </p:nvSpPr>
        <p:spPr>
          <a:xfrm>
            <a:off x="508000" y="5969000"/>
            <a:ext cx="11226800" cy="38100"/>
          </a:xfrm>
          <a:prstGeom prst="rect">
            <a:avLst/>
          </a:prstGeom>
          <a:solidFill>
            <a:srgbClr val="E2E8F5"/>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矩形 9">
            <a:extLst>
              <a:ext uri="{FF2B5EF4-FFF2-40B4-BE49-F238E27FC236}">
                <a16:creationId xmlns:a16="http://schemas.microsoft.com/office/drawing/2014/main" id="{D93923EB-A8BB-6763-B646-B04FB725A2C7}"/>
              </a:ext>
            </a:extLst>
          </p:cNvPr>
          <p:cNvSpPr>
            <a:spLocks noGrp="1"/>
          </p:cNvSpPr>
          <p:nvPr/>
        </p:nvSpPr>
        <p:spPr>
          <a:xfrm>
            <a:off x="381000" y="304800"/>
            <a:ext cx="101600" cy="4318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163262664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4906075-9B09-43F7-B52C-3EDA7FDA7CAB}"/>
              </a:ext>
            </a:extLst>
          </p:cNvPr>
          <p:cNvSpPr>
            <a:spLocks noGrp="1"/>
          </p:cNvSpPr>
          <p:nvPr/>
        </p:nvSpPr>
        <p:spPr>
          <a:xfrm>
            <a:off x="0" y="0"/>
            <a:ext cx="12192000" cy="101600"/>
          </a:xfrm>
          <a:prstGeom prst="rect">
            <a:avLst/>
          </a:prstGeom>
          <a:solidFill>
            <a:srgbClr val="1F3864"/>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 name="文本框 2">
            <a:extLst>
              <a:ext uri="{FF2B5EF4-FFF2-40B4-BE49-F238E27FC236}">
                <a16:creationId xmlns:a16="http://schemas.microsoft.com/office/drawing/2014/main" id="{29791AF5-45EC-4DBA-AE89-8A0987F09667}"/>
              </a:ext>
            </a:extLst>
          </p:cNvPr>
          <p:cNvSpPr>
            <a:spLocks noGrp="1"/>
          </p:cNvSpPr>
          <p:nvPr/>
        </p:nvSpPr>
        <p:spPr>
          <a:xfrm>
            <a:off x="0" y="1986002"/>
            <a:ext cx="12192000" cy="923330"/>
          </a:xfrm>
          <a:prstGeom prst="rect">
            <a:avLst/>
          </a:prstGeom>
          <a:noFill/>
        </p:spPr>
        <p:txBody>
          <a:bodyPr vert="horz">
            <a:spAutoFit/>
          </a:bodyPr>
          <a:lstStyle/>
          <a:p>
            <a:pPr algn="ctr">
              <a:buNone/>
            </a:pPr>
            <a:r>
              <a:rPr sz="5400" b="1">
                <a:solidFill>
                  <a:srgbClr val="1F3864"/>
                </a:solidFill>
                <a:latin typeface="微软雅黑"/>
                <a:ea typeface="微软雅黑"/>
                <a:cs typeface="微软雅黑"/>
              </a:rPr>
              <a:t>谢  谢!</a:t>
            </a:r>
          </a:p>
        </p:txBody>
      </p:sp>
      <p:sp>
        <p:nvSpPr>
          <p:cNvPr id="4" name="文本框 3">
            <a:extLst>
              <a:ext uri="{FF2B5EF4-FFF2-40B4-BE49-F238E27FC236}">
                <a16:creationId xmlns:a16="http://schemas.microsoft.com/office/drawing/2014/main" id="{34DB600D-5A6D-4C9C-B01B-39953886051C}"/>
              </a:ext>
            </a:extLst>
          </p:cNvPr>
          <p:cNvSpPr>
            <a:spLocks noGrp="1"/>
          </p:cNvSpPr>
          <p:nvPr/>
        </p:nvSpPr>
        <p:spPr>
          <a:xfrm>
            <a:off x="0" y="3059670"/>
            <a:ext cx="12192000" cy="461665"/>
          </a:xfrm>
          <a:prstGeom prst="rect">
            <a:avLst/>
          </a:prstGeom>
          <a:noFill/>
        </p:spPr>
        <p:txBody>
          <a:bodyPr vert="horz">
            <a:spAutoFit/>
          </a:bodyPr>
          <a:lstStyle/>
          <a:p>
            <a:pPr algn="ctr">
              <a:buNone/>
            </a:pPr>
            <a:r>
              <a:rPr sz="2400">
                <a:solidFill>
                  <a:srgbClr val="7F7F7F"/>
                </a:solidFill>
                <a:latin typeface="微软雅黑"/>
                <a:ea typeface="微软雅黑"/>
                <a:cs typeface="微软雅黑"/>
              </a:rPr>
              <a:t>恳请各位老师批评指正</a:t>
            </a:r>
          </a:p>
        </p:txBody>
      </p:sp>
      <p:sp>
        <p:nvSpPr>
          <p:cNvPr id="5" name="矩形 4">
            <a:extLst>
              <a:ext uri="{FF2B5EF4-FFF2-40B4-BE49-F238E27FC236}">
                <a16:creationId xmlns:a16="http://schemas.microsoft.com/office/drawing/2014/main" id="{3369E4DB-958F-4410-B548-05C6CB7D09F4}"/>
              </a:ext>
            </a:extLst>
          </p:cNvPr>
          <p:cNvSpPr>
            <a:spLocks noGrp="1"/>
          </p:cNvSpPr>
          <p:nvPr/>
        </p:nvSpPr>
        <p:spPr>
          <a:xfrm>
            <a:off x="5334000" y="4318000"/>
            <a:ext cx="1524000" cy="38100"/>
          </a:xfrm>
          <a:prstGeom prst="rect">
            <a:avLst/>
          </a:prstGeom>
          <a:solidFill>
            <a:srgbClr val="ED7D31"/>
          </a:solidFill>
          <a:ln w="12700" cmpd="sng">
            <a:no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6" name="文本框 5">
            <a:extLst>
              <a:ext uri="{FF2B5EF4-FFF2-40B4-BE49-F238E27FC236}">
                <a16:creationId xmlns:a16="http://schemas.microsoft.com/office/drawing/2014/main" id="{B069946B-D31A-45DC-BB74-8E646C88ED59}"/>
              </a:ext>
            </a:extLst>
          </p:cNvPr>
          <p:cNvSpPr>
            <a:spLocks noGrp="1"/>
          </p:cNvSpPr>
          <p:nvPr/>
        </p:nvSpPr>
        <p:spPr>
          <a:xfrm>
            <a:off x="0" y="4572002"/>
            <a:ext cx="12192000" cy="307777"/>
          </a:xfrm>
          <a:prstGeom prst="rect">
            <a:avLst/>
          </a:prstGeom>
          <a:noFill/>
        </p:spPr>
        <p:txBody>
          <a:bodyPr vert="horz">
            <a:spAutoFit/>
          </a:bodyPr>
          <a:lstStyle/>
          <a:p>
            <a:pPr algn="ctr">
              <a:buNone/>
            </a:pPr>
            <a:r>
              <a:rPr sz="1400">
                <a:solidFill>
                  <a:srgbClr val="7F7F7F"/>
                </a:solidFill>
                <a:latin typeface="微软雅黑"/>
                <a:ea typeface="微软雅黑"/>
                <a:cs typeface="微软雅黑"/>
              </a:rPr>
              <a:t>中国科学院大学 · 2026.09.08</a:t>
            </a:r>
          </a:p>
        </p:txBody>
      </p:sp>
      <p:sp>
        <p:nvSpPr>
          <p:cNvPr id="8" name="文本框 7">
            <a:extLst>
              <a:ext uri="{FF2B5EF4-FFF2-40B4-BE49-F238E27FC236}">
                <a16:creationId xmlns:a16="http://schemas.microsoft.com/office/drawing/2014/main" id="{BD6E9A95-5030-D5EB-92E5-EB01B1698CD2}"/>
              </a:ext>
            </a:extLst>
          </p:cNvPr>
          <p:cNvSpPr>
            <a:spLocks noGrp="1"/>
          </p:cNvSpPr>
          <p:nvPr/>
        </p:nvSpPr>
        <p:spPr>
          <a:xfrm>
            <a:off x="3048421" y="3917890"/>
            <a:ext cx="6095158" cy="400110"/>
          </a:xfrm>
          <a:prstGeom prst="rect">
            <a:avLst/>
          </a:prstGeom>
          <a:noFill/>
        </p:spPr>
        <p:txBody>
          <a:bodyPr wrap="square">
            <a:spAutoFit/>
          </a:bodyPr>
          <a:lstStyle/>
          <a:p>
            <a:pPr algn="ctr">
              <a:buNone/>
            </a:pPr>
            <a:r>
              <a:rPr sz="2000">
                <a:solidFill>
                  <a:srgbClr val="44546A"/>
                </a:solidFill>
                <a:latin typeface="微软雅黑"/>
                <a:ea typeface="微软雅黑"/>
                <a:cs typeface="微软雅黑"/>
              </a:rPr>
              <a:t>汇报人:邓姣姣</a:t>
            </a:r>
          </a:p>
        </p:txBody>
      </p:sp>
    </p:spTree>
    <p:extLst>
      <p:ext uri="{BB962C8B-B14F-4D97-AF65-F5344CB8AC3E}">
        <p14:creationId xmlns:p14="http://schemas.microsoft.com/office/powerpoint/2010/main" val="112062022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1725</TotalTime>
  <Words>11418</Words>
  <Application>Microsoft Office PowerPoint</Application>
  <PresentationFormat>宽屏</PresentationFormat>
  <Paragraphs>1613</Paragraphs>
  <Slides>58</Slides>
  <Notes>58</Notes>
  <HiddenSlides>0</HiddenSlides>
  <MMClips>3</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58</vt:i4>
      </vt:variant>
    </vt:vector>
  </HeadingPairs>
  <TitlesOfParts>
    <vt:vector size="65" baseType="lpstr">
      <vt:lpstr>等线</vt:lpstr>
      <vt:lpstr>等线 Light</vt:lpstr>
      <vt:lpstr>微软雅黑</vt:lpstr>
      <vt:lpstr>Arial</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user</cp:lastModifiedBy>
  <cp:revision>135</cp:revision>
  <dcterms:created xsi:type="dcterms:W3CDTF">2026-09-04T07:33:25Z</dcterms:created>
  <dcterms:modified xsi:type="dcterms:W3CDTF">2026-09-09T09:41:46Z</dcterms:modified>
</cp:coreProperties>
</file>