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78" r:id="rId5"/>
    <p:sldId id="259" r:id="rId6"/>
    <p:sldId id="260" r:id="rId7"/>
    <p:sldId id="276" r:id="rId8"/>
    <p:sldId id="277" r:id="rId9"/>
    <p:sldId id="262" r:id="rId10"/>
    <p:sldId id="279" r:id="rId11"/>
    <p:sldId id="263" r:id="rId12"/>
    <p:sldId id="280" r:id="rId13"/>
    <p:sldId id="264" r:id="rId14"/>
    <p:sldId id="265" r:id="rId15"/>
    <p:sldId id="281" r:id="rId16"/>
    <p:sldId id="266" r:id="rId17"/>
    <p:sldId id="285" r:id="rId18"/>
    <p:sldId id="286" r:id="rId19"/>
    <p:sldId id="282" r:id="rId20"/>
    <p:sldId id="268" r:id="rId21"/>
    <p:sldId id="269" r:id="rId22"/>
    <p:sldId id="270" r:id="rId23"/>
    <p:sldId id="287" r:id="rId24"/>
    <p:sldId id="272" r:id="rId25"/>
    <p:sldId id="273" r:id="rId26"/>
    <p:sldId id="271" r:id="rId27"/>
    <p:sldId id="283" r:id="rId28"/>
    <p:sldId id="274" r:id="rId29"/>
    <p:sldId id="275" r:id="rId30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462" autoAdjust="0"/>
  </p:normalViewPr>
  <p:slideViewPr>
    <p:cSldViewPr snapToGrid="0">
      <p:cViewPr varScale="1">
        <p:scale>
          <a:sx n="57" d="100"/>
          <a:sy n="57" d="100"/>
        </p:scale>
        <p:origin x="99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本部分只汇报数据与评测支撑，以及最终交付前端的工作原理。</a:t>
            </a:r>
          </a:p>
          <a:p>
            <a:r>
              <a:t>研究思路和完整方法选取过程已由同伴汇报，本部分不重复展开。</a:t>
            </a:r>
          </a:p>
          <a:p>
            <a:r>
              <a:t>[Sources]</a:t>
            </a:r>
          </a:p>
          <a:p>
            <a:r>
              <a:t>技术报告_跨设备噪声鲁棒声纹识别_v2.pdf：小组成员与分工、2.2、4.1-4.2</a:t>
            </a:r>
          </a:p>
          <a:p>
            <a:r>
              <a:t>ds分析.docx：幻灯片1-7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左侧是同伴已经覆盖的算法主线，右侧是我负责且本次重点汇报的内容。</a:t>
            </a:r>
          </a:p>
          <a:p>
            <a:r>
              <a:t>方法部分只讲文献为什么支持尝试、内部结果为何保留或否决；随后解释交付前端的输入输出和模块原理。</a:t>
            </a:r>
          </a:p>
          <a:p>
            <a:r>
              <a:t>[Sources]</a:t>
            </a:r>
          </a:p>
          <a:p>
            <a:r>
              <a:t>技术报告_跨设备噪声鲁棒声纹识别_v2.pdf：小组成员与分工</a:t>
            </a:r>
          </a:p>
          <a:p>
            <a:r>
              <a:t>ds分析.docx：幻灯片2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汇报分六个部分:任务背景与要求、研究思路、实验条件与评测协议、交付的方法、实验结果与消融,最后是局限性分析与展望。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首先看任务背景。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A4863-82EA-4055-A6CB-D03302C3F2F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844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所有条件共用一套注册语音和一套 Trial 清单，变化只发生在测试侧。</a:t>
            </a:r>
          </a:p>
          <a:p>
            <a:r>
              <a:t>八套测试语音按 clean 1 套、噪声 2 套、混响 1 套、中文重叠 2 套、英文重叠 2 套组成；短语音 1/3/5 秒作为统一时长轴。</a:t>
            </a:r>
          </a:p>
          <a:p>
            <a:r>
              <a:t>[Sources]</a:t>
            </a:r>
          </a:p>
          <a:p>
            <a:r>
              <a:t>技术报告_跨设备噪声鲁棒声纹识别_v2.pdf：1.2、2.2</a:t>
            </a:r>
          </a:p>
          <a:p>
            <a:r>
              <a:t>ds分析.docx：幻灯片4-5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所有条件共用一套注册语音和一套 Trial 清单，变化只发生在测试侧。</a:t>
            </a:r>
          </a:p>
          <a:p>
            <a:r>
              <a:t>八套测试语音按 clean 1 套、噪声 2 套、混响 1 套、中文重叠 2 套、英文重叠 2 套组成；短语音 1/3/5 秒作为统一时长轴。</a:t>
            </a:r>
          </a:p>
          <a:p>
            <a:r>
              <a:t>[Sources]</a:t>
            </a:r>
          </a:p>
          <a:p>
            <a:r>
              <a:t>技术报告_跨设备噪声鲁棒声纹识别_v2.pdf：1.2、2.2</a:t>
            </a:r>
          </a:p>
          <a:p>
            <a:r>
              <a:t>ds分析.docx：幻灯片4-5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FC58F-C28A-2435-1313-78AC59887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6CFDC-884F-83AC-648A-D85B01C9A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9CC5E-8B4E-FEE1-006B-7279E8311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本页改为与张启元汇报一致的流程图表达。上半部分是</a:t>
            </a:r>
            <a:r>
              <a:rPr lang="zh-CN" altLang="en-US" dirty="0"/>
              <a:t>干净语音合成、下部分是</a:t>
            </a:r>
            <a:r>
              <a:rPr dirty="0" err="1"/>
              <a:t>噪声合成</a:t>
            </a:r>
            <a:r>
              <a:rPr dirty="0"/>
              <a:t>, </a:t>
            </a:r>
            <a:endParaRPr lang="en-US" dirty="0"/>
          </a:p>
          <a:p>
            <a:r>
              <a:rPr lang="zh-CN" altLang="zh-CN" sz="1200" b="1" i="0" kern="1200" dirty="0">
                <a:effectLst/>
              </a:rPr>
              <a:t>对于同一条干净语音，生成 0dB 和 -5dB 时，选取的噪声文件、截取起始位置（</a:t>
            </a:r>
            <a:r>
              <a:rPr lang="zh-CN" altLang="zh-CN" sz="1200" b="0" i="0" kern="1200" dirty="0">
                <a:effectLst/>
              </a:rPr>
              <a:t>noise_start</a:t>
            </a:r>
            <a:r>
              <a:rPr lang="zh-CN" altLang="zh-CN" sz="1200" b="1" i="0" kern="1200" dirty="0">
                <a:effectLst/>
              </a:rPr>
              <a:t>）是完全相同的。</a:t>
            </a:r>
            <a:endParaRPr lang="en-US" dirty="0"/>
          </a:p>
          <a:p>
            <a:r>
              <a:rPr dirty="0" err="1"/>
              <a:t>噪声按目标SNR整体缩放</a:t>
            </a:r>
            <a:r>
              <a:rPr dirty="0"/>
              <a:t>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28AE1-D21D-E3B8-13CF-A954DAE0CCC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2062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8C82E-86BA-AD9A-3F30-35BB78402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61A6C-91AB-2F9D-08E0-AA6698240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29A55-5FDA-B39D-5FDF-5A9742F7D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本页改为与张启元汇报一致的流程图表达。上半部分是噪声合成,下半部分是多人重叠合成</a:t>
            </a:r>
            <a:r>
              <a:rPr dirty="0"/>
              <a:t>。</a:t>
            </a:r>
          </a:p>
          <a:p>
            <a:r>
              <a:rPr dirty="0" err="1"/>
              <a:t>噪声按目标SNR整体缩放;多人重叠先合并干扰,再按目标TIR整体缩放,避免逐路缩放改变实际能量关系</a:t>
            </a:r>
            <a:r>
              <a:rPr dirty="0"/>
              <a:t>。</a:t>
            </a:r>
          </a:p>
          <a:p>
            <a:r>
              <a:rPr dirty="0" err="1"/>
              <a:t>两条路径都保存来源、功率条件、裁剪位置、长度、峰值和随机种子,因此每个样本都能复算</a:t>
            </a:r>
            <a:r>
              <a:rPr dirty="0"/>
              <a:t>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19137-D792-A23C-1C05-03EB5375E71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8463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这一页补充混响数据的实际生成路径。先把语音和RIR的幅值尺度统一,并把RIR整体缩小,然后做时域卷积</a:t>
            </a:r>
            <a:r>
              <a:rPr dirty="0"/>
              <a:t>。</a:t>
            </a:r>
          </a:p>
          <a:p>
            <a:r>
              <a:rPr dirty="0" err="1"/>
              <a:t>卷积后只保留原测试时长,最后用整段统一比例做反削波。这样不会逐点改变波形,同时避免削波成为额外变量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64A49-31DE-1CE8-E937-4634B13D8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F3DD3F-233F-9157-9ACF-C640D7D56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2985CD-EB43-F588-007F-E03DD5518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首先看任务背景。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10B474-F407-E272-BEAC-52C8E47E62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A4863-82EA-4055-A6CB-D03302C3F2F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685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三项检查分别解决三个不同粒度的问题。说话人级保证开集隔离,MD5级排查同一个文件被复制,切片级排查同一条长录音被切成不同片段后分流。</a:t>
            </a:r>
          </a:p>
          <a:p>
            <a:r>
              <a:t>只有三项全部通过才生成评测manifest,因此泄漏检查是评测之前的硬门槛。</a:t>
            </a:r>
          </a:p>
          <a:p>
            <a:r>
              <a:t>[Sources]</a:t>
            </a:r>
          </a:p>
          <a:p>
            <a:r>
              <a:t>技术报告_跨设备噪声鲁棒声纹识别_v2.pdf：1.2、2.2。</a:t>
            </a:r>
          </a:p>
          <a:p>
            <a:r>
              <a:t>ds分析.docx：三重泄漏检查与manifest守门流程。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74140-7AEC-3C6A-C23F-93BDBF28D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E3E070-1879-5D71-A61E-44855C2B2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E87240-9C0C-CA2E-FFDA-57275EB8B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首先看任务背景。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8904E1-E1E7-80C5-8E21-43B4FC4B62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A4863-82EA-4055-A6CB-D03302C3F2F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305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所有路线都使用同一份trial、同一后端和同一指标实现。Dev只负责确定阈值,Eval只做冻结阈值下的最终计算。</a:t>
            </a:r>
          </a:p>
          <a:p>
            <a:r>
              <a:t>脚本既给出EER和minDCF,也保存ROC、DET以及固定阈值FAR/FRR,便于从不同角度复核结果。</a:t>
            </a:r>
          </a:p>
          <a:p>
            <a:r>
              <a:t>[Sources]</a:t>
            </a:r>
          </a:p>
          <a:p>
            <a:r>
              <a:t>技术报告_跨设备噪声鲁棒声纹识别_v2.pdf：1.2-1.3、2.2、5.3、附录B。</a:t>
            </a:r>
          </a:p>
          <a:p>
            <a:r>
              <a:t>ds分析.docx：统一评测脚本说明。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第一层校准是复现公开协议数值,第二层校准是让自建脚本和官方脚本对同一打分文件逐位对账。</a:t>
            </a:r>
          </a:p>
          <a:p>
            <a:r>
              <a:t>两层同时通过后,才用该管线对各条方法路线作保留或淘汰判断。</a:t>
            </a:r>
          </a:p>
          <a:p>
            <a:r>
              <a:t>[Sources]</a:t>
            </a:r>
          </a:p>
          <a:p>
            <a:r>
              <a:t>技术报告_跨设备噪声鲁棒声纹识别_v2.pdf：2.1-2.2。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60770-5701-D1E8-5312-3F633951B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82C9CC-B62B-E47A-5F20-731A67E05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2510BA-06D9-D831-1AA2-4E699FC1F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首先看任务背景。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48F8AB-9FF8-5298-91F1-634009CE4A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A4863-82EA-4055-A6CB-D03302C3F2F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304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这里不再重复完整研究历程,只保留三条路线的选择依据、内部验证结果和最终判断。</a:t>
            </a:r>
          </a:p>
          <a:p>
            <a:r>
              <a:t>后端微调与通用增强都存在公开研究依据,但在本课题统一协议下没有带来正收益。TSE把问题从去除噪声改成提取注册说话人,因此被保留。</a:t>
            </a:r>
          </a:p>
          <a:p>
            <a:r>
              <a:t>[Sources]</a:t>
            </a:r>
          </a:p>
          <a:p>
            <a:r>
              <a:t>Tabatabaee et al., FT-Boosted SV, Interspeech 2025, DOI 10.21437/Interspeech.2025-1002。</a:t>
            </a:r>
          </a:p>
          <a:p>
            <a:r>
              <a:t>Kim et al., ParaNoise-SV, Interspeech 2025, DOI 10.21437/Interspeech.2025-1145。</a:t>
            </a:r>
          </a:p>
          <a:p>
            <a:r>
              <a:t>Liu et al., Target Speaker Extraction with Curriculum Learning, Interspeech 2024, DOI 10.21437/Interspeech.2024-1375。</a:t>
            </a:r>
          </a:p>
          <a:p>
            <a:r>
              <a:t>技术报告_跨设备噪声鲁棒声纹识别_v2.pdf：3.2-3.4、5.1。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46B03-A6DC-C0A4-201A-5F932A328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1FA77-3A83-EE01-640F-698E41234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6C40B-5972-0DEB-0092-61E34FB41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这里不再重复完整研究历程,只保留三条路线的选择依据、内部验证结果和最终判断。</a:t>
            </a:r>
          </a:p>
          <a:p>
            <a:r>
              <a:t>后端微调与通用增强都存在公开研究依据,但在本课题统一协议下没有带来正收益。TSE把问题从去除噪声改成提取注册说话人,因此被保留。</a:t>
            </a:r>
          </a:p>
          <a:p>
            <a:r>
              <a:t>[Sources]</a:t>
            </a:r>
          </a:p>
          <a:p>
            <a:r>
              <a:t>Tabatabaee et al., FT-Boosted SV, Interspeech 2025, DOI 10.21437/Interspeech.2025-1002。</a:t>
            </a:r>
          </a:p>
          <a:p>
            <a:r>
              <a:t>Kim et al., ParaNoise-SV, Interspeech 2025, DOI 10.21437/Interspeech.2025-1145。</a:t>
            </a:r>
          </a:p>
          <a:p>
            <a:r>
              <a:t>Liu et al., Target Speaker Extraction with Curriculum Learning, Interspeech 2024, DOI 10.21437/Interspeech.2024-1375。</a:t>
            </a:r>
          </a:p>
          <a:p>
            <a:r>
              <a:t>技术报告_跨设备噪声鲁棒声纹识别_v2.pdf：3.2-3.4、5.1。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C0C1A-6ED6-A2F6-0A30-D08A924B68F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02272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7658-CA2B-2D40-0C38-49553633A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77BBF-A24C-E650-BED7-878FE8EAC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3E263-C001-A4F4-DE75-EE443E852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这里不再重复完整研究历程,只保留三条路线的选择依据、内部验证结果和最终判断。</a:t>
            </a:r>
          </a:p>
          <a:p>
            <a:r>
              <a:t>后端微调与通用增强都存在公开研究依据,但在本课题统一协议下没有带来正收益。TSE把问题从去除噪声改成提取注册说话人,因此被保留。</a:t>
            </a:r>
          </a:p>
          <a:p>
            <a:r>
              <a:t>[Sources]</a:t>
            </a:r>
          </a:p>
          <a:p>
            <a:r>
              <a:t>Tabatabaee et al., FT-Boosted SV, Interspeech 2025, DOI 10.21437/Interspeech.2025-1002。</a:t>
            </a:r>
          </a:p>
          <a:p>
            <a:r>
              <a:t>Kim et al., ParaNoise-SV, Interspeech 2025, DOI 10.21437/Interspeech.2025-1145。</a:t>
            </a:r>
          </a:p>
          <a:p>
            <a:r>
              <a:t>Liu et al., Target Speaker Extraction with Curriculum Learning, Interspeech 2024, DOI 10.21437/Interspeech.2024-1375。</a:t>
            </a:r>
          </a:p>
          <a:p>
            <a:r>
              <a:t>技术报告_跨设备噪声鲁棒声纹识别_v2.pdf：3.2-3.4、5.1。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9EE27-3427-C87D-BB59-68B9682DF8D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7974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90072-EB29-D5F7-0086-92E32DCC5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B2B640-9D27-F61E-1D5D-36CE32AB2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182A72-FC19-B064-E18E-D6FD5541D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首先看任务背景。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7052BE-8124-4835-27C6-8B5DE3E4B7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A4863-82EA-4055-A6CB-D03302C3F2F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2040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整个前端有两条输入。注册语音回答要提取谁,带噪测试语音提供需要处理的信号。</a:t>
            </a:r>
          </a:p>
          <a:p>
            <a:r>
              <a:t>小MLP把注册嵌入转换为FiLM参数,调制FullSubNet+的三路全带输入;增强语音再由同一个冻结后端编码并打分。</a:t>
            </a:r>
          </a:p>
          <a:p>
            <a:r>
              <a:t>[Sources]</a:t>
            </a:r>
          </a:p>
          <a:p>
            <a:r>
              <a:t>技术报告_跨设备噪声鲁棒声纹识别_v2.pdf：4.1、图2。</a:t>
            </a:r>
          </a:p>
          <a:p>
            <a:r>
              <a:t>Wang et al., VoiceFilter, Interspeech 2019/arXiv:1810.04826。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右上图A来自FullSubNet+论文。Xm、Xr、Xi是幅度、实部和虚部三路输入,每一路包含MulCA</a:t>
            </a:r>
            <a:r>
              <a:rPr lang="zh-CN" altLang="en-US" dirty="0"/>
              <a:t>通道注意力增强</a:t>
            </a:r>
            <a:r>
              <a:rPr dirty="0" err="1"/>
              <a:t>和全带特征提取器,再把unfold后的局部频带与全带输出拼接送入子带模型</a:t>
            </a:r>
            <a:r>
              <a:rPr lang="zh-CN" altLang="en-US" dirty="0"/>
              <a:t>，</a:t>
            </a:r>
            <a:r>
              <a:rPr lang="zh-CN" altLang="zh-CN" sz="1200" kern="1200" dirty="0">
                <a:effectLst/>
              </a:rPr>
              <a:t>全带分支生成的</a:t>
            </a:r>
            <a:r>
              <a:rPr lang="en-US" altLang="zh-CN" sz="1200" kern="1200" dirty="0">
                <a:effectLst/>
              </a:rPr>
              <a:t>“</a:t>
            </a:r>
            <a:r>
              <a:rPr lang="zh-CN" altLang="zh-CN" sz="1200" kern="1200" dirty="0">
                <a:effectLst/>
              </a:rPr>
              <a:t>全局注意力</a:t>
            </a:r>
            <a:r>
              <a:rPr lang="en-US" altLang="zh-CN" sz="1200" kern="1200" dirty="0">
                <a:effectLst/>
              </a:rPr>
              <a:t>”</a:t>
            </a:r>
            <a:r>
              <a:rPr lang="zh-CN" altLang="zh-CN" sz="1200" kern="1200" dirty="0">
                <a:effectLst/>
              </a:rPr>
              <a:t>会传递给子带分支，指挥子带分支哪里该加强、哪里该抑制。</a:t>
            </a:r>
            <a:r>
              <a:rPr lang="zh-CN" altLang="zh-CN" sz="1200" b="1" kern="1200" dirty="0">
                <a:effectLst/>
              </a:rPr>
              <a:t>最终两者融合生成一个实值掩码（</a:t>
            </a:r>
            <a:r>
              <a:rPr lang="en-US" altLang="zh-CN" sz="1200" b="1" kern="1200" dirty="0">
                <a:effectLst/>
              </a:rPr>
              <a:t>Mask</a:t>
            </a:r>
            <a:r>
              <a:rPr lang="zh-CN" altLang="zh-CN" sz="1200" b="1" kern="1200" dirty="0">
                <a:effectLst/>
              </a:rPr>
              <a:t>），乘上带噪语音的频谱，即可还原出干净的语音。</a:t>
            </a:r>
            <a:r>
              <a:rPr dirty="0" err="1"/>
              <a:t>最终输出复数掩码的实部和虚部</a:t>
            </a:r>
            <a:r>
              <a:rPr dirty="0"/>
              <a:t>。</a:t>
            </a:r>
          </a:p>
          <a:p>
            <a:r>
              <a:rPr dirty="0"/>
              <a:t>右下图B来自FullSubNet论文。它强调每一时刻先由全带模型提取全局信息,再与某一频点附近的子带单元拼接,由子带LSTM估计掩码;两个模型的隐藏状态都沿时间传递。本课题实际采用FullSubNet+结构,图B用于解释全带和子带融合的基础机制。报告配置为全带512、子带384、相邻15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FiLM本身只做逐特征仿射变换,真正把512维声纹向量转成γ和β</a:t>
            </a:r>
            <a:r>
              <a:rPr dirty="0" err="1"/>
              <a:t>的是两层小MLP。第一层完成非线性变换,第二层输出目标维度参数</a:t>
            </a:r>
            <a:r>
              <a:rPr dirty="0"/>
              <a:t>。</a:t>
            </a:r>
          </a:p>
          <a:p>
            <a:r>
              <a:rPr dirty="0"/>
              <a:t>选择小MLP的原因不是简单追求参数少,而是这个任务只需要条件格式转换。更大的网络会增加计算和过拟合风险,还可能让参数生成器记住训练说话人。</a:t>
            </a:r>
          </a:p>
          <a:p>
            <a:r>
              <a:rPr dirty="0"/>
              <a:t>末层初始化为γ等于1、β等于0,因此训练开始时不改变原FullSubNet+输出,条件化能力从稳定起点逐步学习。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缩放系数</a:t>
            </a:r>
            <a:r>
              <a:rPr lang="el-GR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γ</a:t>
            </a:r>
            <a:r>
              <a:rPr lang="zh-CN" altLang="en-US" sz="1200" b="0" dirty="0">
                <a:solidFill>
                  <a:srgbClr val="333333"/>
                </a:solidFill>
                <a:latin typeface="微软雅黑"/>
                <a:ea typeface="微软雅黑"/>
              </a:rPr>
              <a:t>，偏移系数</a:t>
            </a:r>
            <a:r>
              <a:rPr lang="el-GR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β</a:t>
            </a:r>
            <a:endParaRPr lang="en-US" dirty="0"/>
          </a:p>
          <a:p>
            <a:r>
              <a:rPr lang="en-US" altLang="zh-CN" dirty="0"/>
              <a:t>H=</a:t>
            </a:r>
            <a:r>
              <a:rPr lang="en-US" altLang="zh-CN" dirty="0" err="1"/>
              <a:t>ReLU</a:t>
            </a:r>
            <a:r>
              <a:rPr lang="en-US" altLang="zh-CN" sz="1200" b="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(W1e+b1) </a:t>
            </a:r>
          </a:p>
          <a:p>
            <a:r>
              <a:rPr lang="en-US" sz="1200" b="0" dirty="0">
                <a:solidFill>
                  <a:srgbClr val="333333"/>
                </a:solidFill>
                <a:latin typeface="微软雅黑"/>
                <a:ea typeface="微软雅黑"/>
              </a:rPr>
              <a:t>Z=</a:t>
            </a:r>
            <a:r>
              <a:rPr lang="en-US" altLang="zh-CN" sz="1200" b="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W2h+b2</a:t>
            </a:r>
          </a:p>
          <a:p>
            <a:r>
              <a:rPr lang="zh-CN" altLang="en-US" sz="1200" b="0" dirty="0">
                <a:solidFill>
                  <a:srgbClr val="333333"/>
                </a:solidFill>
                <a:latin typeface="微软雅黑"/>
                <a:ea typeface="微软雅黑"/>
              </a:rPr>
              <a:t>最后将输出向量</a:t>
            </a:r>
            <a:r>
              <a:rPr lang="en-US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z</a:t>
            </a:r>
            <a:r>
              <a:rPr lang="zh-CN" altLang="en-US" sz="1200" b="0" dirty="0">
                <a:solidFill>
                  <a:srgbClr val="333333"/>
                </a:solidFill>
                <a:latin typeface="微软雅黑"/>
                <a:ea typeface="微软雅黑"/>
              </a:rPr>
              <a:t>划分成两部分</a:t>
            </a:r>
            <a:r>
              <a:rPr lang="en-US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z=|</a:t>
            </a:r>
            <a:r>
              <a:rPr lang="el-GR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Δ</a:t>
            </a:r>
            <a:r>
              <a:rPr lang="en-US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(</a:t>
            </a:r>
            <a:r>
              <a:rPr lang="el-GR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γ</a:t>
            </a:r>
            <a:r>
              <a:rPr lang="en-US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),</a:t>
            </a:r>
            <a:r>
              <a:rPr lang="el-GR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β</a:t>
            </a:r>
            <a:r>
              <a:rPr lang="en-US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|</a:t>
            </a:r>
            <a:r>
              <a:rPr lang="zh-CN" altLang="en-US" sz="1200" b="0" dirty="0">
                <a:solidFill>
                  <a:srgbClr val="333333"/>
                </a:solidFill>
                <a:latin typeface="微软雅黑"/>
                <a:ea typeface="微软雅黑"/>
              </a:rPr>
              <a:t>，为了让训练初始阶段不破坏原</a:t>
            </a:r>
            <a:r>
              <a:rPr lang="en-US" altLang="zh-CN" sz="1200" b="0" dirty="0" err="1">
                <a:solidFill>
                  <a:srgbClr val="333333"/>
                </a:solidFill>
                <a:latin typeface="微软雅黑"/>
                <a:ea typeface="微软雅黑"/>
              </a:rPr>
              <a:t>FullSubNet</a:t>
            </a:r>
            <a:r>
              <a:rPr lang="en-US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+</a:t>
            </a:r>
            <a:r>
              <a:rPr lang="zh-CN" altLang="en-US" sz="1200" b="0" dirty="0">
                <a:solidFill>
                  <a:srgbClr val="333333"/>
                </a:solidFill>
                <a:latin typeface="微软雅黑"/>
                <a:ea typeface="微软雅黑"/>
              </a:rPr>
              <a:t>的特征，实际调制系数可写为</a:t>
            </a:r>
            <a:r>
              <a:rPr lang="el-GR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γ</a:t>
            </a:r>
            <a:r>
              <a:rPr lang="en-US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=1+</a:t>
            </a:r>
            <a:r>
              <a:rPr lang="el-GR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Δγ</a:t>
            </a:r>
            <a:r>
              <a:rPr lang="zh-CN" altLang="en-US" sz="1200" b="0" dirty="0">
                <a:solidFill>
                  <a:srgbClr val="333333"/>
                </a:solidFill>
                <a:latin typeface="微软雅黑"/>
                <a:ea typeface="微软雅黑"/>
              </a:rPr>
              <a:t>，因此，初始状态为</a:t>
            </a:r>
            <a:r>
              <a:rPr lang="el-GR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γ</a:t>
            </a:r>
            <a:r>
              <a:rPr lang="en-US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=1</a:t>
            </a:r>
            <a:r>
              <a:rPr lang="zh-CN" altLang="en-US" sz="1200" b="0" dirty="0">
                <a:solidFill>
                  <a:srgbClr val="333333"/>
                </a:solidFill>
                <a:latin typeface="微软雅黑"/>
                <a:ea typeface="微软雅黑"/>
              </a:rPr>
              <a:t>；</a:t>
            </a:r>
            <a:r>
              <a:rPr lang="el-GR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β</a:t>
            </a:r>
            <a:r>
              <a:rPr lang="en-US" altLang="zh-CN" sz="1200" b="0" dirty="0">
                <a:solidFill>
                  <a:srgbClr val="333333"/>
                </a:solidFill>
                <a:latin typeface="微软雅黑"/>
                <a:ea typeface="微软雅黑"/>
              </a:rPr>
              <a:t>=0</a:t>
            </a:r>
          </a:p>
          <a:p>
            <a:endParaRPr lang="en-US" sz="12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r>
              <a:rPr lang="zh-CN" altLang="zh-CN" sz="1200" b="0" i="0" kern="1200" dirty="0">
                <a:effectLst/>
              </a:rPr>
              <a:t>直观理解是：小 MLP 把“这个目标说话人是谁”的 512 维声纹向量，翻译成 FullSubNet+ 能够执行的通道控制指令。不同注册说话人会产生不同的 � 和 �，因此即使输入同一段多人混合语音，网络也会根据注册语音重点保留不同的目标说话人。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EB34F-1C66-93B7-7C7B-BD025FE52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5D2EDB-E19F-EE59-5D21-6E8D089AC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E5B81-64F2-4F95-4EA9-0E473647E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FiLM本身只做逐特征仿射变换,真正把512维声纹向量转成γ和β的是两层小MLP。第一层完成非线性变换,第二层输出目标维度参数。</a:t>
            </a:r>
          </a:p>
          <a:p>
            <a:r>
              <a:t>选择小MLP的原因不是简单追求参数少,而是这个任务只需要条件格式转换。更大的网络会增加计算和过拟合风险,还可能让参数生成器记住训练说话人。</a:t>
            </a:r>
          </a:p>
          <a:p>
            <a:r>
              <a:t>末层初始化为γ等于1、β等于0,因此训练开始时不改变原FullSubNet+输出,条件化能力从稳定起点逐步学习。</a:t>
            </a:r>
          </a:p>
          <a:p>
            <a:r>
              <a:t>[Sources]</a:t>
            </a:r>
          </a:p>
          <a:p>
            <a:r>
              <a:t>Perez et al., FiLM, AAAI 2018/arXiv:1709.07871, Figure 2。</a:t>
            </a:r>
          </a:p>
          <a:p>
            <a:r>
              <a:t>Yu et al., Speaker Conditional Sinc-Extractor for Personal VAD, Interspeech 2024, Figure 1。</a:t>
            </a:r>
          </a:p>
          <a:p>
            <a:r>
              <a:t>技术报告_跨设备噪声鲁棒声纹识别_v2.pdf：4.1.2、附录A。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CE205-5F08-0BE1-03DA-70E742BE8AF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64067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这四项都直接服务于本课题的注册条件化前端。Lse在频谱侧约束预测掩码与clean目标;Lspk在冻结声纹空间把增强语音拉向注册说话人。</a:t>
            </a:r>
          </a:p>
          <a:p>
            <a:r>
              <a:rPr dirty="0"/>
              <a:t>Lns使用本课题的9900类负原型库,选出最相似的8个难负类并施加阈值0.30的合页惩罚;Lce用真实标签进行AAM-CE分类。</a:t>
            </a:r>
          </a:p>
          <a:p>
            <a:r>
              <a:rPr dirty="0" err="1"/>
              <a:t>冻结后端只是不更新参数,身份相关损失的梯度仍穿过其固定计算回到SpeakerFiLM和FullSubNet</a:t>
            </a:r>
            <a:r>
              <a:rPr dirty="0"/>
              <a:t>+。</a:t>
            </a:r>
            <a:r>
              <a:rPr dirty="0" err="1"/>
              <a:t>论文仅提供通用方法依据,具体Top-K、阈值和权重来自本课题技术报告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Chen et al., </a:t>
            </a:r>
            <a:r>
              <a:rPr dirty="0" err="1"/>
              <a:t>FullSubNet</a:t>
            </a:r>
            <a:r>
              <a:rPr dirty="0"/>
              <a:t>+, ICASSP 2022/arXiv:2203.12188, Figure 2。</a:t>
            </a:r>
          </a:p>
          <a:p>
            <a:r>
              <a:rPr dirty="0"/>
              <a:t>Wan et al., GE2E, ICASSP 2018/arXiv:1710.10467, Figure 1。</a:t>
            </a:r>
          </a:p>
          <a:p>
            <a:r>
              <a:rPr dirty="0"/>
              <a:t>Snell et al., Prototypical Networks for Few-shot Learning, </a:t>
            </a:r>
            <a:r>
              <a:rPr dirty="0" err="1"/>
              <a:t>NeurIPS</a:t>
            </a:r>
            <a:r>
              <a:rPr dirty="0"/>
              <a:t> 2017/arXiv:1703.05175, Figure 1。</a:t>
            </a:r>
          </a:p>
          <a:p>
            <a:r>
              <a:rPr dirty="0"/>
              <a:t>Deng et al., </a:t>
            </a:r>
            <a:r>
              <a:rPr dirty="0" err="1"/>
              <a:t>ArcFace</a:t>
            </a:r>
            <a:r>
              <a:rPr dirty="0"/>
              <a:t>, TPAMI 2022/arXiv:1801.07698, Figure 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四项损失约束的是同一个前端,但各自使用不同输入侧。Lse直接比较预测掩码和目标cIRM;另外三项都先把增强语音送入冻结声纹后端获得e_enh。</a:t>
            </a:r>
          </a:p>
          <a:p>
            <a:r>
              <a:rPr dirty="0" err="1"/>
              <a:t>Lspk把e_enh拉近注册嵌入;Lns把它推离最容易混淆的八个非目标原型;Lce利用真实身份标签做角度间隔分类</a:t>
            </a:r>
            <a:r>
              <a:rPr dirty="0"/>
              <a:t>。</a:t>
            </a:r>
          </a:p>
          <a:p>
            <a:r>
              <a:rPr dirty="0"/>
              <a:t>所谓后端冻结是参数不更新,并不等于切断梯度。损失仍可通过后端的固定计算过程把梯度传回SpeakerFiLM和FullSubNet+。</a:t>
            </a:r>
          </a:p>
          <a:p>
            <a:r>
              <a:rPr dirty="0" err="1"/>
              <a:t>四项结合的优势是同时保住语音重建质量和身份可分性,针对普通降噪听感改善但EER上升的问题</a:t>
            </a:r>
            <a:r>
              <a:rPr dirty="0"/>
              <a:t>。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总的来说：</a:t>
            </a:r>
            <a:r>
              <a:rPr lang="zh-CN" altLang="zh-CN" sz="1200" b="0" i="0" kern="1200" dirty="0">
                <a:effectLst/>
              </a:rPr>
              <a:t>四项损失并非全部经过声纹后端。其中重建损失直接监督 FullSubNet+ 输出的 cIRM；另外三项身份相关损失将增强语音送入冻结声纹后端计算嵌入，再把梯度穿过固定后端传回 SpeakerFiLM 和 FullSubNet+。后端参数不更新，实际训练的始终只有前端。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声纹后端把语音映射为高维嵌入。理想情况下,同一说话人的嵌入方向接近,不同说话人的方向分离。</a:t>
            </a:r>
          </a:p>
          <a:p>
            <a:r>
              <a:t>余弦相似度用点积除以两个向量的模长,因此主要比较夹角而不是绝对模长。它计算简单,也不引入额外打分参数。</a:t>
            </a:r>
          </a:p>
          <a:p>
            <a:r>
              <a:t>同一个余弦度量还用于说话人保持损失,因此训练目标和最终评测方向保持一致。</a:t>
            </a:r>
          </a:p>
          <a:p>
            <a:r>
              <a:t>[Sources]</a:t>
            </a:r>
          </a:p>
          <a:p>
            <a:r>
              <a:t>技术报告_跨设备噪声鲁棒声纹识别_v2.pdf：1.2、4.1-4.2、5.1。</a:t>
            </a:r>
          </a:p>
          <a:p>
            <a:r>
              <a:t>Wan et al., Generalized End-to-End Loss for Speaker Verification, ICASSP 2018/arXiv:1710.10467。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0495A-EB5B-C203-F4DC-6FCA10BE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57A60E-39D4-DFE2-5362-70B93EEDB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7FEC99-9EBF-BF9B-E97D-0CFE92DF2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首先看任务背景。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B4B9FC-DD83-95C4-F5E9-F11D086525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A4863-82EA-4055-A6CB-D03302C3F2F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5938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最后是我的职业规划,分三个阶段。</a:t>
            </a:r>
          </a:p>
          <a:p>
            <a:r>
              <a:t>短期,硕士在读这一两年:完成课题交付,把部署口径问题和人声盲区这两个开放问题推进成论文成果,同时补齐语音大模型方向的工程能力。</a:t>
            </a:r>
          </a:p>
          <a:p>
            <a:r>
              <a:t>中期,毕业后三到五年:进入工业界做语音算法研发,专注声纹、识别、增强这类技术在智能终端和车载场景的规模化落地。</a:t>
            </a:r>
          </a:p>
          <a:p>
            <a:r>
              <a:t>长期:成长为能独立带方向的技术专家,深耕可信语音交互——鲁棒、安全、隐私——也希望能在像中国移动九天大模型这样的国产 AI 平台上,做出真正落地的贡献。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我的汇报就到这里。谢谢各位老师,恳请批评指正。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CE1051-165A-4F11-AC16-919699A51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0EA950-DC62-4F1D-95FF-479CB8B07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401527-3AE0-4553-B7C6-C2CC286BF63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48E7AF-6232-4A4D-A254-DD06A7DF03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695408-121F-47E1-8520-0A707724CB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272B4-1EBB-4808-9DFF-1A0295E51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A449E9-EBC7-4CD2-A2BA-FB345C7C0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EDC01-A1E7-4977-8F64-989F2AD5267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62BA78-FEA2-4F4D-ADD7-B506ABC0F4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E53D7A-D727-479E-B4F8-8C25746085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0FAF5-2F04-43FC-8376-4249DBCA7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E1527F-48F7-4A9F-B65C-0FF64FE21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E0EE05-C9A6-4C6C-B1FD-644BE364EB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C17ABB-380A-4BBC-9095-A512D6325E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12C217-28AF-4341-9D32-E49EDC24A8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AD60A8-1608-4D07-8C1B-1A3BE3890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8B4DFB-8165-41B7-81DF-872C30368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79BFC4-1318-4836-AEE3-510B8A5C5F2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2E06C6-5089-4D85-A432-A6F6EE12FC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2026/9/6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DAEBFA-AD64-4A00-8351-F74D3B0004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6EB92C-3DD1-4384-9BC5-9C9DEA00A3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067C11-76D1-4A40-9A68-6A7440D0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67C6B1-DB91-4101-8262-BB177844E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BAB3FE-D76F-4EC8-9486-898465B7FB3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F5A78E-505B-444E-ABD1-3910F175FCE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6439C5-4A32-4906-841C-CE8DE4529A5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0FE056-FF74-4309-A508-0B8F4B7E44D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2026/9/6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4ED2595-52D8-4540-BA32-04F4F7DEEE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39394BF-CB82-43D6-A75D-C93C486ED3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30A90-3E1E-448A-85E4-4AE41408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A03D0D9-1BDD-4E1A-9B8A-4302A3FFCE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2026/9/6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2F6101-7BDA-43DE-9567-48A8D94A1C6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4839E3-D594-4265-9BAC-097DA32FE8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8ADDAB0-9A61-4B7E-B045-55CCC36D5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2026/9/6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180A62-16D2-4BF7-8DC1-B856B00440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A79BE5-EAB8-420C-A06F-5FA9A87ABA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C5C16-56AD-4130-86B4-5FEE6264F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19D087-BA19-4E7C-883D-862DE7A96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EBC52C-C32E-45CF-B3BE-88CEB160730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B57E8E-3F48-4FA1-A37F-D403FAE209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2026/9/6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DE09D3-D7E7-4946-8C67-0AA45582E0A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58320B-DEB2-4200-95A8-B87AB9933C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2BDD0-DB6F-46A9-9EB4-1DA1DB645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C6E1B2-008D-4F7B-8AEA-44B133AE8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8F927E-B250-43E7-B9AD-8BF69083E32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0F073A-9BDE-4CF4-8DCF-24870F18DF2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2026/9/6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E6FE2E-98D0-4413-BBA2-10F9658F18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659F0F-5088-4E8D-BB5D-16CD1D65EE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C9915-D0EB-486E-B649-2543F2C4B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D882D6-272F-407B-AF25-E741DC4E1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AD6FB2-8FCD-414E-8EBD-2B49A306D3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D50C57-C139-45D3-9E61-B79EBADD3C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718E2B-C656-4DA1-B0AD-6A960555A0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9B916D-8BE0-4E54-A749-B1317D3BE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E095A5-C3F2-4699-A8E7-42447CEEF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5E609F-377D-4E43-8E5C-B7F73E5F77C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2082D4-1857-4180-AB69-AADC44DCF2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394934-58D8-417C-B443-F1C423F69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164E4C4-ADF5-413D-BFD8-19F786D3F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72CE8C-98C6-4F5D-BAAE-2091680C0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C3FE87-4355-4109-BC0A-C3F126E0A96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CBBAC-D3A3-4590-BCA5-60FB91388790}" type="datetimeFigureOut">
              <a:t>2026/9/6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2AD8FE-FD15-4721-B833-15C93C80171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020347-8DAE-46E3-98A9-7A5E2E640E6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B2323-D003-40F5-9A9B-B0FA841029C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30B51AF-B7C2-497D-93E4-455B2DAD1B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86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E12B6D-7863-4FB5-B73A-DA0059DDBDE2}"/>
              </a:ext>
            </a:extLst>
          </p:cNvPr>
          <p:cNvSpPr>
            <a:spLocks noGrp="1"/>
          </p:cNvSpPr>
          <p:nvPr/>
        </p:nvSpPr>
        <p:spPr>
          <a:xfrm>
            <a:off x="0" y="1168400"/>
            <a:ext cx="12192000" cy="338554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6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中国移动研究项目 · 子课题一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B881E1-6B50-492F-940B-D66704C4B0B1}"/>
              </a:ext>
            </a:extLst>
          </p:cNvPr>
          <p:cNvSpPr>
            <a:spLocks noGrp="1"/>
          </p:cNvSpPr>
          <p:nvPr/>
        </p:nvSpPr>
        <p:spPr>
          <a:xfrm>
            <a:off x="0" y="1905002"/>
            <a:ext cx="12192000" cy="64633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3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多条件中文声纹识别与噪声鲁棒性增强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A2034F-2E9B-4DA6-B398-0E7400430B78}"/>
              </a:ext>
            </a:extLst>
          </p:cNvPr>
          <p:cNvSpPr>
            <a:spLocks noGrp="1"/>
          </p:cNvSpPr>
          <p:nvPr/>
        </p:nvSpPr>
        <p:spPr>
          <a:xfrm>
            <a:off x="0" y="2997202"/>
            <a:ext cx="12192000" cy="615553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700">
                <a:solidFill>
                  <a:srgbClr val="2F5496"/>
                </a:solidFill>
                <a:latin typeface="微软雅黑"/>
                <a:ea typeface="微软雅黑"/>
                <a:cs typeface="微软雅黑"/>
              </a:rPr>
              <a:t>—— 数据生产管线与评测基座验证 ——</a:t>
            </a:r>
          </a:p>
          <a:p>
            <a:pPr algn="ctr">
              <a:buNone/>
            </a:pPr>
            <a:r>
              <a:rPr sz="1700">
                <a:solidFill>
                  <a:srgbClr val="2F5496"/>
                </a:solidFill>
                <a:latin typeface="微软雅黑"/>
                <a:ea typeface="微软雅黑"/>
                <a:cs typeface="微软雅黑"/>
              </a:rPr>
              <a:t>个人汇报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ABD8D1-F360-4749-8AAF-557FEF0A01AA}"/>
              </a:ext>
            </a:extLst>
          </p:cNvPr>
          <p:cNvSpPr>
            <a:spLocks noGrp="1"/>
          </p:cNvSpPr>
          <p:nvPr/>
        </p:nvSpPr>
        <p:spPr>
          <a:xfrm>
            <a:off x="4826000" y="4191000"/>
            <a:ext cx="2540000" cy="381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4EC34C-2A1C-4F00-A886-91C7C1CE7EA8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55399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中国移动研究项目 · 子课题一</a:t>
            </a:r>
          </a:p>
          <a:p>
            <a:pPr algn="ctr">
              <a:buNone/>
            </a:pPr>
            <a:r>
              <a: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2026 年 9 月 8 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9C8012-3CF9-D26E-3133-1076AB07DB1F}"/>
              </a:ext>
            </a:extLst>
          </p:cNvPr>
          <p:cNvSpPr>
            <a:spLocks noGrp="1"/>
          </p:cNvSpPr>
          <p:nvPr/>
        </p:nvSpPr>
        <p:spPr>
          <a:xfrm>
            <a:off x="3048421" y="3848102"/>
            <a:ext cx="609515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汇报人:邓姣姣</a:t>
            </a:r>
          </a:p>
        </p:txBody>
      </p:sp>
    </p:spTree>
    <p:extLst>
      <p:ext uri="{BB962C8B-B14F-4D97-AF65-F5344CB8AC3E}">
        <p14:creationId xmlns:p14="http://schemas.microsoft.com/office/powerpoint/2010/main" val="3963333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54DD56D-D220-4DEC-8506-F9111EF28406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小组成员与分工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89A73B-EE69-45CE-B1AD-9D4113CE5991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D2A7C1-7ACD-4DDB-B519-99F4FC218127}"/>
              </a:ext>
            </a:extLst>
          </p:cNvPr>
          <p:cNvSpPr>
            <a:spLocks noGrp="1"/>
          </p:cNvSpPr>
          <p:nvPr/>
        </p:nvSpPr>
        <p:spPr>
          <a:xfrm>
            <a:off x="508000" y="1168400"/>
            <a:ext cx="5486400" cy="4191000"/>
          </a:xfrm>
          <a:prstGeom prst="rect">
            <a:avLst/>
          </a:prstGeom>
          <a:solidFill>
            <a:srgbClr val="EAF0FA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0976EC-E12F-491B-AE39-2AEDCE51369C}"/>
              </a:ext>
            </a:extLst>
          </p:cNvPr>
          <p:cNvSpPr>
            <a:spLocks noGrp="1"/>
          </p:cNvSpPr>
          <p:nvPr/>
        </p:nvSpPr>
        <p:spPr>
          <a:xfrm>
            <a:off x="508000" y="1168400"/>
            <a:ext cx="5486400" cy="76200"/>
          </a:xfrm>
          <a:prstGeom prst="rect">
            <a:avLst/>
          </a:prstGeom>
          <a:solidFill>
            <a:srgbClr val="1F386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D1DD506-2B67-47B2-AF7E-5A18B2596580}"/>
              </a:ext>
            </a:extLst>
          </p:cNvPr>
          <p:cNvSpPr>
            <a:spLocks noGrp="1"/>
          </p:cNvSpPr>
          <p:nvPr/>
        </p:nvSpPr>
        <p:spPr>
          <a:xfrm>
            <a:off x="812800" y="1422402"/>
            <a:ext cx="4953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9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算法组已汇报-张启元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1D686E-DCA0-4C83-807C-233735CC5FEB}"/>
              </a:ext>
            </a:extLst>
          </p:cNvPr>
          <p:cNvSpPr>
            <a:spLocks noGrp="1"/>
          </p:cNvSpPr>
          <p:nvPr/>
        </p:nvSpPr>
        <p:spPr>
          <a:xfrm>
            <a:off x="812800" y="1879602"/>
            <a:ext cx="4953000" cy="3231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5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算法与实验主线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710A1B-0F04-43C5-9874-337EB66A32F4}"/>
              </a:ext>
            </a:extLst>
          </p:cNvPr>
          <p:cNvSpPr>
            <a:spLocks noGrp="1"/>
          </p:cNvSpPr>
          <p:nvPr/>
        </p:nvSpPr>
        <p:spPr>
          <a:xfrm>
            <a:off x="812800" y="2362202"/>
            <a:ext cx="4953000" cy="170559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子课题需求分解与达标路线设计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训练 / 评测环境与自动化管线搭建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鲁棒方案设计与四轮迭代(交付前端)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三后端全量实验与官方终评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失败案例挖掘 · ROC/DET 分析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技术报告与汇报材料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A06489-1F86-410C-8714-F3CDCD9A3F27}"/>
              </a:ext>
            </a:extLst>
          </p:cNvPr>
          <p:cNvSpPr>
            <a:spLocks noGrp="1"/>
          </p:cNvSpPr>
          <p:nvPr/>
        </p:nvSpPr>
        <p:spPr>
          <a:xfrm>
            <a:off x="6248400" y="1168400"/>
            <a:ext cx="5486400" cy="4191000"/>
          </a:xfrm>
          <a:prstGeom prst="rect">
            <a:avLst/>
          </a:prstGeom>
          <a:solidFill>
            <a:srgbClr val="EAF0FA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A6A1DE-53DB-4F72-A532-C10C6B8028C9}"/>
              </a:ext>
            </a:extLst>
          </p:cNvPr>
          <p:cNvSpPr>
            <a:spLocks noGrp="1"/>
          </p:cNvSpPr>
          <p:nvPr/>
        </p:nvSpPr>
        <p:spPr>
          <a:xfrm>
            <a:off x="6248400" y="1168400"/>
            <a:ext cx="5486400" cy="76200"/>
          </a:xfrm>
          <a:prstGeom prst="rect">
            <a:avLst/>
          </a:prstGeom>
          <a:solidFill>
            <a:srgbClr val="2F549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262886-8D9F-486A-BD28-F4211E12A13E}"/>
              </a:ext>
            </a:extLst>
          </p:cNvPr>
          <p:cNvSpPr>
            <a:spLocks noGrp="1"/>
          </p:cNvSpPr>
          <p:nvPr/>
        </p:nvSpPr>
        <p:spPr>
          <a:xfrm>
            <a:off x="6553200" y="1422402"/>
            <a:ext cx="4953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9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邓姣姣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CD234D-4878-433E-90A8-458011B174D9}"/>
              </a:ext>
            </a:extLst>
          </p:cNvPr>
          <p:cNvSpPr>
            <a:spLocks noGrp="1"/>
          </p:cNvSpPr>
          <p:nvPr/>
        </p:nvSpPr>
        <p:spPr>
          <a:xfrm>
            <a:off x="6553200" y="1879602"/>
            <a:ext cx="4953000" cy="3231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5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数据与评测支撑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93CED24-85BB-4CA1-90DA-9BC5C8E3E6AC}"/>
              </a:ext>
            </a:extLst>
          </p:cNvPr>
          <p:cNvSpPr>
            <a:spLocks noGrp="1"/>
          </p:cNvSpPr>
          <p:nvPr/>
        </p:nvSpPr>
        <p:spPr>
          <a:xfrm>
            <a:off x="6553200" y="2362202"/>
            <a:ext cx="4953000" cy="142603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8 种声学条件测试数据协议与构建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噪声 / 多人重叠数据合成(SNR / TIR 记录)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三重数据泄漏检查(说话人 / MD5 / 切片)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统一评测脚本(EER · minDCF · ROC-DET · FAR/FRR)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鲁棒性文献调研(2024-2026)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567B19-4BFE-4F73-9525-C5607B042CCD}"/>
              </a:ext>
            </a:extLst>
          </p:cNvPr>
          <p:cNvSpPr>
            <a:spLocks noGrp="1"/>
          </p:cNvSpPr>
          <p:nvPr/>
        </p:nvSpPr>
        <p:spPr>
          <a:xfrm>
            <a:off x="508000" y="5588000"/>
            <a:ext cx="11226800" cy="38100"/>
          </a:xfrm>
          <a:prstGeom prst="rect">
            <a:avLst/>
          </a:prstGeom>
          <a:solidFill>
            <a:srgbClr val="E2E8F5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FE388A-BD5B-4911-9724-906C92B7BDCF}"/>
              </a:ext>
            </a:extLst>
          </p:cNvPr>
          <p:cNvSpPr>
            <a:spLocks noGrp="1"/>
          </p:cNvSpPr>
          <p:nvPr/>
        </p:nvSpPr>
        <p:spPr>
          <a:xfrm>
            <a:off x="508000" y="5740402"/>
            <a:ext cx="11226800" cy="31547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450" b="1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本次重点:评测基座如何保证结论可信 + 最终前端每个模块如何工作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B6399C-8B5F-4D1C-94DF-71C7D157FF04}"/>
              </a:ext>
            </a:extLst>
          </p:cNvPr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1F386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229639-9F07-0105-059D-604FEBE4BAAD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451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CFC463-A7C0-42A4-AF36-CBA577EA4EEF}"/>
              </a:ext>
            </a:extLst>
          </p:cNvPr>
          <p:cNvSpPr>
            <a:spLocks noGrp="1"/>
          </p:cNvSpPr>
          <p:nvPr/>
        </p:nvSpPr>
        <p:spPr>
          <a:xfrm>
            <a:off x="762000" y="431800"/>
            <a:ext cx="3810000" cy="55399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提  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86A0E1-6618-49CD-8B6F-4801AAE23AD5}"/>
              </a:ext>
            </a:extLst>
          </p:cNvPr>
          <p:cNvSpPr>
            <a:spLocks noGrp="1"/>
          </p:cNvSpPr>
          <p:nvPr/>
        </p:nvSpPr>
        <p:spPr>
          <a:xfrm>
            <a:off x="787400" y="1168400"/>
            <a:ext cx="1117600" cy="381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B786C4-2BB6-43C9-8445-5876706C2383}"/>
              </a:ext>
            </a:extLst>
          </p:cNvPr>
          <p:cNvSpPr>
            <a:spLocks noGrp="1"/>
          </p:cNvSpPr>
          <p:nvPr/>
        </p:nvSpPr>
        <p:spPr>
          <a:xfrm>
            <a:off x="1143000" y="1778000"/>
            <a:ext cx="812800" cy="508000"/>
          </a:xfrm>
          <a:prstGeom prst="rect">
            <a:avLst/>
          </a:prstGeom>
          <a:solidFill>
            <a:srgbClr val="D9E2F3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rgbClr val="1F3864"/>
                </a:solidFill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F34105-7CD8-4BE8-A7F7-424179B2DF72}"/>
              </a:ext>
            </a:extLst>
          </p:cNvPr>
          <p:cNvSpPr>
            <a:spLocks noGrp="1"/>
          </p:cNvSpPr>
          <p:nvPr/>
        </p:nvSpPr>
        <p:spPr>
          <a:xfrm>
            <a:off x="2235200" y="1828802"/>
            <a:ext cx="5334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9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数据协议与构建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188598-9C95-4CA1-828B-6CDEE74908A3}"/>
              </a:ext>
            </a:extLst>
          </p:cNvPr>
          <p:cNvSpPr>
            <a:spLocks noGrp="1"/>
          </p:cNvSpPr>
          <p:nvPr/>
        </p:nvSpPr>
        <p:spPr>
          <a:xfrm>
            <a:off x="1143000" y="2565400"/>
            <a:ext cx="812800" cy="508000"/>
          </a:xfrm>
          <a:prstGeom prst="rect">
            <a:avLst/>
          </a:prstGeom>
          <a:solidFill>
            <a:srgbClr val="D9E2F3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rgbClr val="1F3864"/>
                </a:solidFill>
              </a:rPr>
              <a:t>02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4EC271-FBB7-40A3-8A53-F5135EB5C941}"/>
              </a:ext>
            </a:extLst>
          </p:cNvPr>
          <p:cNvSpPr>
            <a:spLocks noGrp="1"/>
          </p:cNvSpPr>
          <p:nvPr/>
        </p:nvSpPr>
        <p:spPr>
          <a:xfrm>
            <a:off x="2235200" y="2616202"/>
            <a:ext cx="5334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9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数据可信性-泄露检查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75DFBF-85F4-443D-8CFE-4763ED66BE7B}"/>
              </a:ext>
            </a:extLst>
          </p:cNvPr>
          <p:cNvSpPr>
            <a:spLocks noGrp="1"/>
          </p:cNvSpPr>
          <p:nvPr/>
        </p:nvSpPr>
        <p:spPr>
          <a:xfrm>
            <a:off x="1143000" y="3352800"/>
            <a:ext cx="812800" cy="508000"/>
          </a:xfrm>
          <a:prstGeom prst="rect">
            <a:avLst/>
          </a:prstGeom>
          <a:solidFill>
            <a:srgbClr val="D9E2F3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rgbClr val="1F3864"/>
                </a:solidFill>
              </a:rPr>
              <a:t>03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F842C9-22B7-4816-8C5B-D72DDF249499}"/>
              </a:ext>
            </a:extLst>
          </p:cNvPr>
          <p:cNvSpPr>
            <a:spLocks noGrp="1"/>
          </p:cNvSpPr>
          <p:nvPr/>
        </p:nvSpPr>
        <p:spPr>
          <a:xfrm>
            <a:off x="2235200" y="3403602"/>
            <a:ext cx="5334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9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统一评测协议构建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49A6E9-725A-4D74-9304-8EBAB062DD09}"/>
              </a:ext>
            </a:extLst>
          </p:cNvPr>
          <p:cNvSpPr>
            <a:spLocks noGrp="1"/>
          </p:cNvSpPr>
          <p:nvPr/>
        </p:nvSpPr>
        <p:spPr>
          <a:xfrm>
            <a:off x="1143000" y="4140200"/>
            <a:ext cx="812800" cy="508000"/>
          </a:xfrm>
          <a:prstGeom prst="rect">
            <a:avLst/>
          </a:prstGeom>
          <a:solidFill>
            <a:srgbClr val="D9E2F3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rgbClr val="1F3864"/>
                </a:solidFill>
              </a:rPr>
              <a:t>04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75F3B8-E970-4531-AFC4-F6BC8E6B604D}"/>
              </a:ext>
            </a:extLst>
          </p:cNvPr>
          <p:cNvSpPr>
            <a:spLocks noGrp="1"/>
          </p:cNvSpPr>
          <p:nvPr/>
        </p:nvSpPr>
        <p:spPr>
          <a:xfrm>
            <a:off x="2235200" y="4191002"/>
            <a:ext cx="5334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9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文献调研与判决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B672A6-AF06-423E-9DC9-17F6CB8432E6}"/>
              </a:ext>
            </a:extLst>
          </p:cNvPr>
          <p:cNvSpPr>
            <a:spLocks noGrp="1"/>
          </p:cNvSpPr>
          <p:nvPr/>
        </p:nvSpPr>
        <p:spPr>
          <a:xfrm>
            <a:off x="1143000" y="4927600"/>
            <a:ext cx="812800" cy="508000"/>
          </a:xfrm>
          <a:prstGeom prst="rect">
            <a:avLst/>
          </a:prstGeom>
          <a:solidFill>
            <a:srgbClr val="D9E2F3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rgbClr val="1F3864"/>
                </a:solidFill>
              </a:rPr>
              <a:t>05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F840A7-E977-426A-AA07-50999C1ADA02}"/>
              </a:ext>
            </a:extLst>
          </p:cNvPr>
          <p:cNvSpPr>
            <a:spLocks noGrp="1"/>
          </p:cNvSpPr>
          <p:nvPr/>
        </p:nvSpPr>
        <p:spPr>
          <a:xfrm>
            <a:off x="2235200" y="4978402"/>
            <a:ext cx="5334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9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前端结构与原理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939693-3924-4C2F-B00B-9AE5596DF850}"/>
              </a:ext>
            </a:extLst>
          </p:cNvPr>
          <p:cNvSpPr>
            <a:spLocks noGrp="1"/>
          </p:cNvSpPr>
          <p:nvPr/>
        </p:nvSpPr>
        <p:spPr>
          <a:xfrm>
            <a:off x="1143000" y="5715000"/>
            <a:ext cx="812800" cy="508000"/>
          </a:xfrm>
          <a:prstGeom prst="rect">
            <a:avLst/>
          </a:prstGeom>
          <a:solidFill>
            <a:srgbClr val="D9E2F3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rgbClr val="1F3864"/>
                </a:solidFill>
              </a:rPr>
              <a:t>06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DD26771-3C5A-447D-BA4E-153A33BDB21B}"/>
              </a:ext>
            </a:extLst>
          </p:cNvPr>
          <p:cNvSpPr>
            <a:spLocks noGrp="1"/>
          </p:cNvSpPr>
          <p:nvPr/>
        </p:nvSpPr>
        <p:spPr>
          <a:xfrm>
            <a:off x="2235200" y="5765802"/>
            <a:ext cx="5334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9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未来职业规划</a:t>
            </a:r>
          </a:p>
        </p:txBody>
      </p:sp>
    </p:spTree>
    <p:extLst>
      <p:ext uri="{BB962C8B-B14F-4D97-AF65-F5344CB8AC3E}">
        <p14:creationId xmlns:p14="http://schemas.microsoft.com/office/powerpoint/2010/main" val="2157990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62000" y="431800"/>
            <a:ext cx="381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  纲</a:t>
            </a:r>
          </a:p>
        </p:txBody>
      </p:sp>
      <p:sp>
        <p:nvSpPr>
          <p:cNvPr id="3" name="矩形 2"/>
          <p:cNvSpPr/>
          <p:nvPr/>
        </p:nvSpPr>
        <p:spPr>
          <a:xfrm>
            <a:off x="787400" y="1168400"/>
            <a:ext cx="1117600" cy="381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43000" y="1778000"/>
            <a:ext cx="812800" cy="5080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ea typeface="微软雅黑" panose="020B0503020204020204" pitchFamily="34" charset="-122"/>
              </a:rPr>
              <a:t>01</a:t>
            </a:r>
            <a:endParaRPr lang="zh-CN" altLang="en-US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35200" y="182880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1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数据协议与构建</a:t>
            </a:r>
          </a:p>
        </p:txBody>
      </p:sp>
      <p:sp>
        <p:nvSpPr>
          <p:cNvPr id="6" name="矩形 5"/>
          <p:cNvSpPr/>
          <p:nvPr/>
        </p:nvSpPr>
        <p:spPr>
          <a:xfrm>
            <a:off x="1143000" y="25654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02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35200" y="26162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数据可信性</a:t>
            </a:r>
            <a:r>
              <a:rPr lang="en-US" altLang="zh-CN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泄露性检查</a:t>
            </a:r>
          </a:p>
        </p:txBody>
      </p:sp>
      <p:sp>
        <p:nvSpPr>
          <p:cNvPr id="8" name="矩形 7"/>
          <p:cNvSpPr/>
          <p:nvPr/>
        </p:nvSpPr>
        <p:spPr>
          <a:xfrm>
            <a:off x="1143000" y="33528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03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35200" y="34036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统一评测协议构建</a:t>
            </a:r>
          </a:p>
        </p:txBody>
      </p:sp>
      <p:sp>
        <p:nvSpPr>
          <p:cNvPr id="10" name="矩形 9"/>
          <p:cNvSpPr/>
          <p:nvPr/>
        </p:nvSpPr>
        <p:spPr>
          <a:xfrm>
            <a:off x="1143000" y="41402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04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35200" y="41910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文献调研与判决</a:t>
            </a:r>
          </a:p>
        </p:txBody>
      </p:sp>
      <p:sp>
        <p:nvSpPr>
          <p:cNvPr id="12" name="矩形 11"/>
          <p:cNvSpPr/>
          <p:nvPr/>
        </p:nvSpPr>
        <p:spPr>
          <a:xfrm>
            <a:off x="1143000" y="49276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05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35200" y="49784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前端结构与原理</a:t>
            </a:r>
          </a:p>
        </p:txBody>
      </p:sp>
      <p:sp>
        <p:nvSpPr>
          <p:cNvPr id="14" name="矩形 13"/>
          <p:cNvSpPr/>
          <p:nvPr/>
        </p:nvSpPr>
        <p:spPr>
          <a:xfrm>
            <a:off x="1143000" y="5715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06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235200" y="57658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展望与规划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112000" y="1905000"/>
            <a:ext cx="40640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1000" b="1">
                <a:solidFill>
                  <a:srgbClr val="E2E8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1000" b="1">
              <a:solidFill>
                <a:srgbClr val="E2E8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112000" y="4064000"/>
            <a:ext cx="431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数据协议与构建</a:t>
            </a:r>
          </a:p>
        </p:txBody>
      </p:sp>
      <p:sp>
        <p:nvSpPr>
          <p:cNvPr id="18" name="矩形 17"/>
          <p:cNvSpPr/>
          <p:nvPr/>
        </p:nvSpPr>
        <p:spPr>
          <a:xfrm>
            <a:off x="7137400" y="4927600"/>
            <a:ext cx="1524000" cy="508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326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71E64F5-0072-47D4-9CF8-7E52CF3E0D8D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八套测试语音由同一注册与 Trial 协议派生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AEDEB8-0101-4C02-9127-E5E0A8087A13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01 数据协议与构建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A90F77-54DF-44BF-9054-86D57A97A58E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1" name="表格 5"/>
          <p:cNvGraphicFramePr/>
          <p:nvPr/>
        </p:nvGraphicFramePr>
        <p:xfrm>
          <a:off x="508000" y="1168400"/>
          <a:ext cx="11303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协议对象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冻结规则 / 派生条件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主数据源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3D-Speaker 中文测试集:240 人,18,782 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注册与 Trial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8,687 条 clean 注册;1,378,206 条 trial;正负比 1:5.5;seed=2026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套未增强测试语音,作为干净锚点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单说话人噪声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套:0 dB / -5 dB;同一噪声文件、同一起点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回声 / 混响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套:模拟中等房间;T60 中位 0.60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中文重叠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套:二人 / 三人;B、C 角色提供干扰语音并记录 TIR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英文重叠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套:二人 / 三人;E、F 角色提供干扰语音并记录 TIR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1B4C98D4-EFB0-8CA7-0187-2370250D895A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6904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E496632-9A6D-A815-937C-E9731A471E2F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八套测试语音由同一注册与 Trial 协议派生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18F8DF-D73D-4E54-27E3-F7F949623FE0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01 数据协议与构建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8384E7-F8E4-B6D1-E9D8-5961580B6270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1" name="表格 5"/>
          <p:cNvGraphicFramePr/>
          <p:nvPr/>
        </p:nvGraphicFramePr>
        <p:xfrm>
          <a:off x="508001" y="1168400"/>
          <a:ext cx="11303001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sz="1350">
                          <a:solidFill>
                            <a:schemeClr val="bg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</a:t>
                      </a:r>
                    </a:p>
                  </a:txBody>
                  <a:tcPr marR="50800" marT="31750" marB="3175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sz="1350">
                          <a:solidFill>
                            <a:schemeClr val="bg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数量</a:t>
                      </a:r>
                    </a:p>
                  </a:txBody>
                  <a:tcPr marL="50800" marR="50800" marT="31750" marB="3175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sz="1350">
                          <a:solidFill>
                            <a:schemeClr val="bg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50800" marR="50800" marT="31750" marB="31750"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endParaRPr sz="1350" kern="1200">
                        <a:solidFill>
                          <a:srgbClr val="333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R="508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180人（A_dev 30 / A_eval 150）</a:t>
                      </a:r>
                    </a:p>
                  </a:txBody>
                  <a:tcPr marL="50800" marR="508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注册及正例构造</a:t>
                      </a:r>
                    </a:p>
                  </a:txBody>
                  <a:tcPr marL="50800" marT="31750" marB="317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</a:t>
                      </a:r>
                      <a:endParaRPr sz="1350" kern="1200">
                        <a:solidFill>
                          <a:srgbClr val="333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R="50800" marT="31750" marB="31750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30人（D_dev 5 / D_eval 25）</a:t>
                      </a:r>
                    </a:p>
                  </a:txBody>
                  <a:tcPr marL="50800" marR="50800" marT="31750" marB="31750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负例（冒认者）</a:t>
                      </a:r>
                    </a:p>
                  </a:txBody>
                  <a:tcPr marL="50800" marT="31750" marB="31750"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B/C：</a:t>
                      </a:r>
                    </a:p>
                  </a:txBody>
                  <a:tcPr marR="508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各约30人</a:t>
                      </a:r>
                    </a:p>
                  </a:txBody>
                  <a:tcPr marL="50800" marR="508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中文重叠干扰</a:t>
                      </a:r>
                    </a:p>
                  </a:txBody>
                  <a:tcPr marL="50800" marT="31750" marB="317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E/F</a:t>
                      </a:r>
                      <a:endParaRPr sz="1350" kern="1200">
                        <a:solidFill>
                          <a:srgbClr val="333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R="50800" marT="31750" marB="31750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各约30人</a:t>
                      </a:r>
                    </a:p>
                  </a:txBody>
                  <a:tcPr marL="50800" marR="50800" marT="31750" marB="31750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英文重叠干扰</a:t>
                      </a:r>
                    </a:p>
                  </a:txBody>
                  <a:tcPr marL="50800" marT="31750" marB="31750"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3646D24-A1D2-FE2B-DD50-D5C3CE2EE251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5462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22A63-2563-52D7-C9F8-9FD8E31E8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7D93EDE-D012-FF7A-EBFC-262E7F151C4C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噪声与多人重叠均按功率标尺合成,并同步记录 SNR / TIR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CB82D7-860B-02E2-5E7B-7645C8777785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01 数据协议与构建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1DB246-D6E4-132B-14D6-7797A39D959C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38" name="表格 5">
            <a:extLst>
              <a:ext uri="{FF2B5EF4-FFF2-40B4-BE49-F238E27FC236}">
                <a16:creationId xmlns:a16="http://schemas.microsoft.com/office/drawing/2014/main" id="{0D3C140E-918D-7B58-9619-4A6249A1CBA0}"/>
              </a:ext>
            </a:extLst>
          </p:cNvPr>
          <p:cNvGraphicFramePr/>
          <p:nvPr/>
        </p:nvGraphicFramePr>
        <p:xfrm>
          <a:off x="-15240000" y="-8572500"/>
          <a:ext cx="11303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可复现控制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噪声池隔离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MUSAN free-sound:训练池 615 条,测试池 168+ 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SNR 对照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/ -5 dB 使用同一噪声、同一位置,只改变缩放因子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有效能量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增益按 VAD 有效语音段 RMS 计算,不计静音段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短噪声补齐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噪声不足时按原顺序重复,再选取目标长度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多人 TIR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先合并干扰语音再整体缩放;TIR=0 dB 时目标与干扰等能量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角色分配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三人中文重叠分别从 B、C 池取样,防止两条干扰同人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混响输出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RIR 卷积后输出长度=原长度;记录 RIR / T60 / SNR / TIR 与 seed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E4310AF8-DE20-87B0-0328-95C970193BF8}"/>
              </a:ext>
            </a:extLst>
          </p:cNvPr>
          <p:cNvSpPr>
            <a:spLocks noGrp="1"/>
          </p:cNvSpPr>
          <p:nvPr/>
        </p:nvSpPr>
        <p:spPr>
          <a:xfrm>
            <a:off x="445386" y="2774212"/>
            <a:ext cx="1143000" cy="552450"/>
          </a:xfrm>
          <a:prstGeom prst="roundRect">
            <a:avLst>
              <a:gd name="adj" fmla="val 13793"/>
            </a:avLst>
          </a:prstGeom>
          <a:solidFill>
            <a:srgbClr val="355E9E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zh-CN" altLang="en-US" sz="1125" b="1" dirty="0">
                <a:solidFill>
                  <a:srgbClr val="FFFFFF"/>
                </a:solidFill>
              </a:rPr>
              <a:t>干净语音</a:t>
            </a:r>
            <a:r>
              <a:rPr sz="1125" b="1" dirty="0" err="1">
                <a:solidFill>
                  <a:srgbClr val="FFFFFF"/>
                </a:solidFill>
              </a:rPr>
              <a:t>合成</a:t>
            </a:r>
            <a:endParaRPr sz="1125" b="1" dirty="0">
              <a:solidFill>
                <a:srgbClr val="FFFFFF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A09A28C-45DC-75BA-445D-1E59C7C76A7D}"/>
              </a:ext>
            </a:extLst>
          </p:cNvPr>
          <p:cNvSpPr>
            <a:spLocks noGrp="1"/>
          </p:cNvSpPr>
          <p:nvPr/>
        </p:nvSpPr>
        <p:spPr>
          <a:xfrm>
            <a:off x="1883663" y="2698012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lang="en-US" sz="1125" dirty="0">
                <a:solidFill>
                  <a:srgbClr val="203D6B"/>
                </a:solidFill>
              </a:rPr>
              <a:t>1</a:t>
            </a:r>
            <a:r>
              <a:rPr lang="en-US" altLang="zh-CN" sz="1125" dirty="0">
                <a:solidFill>
                  <a:srgbClr val="203D6B"/>
                </a:solidFill>
              </a:rPr>
              <a:t>s</a:t>
            </a:r>
            <a:r>
              <a:rPr lang="zh-CN" altLang="en-US" sz="1125" dirty="0">
                <a:solidFill>
                  <a:srgbClr val="203D6B"/>
                </a:solidFill>
              </a:rPr>
              <a:t>、</a:t>
            </a:r>
            <a:r>
              <a:rPr lang="en-US" altLang="zh-CN" sz="1125" dirty="0">
                <a:solidFill>
                  <a:srgbClr val="203D6B"/>
                </a:solidFill>
              </a:rPr>
              <a:t>3s</a:t>
            </a:r>
            <a:r>
              <a:rPr lang="zh-CN" altLang="en-US" sz="1125" dirty="0">
                <a:solidFill>
                  <a:srgbClr val="203D6B"/>
                </a:solidFill>
              </a:rPr>
              <a:t>、</a:t>
            </a:r>
            <a:r>
              <a:rPr lang="en-US" altLang="zh-CN" sz="1125" dirty="0">
                <a:solidFill>
                  <a:srgbClr val="203D6B"/>
                </a:solidFill>
              </a:rPr>
              <a:t>5s</a:t>
            </a:r>
            <a:r>
              <a:rPr lang="zh-CN" altLang="en-US" sz="1125" dirty="0">
                <a:solidFill>
                  <a:srgbClr val="203D6B"/>
                </a:solidFill>
              </a:rPr>
              <a:t>时长</a:t>
            </a:r>
            <a:endParaRPr sz="1125" dirty="0">
              <a:solidFill>
                <a:srgbClr val="203D6B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FC97A11-63B4-026F-81F5-ED3C1512F37D}"/>
              </a:ext>
            </a:extLst>
          </p:cNvPr>
          <p:cNvSpPr>
            <a:spLocks noGrp="1"/>
          </p:cNvSpPr>
          <p:nvPr/>
        </p:nvSpPr>
        <p:spPr>
          <a:xfrm>
            <a:off x="4064296" y="2698012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lang="en-US" altLang="zh-CN" sz="1125" dirty="0">
                <a:solidFill>
                  <a:srgbClr val="203D6B"/>
                </a:solidFill>
              </a:rPr>
              <a:t>Vad</a:t>
            </a:r>
            <a:r>
              <a:rPr lang="zh-CN" altLang="en-US" sz="1125" dirty="0">
                <a:solidFill>
                  <a:srgbClr val="203D6B"/>
                </a:solidFill>
              </a:rPr>
              <a:t>有效语音</a:t>
            </a:r>
            <a:endParaRPr sz="1125" dirty="0">
              <a:solidFill>
                <a:srgbClr val="203D6B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2DFC93E-B2B6-37EA-03F4-61C11E56553B}"/>
              </a:ext>
            </a:extLst>
          </p:cNvPr>
          <p:cNvSpPr>
            <a:spLocks noGrp="1"/>
          </p:cNvSpPr>
          <p:nvPr/>
        </p:nvSpPr>
        <p:spPr>
          <a:xfrm>
            <a:off x="6112171" y="2698012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lang="zh-CN" altLang="en-US" sz="1125" dirty="0">
                <a:solidFill>
                  <a:srgbClr val="203D6B"/>
                </a:solidFill>
              </a:rPr>
              <a:t>时长对齐</a:t>
            </a:r>
            <a:endParaRPr sz="1125" dirty="0">
              <a:solidFill>
                <a:srgbClr val="203D6B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632AD5B-0BAE-54D3-C922-54C52A7ADE3A}"/>
              </a:ext>
            </a:extLst>
          </p:cNvPr>
          <p:cNvSpPr>
            <a:spLocks noGrp="1"/>
          </p:cNvSpPr>
          <p:nvPr/>
        </p:nvSpPr>
        <p:spPr>
          <a:xfrm>
            <a:off x="8214314" y="2698012"/>
            <a:ext cx="1524000" cy="704850"/>
          </a:xfrm>
          <a:prstGeom prst="roundRect">
            <a:avLst>
              <a:gd name="adj" fmla="val 10811"/>
            </a:avLst>
          </a:prstGeom>
          <a:solidFill>
            <a:srgbClr val="EEF7EA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 err="1">
                <a:solidFill>
                  <a:srgbClr val="203D6B"/>
                </a:solidFill>
              </a:rPr>
              <a:t>输出</a:t>
            </a:r>
            <a:endParaRPr sz="1125" b="1" dirty="0">
              <a:solidFill>
                <a:srgbClr val="203D6B"/>
              </a:solidFill>
            </a:endParaRP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>
                <a:solidFill>
                  <a:srgbClr val="203D6B"/>
                </a:solidFill>
              </a:rPr>
              <a:t>y = x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AC9931CB-E7FE-50A3-C0C8-78C8AFE2D6C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550538" y="3050437"/>
            <a:ext cx="513758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A1A72BE2-5020-F3C1-56FF-9CCD1084DCB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731169" y="3050437"/>
            <a:ext cx="381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F3614F6E-A58E-D9C0-DBE0-D9CD9428AC60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7779046" y="3050437"/>
            <a:ext cx="435268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C47F71B3-CBBB-5D2B-7668-1DA2AFC400E5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2630D66A-506A-1EA2-C57D-044EFDE7B252}"/>
              </a:ext>
            </a:extLst>
          </p:cNvPr>
          <p:cNvSpPr>
            <a:spLocks noGrp="1"/>
          </p:cNvSpPr>
          <p:nvPr/>
        </p:nvSpPr>
        <p:spPr>
          <a:xfrm>
            <a:off x="956858" y="1478370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lang="en-US" altLang="zh-CN" sz="1125" dirty="0">
                <a:solidFill>
                  <a:srgbClr val="203D6B"/>
                </a:solidFill>
              </a:rPr>
              <a:t>3D-Speaker</a:t>
            </a:r>
            <a:r>
              <a:rPr lang="zh-CN" altLang="en-US" sz="1125" dirty="0">
                <a:solidFill>
                  <a:srgbClr val="203D6B"/>
                </a:solidFill>
              </a:rPr>
              <a:t>数据集语音时长在</a:t>
            </a:r>
            <a:r>
              <a:rPr lang="en-US" altLang="zh-CN" sz="1125" dirty="0">
                <a:solidFill>
                  <a:srgbClr val="203D6B"/>
                </a:solidFill>
              </a:rPr>
              <a:t>2-4s</a:t>
            </a:r>
            <a:endParaRPr sz="1125" dirty="0">
              <a:solidFill>
                <a:srgbClr val="203D6B"/>
              </a:solidFill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2052B735-BCC9-315C-70EB-02AFDBE93C92}"/>
              </a:ext>
            </a:extLst>
          </p:cNvPr>
          <p:cNvSpPr>
            <a:spLocks noGrp="1"/>
          </p:cNvSpPr>
          <p:nvPr/>
        </p:nvSpPr>
        <p:spPr>
          <a:xfrm>
            <a:off x="445386" y="4161761"/>
            <a:ext cx="1143000" cy="552450"/>
          </a:xfrm>
          <a:prstGeom prst="roundRect">
            <a:avLst>
              <a:gd name="adj" fmla="val 13793"/>
            </a:avLst>
          </a:prstGeom>
          <a:solidFill>
            <a:srgbClr val="355E9E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噪声合成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AF1C8FEE-320A-0864-F771-389D4BDE7CD5}"/>
              </a:ext>
            </a:extLst>
          </p:cNvPr>
          <p:cNvSpPr>
            <a:spLocks noGrp="1"/>
          </p:cNvSpPr>
          <p:nvPr/>
        </p:nvSpPr>
        <p:spPr>
          <a:xfrm>
            <a:off x="1883663" y="4085561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干净测试语音 x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BDD83481-F860-2E86-A867-067C398DD51F}"/>
              </a:ext>
            </a:extLst>
          </p:cNvPr>
          <p:cNvSpPr>
            <a:spLocks noGrp="1"/>
          </p:cNvSpPr>
          <p:nvPr/>
        </p:nvSpPr>
        <p:spPr>
          <a:xfrm>
            <a:off x="3931538" y="4085561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选取并定长</a:t>
            </a:r>
          </a:p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噪声片段 n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82278B63-1CD3-83E9-78D6-03C6122E3F70}"/>
              </a:ext>
            </a:extLst>
          </p:cNvPr>
          <p:cNvSpPr>
            <a:spLocks noGrp="1"/>
          </p:cNvSpPr>
          <p:nvPr/>
        </p:nvSpPr>
        <p:spPr>
          <a:xfrm>
            <a:off x="5979413" y="4085561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计算语音 / 噪声</a:t>
            </a:r>
          </a:p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RMS 功率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71F5EDA8-9243-85ED-C129-0279D3E0656E}"/>
              </a:ext>
            </a:extLst>
          </p:cNvPr>
          <p:cNvSpPr>
            <a:spLocks noGrp="1"/>
          </p:cNvSpPr>
          <p:nvPr/>
        </p:nvSpPr>
        <p:spPr>
          <a:xfrm>
            <a:off x="8027288" y="4085561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FFF4E8"/>
          </a:solidFill>
          <a:ln w="13335">
            <a:solidFill>
              <a:srgbClr val="F47A27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按目标 SNR</a:t>
            </a:r>
          </a:p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整体缩放噪声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C0540536-99AC-6E61-52C5-77B8735B8B98}"/>
              </a:ext>
            </a:extLst>
          </p:cNvPr>
          <p:cNvSpPr>
            <a:spLocks noGrp="1"/>
          </p:cNvSpPr>
          <p:nvPr/>
        </p:nvSpPr>
        <p:spPr>
          <a:xfrm>
            <a:off x="10075161" y="4085561"/>
            <a:ext cx="1524000" cy="704850"/>
          </a:xfrm>
          <a:prstGeom prst="roundRect">
            <a:avLst>
              <a:gd name="adj" fmla="val 10811"/>
            </a:avLst>
          </a:prstGeom>
          <a:solidFill>
            <a:srgbClr val="EEF7EA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混合输出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y = x + αn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6D9D3710-75F1-1D19-F77C-1D69EF5CC020}"/>
              </a:ext>
            </a:extLst>
          </p:cNvPr>
          <p:cNvCxnSpPr>
            <a:stCxn id="63" idx="3"/>
            <a:endCxn id="64" idx="1"/>
          </p:cNvCxnSpPr>
          <p:nvPr/>
        </p:nvCxnSpPr>
        <p:spPr>
          <a:xfrm>
            <a:off x="3550536" y="4437986"/>
            <a:ext cx="381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867FD98D-C86B-E0C9-2263-4AA64AD181D0}"/>
              </a:ext>
            </a:extLst>
          </p:cNvPr>
          <p:cNvCxnSpPr>
            <a:stCxn id="64" idx="3"/>
            <a:endCxn id="65" idx="1"/>
          </p:cNvCxnSpPr>
          <p:nvPr/>
        </p:nvCxnSpPr>
        <p:spPr>
          <a:xfrm>
            <a:off x="5598411" y="4437986"/>
            <a:ext cx="381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2C7255DC-4FDB-4BC0-BF0E-F8CE20916D3F}"/>
              </a:ext>
            </a:extLst>
          </p:cNvPr>
          <p:cNvCxnSpPr>
            <a:stCxn id="65" idx="3"/>
            <a:endCxn id="66" idx="1"/>
          </p:cNvCxnSpPr>
          <p:nvPr/>
        </p:nvCxnSpPr>
        <p:spPr>
          <a:xfrm>
            <a:off x="7646286" y="4437986"/>
            <a:ext cx="381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E77A2CFC-8F95-B87C-FBFA-9FAEC7FDC12C}"/>
              </a:ext>
            </a:extLst>
          </p:cNvPr>
          <p:cNvCxnSpPr>
            <a:stCxn id="66" idx="3"/>
            <a:endCxn id="67" idx="1"/>
          </p:cNvCxnSpPr>
          <p:nvPr/>
        </p:nvCxnSpPr>
        <p:spPr>
          <a:xfrm>
            <a:off x="9694161" y="4437986"/>
            <a:ext cx="381000" cy="0"/>
          </a:xfrm>
          <a:prstGeom prst="straightConnector1">
            <a:avLst/>
          </a:prstGeom>
          <a:ln w="19050">
            <a:solidFill>
              <a:srgbClr val="F47A27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56074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DECE4-1CE1-A8D1-9DAF-3D0F76680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6377F9A-74D6-00B8-C13C-0F69986C5A08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噪声与多人重叠均按功率标尺合成,并同步记录 SNR / TIR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31BAA5-9D5F-E50C-8DF5-AA52A77F2DC0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01 数据协议与构建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E1DEDA-8F91-7E00-415D-0C600C7D7FDE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38" name="表格 5">
            <a:extLst>
              <a:ext uri="{FF2B5EF4-FFF2-40B4-BE49-F238E27FC236}">
                <a16:creationId xmlns:a16="http://schemas.microsoft.com/office/drawing/2014/main" id="{7755DB90-DCE0-8534-566F-228AE2AD6FC1}"/>
              </a:ext>
            </a:extLst>
          </p:cNvPr>
          <p:cNvGraphicFramePr/>
          <p:nvPr/>
        </p:nvGraphicFramePr>
        <p:xfrm>
          <a:off x="-15240000" y="-8572500"/>
          <a:ext cx="11303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可复现控制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噪声池隔离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MUSAN free-sound:训练池 615 条,测试池 168+ 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SNR 对照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/ -5 dB 使用同一噪声、同一位置,只改变缩放因子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有效能量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增益按 VAD 有效语音段 RMS 计算,不计静音段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短噪声补齐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噪声不足时按原顺序重复,再选取目标长度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多人 TIR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先合并干扰语音再整体缩放;TIR=0 dB 时目标与干扰等能量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角色分配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三人中文重叠分别从 B、C 池取样,防止两条干扰同人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混响输出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RIR 卷积后输出长度=原长度;记录 RIR / T60 / SNR / TIR 与 seed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C1EFAD9-35A4-95B1-3658-AF2C62906B76}"/>
              </a:ext>
            </a:extLst>
          </p:cNvPr>
          <p:cNvSpPr>
            <a:spLocks noGrp="1"/>
          </p:cNvSpPr>
          <p:nvPr/>
        </p:nvSpPr>
        <p:spPr>
          <a:xfrm>
            <a:off x="514352" y="2305050"/>
            <a:ext cx="1143000" cy="552450"/>
          </a:xfrm>
          <a:prstGeom prst="roundRect">
            <a:avLst>
              <a:gd name="adj" fmla="val 13793"/>
            </a:avLst>
          </a:prstGeom>
          <a:solidFill>
            <a:srgbClr val="B58B2B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多人重叠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2682290-8508-5453-3795-92FD90C46ED2}"/>
              </a:ext>
            </a:extLst>
          </p:cNvPr>
          <p:cNvSpPr>
            <a:spLocks noGrp="1"/>
          </p:cNvSpPr>
          <p:nvPr/>
        </p:nvSpPr>
        <p:spPr>
          <a:xfrm>
            <a:off x="1952629" y="2228850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FFF8E8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目标语音 s_t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EBCFF4E-9246-6F13-4D61-A5A0B71D81C8}"/>
              </a:ext>
            </a:extLst>
          </p:cNvPr>
          <p:cNvSpPr>
            <a:spLocks noGrp="1"/>
          </p:cNvSpPr>
          <p:nvPr/>
        </p:nvSpPr>
        <p:spPr>
          <a:xfrm>
            <a:off x="4000504" y="2228850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FFF8E8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 dirty="0" err="1">
                <a:solidFill>
                  <a:srgbClr val="203D6B"/>
                </a:solidFill>
              </a:rPr>
              <a:t>选取不同说话人</a:t>
            </a:r>
            <a:endParaRPr sz="1125" dirty="0">
              <a:solidFill>
                <a:srgbClr val="203D6B"/>
              </a:solidFill>
            </a:endParaRPr>
          </a:p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 dirty="0" err="1">
                <a:solidFill>
                  <a:srgbClr val="203D6B"/>
                </a:solidFill>
              </a:rPr>
              <a:t>干扰语音</a:t>
            </a:r>
            <a:r>
              <a:rPr sz="1125" dirty="0">
                <a:solidFill>
                  <a:srgbClr val="203D6B"/>
                </a:solidFill>
              </a:rPr>
              <a:t> </a:t>
            </a:r>
            <a:r>
              <a:rPr sz="1125" dirty="0" err="1">
                <a:solidFill>
                  <a:srgbClr val="203D6B"/>
                </a:solidFill>
              </a:rPr>
              <a:t>s_i</a:t>
            </a:r>
            <a:endParaRPr sz="1125" dirty="0">
              <a:solidFill>
                <a:srgbClr val="203D6B"/>
              </a:solidFill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3CBC59B-95AF-30D9-A10D-2F43CB89B1E7}"/>
              </a:ext>
            </a:extLst>
          </p:cNvPr>
          <p:cNvSpPr>
            <a:spLocks noGrp="1"/>
          </p:cNvSpPr>
          <p:nvPr/>
        </p:nvSpPr>
        <p:spPr>
          <a:xfrm>
            <a:off x="6048379" y="2228850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FFF8E8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先合并干扰</a:t>
            </a:r>
          </a:p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再计算 RMS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39A3C6A-B081-7962-86D5-C9B99382F080}"/>
              </a:ext>
            </a:extLst>
          </p:cNvPr>
          <p:cNvSpPr>
            <a:spLocks noGrp="1"/>
          </p:cNvSpPr>
          <p:nvPr/>
        </p:nvSpPr>
        <p:spPr>
          <a:xfrm>
            <a:off x="8096254" y="2228850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FFF4E8"/>
          </a:solidFill>
          <a:ln w="13335">
            <a:solidFill>
              <a:srgbClr val="F47A27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按目标 TIR</a:t>
            </a:r>
          </a:p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整体缩放干扰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EE5F4DD-9311-379C-FFB9-D50C20C6CA82}"/>
              </a:ext>
            </a:extLst>
          </p:cNvPr>
          <p:cNvSpPr>
            <a:spLocks noGrp="1"/>
          </p:cNvSpPr>
          <p:nvPr/>
        </p:nvSpPr>
        <p:spPr>
          <a:xfrm>
            <a:off x="10144127" y="2228850"/>
            <a:ext cx="1524000" cy="704850"/>
          </a:xfrm>
          <a:prstGeom prst="roundRect">
            <a:avLst>
              <a:gd name="adj" fmla="val 10811"/>
            </a:avLst>
          </a:prstGeom>
          <a:solidFill>
            <a:srgbClr val="EEF7EA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重叠输出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y = s_t + βs_i</a:t>
            </a: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84D2D9F-CA40-FD6C-F807-2A5F6AF2ACBA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3619502" y="2581275"/>
            <a:ext cx="381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A349125-9688-1CB7-F9C4-A1E7C8EC7E3E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5667377" y="2581275"/>
            <a:ext cx="381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CC52799C-3FA4-817C-7DE9-65865C093A8B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7715252" y="2581275"/>
            <a:ext cx="381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5D135905-ADBA-46C4-BA6D-3663A6B49E07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9763127" y="2581275"/>
            <a:ext cx="381000" cy="0"/>
          </a:xfrm>
          <a:prstGeom prst="straightConnector1">
            <a:avLst/>
          </a:prstGeom>
          <a:ln w="19050">
            <a:solidFill>
              <a:srgbClr val="F47A27"/>
            </a:solidFill>
            <a:prstDash val="solid"/>
            <a:tailEnd type="triangle" w="sm" len="sm"/>
          </a:ln>
        </p:spPr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11755A97-BD0B-4B06-B8C4-ECD755CDE67D}"/>
              </a:ext>
            </a:extLst>
          </p:cNvPr>
          <p:cNvSpPr>
            <a:spLocks noGrp="1"/>
          </p:cNvSpPr>
          <p:nvPr/>
        </p:nvSpPr>
        <p:spPr>
          <a:xfrm>
            <a:off x="464878" y="3676649"/>
            <a:ext cx="3235251" cy="2686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03D6B"/>
                </a:solidFill>
              </a:defRPr>
            </a:pPr>
            <a:r>
              <a:rPr lang="zh-CN" altLang="en-US" sz="1350" b="1" dirty="0">
                <a:solidFill>
                  <a:srgbClr val="203D6B"/>
                </a:solidFill>
              </a:rPr>
              <a:t>噪声、重叠</a:t>
            </a:r>
            <a:r>
              <a:rPr sz="1350" b="1" dirty="0" err="1">
                <a:solidFill>
                  <a:srgbClr val="203D6B"/>
                </a:solidFill>
              </a:rPr>
              <a:t>两条流程共同输出元数据</a:t>
            </a:r>
            <a:endParaRPr sz="1350" b="1" dirty="0">
              <a:solidFill>
                <a:srgbClr val="203D6B"/>
              </a:solidFill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E678522-83A4-825E-9FDE-8E055C76CF5A}"/>
              </a:ext>
            </a:extLst>
          </p:cNvPr>
          <p:cNvSpPr>
            <a:spLocks noGrp="1"/>
          </p:cNvSpPr>
          <p:nvPr/>
        </p:nvSpPr>
        <p:spPr>
          <a:xfrm>
            <a:off x="464879" y="4067174"/>
            <a:ext cx="2095500" cy="628650"/>
          </a:xfrm>
          <a:prstGeom prst="roundRect">
            <a:avLst>
              <a:gd name="adj" fmla="val 12121"/>
            </a:avLst>
          </a:prstGeom>
          <a:solidFill>
            <a:srgbClr val="F7F9FC"/>
          </a:solidFill>
          <a:ln w="13335">
            <a:solidFill>
              <a:srgbClr val="AAB7C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来源文件 / 说话人ID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3D76EE8-D1BC-84FB-0D17-DECDE5E80ABF}"/>
              </a:ext>
            </a:extLst>
          </p:cNvPr>
          <p:cNvSpPr>
            <a:spLocks noGrp="1"/>
          </p:cNvSpPr>
          <p:nvPr/>
        </p:nvSpPr>
        <p:spPr>
          <a:xfrm>
            <a:off x="2808029" y="4067174"/>
            <a:ext cx="1714500" cy="628650"/>
          </a:xfrm>
          <a:prstGeom prst="roundRect">
            <a:avLst>
              <a:gd name="adj" fmla="val 12121"/>
            </a:avLst>
          </a:prstGeom>
          <a:solidFill>
            <a:srgbClr val="F7F9FC"/>
          </a:solidFill>
          <a:ln w="13335">
            <a:solidFill>
              <a:srgbClr val="AAB7C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SNR 或 TIR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C226284-BE13-585B-94A5-E947BD1363D8}"/>
              </a:ext>
            </a:extLst>
          </p:cNvPr>
          <p:cNvSpPr>
            <a:spLocks noGrp="1"/>
          </p:cNvSpPr>
          <p:nvPr/>
        </p:nvSpPr>
        <p:spPr>
          <a:xfrm>
            <a:off x="4770179" y="4067174"/>
            <a:ext cx="2095500" cy="628650"/>
          </a:xfrm>
          <a:prstGeom prst="roundRect">
            <a:avLst>
              <a:gd name="adj" fmla="val 12121"/>
            </a:avLst>
          </a:prstGeom>
          <a:solidFill>
            <a:srgbClr val="F7F9FC"/>
          </a:solidFill>
          <a:ln w="13335">
            <a:solidFill>
              <a:srgbClr val="AAB7C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噪声起点 / 裁剪区间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C55DAF8-F60F-E22C-92FC-A233C37A446A}"/>
              </a:ext>
            </a:extLst>
          </p:cNvPr>
          <p:cNvSpPr>
            <a:spLocks noGrp="1"/>
          </p:cNvSpPr>
          <p:nvPr/>
        </p:nvSpPr>
        <p:spPr>
          <a:xfrm>
            <a:off x="7113329" y="4067174"/>
            <a:ext cx="1905000" cy="628650"/>
          </a:xfrm>
          <a:prstGeom prst="roundRect">
            <a:avLst>
              <a:gd name="adj" fmla="val 12121"/>
            </a:avLst>
          </a:prstGeom>
          <a:solidFill>
            <a:srgbClr val="F7F9FC"/>
          </a:solidFill>
          <a:ln w="13335">
            <a:solidFill>
              <a:srgbClr val="AAB7C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输出长度 / 峰值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73B50FF-66F0-A798-8D2E-B6C613A9601C}"/>
              </a:ext>
            </a:extLst>
          </p:cNvPr>
          <p:cNvSpPr>
            <a:spLocks noGrp="1"/>
          </p:cNvSpPr>
          <p:nvPr/>
        </p:nvSpPr>
        <p:spPr>
          <a:xfrm>
            <a:off x="9265981" y="4067174"/>
            <a:ext cx="2352675" cy="628650"/>
          </a:xfrm>
          <a:prstGeom prst="roundRect">
            <a:avLst>
              <a:gd name="adj" fmla="val 12121"/>
            </a:avLst>
          </a:prstGeom>
          <a:solidFill>
            <a:srgbClr val="F7F9FC"/>
          </a:solidFill>
          <a:ln w="13335">
            <a:solidFill>
              <a:srgbClr val="AAB7C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随机种子 seed=2026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37E0666-410A-7043-253B-2B792351B1AD}"/>
              </a:ext>
            </a:extLst>
          </p:cNvPr>
          <p:cNvSpPr>
            <a:spLocks noGrp="1"/>
          </p:cNvSpPr>
          <p:nvPr/>
        </p:nvSpPr>
        <p:spPr>
          <a:xfrm>
            <a:off x="476252" y="5078727"/>
            <a:ext cx="11144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控制原则:同一条件只改变目标声学变量;噪声条件用 SNR,多人重叠条件用 TIR,记录项支持逐样本复算。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4AAAB2-2E0D-9737-0A5A-99FBDECA5D2D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525EF59-493D-32BE-A7CA-A322C202AF77}"/>
              </a:ext>
            </a:extLst>
          </p:cNvPr>
          <p:cNvSpPr>
            <a:spLocks noGrp="1"/>
          </p:cNvSpPr>
          <p:nvPr/>
        </p:nvSpPr>
        <p:spPr>
          <a:xfrm>
            <a:off x="3952878" y="1072832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FFF8E8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r>
              <a:rPr lang="zh-CN" altLang="en-US" sz="1125" dirty="0">
                <a:solidFill>
                  <a:srgbClr val="203D6B"/>
                </a:solidFill>
              </a:rPr>
              <a:t>三人重叠分别从不同池取样</a:t>
            </a:r>
            <a:r>
              <a:rPr lang="en-US" altLang="zh-CN" sz="1125" dirty="0">
                <a:solidFill>
                  <a:srgbClr val="203D6B"/>
                </a:solidFill>
              </a:rPr>
              <a:t>,</a:t>
            </a:r>
            <a:r>
              <a:rPr lang="zh-CN" altLang="en-US" sz="1125" dirty="0">
                <a:solidFill>
                  <a:srgbClr val="203D6B"/>
                </a:solidFill>
              </a:rPr>
              <a:t>防止两条干扰同人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24FCB34-5ADE-BB1C-256D-E60DCFCA1418}"/>
              </a:ext>
            </a:extLst>
          </p:cNvPr>
          <p:cNvCxnSpPr>
            <a:cxnSpLocks/>
          </p:cNvCxnSpPr>
          <p:nvPr/>
        </p:nvCxnSpPr>
        <p:spPr>
          <a:xfrm flipV="1">
            <a:off x="4657060" y="1760762"/>
            <a:ext cx="0" cy="451168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6483F2E-5EBD-434E-6373-6852E3A6A9BB}"/>
              </a:ext>
            </a:extLst>
          </p:cNvPr>
          <p:cNvCxnSpPr>
            <a:cxnSpLocks/>
            <a:stCxn id="15" idx="2"/>
            <a:endCxn id="19" idx="0"/>
          </p:cNvCxnSpPr>
          <p:nvPr/>
        </p:nvCxnSpPr>
        <p:spPr>
          <a:xfrm>
            <a:off x="4810128" y="1777682"/>
            <a:ext cx="23814" cy="451168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879475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71E64F5-0072-47D4-9CF8-7E52CF3E0D8D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混响生成采用预归一化卷积与统一反削波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AEDEB8-0101-4C02-9127-E5E0A8087A13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01 数据协议与构建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A90F77-54DF-44BF-9054-86D57A97A58E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27" name="表格 5"/>
          <p:cNvGraphicFramePr/>
          <p:nvPr/>
        </p:nvGraphicFramePr>
        <p:xfrm>
          <a:off x="-15240000" y="-8572500"/>
          <a:ext cx="11303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可复现控制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噪声池隔离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MUSAN free-sound:训练池 615 条,测试池 168+ 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SNR 对照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/ -5 dB 使用同一噪声、同一位置,只改变缩放因子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有效能量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增益按 VAD 有效语音段 RMS 计算,不计静音段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短噪声补齐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噪声不足时按原顺序重复,再选取目标长度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多人 TIR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先合并干扰语音再整体缩放;TIR=0 dB 时目标与干扰等能量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角色分配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三人中文重叠分别从 B、C 池取样,防止两条干扰同人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混响输出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RIR 卷积后输出长度=原长度;记录 RIR / T60 / SNR / TIR 与 seed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BC91E3BC-984A-49B1-A0B2-32299D3B65E2}"/>
              </a:ext>
            </a:extLst>
          </p:cNvPr>
          <p:cNvSpPr>
            <a:spLocks noGrp="1"/>
          </p:cNvSpPr>
          <p:nvPr/>
        </p:nvSpPr>
        <p:spPr>
          <a:xfrm>
            <a:off x="2615609" y="1609059"/>
            <a:ext cx="1414353" cy="886492"/>
          </a:xfrm>
          <a:prstGeom prst="roundRect">
            <a:avLst>
              <a:gd name="adj" fmla="val 7619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>
                <a:solidFill>
                  <a:srgbClr val="203D6B"/>
                </a:solidFill>
              </a:rPr>
              <a:t>① </a:t>
            </a:r>
            <a:r>
              <a:rPr sz="1125" b="1" dirty="0" err="1">
                <a:solidFill>
                  <a:srgbClr val="203D6B"/>
                </a:solidFill>
              </a:rPr>
              <a:t>输入</a:t>
            </a:r>
            <a:endParaRPr sz="1125" b="1" dirty="0">
              <a:solidFill>
                <a:srgbClr val="203D6B"/>
              </a:solidFill>
            </a:endParaRP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 err="1">
                <a:solidFill>
                  <a:srgbClr val="203D6B"/>
                </a:solidFill>
              </a:rPr>
              <a:t>干净语音</a:t>
            </a:r>
            <a:r>
              <a:rPr sz="1125" b="1" dirty="0">
                <a:solidFill>
                  <a:srgbClr val="203D6B"/>
                </a:solidFill>
              </a:rPr>
              <a:t> x + RIR h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823999C-A530-42E0-A7D1-614C4297DCBF}"/>
              </a:ext>
            </a:extLst>
          </p:cNvPr>
          <p:cNvSpPr>
            <a:spLocks noGrp="1"/>
          </p:cNvSpPr>
          <p:nvPr/>
        </p:nvSpPr>
        <p:spPr>
          <a:xfrm>
            <a:off x="4385931" y="1609059"/>
            <a:ext cx="1414353" cy="886492"/>
          </a:xfrm>
          <a:prstGeom prst="roundRect">
            <a:avLst>
              <a:gd name="adj" fmla="val 7619"/>
            </a:avLst>
          </a:prstGeom>
          <a:solidFill>
            <a:srgbClr val="FFF8E8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② 预归一化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x、h 分别归一化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h 再 ×0.05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0B955D9-B532-4811-B47B-F4D3EE944BC5}"/>
              </a:ext>
            </a:extLst>
          </p:cNvPr>
          <p:cNvSpPr>
            <a:spLocks noGrp="1"/>
          </p:cNvSpPr>
          <p:nvPr/>
        </p:nvSpPr>
        <p:spPr>
          <a:xfrm>
            <a:off x="6305107" y="1609059"/>
            <a:ext cx="1414353" cy="886492"/>
          </a:xfrm>
          <a:prstGeom prst="roundRect">
            <a:avLst>
              <a:gd name="adj" fmla="val 7619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③ RIR 卷积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y = x * h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叠加直达声与反射声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FD07EC3-2B81-4AB9-8AA1-7A23BE7F4E02}"/>
              </a:ext>
            </a:extLst>
          </p:cNvPr>
          <p:cNvSpPr>
            <a:spLocks noGrp="1"/>
          </p:cNvSpPr>
          <p:nvPr/>
        </p:nvSpPr>
        <p:spPr>
          <a:xfrm>
            <a:off x="8250754" y="1609059"/>
            <a:ext cx="1414353" cy="886492"/>
          </a:xfrm>
          <a:prstGeom prst="roundRect">
            <a:avLst>
              <a:gd name="adj" fmla="val 7619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④ 定长处理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裁回原测试时长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排除额外拖尾变量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306FEF4-B89F-4834-866E-87393E6A4783}"/>
              </a:ext>
            </a:extLst>
          </p:cNvPr>
          <p:cNvSpPr>
            <a:spLocks noGrp="1"/>
          </p:cNvSpPr>
          <p:nvPr/>
        </p:nvSpPr>
        <p:spPr>
          <a:xfrm>
            <a:off x="10309630" y="1609059"/>
            <a:ext cx="1414353" cy="886492"/>
          </a:xfrm>
          <a:prstGeom prst="roundRect">
            <a:avLst>
              <a:gd name="adj" fmla="val 7619"/>
            </a:avLst>
          </a:prstGeom>
          <a:solidFill>
            <a:srgbClr val="EEF7EA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⑤ 统一反削波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y_out=0.99y/max|y|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整段等比例缩放</a:t>
            </a:r>
          </a:p>
        </p:txBody>
      </p:sp>
      <p:cxnSp>
        <p:nvCxnSpPr>
          <p:cNvPr id="33" name="直接箭头连接符 32"/>
          <p:cNvCxnSpPr>
            <a:stCxn id="7" idx="3"/>
            <a:endCxn id="8" idx="1"/>
          </p:cNvCxnSpPr>
          <p:nvPr/>
        </p:nvCxnSpPr>
        <p:spPr>
          <a:xfrm>
            <a:off x="4029962" y="2052305"/>
            <a:ext cx="355969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34" name="直接箭头连接符 33"/>
          <p:cNvCxnSpPr>
            <a:stCxn id="8" idx="3"/>
            <a:endCxn id="9" idx="1"/>
          </p:cNvCxnSpPr>
          <p:nvPr/>
        </p:nvCxnSpPr>
        <p:spPr>
          <a:xfrm>
            <a:off x="5800284" y="2052305"/>
            <a:ext cx="504823" cy="0"/>
          </a:xfrm>
          <a:prstGeom prst="straightConnector1">
            <a:avLst/>
          </a:prstGeom>
          <a:ln w="19050">
            <a:solidFill>
              <a:srgbClr val="B58B2B"/>
            </a:solidFill>
            <a:prstDash val="solid"/>
            <a:tailEnd type="triangle" w="sm" len="sm"/>
          </a:ln>
        </p:spPr>
      </p:cxnSp>
      <p:cxnSp>
        <p:nvCxnSpPr>
          <p:cNvPr id="35" name="直接箭头连接符 34"/>
          <p:cNvCxnSpPr>
            <a:stCxn id="9" idx="3"/>
            <a:endCxn id="10" idx="1"/>
          </p:cNvCxnSpPr>
          <p:nvPr/>
        </p:nvCxnSpPr>
        <p:spPr>
          <a:xfrm>
            <a:off x="7719460" y="2052305"/>
            <a:ext cx="531294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36" name="直接箭头连接符 35"/>
          <p:cNvCxnSpPr>
            <a:stCxn id="10" idx="3"/>
            <a:endCxn id="11" idx="1"/>
          </p:cNvCxnSpPr>
          <p:nvPr/>
        </p:nvCxnSpPr>
        <p:spPr>
          <a:xfrm>
            <a:off x="9665107" y="2052305"/>
            <a:ext cx="644523" cy="0"/>
          </a:xfrm>
          <a:prstGeom prst="straightConnector1">
            <a:avLst/>
          </a:prstGeom>
          <a:ln w="19050">
            <a:solidFill>
              <a:srgbClr val="5B9B43"/>
            </a:solidFill>
            <a:prstDash val="solid"/>
            <a:tailEnd type="triangle" w="sm" len="sm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E021C217-C1F0-4840-8274-C29A8D369AE8}"/>
              </a:ext>
            </a:extLst>
          </p:cNvPr>
          <p:cNvSpPr>
            <a:spLocks noGrp="1"/>
          </p:cNvSpPr>
          <p:nvPr/>
        </p:nvSpPr>
        <p:spPr>
          <a:xfrm>
            <a:off x="514350" y="3143250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03D6B"/>
                </a:solidFill>
              </a:defRPr>
            </a:pPr>
            <a:r>
              <a:rPr sz="1500" b="1">
                <a:solidFill>
                  <a:srgbClr val="203D6B"/>
                </a:solidFill>
              </a:rPr>
              <a:t>为什么先预归一化,再反削波?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CF01B92-239E-4917-9ADA-D7841A32E492}"/>
              </a:ext>
            </a:extLst>
          </p:cNvPr>
          <p:cNvSpPr>
            <a:spLocks noGrp="1"/>
          </p:cNvSpPr>
          <p:nvPr/>
        </p:nvSpPr>
        <p:spPr>
          <a:xfrm>
            <a:off x="514350" y="3619500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335">
            <a:solidFill>
              <a:srgbClr val="F47A27"/>
            </a:solidFill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预归一化 + RIR×0.05</a:t>
            </a:r>
          </a:p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控制卷积前能量尺度</a:t>
            </a:r>
          </a:p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降低瞬时过载风险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D298C19-7772-40AF-8B29-74CA71F3D80B}"/>
              </a:ext>
            </a:extLst>
          </p:cNvPr>
          <p:cNvSpPr>
            <a:spLocks noGrp="1"/>
          </p:cNvSpPr>
          <p:nvPr/>
        </p:nvSpPr>
        <p:spPr>
          <a:xfrm>
            <a:off x="4476750" y="3619500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EEF7EA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整段统一反削波</a:t>
            </a:r>
          </a:p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所有采样点同倍率缩放</a:t>
            </a:r>
          </a:p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保留相对波形和混响结构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EA986EB-3495-42E2-BB48-8101C45DDA5F}"/>
              </a:ext>
            </a:extLst>
          </p:cNvPr>
          <p:cNvSpPr>
            <a:spLocks noGrp="1"/>
          </p:cNvSpPr>
          <p:nvPr/>
        </p:nvSpPr>
        <p:spPr>
          <a:xfrm>
            <a:off x="8439152" y="3619500"/>
            <a:ext cx="3171825" cy="114300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可核查输出</a:t>
            </a:r>
          </a:p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RIR ID / T60 / 原长度 / 峰值 / seed</a:t>
            </a:r>
          </a:p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本批 T60 中位数 0.60 s</a:t>
            </a:r>
          </a:p>
        </p:txBody>
      </p:sp>
      <p:cxnSp>
        <p:nvCxnSpPr>
          <p:cNvPr id="41" name="直接箭头连接符 40"/>
          <p:cNvCxnSpPr>
            <a:stCxn id="17" idx="3"/>
            <a:endCxn id="18" idx="1"/>
          </p:cNvCxnSpPr>
          <p:nvPr/>
        </p:nvCxnSpPr>
        <p:spPr>
          <a:xfrm>
            <a:off x="3752850" y="4191000"/>
            <a:ext cx="723900" cy="0"/>
          </a:xfrm>
          <a:prstGeom prst="straightConnector1">
            <a:avLst/>
          </a:prstGeom>
          <a:ln w="19050">
            <a:solidFill>
              <a:srgbClr val="F47A27"/>
            </a:solidFill>
            <a:prstDash val="solid"/>
            <a:tailEnd type="triangle" w="sm" len="sm"/>
          </a:ln>
        </p:spPr>
      </p:cxnSp>
      <p:cxnSp>
        <p:nvCxnSpPr>
          <p:cNvPr id="42" name="直接箭头连接符 41"/>
          <p:cNvCxnSpPr>
            <a:stCxn id="18" idx="3"/>
            <a:endCxn id="19" idx="1"/>
          </p:cNvCxnSpPr>
          <p:nvPr/>
        </p:nvCxnSpPr>
        <p:spPr>
          <a:xfrm>
            <a:off x="7715250" y="4191000"/>
            <a:ext cx="723900" cy="0"/>
          </a:xfrm>
          <a:prstGeom prst="straightConnector1">
            <a:avLst/>
          </a:prstGeom>
          <a:ln w="19050">
            <a:solidFill>
              <a:srgbClr val="5B9B43"/>
            </a:solidFill>
            <a:prstDash val="solid"/>
            <a:tailEnd type="triangle" w="sm" len="sm"/>
          </a:ln>
        </p:spPr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D9A764DF-1419-4D00-BE9F-B29C15CA1FAC}"/>
              </a:ext>
            </a:extLst>
          </p:cNvPr>
          <p:cNvSpPr>
            <a:spLocks noGrp="1"/>
          </p:cNvSpPr>
          <p:nvPr/>
        </p:nvSpPr>
        <p:spPr>
          <a:xfrm>
            <a:off x="514351" y="5314950"/>
            <a:ext cx="11096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03D6B"/>
                </a:solidFill>
              </a:defRPr>
            </a:pPr>
            <a:r>
              <a:rPr sz="1275" b="1">
                <a:solidFill>
                  <a:srgbClr val="203D6B"/>
                </a:solidFill>
              </a:rPr>
              <a:t>生成结果:只引入房间混响因素,同时把峰值、长度和随机性纳入可复现控制。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142162F-97D3-7323-94B7-E951F258267B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A9A781A-4F96-765D-D940-66A866C49464}"/>
              </a:ext>
            </a:extLst>
          </p:cNvPr>
          <p:cNvSpPr>
            <a:spLocks noGrp="1"/>
          </p:cNvSpPr>
          <p:nvPr/>
        </p:nvSpPr>
        <p:spPr>
          <a:xfrm>
            <a:off x="648697" y="1609059"/>
            <a:ext cx="1414352" cy="886492"/>
          </a:xfrm>
          <a:prstGeom prst="roundRect">
            <a:avLst>
              <a:gd name="adj" fmla="val 13793"/>
            </a:avLst>
          </a:prstGeom>
          <a:solidFill>
            <a:srgbClr val="355E9E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zh-CN" altLang="en-US" sz="1125" b="1" dirty="0">
                <a:solidFill>
                  <a:srgbClr val="FFFFFF"/>
                </a:solidFill>
              </a:rPr>
              <a:t>混响</a:t>
            </a:r>
            <a:r>
              <a:rPr sz="1125" b="1" dirty="0" err="1">
                <a:solidFill>
                  <a:srgbClr val="FFFFFF"/>
                </a:solidFill>
              </a:rPr>
              <a:t>合成</a:t>
            </a:r>
            <a:endParaRPr sz="1125" b="1" dirty="0">
              <a:solidFill>
                <a:srgbClr val="FFFFFF"/>
              </a:solidFill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01E2ECB-1E0B-23B6-59A8-88684810E338}"/>
              </a:ext>
            </a:extLst>
          </p:cNvPr>
          <p:cNvCxnSpPr>
            <a:cxnSpLocks/>
            <a:stCxn id="25" idx="3"/>
            <a:endCxn id="7" idx="1"/>
          </p:cNvCxnSpPr>
          <p:nvPr/>
        </p:nvCxnSpPr>
        <p:spPr>
          <a:xfrm>
            <a:off x="2063049" y="2052305"/>
            <a:ext cx="55256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296904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6D533-1A1F-D5A6-199A-ADD4B371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7B0A6C6-B06B-247D-2D89-20F79E2FE807}"/>
              </a:ext>
            </a:extLst>
          </p:cNvPr>
          <p:cNvSpPr txBox="1"/>
          <p:nvPr/>
        </p:nvSpPr>
        <p:spPr>
          <a:xfrm>
            <a:off x="762000" y="431800"/>
            <a:ext cx="381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  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2A6088-9763-DA3C-59C5-9DC86ACAB9E4}"/>
              </a:ext>
            </a:extLst>
          </p:cNvPr>
          <p:cNvSpPr/>
          <p:nvPr/>
        </p:nvSpPr>
        <p:spPr>
          <a:xfrm>
            <a:off x="787400" y="1168400"/>
            <a:ext cx="1117600" cy="381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E261B7-298F-684A-57F9-A4D78325F74C}"/>
              </a:ext>
            </a:extLst>
          </p:cNvPr>
          <p:cNvSpPr/>
          <p:nvPr/>
        </p:nvSpPr>
        <p:spPr>
          <a:xfrm>
            <a:off x="1143000" y="1778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1F3864"/>
                </a:solidFill>
                <a:ea typeface="微软雅黑" panose="020B0503020204020204" pitchFamily="34" charset="-122"/>
              </a:rPr>
              <a:t>01</a:t>
            </a:r>
            <a:endParaRPr lang="zh-CN" altLang="en-US" b="1" dirty="0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D58A7C-FB6F-6EB5-5893-E863BBAB391F}"/>
              </a:ext>
            </a:extLst>
          </p:cNvPr>
          <p:cNvSpPr txBox="1"/>
          <p:nvPr/>
        </p:nvSpPr>
        <p:spPr>
          <a:xfrm>
            <a:off x="2235200" y="182880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数据协议与构建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A405D3-DB77-1F9C-A634-158DCC3006C0}"/>
              </a:ext>
            </a:extLst>
          </p:cNvPr>
          <p:cNvSpPr/>
          <p:nvPr/>
        </p:nvSpPr>
        <p:spPr>
          <a:xfrm>
            <a:off x="1143000" y="2565400"/>
            <a:ext cx="812800" cy="5080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ea typeface="微软雅黑" panose="020B0503020204020204" pitchFamily="34" charset="-122"/>
              </a:rPr>
              <a:t>02</a:t>
            </a:r>
            <a:endParaRPr lang="zh-CN" altLang="en-US" b="1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0DEBD9-59D6-6E1D-B6F9-DE641506CDED}"/>
              </a:ext>
            </a:extLst>
          </p:cNvPr>
          <p:cNvSpPr txBox="1"/>
          <p:nvPr/>
        </p:nvSpPr>
        <p:spPr>
          <a:xfrm>
            <a:off x="2235200" y="26162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21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数据可信性</a:t>
            </a:r>
            <a:r>
              <a:rPr lang="en-US" altLang="zh-CN" dirty="0"/>
              <a:t>-</a:t>
            </a:r>
            <a:r>
              <a:rPr lang="zh-CN" altLang="en-US" dirty="0"/>
              <a:t>泄露性检查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AE1586-0E18-5187-4757-80606BD2EFB0}"/>
              </a:ext>
            </a:extLst>
          </p:cNvPr>
          <p:cNvSpPr/>
          <p:nvPr/>
        </p:nvSpPr>
        <p:spPr>
          <a:xfrm>
            <a:off x="1143000" y="33528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1F3864"/>
                </a:solidFill>
                <a:ea typeface="微软雅黑" panose="020B0503020204020204" pitchFamily="34" charset="-122"/>
              </a:rPr>
              <a:t>03</a:t>
            </a:r>
            <a:endParaRPr lang="zh-CN" altLang="en-US" b="1" dirty="0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194D61-D3D4-2DC5-0CF5-9F898BCD321F}"/>
              </a:ext>
            </a:extLst>
          </p:cNvPr>
          <p:cNvSpPr txBox="1"/>
          <p:nvPr/>
        </p:nvSpPr>
        <p:spPr>
          <a:xfrm>
            <a:off x="2235200" y="34036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统一评测协议构建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8DC5B1-9960-29D9-0C6F-738C305CA6D2}"/>
              </a:ext>
            </a:extLst>
          </p:cNvPr>
          <p:cNvSpPr/>
          <p:nvPr/>
        </p:nvSpPr>
        <p:spPr>
          <a:xfrm>
            <a:off x="1143000" y="41402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04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A71A0F-93CF-5C4E-8B49-1366BCB3BBBD}"/>
              </a:ext>
            </a:extLst>
          </p:cNvPr>
          <p:cNvSpPr txBox="1"/>
          <p:nvPr/>
        </p:nvSpPr>
        <p:spPr>
          <a:xfrm>
            <a:off x="2235200" y="41910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文献调研与判决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4F084D-939B-77D5-A409-4ECD189D93DC}"/>
              </a:ext>
            </a:extLst>
          </p:cNvPr>
          <p:cNvSpPr/>
          <p:nvPr/>
        </p:nvSpPr>
        <p:spPr>
          <a:xfrm>
            <a:off x="1143000" y="49276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05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79E4B2-C14A-960A-89B4-C87D0FA05B54}"/>
              </a:ext>
            </a:extLst>
          </p:cNvPr>
          <p:cNvSpPr txBox="1"/>
          <p:nvPr/>
        </p:nvSpPr>
        <p:spPr>
          <a:xfrm>
            <a:off x="2235200" y="49784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前端结构与原理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486B987-6EAA-426E-6273-BD760240F449}"/>
              </a:ext>
            </a:extLst>
          </p:cNvPr>
          <p:cNvSpPr/>
          <p:nvPr/>
        </p:nvSpPr>
        <p:spPr>
          <a:xfrm>
            <a:off x="1143000" y="5715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06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8A4962-B719-2776-CAB8-AB91308E8874}"/>
              </a:ext>
            </a:extLst>
          </p:cNvPr>
          <p:cNvSpPr txBox="1"/>
          <p:nvPr/>
        </p:nvSpPr>
        <p:spPr>
          <a:xfrm>
            <a:off x="2235200" y="57658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展望与规划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E9AC27-C584-6C8C-180C-E9ABE15CD70D}"/>
              </a:ext>
            </a:extLst>
          </p:cNvPr>
          <p:cNvSpPr txBox="1"/>
          <p:nvPr/>
        </p:nvSpPr>
        <p:spPr>
          <a:xfrm>
            <a:off x="7112000" y="1905000"/>
            <a:ext cx="40640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1000" b="1" dirty="0">
                <a:solidFill>
                  <a:srgbClr val="E2E8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1000" b="1" dirty="0">
              <a:solidFill>
                <a:srgbClr val="E2E8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686D84-BB92-FB3F-9D5F-A495693FE0A5}"/>
              </a:ext>
            </a:extLst>
          </p:cNvPr>
          <p:cNvSpPr txBox="1"/>
          <p:nvPr/>
        </p:nvSpPr>
        <p:spPr>
          <a:xfrm>
            <a:off x="7112000" y="4064000"/>
            <a:ext cx="431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数据可信性</a:t>
            </a:r>
            <a:r>
              <a:rPr lang="en-US" altLang="zh-CN" sz="30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0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泄露性检查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CD18738-ADE3-1D64-A356-56C26C036019}"/>
              </a:ext>
            </a:extLst>
          </p:cNvPr>
          <p:cNvSpPr/>
          <p:nvPr/>
        </p:nvSpPr>
        <p:spPr>
          <a:xfrm>
            <a:off x="7137400" y="4927600"/>
            <a:ext cx="1524000" cy="508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031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F23103-C458-462F-9943-8157F3261C87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三重检查把身份、文件与同源切片同时挡在评测前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C173E3-7713-4FF6-A6EC-902DB330D294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02 数据可信性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79032E-73E4-45A0-8808-B4116ED79C3A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4" name="表格 5"/>
          <p:cNvGraphicFramePr/>
          <p:nvPr/>
        </p:nvGraphicFramePr>
        <p:xfrm>
          <a:off x="508001" y="1270000"/>
          <a:ext cx="11303001" cy="2794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检查层级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输入与比较方式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通过条件 / 失败动作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说话人级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A/D/B/C/E/F 角色表与 Dev/Eval 说话人集合求交集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交集为空;否则停止并输出冲突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MD5 文件级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对训练、注册、测试音频生成 MD5 并跨集合比对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重复哈希为空;否则定位复制或软链接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同源切片级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追踪原始长语音及 3 s 切片来源,比较注册与测试来源键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同源键不重叠;否则删除该切片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守门输出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三项报告 + 通过标记 + 可评测 manifest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三项全部通过后才允许进入打分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多粒度互补:身份检查防同人,哈希防同文件,来源键防切片泄漏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把人工约定变成可复现的脚本门禁</a:t>
                      </a:r>
                      <a:endParaRPr sz="1300">
                        <a:solidFill>
                          <a:srgbClr val="333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41F65AB-82A0-4926-AED9-941F10B35284}"/>
              </a:ext>
            </a:extLst>
          </p:cNvPr>
          <p:cNvSpPr>
            <a:spLocks noGrp="1"/>
          </p:cNvSpPr>
          <p:nvPr/>
        </p:nvSpPr>
        <p:spPr>
          <a:xfrm>
            <a:off x="508000" y="4318000"/>
            <a:ext cx="5080000" cy="338554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数据流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896F50-277B-4057-B6F9-F55F016D3F0E}"/>
              </a:ext>
            </a:extLst>
          </p:cNvPr>
          <p:cNvSpPr>
            <a:spLocks noGrp="1"/>
          </p:cNvSpPr>
          <p:nvPr/>
        </p:nvSpPr>
        <p:spPr>
          <a:xfrm>
            <a:off x="508000" y="4724402"/>
            <a:ext cx="11303000" cy="615553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角色清单 / 音频 / 切片来源 → 三重检查 → 冲突清单或 PASS manifest → 统一评测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核查原则:任一层非空即停止,不允许带问题数据继续打分。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F68832-AD61-1EC0-E6B1-16F288CDE19E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224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7CB9A-2F45-696D-8D4F-5D91F519B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2600EC-1836-FE32-58B8-4E8C45BB46C6}"/>
              </a:ext>
            </a:extLst>
          </p:cNvPr>
          <p:cNvSpPr txBox="1"/>
          <p:nvPr/>
        </p:nvSpPr>
        <p:spPr>
          <a:xfrm>
            <a:off x="762000" y="431800"/>
            <a:ext cx="381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  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62CA02-2189-B016-3E9A-698A76BE42F8}"/>
              </a:ext>
            </a:extLst>
          </p:cNvPr>
          <p:cNvSpPr/>
          <p:nvPr/>
        </p:nvSpPr>
        <p:spPr>
          <a:xfrm>
            <a:off x="787400" y="1168400"/>
            <a:ext cx="1117600" cy="381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DA14BF-98B1-3491-0C9D-3340AD3E2633}"/>
              </a:ext>
            </a:extLst>
          </p:cNvPr>
          <p:cNvSpPr/>
          <p:nvPr/>
        </p:nvSpPr>
        <p:spPr>
          <a:xfrm>
            <a:off x="1143000" y="1778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01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1CD394-1B61-6C8F-945C-EAD38BDE1950}"/>
              </a:ext>
            </a:extLst>
          </p:cNvPr>
          <p:cNvSpPr txBox="1"/>
          <p:nvPr/>
        </p:nvSpPr>
        <p:spPr>
          <a:xfrm>
            <a:off x="2235200" y="182880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数据协议与构建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BEA9EB-B740-FEF3-C007-A06E49297464}"/>
              </a:ext>
            </a:extLst>
          </p:cNvPr>
          <p:cNvSpPr/>
          <p:nvPr/>
        </p:nvSpPr>
        <p:spPr>
          <a:xfrm>
            <a:off x="1143000" y="25654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02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4F1E2E-2830-7786-0021-2D2BC4FCA19A}"/>
              </a:ext>
            </a:extLst>
          </p:cNvPr>
          <p:cNvSpPr txBox="1"/>
          <p:nvPr/>
        </p:nvSpPr>
        <p:spPr>
          <a:xfrm>
            <a:off x="2235200" y="26162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数据可信性</a:t>
            </a:r>
            <a:r>
              <a:rPr lang="en-US" altLang="zh-CN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泄露性检查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3930B1-39C2-2A51-7D43-AC66CBE76A68}"/>
              </a:ext>
            </a:extLst>
          </p:cNvPr>
          <p:cNvSpPr/>
          <p:nvPr/>
        </p:nvSpPr>
        <p:spPr>
          <a:xfrm>
            <a:off x="1143000" y="3352800"/>
            <a:ext cx="812800" cy="5080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ea typeface="微软雅黑" panose="020B0503020204020204" pitchFamily="34" charset="-122"/>
              </a:rPr>
              <a:t>03</a:t>
            </a:r>
            <a:endParaRPr lang="zh-CN" altLang="en-US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E0C63E-150A-DD52-3D42-E69433E66883}"/>
              </a:ext>
            </a:extLst>
          </p:cNvPr>
          <p:cNvSpPr txBox="1"/>
          <p:nvPr/>
        </p:nvSpPr>
        <p:spPr>
          <a:xfrm>
            <a:off x="2235200" y="34036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21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统一评测协议构建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2F6C0A-1F32-6B2D-F052-D317BB3EAB17}"/>
              </a:ext>
            </a:extLst>
          </p:cNvPr>
          <p:cNvSpPr/>
          <p:nvPr/>
        </p:nvSpPr>
        <p:spPr>
          <a:xfrm>
            <a:off x="1143000" y="41402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04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C781AE-49E8-1D2C-16AF-D61C99E1DC4F}"/>
              </a:ext>
            </a:extLst>
          </p:cNvPr>
          <p:cNvSpPr txBox="1"/>
          <p:nvPr/>
        </p:nvSpPr>
        <p:spPr>
          <a:xfrm>
            <a:off x="2235200" y="41910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文献调研与判决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196B89-9BD7-29D5-B4D1-EE8C984FBEE8}"/>
              </a:ext>
            </a:extLst>
          </p:cNvPr>
          <p:cNvSpPr/>
          <p:nvPr/>
        </p:nvSpPr>
        <p:spPr>
          <a:xfrm>
            <a:off x="1143000" y="49276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05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C8FE794-5F67-8DA3-3954-09E3252E917B}"/>
              </a:ext>
            </a:extLst>
          </p:cNvPr>
          <p:cNvSpPr txBox="1"/>
          <p:nvPr/>
        </p:nvSpPr>
        <p:spPr>
          <a:xfrm>
            <a:off x="2235200" y="49784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前端结构与原理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399C52-2CF5-FE0C-6049-F3B9D976D8D4}"/>
              </a:ext>
            </a:extLst>
          </p:cNvPr>
          <p:cNvSpPr/>
          <p:nvPr/>
        </p:nvSpPr>
        <p:spPr>
          <a:xfrm>
            <a:off x="1143000" y="5715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06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CEFA1F-092A-15B7-6C59-9A043E55D929}"/>
              </a:ext>
            </a:extLst>
          </p:cNvPr>
          <p:cNvSpPr txBox="1"/>
          <p:nvPr/>
        </p:nvSpPr>
        <p:spPr>
          <a:xfrm>
            <a:off x="2235200" y="57658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展望与规划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F86284C-B6CC-811C-CF01-E646B4051981}"/>
              </a:ext>
            </a:extLst>
          </p:cNvPr>
          <p:cNvSpPr txBox="1"/>
          <p:nvPr/>
        </p:nvSpPr>
        <p:spPr>
          <a:xfrm>
            <a:off x="7112000" y="1905000"/>
            <a:ext cx="40640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1000" b="1" dirty="0">
                <a:solidFill>
                  <a:srgbClr val="E2E8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1000" b="1" dirty="0">
              <a:solidFill>
                <a:srgbClr val="E2E8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53B7D41-8676-B906-6C82-7B31B3A576D6}"/>
              </a:ext>
            </a:extLst>
          </p:cNvPr>
          <p:cNvSpPr txBox="1"/>
          <p:nvPr/>
        </p:nvSpPr>
        <p:spPr>
          <a:xfrm>
            <a:off x="7112000" y="4064000"/>
            <a:ext cx="431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同一评测协议构建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AEC45D-64E4-5AAF-0F5E-F61C13E9E7D3}"/>
              </a:ext>
            </a:extLst>
          </p:cNvPr>
          <p:cNvSpPr/>
          <p:nvPr/>
        </p:nvSpPr>
        <p:spPr>
          <a:xfrm>
            <a:off x="7137400" y="4927600"/>
            <a:ext cx="1524000" cy="508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524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F23103-C458-462F-9943-8157F3261C87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统一脚本固定数据、阈值和指标计算口径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C173E3-7713-4FF6-A6EC-902DB330D294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 dirty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03 </a:t>
            </a:r>
            <a:r>
              <a:rPr sz="1300" dirty="0" err="1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统一评测</a:t>
            </a:r>
            <a:r>
              <a:rPr lang="zh-CN" altLang="en-US" sz="1300" dirty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协议构建</a:t>
            </a:r>
            <a:endParaRPr sz="1300" dirty="0">
              <a:solidFill>
                <a:srgbClr val="7F7F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79032E-73E4-45A0-8808-B4116ED79C3A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4" name="表格 5"/>
          <p:cNvGraphicFramePr/>
          <p:nvPr/>
        </p:nvGraphicFramePr>
        <p:xfrm>
          <a:off x="508001" y="1270000"/>
          <a:ext cx="11303001" cy="2794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定义 / 计算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判读与用途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扫描阈值并在 FAR=FRR 附近插值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主验收指标;越低越好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minDCF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min[Cmiss·Ptar·FRR + Cfa·Pnon·FAR]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加入漏识与误识代价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ROC / DET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ROC:FAR 对 1-FRR;DET:FAR 对 FRR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展示全部阈值下的权衡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固定阈值 FAR/FRR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阈值只由 Dev 确定,Eval 直接复用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验证实际工作点,禁止测试集调阈值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分项统计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后端 × 场景 × 1/3/5 s 逐格计算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避免平均值掩盖困难条件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41F65AB-82A0-4926-AED9-941F10B35284}"/>
              </a:ext>
            </a:extLst>
          </p:cNvPr>
          <p:cNvSpPr>
            <a:spLocks noGrp="1"/>
          </p:cNvSpPr>
          <p:nvPr/>
        </p:nvSpPr>
        <p:spPr>
          <a:xfrm>
            <a:off x="508000" y="4318000"/>
            <a:ext cx="5080000" cy="338554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evaluate.py 输入输出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896F50-277B-4057-B6F9-F55F016D3F0E}"/>
              </a:ext>
            </a:extLst>
          </p:cNvPr>
          <p:cNvSpPr>
            <a:spLocks noGrp="1"/>
          </p:cNvSpPr>
          <p:nvPr/>
        </p:nvSpPr>
        <p:spPr>
          <a:xfrm>
            <a:off x="508000" y="4724402"/>
            <a:ext cx="11303000" cy="91563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输入:trial + wav.scp / embedding + Dev阈值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处理:全量余弦打分 → 官方 EER/minDCF 复算 → 2001 个阈值点生成 ROC/DET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输出:metrics、曲线、固定阈值 FAR/FRR 和逐格汇总。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BE974B-1E8C-77D0-EC95-477014D7EA27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224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D06557E-62DD-4EDE-82A1-A648E062DB3B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官方协议复现与逐位复算共同校准评测管线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D8A8F4-A9C8-416C-8201-51E2C9F998D9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 dirty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03 </a:t>
            </a:r>
            <a:r>
              <a:rPr sz="1300" dirty="0" err="1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统一评测</a:t>
            </a:r>
            <a:r>
              <a:rPr lang="zh-CN" altLang="en-US" sz="1300" dirty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协议构建</a:t>
            </a:r>
            <a:endParaRPr sz="1300" dirty="0">
              <a:solidFill>
                <a:srgbClr val="7F7F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31C1EE-298C-449E-9BAF-D59AE89CCBB7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5" name="表格 5"/>
          <p:cNvGraphicFramePr/>
          <p:nvPr/>
        </p:nvGraphicFramePr>
        <p:xfrm>
          <a:off x="508000" y="1219200"/>
          <a:ext cx="11303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校准对象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公开基准值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本管线实测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偏差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ECAPA-TDNN cross-device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9.31%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+0.44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ERes2Net-large cross-device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6.34%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6.87%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+0.53 pp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1C144CE-C393-4F2A-8107-7CDE74A96D76}"/>
              </a:ext>
            </a:extLst>
          </p:cNvPr>
          <p:cNvSpPr>
            <a:spLocks noGrp="1"/>
          </p:cNvSpPr>
          <p:nvPr/>
        </p:nvSpPr>
        <p:spPr>
          <a:xfrm>
            <a:off x="508000" y="3403600"/>
            <a:ext cx="11303000" cy="1168400"/>
          </a:xfrm>
          <a:prstGeom prst="rect">
            <a:avLst/>
          </a:prstGeom>
          <a:solidFill>
            <a:srgbClr val="FFF7E0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FEBC3CB-0D35-4EFD-B28B-EAE0982DA3C8}"/>
              </a:ext>
            </a:extLst>
          </p:cNvPr>
          <p:cNvSpPr>
            <a:spLocks noGrp="1"/>
          </p:cNvSpPr>
          <p:nvPr/>
        </p:nvSpPr>
        <p:spPr>
          <a:xfrm>
            <a:off x="711200" y="3556000"/>
            <a:ext cx="10922000" cy="777240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500" b="1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两条校验链均通过:</a:t>
            </a:r>
          </a:p>
          <a:p>
            <a:r>
              <a:rPr sz="1500" b="1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① 三个官方协议复现偏差均 &lt;0.6 pp;② 自建复算 EER=4.8921 与官方脚本 4.892 逐位一致。</a:t>
            </a:r>
          </a:p>
          <a:p>
            <a:r>
              <a:rPr sz="1500" b="1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结论:后续方法差异来自同一评测标准,而不是脚本实现差异。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2646D0-5D38-4687-B343-B1BC930C5432}"/>
              </a:ext>
            </a:extLst>
          </p:cNvPr>
          <p:cNvSpPr>
            <a:spLocks noGrp="1"/>
          </p:cNvSpPr>
          <p:nvPr/>
        </p:nvSpPr>
        <p:spPr>
          <a:xfrm>
            <a:off x="508000" y="4775202"/>
            <a:ext cx="11303000" cy="307777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4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数据:技术报告第2.1-2.2;校准共使用 535,163 条官方 trial。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391A94-9052-5DDF-3A17-373597F6668A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8651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66573-E610-CF72-6651-BF17F8CC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AC481E-410D-E40C-1843-33C9379A61A1}"/>
              </a:ext>
            </a:extLst>
          </p:cNvPr>
          <p:cNvSpPr txBox="1"/>
          <p:nvPr/>
        </p:nvSpPr>
        <p:spPr>
          <a:xfrm>
            <a:off x="762000" y="431800"/>
            <a:ext cx="381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  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CC91EB-32FF-F522-20E5-7AC99C2BFD40}"/>
              </a:ext>
            </a:extLst>
          </p:cNvPr>
          <p:cNvSpPr/>
          <p:nvPr/>
        </p:nvSpPr>
        <p:spPr>
          <a:xfrm>
            <a:off x="787400" y="1168400"/>
            <a:ext cx="1117600" cy="381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5BD388-0E60-6315-9F2C-D4342F55A64F}"/>
              </a:ext>
            </a:extLst>
          </p:cNvPr>
          <p:cNvSpPr/>
          <p:nvPr/>
        </p:nvSpPr>
        <p:spPr>
          <a:xfrm>
            <a:off x="1143000" y="1778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01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3A3065-8C58-56EA-386C-F60DC37AFCFD}"/>
              </a:ext>
            </a:extLst>
          </p:cNvPr>
          <p:cNvSpPr txBox="1"/>
          <p:nvPr/>
        </p:nvSpPr>
        <p:spPr>
          <a:xfrm>
            <a:off x="2235200" y="182880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数据协议与构建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67190D-5EEB-884D-706C-430E20C6C15C}"/>
              </a:ext>
            </a:extLst>
          </p:cNvPr>
          <p:cNvSpPr/>
          <p:nvPr/>
        </p:nvSpPr>
        <p:spPr>
          <a:xfrm>
            <a:off x="1143000" y="25654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02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BF92C5-C231-1DAE-EB82-398245A96335}"/>
              </a:ext>
            </a:extLst>
          </p:cNvPr>
          <p:cNvSpPr txBox="1"/>
          <p:nvPr/>
        </p:nvSpPr>
        <p:spPr>
          <a:xfrm>
            <a:off x="2235200" y="26162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数据可信性</a:t>
            </a:r>
            <a:r>
              <a:rPr lang="en-US" altLang="zh-CN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泄露性检查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79ADD4-1390-A41A-B553-31B450F90313}"/>
              </a:ext>
            </a:extLst>
          </p:cNvPr>
          <p:cNvSpPr/>
          <p:nvPr/>
        </p:nvSpPr>
        <p:spPr>
          <a:xfrm>
            <a:off x="1143000" y="33528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03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CF333A-BC98-CA8D-34A8-44AFA76BB992}"/>
              </a:ext>
            </a:extLst>
          </p:cNvPr>
          <p:cNvSpPr txBox="1"/>
          <p:nvPr/>
        </p:nvSpPr>
        <p:spPr>
          <a:xfrm>
            <a:off x="2235200" y="34036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统一评测协议构建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63FA37-ACFA-834E-BA11-8D35E3D10847}"/>
              </a:ext>
            </a:extLst>
          </p:cNvPr>
          <p:cNvSpPr/>
          <p:nvPr/>
        </p:nvSpPr>
        <p:spPr>
          <a:xfrm>
            <a:off x="1143000" y="4140200"/>
            <a:ext cx="812800" cy="5080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ea typeface="微软雅黑" panose="020B0503020204020204" pitchFamily="34" charset="-122"/>
              </a:rPr>
              <a:t>04</a:t>
            </a:r>
            <a:endParaRPr lang="zh-CN" altLang="en-US" b="1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A0770C-3FDB-D833-66E5-D7E189D90F5D}"/>
              </a:ext>
            </a:extLst>
          </p:cNvPr>
          <p:cNvSpPr txBox="1"/>
          <p:nvPr/>
        </p:nvSpPr>
        <p:spPr>
          <a:xfrm>
            <a:off x="2235200" y="41910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21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文献调研与判决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705DA9-4071-5758-DE97-FB8DBF5C548E}"/>
              </a:ext>
            </a:extLst>
          </p:cNvPr>
          <p:cNvSpPr/>
          <p:nvPr/>
        </p:nvSpPr>
        <p:spPr>
          <a:xfrm>
            <a:off x="1143000" y="49276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05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EFDCC2-9318-6005-CFE1-71A23D11E2A4}"/>
              </a:ext>
            </a:extLst>
          </p:cNvPr>
          <p:cNvSpPr txBox="1"/>
          <p:nvPr/>
        </p:nvSpPr>
        <p:spPr>
          <a:xfrm>
            <a:off x="2235200" y="49784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前端结构与原理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3A8DED-A86D-79B5-A472-E3FBA36A62FE}"/>
              </a:ext>
            </a:extLst>
          </p:cNvPr>
          <p:cNvSpPr/>
          <p:nvPr/>
        </p:nvSpPr>
        <p:spPr>
          <a:xfrm>
            <a:off x="1143000" y="5715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06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10B25F-32F2-E793-0693-508F699D211F}"/>
              </a:ext>
            </a:extLst>
          </p:cNvPr>
          <p:cNvSpPr txBox="1"/>
          <p:nvPr/>
        </p:nvSpPr>
        <p:spPr>
          <a:xfrm>
            <a:off x="2235200" y="57658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展望与规划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5671BE1-187E-97B4-BDB6-AFC429019959}"/>
              </a:ext>
            </a:extLst>
          </p:cNvPr>
          <p:cNvSpPr txBox="1"/>
          <p:nvPr/>
        </p:nvSpPr>
        <p:spPr>
          <a:xfrm>
            <a:off x="7112000" y="1905000"/>
            <a:ext cx="40640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1000" b="1" dirty="0">
                <a:solidFill>
                  <a:srgbClr val="E2E8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1000" b="1" dirty="0">
              <a:solidFill>
                <a:srgbClr val="E2E8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F5A8C42-5B0C-C64D-6BCF-2A58FB4AF03D}"/>
              </a:ext>
            </a:extLst>
          </p:cNvPr>
          <p:cNvSpPr txBox="1"/>
          <p:nvPr/>
        </p:nvSpPr>
        <p:spPr>
          <a:xfrm>
            <a:off x="7112000" y="4064000"/>
            <a:ext cx="431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文献调研与判决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1AA46B-211A-5FB8-AC69-26E9E1F347BC}"/>
              </a:ext>
            </a:extLst>
          </p:cNvPr>
          <p:cNvSpPr/>
          <p:nvPr/>
        </p:nvSpPr>
        <p:spPr>
          <a:xfrm>
            <a:off x="7137400" y="4927600"/>
            <a:ext cx="1524000" cy="508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345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圆角矩形 105">
            <a:extLst>
              <a:ext uri="{FF2B5EF4-FFF2-40B4-BE49-F238E27FC236}">
                <a16:creationId xmlns:a16="http://schemas.microsoft.com/office/drawing/2014/main" id="{D7E89C67-A505-AC4D-CC4B-3F06AE2CF4FE}"/>
              </a:ext>
            </a:extLst>
          </p:cNvPr>
          <p:cNvSpPr/>
          <p:nvPr/>
        </p:nvSpPr>
        <p:spPr>
          <a:xfrm>
            <a:off x="8128001" y="1802413"/>
            <a:ext cx="3179726" cy="2397053"/>
          </a:xfrm>
          <a:prstGeom prst="roundRect">
            <a:avLst>
              <a:gd name="adj" fmla="val 6000"/>
            </a:avLst>
          </a:prstGeom>
          <a:solidFill>
            <a:srgbClr val="FDF1F0"/>
          </a:solidFill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C882EB2-8C19-B06B-1175-ABEF923E45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04"/>
          <a:stretch>
            <a:fillRect/>
          </a:stretch>
        </p:blipFill>
        <p:spPr>
          <a:xfrm>
            <a:off x="8419584" y="1880273"/>
            <a:ext cx="2647580" cy="2273885"/>
          </a:xfrm>
          <a:prstGeom prst="rect">
            <a:avLst/>
          </a:prstGeom>
        </p:spPr>
      </p:pic>
      <p:sp>
        <p:nvSpPr>
          <p:cNvPr id="35" name="圆角矩形 105">
            <a:extLst>
              <a:ext uri="{FF2B5EF4-FFF2-40B4-BE49-F238E27FC236}">
                <a16:creationId xmlns:a16="http://schemas.microsoft.com/office/drawing/2014/main" id="{17985D3A-8F2C-7FE6-C238-CBC4C14C47C0}"/>
              </a:ext>
            </a:extLst>
          </p:cNvPr>
          <p:cNvSpPr/>
          <p:nvPr/>
        </p:nvSpPr>
        <p:spPr>
          <a:xfrm>
            <a:off x="4197977" y="1820457"/>
            <a:ext cx="3477107" cy="2397053"/>
          </a:xfrm>
          <a:prstGeom prst="roundRect">
            <a:avLst>
              <a:gd name="adj" fmla="val 6000"/>
            </a:avLst>
          </a:prstGeom>
          <a:solidFill>
            <a:srgbClr val="FDF1F0"/>
          </a:solidFill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21C9E1-A51A-4440-AFC8-A84729108688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三条路线经过同一协议验证,最终只保留注册条件化 TSE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60555D-8FA1-4096-A247-929A30AC6224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04 文献调研与判决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08951A-CA92-4777-85B3-776E4C294F04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3C4308-A40F-49C1-B2A9-D0097D59EF8A}"/>
              </a:ext>
            </a:extLst>
          </p:cNvPr>
          <p:cNvSpPr>
            <a:spLocks noGrp="1"/>
          </p:cNvSpPr>
          <p:nvPr/>
        </p:nvSpPr>
        <p:spPr>
          <a:xfrm>
            <a:off x="482600" y="905498"/>
            <a:ext cx="11303000" cy="711200"/>
          </a:xfrm>
          <a:prstGeom prst="rect">
            <a:avLst/>
          </a:prstGeom>
          <a:solidFill>
            <a:srgbClr val="EAF0FA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4661BE-8C14-43A5-97DE-FA50823D5C7A}"/>
              </a:ext>
            </a:extLst>
          </p:cNvPr>
          <p:cNvSpPr>
            <a:spLocks noGrp="1"/>
          </p:cNvSpPr>
          <p:nvPr/>
        </p:nvSpPr>
        <p:spPr>
          <a:xfrm>
            <a:off x="514350" y="990602"/>
            <a:ext cx="1114425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文献提出假设  →  同 Trial / 同冻结后端 / 同脚本验证  →  由 EER 与身份保持决定去留</a:t>
            </a:r>
          </a:p>
        </p:txBody>
      </p:sp>
      <p:graphicFrame>
        <p:nvGraphicFramePr>
          <p:cNvPr id="38" name="表格 7"/>
          <p:cNvGraphicFramePr/>
          <p:nvPr/>
        </p:nvGraphicFramePr>
        <p:xfrm>
          <a:off x="-15240000" y="-8572500"/>
          <a:ext cx="11303001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路线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代表文献与选取依据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本课题结果 / 判决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后端鲁棒微调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FT-Boosted SV(2025):噪声增强数据微调后端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6/8 条件变差;0 dB EER：8.39→9.71;否决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增强后再验证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ParaNoise-SV(2025):增强与声纹联合建模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dB EER：10.11&gt;8.39;</a:t>
                      </a:r>
                    </a:p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目标分 LLR：0.422→0.391;否决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注册条件化 TSE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TSE Curriculum(2024):注册语音条件用于目标提取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任务定义匹配;0/-5 dB 达标;保留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判决纪律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文献用于说明路线依据,不替代本课题证据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 trial / 后端 / 阈值口径比较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DA42D20D-A474-4E99-8FA9-7D568033641A}"/>
              </a:ext>
            </a:extLst>
          </p:cNvPr>
          <p:cNvSpPr>
            <a:spLocks noGrp="1"/>
          </p:cNvSpPr>
          <p:nvPr/>
        </p:nvSpPr>
        <p:spPr>
          <a:xfrm>
            <a:off x="482600" y="6394343"/>
            <a:ext cx="11144250" cy="338554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[1] Tabatabaee et al., </a:t>
            </a:r>
            <a:r>
              <a:rPr sz="1450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Interspeech</a:t>
            </a:r>
            <a:r>
              <a:rPr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2025.  [2] </a:t>
            </a:r>
            <a:r>
              <a:rPr lang="nl-NL" altLang="zh-CN" sz="160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Lim et al., Interspeech 2024, 2665-2669</a:t>
            </a:r>
            <a:r>
              <a:rPr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.  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A909F80-B2C6-4906-8C6F-1E798231A0B2}"/>
              </a:ext>
            </a:extLst>
          </p:cNvPr>
          <p:cNvSpPr>
            <a:spLocks noGrp="1"/>
          </p:cNvSpPr>
          <p:nvPr/>
        </p:nvSpPr>
        <p:spPr>
          <a:xfrm>
            <a:off x="1306476" y="2096310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C43C35"/>
          </a:solidFill>
          <a:ln w="13335">
            <a:solidFill>
              <a:srgbClr val="C43C35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路线 A</a:t>
            </a:r>
          </a:p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后端鲁棒微调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FA3A7E8-01F6-4778-B57A-822ECA4638C7}"/>
              </a:ext>
            </a:extLst>
          </p:cNvPr>
          <p:cNvSpPr>
            <a:spLocks noGrp="1"/>
          </p:cNvSpPr>
          <p:nvPr/>
        </p:nvSpPr>
        <p:spPr>
          <a:xfrm>
            <a:off x="4736805" y="2001876"/>
            <a:ext cx="2530069" cy="872817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C43C35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文献依据</a:t>
            </a:r>
            <a:r>
              <a:rPr lang="en-US" altLang="zh-CN" sz="1125" dirty="0">
                <a:solidFill>
                  <a:srgbClr val="333333"/>
                </a:solidFill>
              </a:rPr>
              <a:t>【</a:t>
            </a:r>
            <a:r>
              <a:rPr lang="en-US" sz="1125" dirty="0">
                <a:solidFill>
                  <a:srgbClr val="333333"/>
                </a:solidFill>
              </a:rPr>
              <a:t>1</a:t>
            </a:r>
            <a:r>
              <a:rPr lang="en-US" altLang="zh-CN" sz="1125" dirty="0">
                <a:solidFill>
                  <a:srgbClr val="333333"/>
                </a:solidFill>
              </a:rPr>
              <a:t>】</a:t>
            </a:r>
            <a:endParaRPr sz="1125" dirty="0">
              <a:solidFill>
                <a:srgbClr val="333333"/>
              </a:solidFill>
            </a:endParaRP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FT-Boosted SV 2025</a:t>
            </a: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 err="1">
                <a:solidFill>
                  <a:srgbClr val="333333"/>
                </a:solidFill>
              </a:rPr>
              <a:t>带噪数据适配后端</a:t>
            </a:r>
            <a:endParaRPr sz="1125" dirty="0">
              <a:solidFill>
                <a:srgbClr val="333333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60E04F0-4914-464F-BBE4-DCA9552880AF}"/>
              </a:ext>
            </a:extLst>
          </p:cNvPr>
          <p:cNvSpPr>
            <a:spLocks noGrp="1"/>
          </p:cNvSpPr>
          <p:nvPr/>
        </p:nvSpPr>
        <p:spPr>
          <a:xfrm>
            <a:off x="5129544" y="4733117"/>
            <a:ext cx="2762250" cy="838200"/>
          </a:xfrm>
          <a:prstGeom prst="roundRect">
            <a:avLst>
              <a:gd name="adj" fmla="val 9091"/>
            </a:avLst>
          </a:prstGeom>
          <a:solidFill>
            <a:srgbClr val="FFF1F0"/>
          </a:solidFill>
          <a:ln w="13335">
            <a:solidFill>
              <a:srgbClr val="C43C35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C43C35"/>
                </a:solidFill>
              </a:defRPr>
            </a:pPr>
            <a:r>
              <a:rPr sz="1200" b="1">
                <a:solidFill>
                  <a:srgbClr val="C43C35"/>
                </a:solidFill>
              </a:rPr>
              <a:t>淘汰</a:t>
            </a:r>
          </a:p>
          <a:p>
            <a:pPr algn="ctr">
              <a:defRPr sz="1200" b="1">
                <a:solidFill>
                  <a:srgbClr val="C43C35"/>
                </a:solidFill>
              </a:defRPr>
            </a:pPr>
            <a:r>
              <a:rPr sz="1200" b="1">
                <a:solidFill>
                  <a:srgbClr val="C43C35"/>
                </a:solidFill>
              </a:rPr>
              <a:t>本课题冻结后端更稳定</a:t>
            </a:r>
          </a:p>
        </p:txBody>
      </p:sp>
      <p:cxnSp>
        <p:nvCxnSpPr>
          <p:cNvPr id="44" name="直接箭头连接符 43"/>
          <p:cNvCxnSpPr>
            <a:cxnSpLocks/>
            <a:stCxn id="11" idx="3"/>
          </p:cNvCxnSpPr>
          <p:nvPr/>
        </p:nvCxnSpPr>
        <p:spPr>
          <a:xfrm>
            <a:off x="3116226" y="2515410"/>
            <a:ext cx="1081751" cy="0"/>
          </a:xfrm>
          <a:prstGeom prst="straightConnector1">
            <a:avLst/>
          </a:prstGeom>
          <a:ln w="19050">
            <a:solidFill>
              <a:srgbClr val="C43C35"/>
            </a:solidFill>
            <a:prstDash val="solid"/>
            <a:tailEnd type="triangle" w="sm" len="sm"/>
          </a:ln>
        </p:spPr>
      </p:cxnSp>
      <p:cxnSp>
        <p:nvCxnSpPr>
          <p:cNvPr id="46" name="直接箭头连接符 45"/>
          <p:cNvCxnSpPr>
            <a:cxnSpLocks/>
            <a:stCxn id="29" idx="1"/>
            <a:endCxn id="14" idx="3"/>
          </p:cNvCxnSpPr>
          <p:nvPr/>
        </p:nvCxnSpPr>
        <p:spPr>
          <a:xfrm flipH="1">
            <a:off x="7891794" y="5152217"/>
            <a:ext cx="825795" cy="0"/>
          </a:xfrm>
          <a:prstGeom prst="straightConnector1">
            <a:avLst/>
          </a:prstGeom>
          <a:ln w="19050">
            <a:solidFill>
              <a:srgbClr val="C43C35"/>
            </a:solidFill>
            <a:prstDash val="solid"/>
            <a:tailEnd type="triangle" w="sm" len="sm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97661B54-0C38-5117-6F24-3A38074430B6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7BC014C-0460-FC5B-8EB7-5692A2BB1878}"/>
              </a:ext>
            </a:extLst>
          </p:cNvPr>
          <p:cNvSpPr>
            <a:spLocks noGrp="1"/>
          </p:cNvSpPr>
          <p:nvPr/>
        </p:nvSpPr>
        <p:spPr>
          <a:xfrm>
            <a:off x="846469" y="4683665"/>
            <a:ext cx="3333750" cy="9525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 w="13335">
            <a:solidFill>
              <a:srgbClr val="C43C35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C43C35"/>
                </a:solidFill>
              </a:defRPr>
            </a:pPr>
            <a:r>
              <a:rPr sz="1050" b="1">
                <a:solidFill>
                  <a:srgbClr val="C43C35"/>
                </a:solidFill>
              </a:rPr>
              <a:t>本课题启示</a:t>
            </a:r>
          </a:p>
          <a:p>
            <a:pPr algn="ctr">
              <a:defRPr sz="1050" b="1">
                <a:solidFill>
                  <a:srgbClr val="C43C35"/>
                </a:solidFill>
              </a:defRPr>
            </a:pPr>
            <a:r>
              <a:rPr sz="1050" b="1">
                <a:solidFill>
                  <a:srgbClr val="C43C35"/>
                </a:solidFill>
              </a:rPr>
              <a:t>适配后端必须显式保护身份</a:t>
            </a:r>
          </a:p>
          <a:p>
            <a:pPr algn="ctr">
              <a:defRPr sz="1050" b="1">
                <a:solidFill>
                  <a:srgbClr val="C43C35"/>
                </a:solidFill>
              </a:defRPr>
            </a:pPr>
            <a:r>
              <a:rPr sz="1050" b="1">
                <a:solidFill>
                  <a:srgbClr val="C43C35"/>
                </a:solidFill>
              </a:rPr>
              <a:t>简单带噪微调不足 → 淘汰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F0C9CB4-3CB1-BA71-138D-56239EEDABEC}"/>
              </a:ext>
            </a:extLst>
          </p:cNvPr>
          <p:cNvCxnSpPr>
            <a:cxnSpLocks/>
            <a:stCxn id="14" idx="1"/>
            <a:endCxn id="22" idx="3"/>
          </p:cNvCxnSpPr>
          <p:nvPr/>
        </p:nvCxnSpPr>
        <p:spPr>
          <a:xfrm flipH="1">
            <a:off x="4180219" y="5152217"/>
            <a:ext cx="949325" cy="7698"/>
          </a:xfrm>
          <a:prstGeom prst="straightConnector1">
            <a:avLst/>
          </a:prstGeom>
          <a:ln w="19050">
            <a:solidFill>
              <a:srgbClr val="C43C35"/>
            </a:solidFill>
            <a:prstDash val="solid"/>
            <a:tailEnd type="triangle" w="sm" len="sm"/>
          </a:ln>
        </p:spPr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D958194-5E16-AC9F-C821-AB554D332F1F}"/>
              </a:ext>
            </a:extLst>
          </p:cNvPr>
          <p:cNvSpPr>
            <a:spLocks noGrp="1"/>
          </p:cNvSpPr>
          <p:nvPr/>
        </p:nvSpPr>
        <p:spPr>
          <a:xfrm>
            <a:off x="8717589" y="4733117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C43C35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统一验证</a:t>
            </a: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8 条件中 6 个变差</a:t>
            </a: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0 dB: 8.39 → 9.71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114438B4-5D5C-9955-E549-491424E79836}"/>
              </a:ext>
            </a:extLst>
          </p:cNvPr>
          <p:cNvSpPr>
            <a:spLocks noGrp="1"/>
          </p:cNvSpPr>
          <p:nvPr/>
        </p:nvSpPr>
        <p:spPr>
          <a:xfrm>
            <a:off x="4736805" y="3228759"/>
            <a:ext cx="24765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C43C35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文献依据</a:t>
            </a:r>
            <a:r>
              <a:rPr lang="en-US" altLang="zh-CN" sz="1125" dirty="0">
                <a:solidFill>
                  <a:srgbClr val="333333"/>
                </a:solidFill>
              </a:rPr>
              <a:t>【</a:t>
            </a:r>
            <a:r>
              <a:rPr lang="en-US" sz="1125" dirty="0">
                <a:solidFill>
                  <a:srgbClr val="333333"/>
                </a:solidFill>
              </a:rPr>
              <a:t>2</a:t>
            </a:r>
            <a:r>
              <a:rPr lang="en-US" altLang="zh-CN" sz="1125" dirty="0">
                <a:solidFill>
                  <a:srgbClr val="333333"/>
                </a:solidFill>
              </a:rPr>
              <a:t>】</a:t>
            </a:r>
            <a:endParaRPr sz="1125" dirty="0">
              <a:solidFill>
                <a:srgbClr val="333333"/>
              </a:solidFill>
            </a:endParaRP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lang="zh-CN" altLang="en-US" sz="1125" dirty="0">
                <a:solidFill>
                  <a:srgbClr val="333333"/>
                </a:solidFill>
              </a:rPr>
              <a:t>后端适配 </a:t>
            </a:r>
            <a:r>
              <a:rPr lang="en-US" altLang="zh-CN" sz="1125" dirty="0">
                <a:solidFill>
                  <a:srgbClr val="333333"/>
                </a:solidFill>
              </a:rPr>
              <a:t>| NAW-SV</a:t>
            </a:r>
            <a:endParaRPr sz="1125" dirty="0">
              <a:solidFill>
                <a:srgbClr val="333333"/>
              </a:solidFill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D6F0F178-FC76-12C7-E5A8-BFDD95D3E402}"/>
              </a:ext>
            </a:extLst>
          </p:cNvPr>
          <p:cNvCxnSpPr>
            <a:cxnSpLocks/>
          </p:cNvCxnSpPr>
          <p:nvPr/>
        </p:nvCxnSpPr>
        <p:spPr>
          <a:xfrm>
            <a:off x="7213305" y="3647859"/>
            <a:ext cx="914695" cy="0"/>
          </a:xfrm>
          <a:prstGeom prst="straightConnector1">
            <a:avLst/>
          </a:prstGeom>
          <a:ln w="19050">
            <a:solidFill>
              <a:srgbClr val="C43C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78336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DD573-3F0C-E918-AA45-3274B794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圆角矩形 105">
            <a:extLst>
              <a:ext uri="{FF2B5EF4-FFF2-40B4-BE49-F238E27FC236}">
                <a16:creationId xmlns:a16="http://schemas.microsoft.com/office/drawing/2014/main" id="{C5995488-6DF8-3085-3365-E489A5AF8ADC}"/>
              </a:ext>
            </a:extLst>
          </p:cNvPr>
          <p:cNvSpPr/>
          <p:nvPr/>
        </p:nvSpPr>
        <p:spPr>
          <a:xfrm>
            <a:off x="8128001" y="1802413"/>
            <a:ext cx="3179726" cy="2397053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125">
              <a:solidFill>
                <a:srgbClr val="333333"/>
              </a:solidFill>
            </a:endParaRPr>
          </a:p>
        </p:txBody>
      </p:sp>
      <p:sp>
        <p:nvSpPr>
          <p:cNvPr id="35" name="圆角矩形 105">
            <a:extLst>
              <a:ext uri="{FF2B5EF4-FFF2-40B4-BE49-F238E27FC236}">
                <a16:creationId xmlns:a16="http://schemas.microsoft.com/office/drawing/2014/main" id="{14DD8AB9-1E54-BC0F-D614-F31F45FE089A}"/>
              </a:ext>
            </a:extLst>
          </p:cNvPr>
          <p:cNvSpPr/>
          <p:nvPr/>
        </p:nvSpPr>
        <p:spPr>
          <a:xfrm>
            <a:off x="4197977" y="1820457"/>
            <a:ext cx="3477107" cy="2397053"/>
          </a:xfrm>
          <a:prstGeom prst="roundRect">
            <a:avLst>
              <a:gd name="adj" fmla="val 6000"/>
            </a:avLst>
          </a:prstGeom>
          <a:solidFill>
            <a:srgbClr val="FAF6EA"/>
          </a:solidFill>
          <a:ln w="15875">
            <a:solidFill>
              <a:srgbClr val="8B6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C94B7D-9A16-5D89-04E0-E771107B84C6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三条路线经过同一协议验证,最终只保留注册条件化 TSE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5F7894-DA98-6EFE-E77A-4737BC4A169C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04 文献调研与判决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E6628A-404A-47F4-C9F5-CEDA84688014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AA1A67-8889-E547-6A85-2BFDA3DDF9B7}"/>
              </a:ext>
            </a:extLst>
          </p:cNvPr>
          <p:cNvSpPr>
            <a:spLocks noGrp="1"/>
          </p:cNvSpPr>
          <p:nvPr/>
        </p:nvSpPr>
        <p:spPr>
          <a:xfrm>
            <a:off x="482600" y="905498"/>
            <a:ext cx="11303000" cy="711200"/>
          </a:xfrm>
          <a:prstGeom prst="rect">
            <a:avLst/>
          </a:prstGeom>
          <a:solidFill>
            <a:srgbClr val="EAF0FA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5D78C5-18CC-9483-782D-0A0D2FFBB9DE}"/>
              </a:ext>
            </a:extLst>
          </p:cNvPr>
          <p:cNvSpPr>
            <a:spLocks noGrp="1"/>
          </p:cNvSpPr>
          <p:nvPr/>
        </p:nvSpPr>
        <p:spPr>
          <a:xfrm>
            <a:off x="514350" y="990602"/>
            <a:ext cx="1114425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文献提出假设  →  同 Trial / 同冻结后端 / 同脚本验证  →  由 EER 与身份保持决定去留</a:t>
            </a:r>
          </a:p>
        </p:txBody>
      </p:sp>
      <p:graphicFrame>
        <p:nvGraphicFramePr>
          <p:cNvPr id="38" name="表格 7">
            <a:extLst>
              <a:ext uri="{FF2B5EF4-FFF2-40B4-BE49-F238E27FC236}">
                <a16:creationId xmlns:a16="http://schemas.microsoft.com/office/drawing/2014/main" id="{7C4AF269-2423-8616-F5A3-423EEA973BAC}"/>
              </a:ext>
            </a:extLst>
          </p:cNvPr>
          <p:cNvGraphicFramePr/>
          <p:nvPr/>
        </p:nvGraphicFramePr>
        <p:xfrm>
          <a:off x="-15240000" y="-8572500"/>
          <a:ext cx="11303001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路线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代表文献与选取依据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本课题结果 / 判决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后端鲁棒微调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FT-Boosted SV(2025):噪声增强数据微调后端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6/8 条件变差;0 dB EER：8.39→9.71;否决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增强后再验证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ParaNoise-SV(2025):增强与声纹联合建模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dB EER：10.11&gt;8.39;</a:t>
                      </a:r>
                    </a:p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目标分 LLR：0.422→0.391;否决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注册条件化 TSE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TSE Curriculum(2024):注册语音条件用于目标提取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任务定义匹配;0/-5 dB 达标;保留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判决纪律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文献用于说明路线依据,不替代本课题证据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 trial / 后端 / 阈值口径比较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7A04DEA5-3461-E5DF-2886-FE60A548C710}"/>
              </a:ext>
            </a:extLst>
          </p:cNvPr>
          <p:cNvSpPr>
            <a:spLocks noGrp="1"/>
          </p:cNvSpPr>
          <p:nvPr/>
        </p:nvSpPr>
        <p:spPr>
          <a:xfrm>
            <a:off x="482600" y="6394343"/>
            <a:ext cx="11144250" cy="338554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[1] </a:t>
            </a:r>
            <a:r>
              <a:rPr lang="en-US" altLang="zh-CN"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Kim et al., </a:t>
            </a:r>
            <a:r>
              <a:rPr lang="en-US" altLang="zh-CN" sz="1450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Interspeech</a:t>
            </a:r>
            <a:r>
              <a:rPr lang="en-US" altLang="zh-CN"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2025.  </a:t>
            </a:r>
            <a:r>
              <a:rPr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[2] </a:t>
            </a:r>
            <a:r>
              <a:rPr lang="en-US" altLang="zh-CN" sz="160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Zhang et al., </a:t>
            </a:r>
            <a:r>
              <a:rPr lang="en-US" altLang="zh-CN" sz="160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Interspeech</a:t>
            </a:r>
            <a:r>
              <a:rPr lang="en-US" altLang="zh-CN" sz="160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 2024, 4868-4872. </a:t>
            </a:r>
            <a:endParaRPr sz="1450" dirty="0">
              <a:solidFill>
                <a:srgbClr val="333333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48806FD6-2F15-260A-26A8-3161AB48C93E}"/>
              </a:ext>
            </a:extLst>
          </p:cNvPr>
          <p:cNvCxnSpPr>
            <a:cxnSpLocks/>
          </p:cNvCxnSpPr>
          <p:nvPr/>
        </p:nvCxnSpPr>
        <p:spPr>
          <a:xfrm>
            <a:off x="3116226" y="2515410"/>
            <a:ext cx="1081751" cy="0"/>
          </a:xfrm>
          <a:prstGeom prst="straightConnector1">
            <a:avLst/>
          </a:prstGeom>
          <a:solidFill>
            <a:srgbClr val="FAF6EA"/>
          </a:solidFill>
          <a:ln w="15875">
            <a:solidFill>
              <a:srgbClr val="8B6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679C6C95-16D5-B384-9635-9F7D157CB57C}"/>
              </a:ext>
            </a:extLst>
          </p:cNvPr>
          <p:cNvCxnSpPr>
            <a:cxnSpLocks/>
          </p:cNvCxnSpPr>
          <p:nvPr/>
        </p:nvCxnSpPr>
        <p:spPr>
          <a:xfrm flipH="1">
            <a:off x="7891794" y="5152217"/>
            <a:ext cx="825795" cy="0"/>
          </a:xfrm>
          <a:prstGeom prst="straightConnector1">
            <a:avLst/>
          </a:prstGeom>
          <a:solidFill>
            <a:srgbClr val="FAF6EA"/>
          </a:solidFill>
          <a:ln w="15875">
            <a:solidFill>
              <a:srgbClr val="8B6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368C66DE-6A44-276F-136B-959A3B6D8E18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C4F750D-D83A-A772-3950-280697A070F4}"/>
              </a:ext>
            </a:extLst>
          </p:cNvPr>
          <p:cNvCxnSpPr>
            <a:cxnSpLocks/>
          </p:cNvCxnSpPr>
          <p:nvPr/>
        </p:nvCxnSpPr>
        <p:spPr>
          <a:xfrm flipH="1">
            <a:off x="4180219" y="5152217"/>
            <a:ext cx="949325" cy="7698"/>
          </a:xfrm>
          <a:prstGeom prst="straightConnector1">
            <a:avLst/>
          </a:prstGeom>
          <a:solidFill>
            <a:srgbClr val="FAF6EA"/>
          </a:solidFill>
          <a:ln w="15875">
            <a:solidFill>
              <a:srgbClr val="8B6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1A6813D-E08B-58A7-A4CA-7B3E9F1E79B4}"/>
              </a:ext>
            </a:extLst>
          </p:cNvPr>
          <p:cNvSpPr>
            <a:spLocks noGrp="1"/>
          </p:cNvSpPr>
          <p:nvPr/>
        </p:nvSpPr>
        <p:spPr>
          <a:xfrm>
            <a:off x="4698280" y="3207331"/>
            <a:ext cx="24765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/>
            <a:r>
              <a:rPr sz="1125">
                <a:solidFill>
                  <a:srgbClr val="333333"/>
                </a:solidFill>
              </a:rPr>
              <a:t>文献依据</a:t>
            </a:r>
            <a:r>
              <a:rPr lang="en-US" altLang="zh-CN" sz="1125">
                <a:solidFill>
                  <a:srgbClr val="333333"/>
                </a:solidFill>
              </a:rPr>
              <a:t>【</a:t>
            </a:r>
            <a:r>
              <a:rPr lang="en-US" sz="1125">
                <a:solidFill>
                  <a:srgbClr val="333333"/>
                </a:solidFill>
              </a:rPr>
              <a:t>2</a:t>
            </a:r>
            <a:r>
              <a:rPr lang="en-US" altLang="zh-CN" sz="1125" dirty="0">
                <a:solidFill>
                  <a:srgbClr val="333333"/>
                </a:solidFill>
              </a:rPr>
              <a:t>】</a:t>
            </a:r>
            <a:endParaRPr sz="1125" dirty="0">
              <a:solidFill>
                <a:srgbClr val="333333"/>
              </a:solidFill>
            </a:endParaRPr>
          </a:p>
          <a:p>
            <a:pPr algn="ctr"/>
            <a:r>
              <a:rPr lang="zh-CN" altLang="en-US" sz="1125" dirty="0">
                <a:solidFill>
                  <a:srgbClr val="333333"/>
                </a:solidFill>
              </a:rPr>
              <a:t>通用增</a:t>
            </a:r>
            <a:r>
              <a:rPr lang="zh-CN" altLang="en-US" sz="1125">
                <a:solidFill>
                  <a:srgbClr val="333333"/>
                </a:solidFill>
              </a:rPr>
              <a:t>强 </a:t>
            </a:r>
            <a:r>
              <a:rPr lang="en-US" altLang="zh-CN" sz="1125" dirty="0">
                <a:solidFill>
                  <a:srgbClr val="333333"/>
                </a:solidFill>
              </a:rPr>
              <a:t>| URGENT</a:t>
            </a:r>
            <a:endParaRPr sz="1125" dirty="0">
              <a:solidFill>
                <a:srgbClr val="333333"/>
              </a:solidFill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BF9DDF16-18CE-6507-848D-9E7E5E03D00A}"/>
              </a:ext>
            </a:extLst>
          </p:cNvPr>
          <p:cNvCxnSpPr>
            <a:cxnSpLocks/>
          </p:cNvCxnSpPr>
          <p:nvPr/>
        </p:nvCxnSpPr>
        <p:spPr>
          <a:xfrm>
            <a:off x="7213305" y="3647859"/>
            <a:ext cx="914695" cy="0"/>
          </a:xfrm>
          <a:prstGeom prst="straightConnector1">
            <a:avLst/>
          </a:prstGeom>
          <a:solidFill>
            <a:srgbClr val="FAF6EA"/>
          </a:solidFill>
          <a:ln w="15875">
            <a:solidFill>
              <a:srgbClr val="8B6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58A87A7-1167-3750-A106-079D322510F8}"/>
              </a:ext>
            </a:extLst>
          </p:cNvPr>
          <p:cNvSpPr>
            <a:spLocks noGrp="1"/>
          </p:cNvSpPr>
          <p:nvPr/>
        </p:nvSpPr>
        <p:spPr>
          <a:xfrm>
            <a:off x="1306476" y="2092948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B58B2B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 dirty="0" err="1">
                <a:solidFill>
                  <a:srgbClr val="FFFFFF"/>
                </a:solidFill>
              </a:rPr>
              <a:t>路线</a:t>
            </a:r>
            <a:r>
              <a:rPr sz="1125" b="1" dirty="0">
                <a:solidFill>
                  <a:srgbClr val="FFFFFF"/>
                </a:solidFill>
              </a:rPr>
              <a:t> B</a:t>
            </a:r>
          </a:p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 dirty="0" err="1">
                <a:solidFill>
                  <a:srgbClr val="FFFFFF"/>
                </a:solidFill>
              </a:rPr>
              <a:t>通用增强后验证</a:t>
            </a:r>
            <a:endParaRPr sz="1125" b="1" dirty="0">
              <a:solidFill>
                <a:srgbClr val="FFFFFF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16E059E-5D85-DC16-A1C5-2B1BF33B20F1}"/>
              </a:ext>
            </a:extLst>
          </p:cNvPr>
          <p:cNvSpPr>
            <a:spLocks noGrp="1"/>
          </p:cNvSpPr>
          <p:nvPr/>
        </p:nvSpPr>
        <p:spPr>
          <a:xfrm>
            <a:off x="4698280" y="2085250"/>
            <a:ext cx="24765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文献依据</a:t>
            </a:r>
            <a:r>
              <a:rPr lang="en-US" altLang="zh-CN" sz="1125" dirty="0">
                <a:solidFill>
                  <a:srgbClr val="333333"/>
                </a:solidFill>
              </a:rPr>
              <a:t>【1】</a:t>
            </a:r>
            <a:endParaRPr sz="1125" dirty="0">
              <a:solidFill>
                <a:srgbClr val="333333"/>
              </a:solidFill>
            </a:endParaRP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ParaNoise-SV 2025</a:t>
            </a: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 err="1">
                <a:solidFill>
                  <a:srgbClr val="333333"/>
                </a:solidFill>
              </a:rPr>
              <a:t>增强需与声纹任务协同</a:t>
            </a:r>
            <a:endParaRPr sz="1125" dirty="0">
              <a:solidFill>
                <a:srgbClr val="333333"/>
              </a:solidFill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B6B5C54-AB5B-707C-64DC-3B55148FDA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007" r="50440"/>
          <a:stretch>
            <a:fillRect/>
          </a:stretch>
        </p:blipFill>
        <p:spPr>
          <a:xfrm>
            <a:off x="8636998" y="1875820"/>
            <a:ext cx="2161732" cy="114179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8D8DEF0-8A8E-9EB3-DDF0-CC4AB93EB5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161" t="32107"/>
          <a:stretch>
            <a:fillRect/>
          </a:stretch>
        </p:blipFill>
        <p:spPr>
          <a:xfrm>
            <a:off x="8636998" y="3121055"/>
            <a:ext cx="2169927" cy="1039235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9BCE335-0611-0325-38F3-484BF58A5503}"/>
              </a:ext>
            </a:extLst>
          </p:cNvPr>
          <p:cNvSpPr>
            <a:spLocks noGrp="1"/>
          </p:cNvSpPr>
          <p:nvPr/>
        </p:nvSpPr>
        <p:spPr>
          <a:xfrm>
            <a:off x="8717589" y="4733117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 err="1">
                <a:solidFill>
                  <a:srgbClr val="333333"/>
                </a:solidFill>
              </a:rPr>
              <a:t>统一验证</a:t>
            </a:r>
            <a:endParaRPr sz="1125" dirty="0">
              <a:solidFill>
                <a:srgbClr val="333333"/>
              </a:solidFill>
            </a:endParaRP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0 dB: 10.11 &gt; 8.39</a:t>
            </a: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 err="1">
                <a:solidFill>
                  <a:srgbClr val="333333"/>
                </a:solidFill>
              </a:rPr>
              <a:t>目标均值</a:t>
            </a:r>
            <a:r>
              <a:rPr sz="1125" dirty="0">
                <a:solidFill>
                  <a:srgbClr val="333333"/>
                </a:solidFill>
              </a:rPr>
              <a:t>: 0.422 → 0.391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C81317E-2045-9D7B-98FA-3EF127232579}"/>
              </a:ext>
            </a:extLst>
          </p:cNvPr>
          <p:cNvSpPr>
            <a:spLocks noGrp="1"/>
          </p:cNvSpPr>
          <p:nvPr/>
        </p:nvSpPr>
        <p:spPr>
          <a:xfrm>
            <a:off x="5129544" y="4725530"/>
            <a:ext cx="2762250" cy="838200"/>
          </a:xfrm>
          <a:prstGeom prst="roundRect">
            <a:avLst>
              <a:gd name="adj" fmla="val 9091"/>
            </a:avLst>
          </a:prstGeom>
          <a:solidFill>
            <a:srgbClr val="FFF1F0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B58B2B"/>
                </a:solidFill>
              </a:defRPr>
            </a:pPr>
            <a:r>
              <a:rPr sz="1200" b="1">
                <a:solidFill>
                  <a:srgbClr val="B58B2B"/>
                </a:solidFill>
              </a:rPr>
              <a:t>淘汰</a:t>
            </a:r>
          </a:p>
          <a:p>
            <a:pPr algn="ctr">
              <a:defRPr sz="1200" b="1">
                <a:solidFill>
                  <a:srgbClr val="B58B2B"/>
                </a:solidFill>
              </a:defRPr>
            </a:pPr>
            <a:r>
              <a:rPr sz="1200" b="1">
                <a:solidFill>
                  <a:srgbClr val="B58B2B"/>
                </a:solidFill>
              </a:rPr>
              <a:t>听感改善≠身份保持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75FBB94-488E-EBF1-2C41-1D02690E8CB9}"/>
              </a:ext>
            </a:extLst>
          </p:cNvPr>
          <p:cNvSpPr>
            <a:spLocks noGrp="1"/>
          </p:cNvSpPr>
          <p:nvPr/>
        </p:nvSpPr>
        <p:spPr>
          <a:xfrm>
            <a:off x="846469" y="4668380"/>
            <a:ext cx="3333750" cy="9525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B58B2B"/>
                </a:solidFill>
              </a:defRPr>
            </a:pPr>
            <a:r>
              <a:rPr sz="1050" b="1">
                <a:solidFill>
                  <a:srgbClr val="B58B2B"/>
                </a:solidFill>
              </a:rPr>
              <a:t>本课题启示</a:t>
            </a:r>
          </a:p>
          <a:p>
            <a:pPr algn="ctr">
              <a:defRPr sz="1050" b="1">
                <a:solidFill>
                  <a:srgbClr val="B58B2B"/>
                </a:solidFill>
              </a:defRPr>
            </a:pPr>
            <a:r>
              <a:rPr sz="1050" b="1">
                <a:solidFill>
                  <a:srgbClr val="B58B2B"/>
                </a:solidFill>
              </a:rPr>
              <a:t>增强质量必须同时看身份指标</a:t>
            </a:r>
          </a:p>
          <a:p>
            <a:pPr algn="ctr">
              <a:defRPr sz="1050" b="1">
                <a:solidFill>
                  <a:srgbClr val="B58B2B"/>
                </a:solidFill>
              </a:defRPr>
            </a:pPr>
            <a:r>
              <a:rPr sz="1050" b="1">
                <a:solidFill>
                  <a:srgbClr val="B58B2B"/>
                </a:solidFill>
              </a:rPr>
              <a:t>通用增强使 EER 变差 → 淘汰</a:t>
            </a:r>
          </a:p>
        </p:txBody>
      </p:sp>
    </p:spTree>
    <p:extLst>
      <p:ext uri="{BB962C8B-B14F-4D97-AF65-F5344CB8AC3E}">
        <p14:creationId xmlns:p14="http://schemas.microsoft.com/office/powerpoint/2010/main" val="1493063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19773-EE1C-91E0-E124-42CA09BEB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圆角矩形 105">
            <a:extLst>
              <a:ext uri="{FF2B5EF4-FFF2-40B4-BE49-F238E27FC236}">
                <a16:creationId xmlns:a16="http://schemas.microsoft.com/office/drawing/2014/main" id="{2C435064-65AF-EF07-1202-ED2DECD397F6}"/>
              </a:ext>
            </a:extLst>
          </p:cNvPr>
          <p:cNvSpPr/>
          <p:nvPr/>
        </p:nvSpPr>
        <p:spPr>
          <a:xfrm>
            <a:off x="8128001" y="1802413"/>
            <a:ext cx="3179726" cy="2397053"/>
          </a:xfrm>
          <a:prstGeom prst="roundRect">
            <a:avLst>
              <a:gd name="adj" fmla="val 6000"/>
            </a:avLst>
          </a:prstGeom>
          <a:solidFill>
            <a:srgbClr val="F0F5EB"/>
          </a:solidFill>
          <a:ln w="15875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圆角矩形 105">
            <a:extLst>
              <a:ext uri="{FF2B5EF4-FFF2-40B4-BE49-F238E27FC236}">
                <a16:creationId xmlns:a16="http://schemas.microsoft.com/office/drawing/2014/main" id="{05E2EC78-2220-9F66-B5E0-41EE9B83BBE9}"/>
              </a:ext>
            </a:extLst>
          </p:cNvPr>
          <p:cNvSpPr/>
          <p:nvPr/>
        </p:nvSpPr>
        <p:spPr>
          <a:xfrm>
            <a:off x="4197977" y="1820457"/>
            <a:ext cx="3477107" cy="2397053"/>
          </a:xfrm>
          <a:prstGeom prst="roundRect">
            <a:avLst>
              <a:gd name="adj" fmla="val 6000"/>
            </a:avLst>
          </a:prstGeom>
          <a:solidFill>
            <a:srgbClr val="F0F5EB"/>
          </a:solidFill>
          <a:ln w="15875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02A305-F9F9-AA5D-AECD-F66A2873EA4D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三条路线经过同一协议验证,最终只保留注册条件化 TSE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D23684-24FE-1880-4937-4CD84C387EAE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04 文献调研与判决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733C98-1537-8125-18AF-DD0A0183A3FA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3E4F6-5472-F796-9861-25547F9D4E94}"/>
              </a:ext>
            </a:extLst>
          </p:cNvPr>
          <p:cNvSpPr>
            <a:spLocks noGrp="1"/>
          </p:cNvSpPr>
          <p:nvPr/>
        </p:nvSpPr>
        <p:spPr>
          <a:xfrm>
            <a:off x="482600" y="905498"/>
            <a:ext cx="11303000" cy="711200"/>
          </a:xfrm>
          <a:prstGeom prst="rect">
            <a:avLst/>
          </a:prstGeom>
          <a:solidFill>
            <a:srgbClr val="EAF0FA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81E1C9-7A70-68D8-7822-35B11FA1F571}"/>
              </a:ext>
            </a:extLst>
          </p:cNvPr>
          <p:cNvSpPr>
            <a:spLocks noGrp="1"/>
          </p:cNvSpPr>
          <p:nvPr/>
        </p:nvSpPr>
        <p:spPr>
          <a:xfrm>
            <a:off x="514350" y="990602"/>
            <a:ext cx="1114425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文献提出假设  →  同 Trial / 同冻结后端 / 同脚本验证  →  由 EER 与身份保持决定去留</a:t>
            </a:r>
          </a:p>
        </p:txBody>
      </p:sp>
      <p:graphicFrame>
        <p:nvGraphicFramePr>
          <p:cNvPr id="38" name="表格 7">
            <a:extLst>
              <a:ext uri="{FF2B5EF4-FFF2-40B4-BE49-F238E27FC236}">
                <a16:creationId xmlns:a16="http://schemas.microsoft.com/office/drawing/2014/main" id="{F0E5A034-E52E-8769-92C8-9312AE5CE295}"/>
              </a:ext>
            </a:extLst>
          </p:cNvPr>
          <p:cNvGraphicFramePr/>
          <p:nvPr/>
        </p:nvGraphicFramePr>
        <p:xfrm>
          <a:off x="-15240000" y="-8572500"/>
          <a:ext cx="11303001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路线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代表文献与选取依据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本课题结果 / 判决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后端鲁棒微调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FT-Boosted SV(2025):噪声增强数据微调后端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6/8 条件变差;0 dB EER：8.39→9.71;否决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增强后再验证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ParaNoise-SV(2025):增强与声纹联合建模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dB EER：10.11&gt;8.39;</a:t>
                      </a:r>
                    </a:p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目标分 LLR：0.422→0.391;否决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注册条件化 TSE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TSE Curriculum(2024):注册语音条件用于目标提取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任务定义匹配;0/-5 dB 达标;保留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判决纪律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文献用于说明路线依据,不替代本课题证据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 trial / 后端 / 阈值口径比较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48C5A1AF-6B10-C49E-F765-F621E86B96B3}"/>
              </a:ext>
            </a:extLst>
          </p:cNvPr>
          <p:cNvSpPr>
            <a:spLocks noGrp="1"/>
          </p:cNvSpPr>
          <p:nvPr/>
        </p:nvSpPr>
        <p:spPr>
          <a:xfrm>
            <a:off x="482600" y="6394343"/>
            <a:ext cx="11144250" cy="338554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[1] </a:t>
            </a:r>
            <a:r>
              <a:rPr lang="en-US" altLang="zh-CN"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Liu et al., </a:t>
            </a:r>
            <a:r>
              <a:rPr lang="en-US" altLang="zh-CN" sz="1450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Interspeech</a:t>
            </a:r>
            <a:r>
              <a:rPr lang="en-US" altLang="zh-CN"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2024.  </a:t>
            </a:r>
            <a:r>
              <a:rPr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[2] </a:t>
            </a:r>
            <a:r>
              <a:rPr lang="en-US" altLang="zh-CN" sz="160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Wang et al., </a:t>
            </a:r>
            <a:r>
              <a:rPr lang="en-US" altLang="zh-CN" sz="160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Interspeech</a:t>
            </a:r>
            <a:r>
              <a:rPr lang="en-US" altLang="zh-CN" sz="160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 2024, 4273-4277.</a:t>
            </a:r>
            <a:endParaRPr sz="1450" dirty="0">
              <a:solidFill>
                <a:srgbClr val="333333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582E993D-CE3F-7482-2A57-99AA774F0B0F}"/>
              </a:ext>
            </a:extLst>
          </p:cNvPr>
          <p:cNvCxnSpPr>
            <a:cxnSpLocks/>
          </p:cNvCxnSpPr>
          <p:nvPr/>
        </p:nvCxnSpPr>
        <p:spPr>
          <a:xfrm>
            <a:off x="3116226" y="2515410"/>
            <a:ext cx="1081751" cy="0"/>
          </a:xfrm>
          <a:prstGeom prst="straightConnector1">
            <a:avLst/>
          </a:prstGeom>
          <a:solidFill>
            <a:srgbClr val="F0F5EB"/>
          </a:solidFill>
          <a:ln w="15875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000204F2-6921-48AE-9F67-71A75FA79FFD}"/>
              </a:ext>
            </a:extLst>
          </p:cNvPr>
          <p:cNvCxnSpPr>
            <a:cxnSpLocks/>
          </p:cNvCxnSpPr>
          <p:nvPr/>
        </p:nvCxnSpPr>
        <p:spPr>
          <a:xfrm flipH="1">
            <a:off x="7891794" y="5152217"/>
            <a:ext cx="825795" cy="0"/>
          </a:xfrm>
          <a:prstGeom prst="straightConnector1">
            <a:avLst/>
          </a:prstGeom>
          <a:solidFill>
            <a:srgbClr val="F0F5EB"/>
          </a:solidFill>
          <a:ln w="15875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F44976C-50D8-A101-07A2-7AC1D3ED42AF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3C387AF-4A8F-F39E-707E-79BB6F75AD7A}"/>
              </a:ext>
            </a:extLst>
          </p:cNvPr>
          <p:cNvCxnSpPr>
            <a:cxnSpLocks/>
          </p:cNvCxnSpPr>
          <p:nvPr/>
        </p:nvCxnSpPr>
        <p:spPr>
          <a:xfrm flipH="1">
            <a:off x="4180219" y="5152217"/>
            <a:ext cx="949325" cy="7698"/>
          </a:xfrm>
          <a:prstGeom prst="straightConnector1">
            <a:avLst/>
          </a:prstGeom>
          <a:solidFill>
            <a:srgbClr val="F0F5EB"/>
          </a:solidFill>
          <a:ln w="15875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F14DB2C-A837-4BD4-E4D0-EB95C0504F29}"/>
              </a:ext>
            </a:extLst>
          </p:cNvPr>
          <p:cNvSpPr>
            <a:spLocks noGrp="1"/>
          </p:cNvSpPr>
          <p:nvPr/>
        </p:nvSpPr>
        <p:spPr>
          <a:xfrm>
            <a:off x="4698280" y="3207331"/>
            <a:ext cx="24765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/>
            <a:r>
              <a:rPr sz="1125">
                <a:solidFill>
                  <a:srgbClr val="333333"/>
                </a:solidFill>
              </a:rPr>
              <a:t>文献依据</a:t>
            </a:r>
            <a:r>
              <a:rPr lang="en-US" altLang="zh-CN" sz="1125">
                <a:solidFill>
                  <a:srgbClr val="333333"/>
                </a:solidFill>
              </a:rPr>
              <a:t>【</a:t>
            </a:r>
            <a:r>
              <a:rPr lang="en-US" sz="1125">
                <a:solidFill>
                  <a:srgbClr val="333333"/>
                </a:solidFill>
              </a:rPr>
              <a:t>2</a:t>
            </a:r>
            <a:r>
              <a:rPr lang="en-US" altLang="zh-CN" sz="1125" dirty="0">
                <a:solidFill>
                  <a:srgbClr val="333333"/>
                </a:solidFill>
              </a:rPr>
              <a:t>】</a:t>
            </a:r>
            <a:endParaRPr sz="1125" dirty="0">
              <a:solidFill>
                <a:srgbClr val="333333"/>
              </a:solidFill>
            </a:endParaRPr>
          </a:p>
          <a:p>
            <a:pPr algn="ctr"/>
            <a:r>
              <a:rPr lang="zh-CN" altLang="en-US" sz="1125" dirty="0">
                <a:solidFill>
                  <a:srgbClr val="333333"/>
                </a:solidFill>
              </a:rPr>
              <a:t>条件</a:t>
            </a:r>
            <a:r>
              <a:rPr lang="zh-CN" altLang="en-US" sz="1125">
                <a:solidFill>
                  <a:srgbClr val="333333"/>
                </a:solidFill>
              </a:rPr>
              <a:t>化 </a:t>
            </a:r>
            <a:r>
              <a:rPr lang="en-US" altLang="zh-CN" sz="1125" dirty="0">
                <a:solidFill>
                  <a:srgbClr val="333333"/>
                </a:solidFill>
              </a:rPr>
              <a:t>TSE </a:t>
            </a:r>
            <a:r>
              <a:rPr lang="en-US" altLang="zh-CN" sz="1125">
                <a:solidFill>
                  <a:srgbClr val="333333"/>
                </a:solidFill>
              </a:rPr>
              <a:t>| </a:t>
            </a:r>
            <a:r>
              <a:rPr lang="en-US" altLang="zh-CN" sz="1125" dirty="0" err="1">
                <a:solidFill>
                  <a:srgbClr val="333333"/>
                </a:solidFill>
              </a:rPr>
              <a:t>WeSep</a:t>
            </a:r>
            <a:endParaRPr sz="1125" dirty="0">
              <a:solidFill>
                <a:srgbClr val="333333"/>
              </a:solidFill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44BDBE80-FD67-EE60-6E62-A97675B3A042}"/>
              </a:ext>
            </a:extLst>
          </p:cNvPr>
          <p:cNvCxnSpPr>
            <a:cxnSpLocks/>
          </p:cNvCxnSpPr>
          <p:nvPr/>
        </p:nvCxnSpPr>
        <p:spPr>
          <a:xfrm>
            <a:off x="7213305" y="3647859"/>
            <a:ext cx="914695" cy="0"/>
          </a:xfrm>
          <a:prstGeom prst="straightConnector1">
            <a:avLst/>
          </a:prstGeom>
          <a:solidFill>
            <a:srgbClr val="F0F5EB"/>
          </a:solidFill>
          <a:ln w="15875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9E29369-C454-D6EF-C142-462620204EC7}"/>
              </a:ext>
            </a:extLst>
          </p:cNvPr>
          <p:cNvSpPr>
            <a:spLocks noGrp="1"/>
          </p:cNvSpPr>
          <p:nvPr/>
        </p:nvSpPr>
        <p:spPr>
          <a:xfrm>
            <a:off x="1306476" y="2100645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5B9B43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路线 C</a:t>
            </a:r>
          </a:p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注册条件化 TSE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E5A74A3-8A09-8361-F99D-965F58B0C60B}"/>
              </a:ext>
            </a:extLst>
          </p:cNvPr>
          <p:cNvSpPr>
            <a:spLocks noGrp="1"/>
          </p:cNvSpPr>
          <p:nvPr/>
        </p:nvSpPr>
        <p:spPr>
          <a:xfrm>
            <a:off x="4698280" y="2096310"/>
            <a:ext cx="24765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文献依据</a:t>
            </a:r>
            <a:r>
              <a:rPr lang="en-US" altLang="zh-CN" sz="1125" dirty="0">
                <a:solidFill>
                  <a:srgbClr val="333333"/>
                </a:solidFill>
              </a:rPr>
              <a:t>【1】</a:t>
            </a:r>
            <a:endParaRPr sz="1125" dirty="0">
              <a:solidFill>
                <a:srgbClr val="333333"/>
              </a:solidFill>
            </a:endParaRP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TSE Curriculum 2024</a:t>
            </a: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 err="1">
                <a:solidFill>
                  <a:srgbClr val="333333"/>
                </a:solidFill>
              </a:rPr>
              <a:t>注册线索指定"保留谁</a:t>
            </a:r>
            <a:r>
              <a:rPr sz="1125" dirty="0">
                <a:solidFill>
                  <a:srgbClr val="333333"/>
                </a:solidFill>
              </a:rPr>
              <a:t>"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B8ADE6F-EC6A-165F-DF30-362BFAADDF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184" r="49668"/>
          <a:stretch>
            <a:fillRect/>
          </a:stretch>
        </p:blipFill>
        <p:spPr>
          <a:xfrm>
            <a:off x="8588448" y="1877431"/>
            <a:ext cx="2107905" cy="107859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3FB65E2-17CA-78C3-95AB-CF01E8A692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02" t="28184"/>
          <a:stretch>
            <a:fillRect/>
          </a:stretch>
        </p:blipFill>
        <p:spPr>
          <a:xfrm>
            <a:off x="8588449" y="3000939"/>
            <a:ext cx="2107904" cy="1126365"/>
          </a:xfrm>
          <a:prstGeom prst="rect">
            <a:avLst/>
          </a:prstGeom>
        </p:spPr>
      </p:pic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49BD567-06E0-7F0C-B543-3888AF602A61}"/>
              </a:ext>
            </a:extLst>
          </p:cNvPr>
          <p:cNvSpPr>
            <a:spLocks noGrp="1"/>
          </p:cNvSpPr>
          <p:nvPr/>
        </p:nvSpPr>
        <p:spPr>
          <a:xfrm>
            <a:off x="8717589" y="4721737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统一验证</a:t>
            </a: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任务定义匹配</a:t>
            </a: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0 / -5 dB 达到验收要求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0DC8EFE-E593-E4E0-DCEE-C8FA2779E2C7}"/>
              </a:ext>
            </a:extLst>
          </p:cNvPr>
          <p:cNvSpPr>
            <a:spLocks noGrp="1"/>
          </p:cNvSpPr>
          <p:nvPr/>
        </p:nvSpPr>
        <p:spPr>
          <a:xfrm>
            <a:off x="5129544" y="4750312"/>
            <a:ext cx="2762250" cy="838200"/>
          </a:xfrm>
          <a:prstGeom prst="roundRect">
            <a:avLst>
              <a:gd name="adj" fmla="val 9091"/>
            </a:avLst>
          </a:prstGeom>
          <a:solidFill>
            <a:srgbClr val="EEF7EA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5B9B43"/>
                </a:solidFill>
              </a:defRPr>
            </a:pPr>
            <a:r>
              <a:rPr sz="1200" b="1">
                <a:solidFill>
                  <a:srgbClr val="5B9B43"/>
                </a:solidFill>
              </a:rPr>
              <a:t>保留</a:t>
            </a:r>
          </a:p>
          <a:p>
            <a:pPr algn="ctr">
              <a:defRPr sz="1200" b="1">
                <a:solidFill>
                  <a:srgbClr val="5B9B43"/>
                </a:solidFill>
              </a:defRPr>
            </a:pPr>
            <a:r>
              <a:rPr sz="1200" b="1">
                <a:solidFill>
                  <a:srgbClr val="5B9B43"/>
                </a:solidFill>
              </a:rPr>
              <a:t>进入最终前端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990439A-52F8-28AC-3820-B38354E736C3}"/>
              </a:ext>
            </a:extLst>
          </p:cNvPr>
          <p:cNvSpPr>
            <a:spLocks noGrp="1"/>
          </p:cNvSpPr>
          <p:nvPr/>
        </p:nvSpPr>
        <p:spPr>
          <a:xfrm>
            <a:off x="840044" y="4675967"/>
            <a:ext cx="3333750" cy="952500"/>
          </a:xfrm>
          <a:prstGeom prst="roundRect">
            <a:avLst>
              <a:gd name="adj" fmla="val 8000"/>
            </a:avLst>
          </a:prstGeom>
          <a:solidFill>
            <a:srgbClr val="EEF7EA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5B9B43"/>
                </a:solidFill>
              </a:defRPr>
            </a:pPr>
            <a:r>
              <a:rPr sz="1050" b="1">
                <a:solidFill>
                  <a:srgbClr val="5B9B43"/>
                </a:solidFill>
              </a:rPr>
              <a:t>本课题启示</a:t>
            </a:r>
          </a:p>
          <a:p>
            <a:pPr algn="ctr">
              <a:defRPr sz="1050" b="1">
                <a:solidFill>
                  <a:srgbClr val="5B9B43"/>
                </a:solidFill>
              </a:defRPr>
            </a:pPr>
            <a:r>
              <a:rPr sz="1050" b="1">
                <a:solidFill>
                  <a:srgbClr val="5B9B43"/>
                </a:solidFill>
              </a:rPr>
              <a:t>注册条件直接指定目标说话人</a:t>
            </a:r>
          </a:p>
          <a:p>
            <a:pPr algn="ctr">
              <a:defRPr sz="1050" b="1">
                <a:solidFill>
                  <a:srgbClr val="5B9B43"/>
                </a:solidFill>
              </a:defRPr>
            </a:pPr>
            <a:r>
              <a:rPr sz="1050" b="1">
                <a:solidFill>
                  <a:srgbClr val="5B9B43"/>
                </a:solidFill>
              </a:rPr>
              <a:t>与最终任务一致 → 保留</a:t>
            </a:r>
          </a:p>
        </p:txBody>
      </p:sp>
    </p:spTree>
    <p:extLst>
      <p:ext uri="{BB962C8B-B14F-4D97-AF65-F5344CB8AC3E}">
        <p14:creationId xmlns:p14="http://schemas.microsoft.com/office/powerpoint/2010/main" val="739375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E9F29-F9BD-A003-70F2-8A7DDD937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58207C-3044-1E93-BE19-490A610D87E7}"/>
              </a:ext>
            </a:extLst>
          </p:cNvPr>
          <p:cNvSpPr txBox="1"/>
          <p:nvPr/>
        </p:nvSpPr>
        <p:spPr>
          <a:xfrm>
            <a:off x="762000" y="431800"/>
            <a:ext cx="381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  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DF3360-3FEC-475E-8441-250ED4AA4D69}"/>
              </a:ext>
            </a:extLst>
          </p:cNvPr>
          <p:cNvSpPr/>
          <p:nvPr/>
        </p:nvSpPr>
        <p:spPr>
          <a:xfrm>
            <a:off x="787400" y="1168400"/>
            <a:ext cx="1117600" cy="381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E07E06-BAD1-541F-6F10-C82636C976D8}"/>
              </a:ext>
            </a:extLst>
          </p:cNvPr>
          <p:cNvSpPr/>
          <p:nvPr/>
        </p:nvSpPr>
        <p:spPr>
          <a:xfrm>
            <a:off x="1143000" y="1778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01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3BAF13-FFC5-4ED5-BA32-C36724788BFC}"/>
              </a:ext>
            </a:extLst>
          </p:cNvPr>
          <p:cNvSpPr txBox="1"/>
          <p:nvPr/>
        </p:nvSpPr>
        <p:spPr>
          <a:xfrm>
            <a:off x="2235200" y="182880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数据协议与构建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E00401-CB8A-2DFE-EA46-77A7E01C21A1}"/>
              </a:ext>
            </a:extLst>
          </p:cNvPr>
          <p:cNvSpPr/>
          <p:nvPr/>
        </p:nvSpPr>
        <p:spPr>
          <a:xfrm>
            <a:off x="1143000" y="25654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02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7A57AB-B127-7BF6-2A86-B3A8B58AC87F}"/>
              </a:ext>
            </a:extLst>
          </p:cNvPr>
          <p:cNvSpPr txBox="1"/>
          <p:nvPr/>
        </p:nvSpPr>
        <p:spPr>
          <a:xfrm>
            <a:off x="2235200" y="26162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数据可信性</a:t>
            </a:r>
            <a:r>
              <a:rPr lang="en-US" altLang="zh-CN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泄露性检查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41AFB9-39F9-EA9E-5FFD-B2763B02A5AA}"/>
              </a:ext>
            </a:extLst>
          </p:cNvPr>
          <p:cNvSpPr/>
          <p:nvPr/>
        </p:nvSpPr>
        <p:spPr>
          <a:xfrm>
            <a:off x="1143000" y="33528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03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4BDDAC-699A-9D89-0475-DFF1110F9065}"/>
              </a:ext>
            </a:extLst>
          </p:cNvPr>
          <p:cNvSpPr txBox="1"/>
          <p:nvPr/>
        </p:nvSpPr>
        <p:spPr>
          <a:xfrm>
            <a:off x="2235200" y="34036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统一评测协议构建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C017FC-DA55-626F-01B2-EBD09A5639EE}"/>
              </a:ext>
            </a:extLst>
          </p:cNvPr>
          <p:cNvSpPr/>
          <p:nvPr/>
        </p:nvSpPr>
        <p:spPr>
          <a:xfrm>
            <a:off x="1143000" y="41402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1F3864"/>
                </a:solidFill>
                <a:ea typeface="微软雅黑" panose="020B0503020204020204" pitchFamily="34" charset="-122"/>
              </a:rPr>
              <a:t>04</a:t>
            </a:r>
            <a:endParaRPr lang="zh-CN" altLang="en-US" b="1" dirty="0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EB2DA91-8B34-763C-8E3D-B6F58995491F}"/>
              </a:ext>
            </a:extLst>
          </p:cNvPr>
          <p:cNvSpPr txBox="1"/>
          <p:nvPr/>
        </p:nvSpPr>
        <p:spPr>
          <a:xfrm>
            <a:off x="2235200" y="41910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文献调研与判决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9BFA9B-65D1-E6E0-D9DA-9BC3F45DABD2}"/>
              </a:ext>
            </a:extLst>
          </p:cNvPr>
          <p:cNvSpPr/>
          <p:nvPr/>
        </p:nvSpPr>
        <p:spPr>
          <a:xfrm>
            <a:off x="1143000" y="4927600"/>
            <a:ext cx="812800" cy="5080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ea typeface="微软雅黑" panose="020B0503020204020204" pitchFamily="34" charset="-122"/>
              </a:rPr>
              <a:t>05</a:t>
            </a:r>
            <a:endParaRPr lang="zh-CN" altLang="en-US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DE48EE8-21A3-B538-C02F-85434522B7F5}"/>
              </a:ext>
            </a:extLst>
          </p:cNvPr>
          <p:cNvSpPr txBox="1"/>
          <p:nvPr/>
        </p:nvSpPr>
        <p:spPr>
          <a:xfrm>
            <a:off x="2235200" y="49784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21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前端结构与原理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B112D6-D108-09A8-B3CA-F9769BE853F3}"/>
              </a:ext>
            </a:extLst>
          </p:cNvPr>
          <p:cNvSpPr/>
          <p:nvPr/>
        </p:nvSpPr>
        <p:spPr>
          <a:xfrm>
            <a:off x="1143000" y="5715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06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A70704-60A0-29AD-3AE4-926C7E59D9FB}"/>
              </a:ext>
            </a:extLst>
          </p:cNvPr>
          <p:cNvSpPr txBox="1"/>
          <p:nvPr/>
        </p:nvSpPr>
        <p:spPr>
          <a:xfrm>
            <a:off x="2235200" y="57658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展望与规划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55463B-94A1-8EB8-572F-9D22344B7473}"/>
              </a:ext>
            </a:extLst>
          </p:cNvPr>
          <p:cNvSpPr txBox="1"/>
          <p:nvPr/>
        </p:nvSpPr>
        <p:spPr>
          <a:xfrm>
            <a:off x="7112000" y="1905000"/>
            <a:ext cx="40640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1000" b="1" dirty="0">
                <a:solidFill>
                  <a:srgbClr val="E2E8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1000" b="1" dirty="0">
              <a:solidFill>
                <a:srgbClr val="E2E8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0271538-7C03-2721-EC7B-7E244C4A7E7A}"/>
              </a:ext>
            </a:extLst>
          </p:cNvPr>
          <p:cNvSpPr txBox="1"/>
          <p:nvPr/>
        </p:nvSpPr>
        <p:spPr>
          <a:xfrm>
            <a:off x="7112000" y="4064000"/>
            <a:ext cx="431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前端结构与原理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BF41B-8F38-DA2A-3FFD-5442423D6BA1}"/>
              </a:ext>
            </a:extLst>
          </p:cNvPr>
          <p:cNvSpPr/>
          <p:nvPr/>
        </p:nvSpPr>
        <p:spPr>
          <a:xfrm>
            <a:off x="7137400" y="4927600"/>
            <a:ext cx="1524000" cy="508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715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23080FA-14D6-49A8-9D76-CC27EABAE414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最终前端由注册条件支路、增强支路和固定打分接口组成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C7F462-0446-4AA2-8397-F48E342A5908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05 前端结构与原理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6338AB-019B-4294-B48A-CE6FD0597AAC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D54691-2997-491D-98F4-A6204EFC5A0E}"/>
              </a:ext>
            </a:extLst>
          </p:cNvPr>
          <p:cNvSpPr>
            <a:spLocks noGrp="1"/>
          </p:cNvSpPr>
          <p:nvPr/>
        </p:nvSpPr>
        <p:spPr>
          <a:xfrm>
            <a:off x="508000" y="1041402"/>
            <a:ext cx="11303000" cy="91563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条件支路:2条 clean 注册语音 → 冻结声纹后端 → 512维 e_enr → 小MLP生成 FiLM 的 γ、β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增强支路:16 kHz 带噪语音 → STFT 257维复谱 → 条件化 FullSubNet+ → cIRM → iSTFT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打分接口:增强语音 → 同一冻结后端得到 e_enh → 与 e_enr 计算余弦相似度</a:t>
            </a:r>
          </a:p>
        </p:txBody>
      </p:sp>
      <p:pic>
        <p:nvPicPr>
          <p:cNvPr id="15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820" y="2489200"/>
            <a:ext cx="9346363" cy="37592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0E0B056-AD76-41F6-9880-3740B61A173B}"/>
              </a:ext>
            </a:extLst>
          </p:cNvPr>
          <p:cNvSpPr>
            <a:spLocks noGrp="1"/>
          </p:cNvSpPr>
          <p:nvPr/>
        </p:nvSpPr>
        <p:spPr>
          <a:xfrm>
            <a:off x="762000" y="6350000"/>
            <a:ext cx="10668000" cy="269304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15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图 | 可训练部分仅为 SpeakerFiLM + FullSubNet+（9.20M）;声纹后端始终冻结。数据:技术报告第4.1。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C8A441-B984-D182-29B9-984A67551F08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1664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F23103-C458-462F-9943-8157F3261C87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图 A 解释三分支复谱结构,图 B 解释全带—子带时序融合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C173E3-7713-4FF6-A6EC-902DB330D294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05 前端结构与原理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79032E-73E4-45A0-8808-B4116ED79C3A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31" name="表格 5"/>
          <p:cNvGraphicFramePr/>
          <p:nvPr/>
        </p:nvGraphicFramePr>
        <p:xfrm>
          <a:off x="-15240000" y="-8572500"/>
          <a:ext cx="11303001" cy="2794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 → 输出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原理与优势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 kHz waveform → 257 维复频谱(512 / 256)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把非平稳语音转为时频序列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全带 LSTM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全频带序列 → 512 维全局表征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LSTM 建模整体噪声上下文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子带模型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每频带及相邻 15 带 → 384 维局部表征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重点建模局部频带结构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cIRM 估计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融合表征 → 复数理想比例掩码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同时修正频谱幅度和相位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iSTFT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cIRM × 带噪复谱 → 增强时域语音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输出可直接送入冻结声纹后端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41F65AB-82A0-4926-AED9-941F10B35284}"/>
              </a:ext>
            </a:extLst>
          </p:cNvPr>
          <p:cNvSpPr>
            <a:spLocks noGrp="1"/>
          </p:cNvSpPr>
          <p:nvPr/>
        </p:nvSpPr>
        <p:spPr>
          <a:xfrm>
            <a:off x="-15240000" y="-8572500"/>
            <a:ext cx="95250" cy="3785652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为什么选 FullSubNet+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896F50-277B-4057-B6F9-F55F016D3F0E}"/>
              </a:ext>
            </a:extLst>
          </p:cNvPr>
          <p:cNvSpPr>
            <a:spLocks noGrp="1"/>
          </p:cNvSpPr>
          <p:nvPr/>
        </p:nvSpPr>
        <p:spPr>
          <a:xfrm>
            <a:off x="-15240000" y="-8572500"/>
            <a:ext cx="95250" cy="21667470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全带建模全局,子带建模细节,比单路建模更适合语音频谱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因果、实时、参数量小;可直接复用通用降噪阶段积累的骨干与失败数据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本课题前端总参数 9.20M,其中 FullSubNet+ 骨干约 8.68M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7DBB072-52C6-453B-A20F-AC2D2682A245}"/>
              </a:ext>
            </a:extLst>
          </p:cNvPr>
          <p:cNvSpPr>
            <a:spLocks noGrp="1"/>
          </p:cNvSpPr>
          <p:nvPr/>
        </p:nvSpPr>
        <p:spPr>
          <a:xfrm>
            <a:off x="514350" y="1285875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16 kHz 波形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STFT 512 / 256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257 维复频谱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24CB1A0-2FFB-4F94-BC1A-FE1B9144C265}"/>
              </a:ext>
            </a:extLst>
          </p:cNvPr>
          <p:cNvSpPr>
            <a:spLocks noGrp="1"/>
          </p:cNvSpPr>
          <p:nvPr/>
        </p:nvSpPr>
        <p:spPr>
          <a:xfrm>
            <a:off x="514350" y="23431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三路输入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幅度 Xm / 实部 Xr / 虚部 Xi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0889BF8-AACA-486F-9034-E65AE61F6915}"/>
              </a:ext>
            </a:extLst>
          </p:cNvPr>
          <p:cNvSpPr>
            <a:spLocks noGrp="1"/>
          </p:cNvSpPr>
          <p:nvPr/>
        </p:nvSpPr>
        <p:spPr>
          <a:xfrm>
            <a:off x="514350" y="3400425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4E8"/>
          </a:solidFill>
          <a:ln w="13335">
            <a:solidFill>
              <a:srgbClr val="F47A27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 err="1">
                <a:solidFill>
                  <a:srgbClr val="203D6B"/>
                </a:solidFill>
              </a:rPr>
              <a:t>MulCA</a:t>
            </a:r>
            <a:r>
              <a:rPr lang="zh-CN" altLang="en-US" sz="1125" b="1" dirty="0">
                <a:solidFill>
                  <a:srgbClr val="203D6B"/>
                </a:solidFill>
              </a:rPr>
              <a:t>通道注意力增强</a:t>
            </a:r>
            <a:endParaRPr lang="en-US" sz="1125" b="1" dirty="0">
              <a:solidFill>
                <a:srgbClr val="203D6B"/>
              </a:solidFill>
            </a:endParaRP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>
                <a:solidFill>
                  <a:srgbClr val="203D6B"/>
                </a:solidFill>
              </a:rPr>
              <a:t> + </a:t>
            </a:r>
            <a:endParaRPr lang="en-US" sz="1125" b="1" dirty="0">
              <a:solidFill>
                <a:srgbClr val="203D6B"/>
              </a:solidFill>
            </a:endParaRP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>
                <a:solidFill>
                  <a:srgbClr val="203D6B"/>
                </a:solidFill>
              </a:rPr>
              <a:t>Full-band</a:t>
            </a:r>
            <a:r>
              <a:rPr lang="en-US" sz="1125" b="1" dirty="0">
                <a:solidFill>
                  <a:srgbClr val="203D6B"/>
                </a:solidFill>
              </a:rPr>
              <a:t> </a:t>
            </a:r>
            <a:r>
              <a:rPr lang="en-US" altLang="zh-CN" sz="1125" b="1" dirty="0">
                <a:solidFill>
                  <a:srgbClr val="203D6B"/>
                </a:solidFill>
              </a:rPr>
              <a:t>LSTM</a:t>
            </a:r>
            <a:endParaRPr sz="1125" b="1" dirty="0">
              <a:solidFill>
                <a:srgbClr val="203D6B"/>
              </a:solidFill>
            </a:endParaRP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 err="1">
                <a:solidFill>
                  <a:srgbClr val="203D6B"/>
                </a:solidFill>
              </a:rPr>
              <a:t>提取全局频谱上下文</a:t>
            </a:r>
            <a:endParaRPr sz="1125" b="1" dirty="0">
              <a:solidFill>
                <a:srgbClr val="203D6B"/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01E508F-DF32-4071-9BD8-1E56CDBE5188}"/>
              </a:ext>
            </a:extLst>
          </p:cNvPr>
          <p:cNvSpPr>
            <a:spLocks noGrp="1"/>
          </p:cNvSpPr>
          <p:nvPr/>
        </p:nvSpPr>
        <p:spPr>
          <a:xfrm>
            <a:off x="514350" y="44577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4E8"/>
          </a:solidFill>
          <a:ln w="13335">
            <a:solidFill>
              <a:srgbClr val="F47A27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unfold + concat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局部邻带与全带输出融合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68C1ABC-A0EA-4FE9-BB76-1931849884F0}"/>
              </a:ext>
            </a:extLst>
          </p:cNvPr>
          <p:cNvSpPr>
            <a:spLocks noGrp="1"/>
          </p:cNvSpPr>
          <p:nvPr/>
        </p:nvSpPr>
        <p:spPr>
          <a:xfrm>
            <a:off x="514350" y="541020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EEF7EA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>
                <a:solidFill>
                  <a:srgbClr val="203D6B"/>
                </a:solidFill>
              </a:rPr>
              <a:t>Sub-band LSTM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 err="1">
                <a:solidFill>
                  <a:srgbClr val="203D6B"/>
                </a:solidFill>
              </a:rPr>
              <a:t>输出</a:t>
            </a:r>
            <a:r>
              <a:rPr sz="1125" b="1" dirty="0">
                <a:solidFill>
                  <a:srgbClr val="203D6B"/>
                </a:solidFill>
              </a:rPr>
              <a:t> </a:t>
            </a:r>
            <a:r>
              <a:rPr sz="1125" b="1" dirty="0" err="1">
                <a:solidFill>
                  <a:srgbClr val="203D6B"/>
                </a:solidFill>
              </a:rPr>
              <a:t>Mr</a:t>
            </a:r>
            <a:r>
              <a:rPr sz="1125" b="1" dirty="0">
                <a:solidFill>
                  <a:srgbClr val="203D6B"/>
                </a:solidFill>
              </a:rPr>
              <a:t> / Mi → </a:t>
            </a:r>
            <a:r>
              <a:rPr sz="1125" b="1" dirty="0" err="1">
                <a:solidFill>
                  <a:srgbClr val="203D6B"/>
                </a:solidFill>
              </a:rPr>
              <a:t>cIRM</a:t>
            </a:r>
            <a:r>
              <a:rPr sz="1125" b="1" dirty="0">
                <a:solidFill>
                  <a:srgbClr val="203D6B"/>
                </a:solidFill>
              </a:rPr>
              <a:t> → </a:t>
            </a:r>
            <a:r>
              <a:rPr sz="1125" b="1" dirty="0" err="1">
                <a:solidFill>
                  <a:srgbClr val="203D6B"/>
                </a:solidFill>
              </a:rPr>
              <a:t>iSTFT</a:t>
            </a:r>
            <a:endParaRPr sz="1125" b="1" dirty="0">
              <a:solidFill>
                <a:srgbClr val="203D6B"/>
              </a:solidFill>
            </a:endParaRPr>
          </a:p>
        </p:txBody>
      </p:sp>
      <p:cxnSp>
        <p:nvCxnSpPr>
          <p:cNvPr id="39" name="直接箭头连接符 38"/>
          <p:cNvCxnSpPr>
            <a:cxnSpLocks/>
          </p:cNvCxnSpPr>
          <p:nvPr/>
        </p:nvCxnSpPr>
        <p:spPr>
          <a:xfrm>
            <a:off x="1367834" y="2085975"/>
            <a:ext cx="0" cy="257175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40" name="直接箭头连接符 39"/>
          <p:cNvCxnSpPr>
            <a:cxnSpLocks/>
          </p:cNvCxnSpPr>
          <p:nvPr/>
        </p:nvCxnSpPr>
        <p:spPr>
          <a:xfrm>
            <a:off x="1367834" y="3143250"/>
            <a:ext cx="0" cy="257175"/>
          </a:xfrm>
          <a:prstGeom prst="straightConnector1">
            <a:avLst/>
          </a:prstGeom>
          <a:ln w="19050">
            <a:solidFill>
              <a:srgbClr val="F47A27"/>
            </a:solidFill>
            <a:prstDash val="solid"/>
            <a:tailEnd type="triangle" w="sm" len="sm"/>
          </a:ln>
        </p:spPr>
      </p:cxnSp>
      <p:cxnSp>
        <p:nvCxnSpPr>
          <p:cNvPr id="41" name="直接箭头连接符 40"/>
          <p:cNvCxnSpPr>
            <a:cxnSpLocks/>
          </p:cNvCxnSpPr>
          <p:nvPr/>
        </p:nvCxnSpPr>
        <p:spPr>
          <a:xfrm>
            <a:off x="1367834" y="4200525"/>
            <a:ext cx="0" cy="257175"/>
          </a:xfrm>
          <a:prstGeom prst="straightConnector1">
            <a:avLst/>
          </a:prstGeom>
          <a:ln w="19050">
            <a:solidFill>
              <a:srgbClr val="F47A27"/>
            </a:solidFill>
            <a:prstDash val="solid"/>
            <a:tailEnd type="triangle" w="sm" len="sm"/>
          </a:ln>
        </p:spPr>
      </p:cxnSp>
      <p:cxnSp>
        <p:nvCxnSpPr>
          <p:cNvPr id="42" name="直接箭头连接符 41"/>
          <p:cNvCxnSpPr>
            <a:cxnSpLocks/>
          </p:cNvCxnSpPr>
          <p:nvPr/>
        </p:nvCxnSpPr>
        <p:spPr>
          <a:xfrm>
            <a:off x="1367834" y="5257798"/>
            <a:ext cx="0" cy="152400"/>
          </a:xfrm>
          <a:prstGeom prst="straightConnector1">
            <a:avLst/>
          </a:prstGeom>
          <a:ln w="19050">
            <a:solidFill>
              <a:srgbClr val="5B9B43"/>
            </a:solidFill>
            <a:prstDash val="solid"/>
            <a:tailEnd type="triangle" w="sm" len="sm"/>
          </a:ln>
        </p:spPr>
      </p:cxnSp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14625" y="1219530"/>
            <a:ext cx="4000500" cy="2151993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0291153-1E4B-4050-8C50-57351323D1D3}"/>
              </a:ext>
            </a:extLst>
          </p:cNvPr>
          <p:cNvSpPr>
            <a:spLocks noGrp="1"/>
          </p:cNvSpPr>
          <p:nvPr/>
        </p:nvSpPr>
        <p:spPr>
          <a:xfrm>
            <a:off x="6905627" y="1238250"/>
            <a:ext cx="4619625" cy="381000"/>
          </a:xfrm>
          <a:prstGeom prst="roundRect">
            <a:avLst>
              <a:gd name="adj" fmla="val 20000"/>
            </a:avLst>
          </a:prstGeom>
          <a:solidFill>
            <a:srgbClr val="355E9E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图 A｜FullSubNet+ 总体结构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3AFA1E-17A3-476D-B642-DB496E8F928F}"/>
              </a:ext>
            </a:extLst>
          </p:cNvPr>
          <p:cNvSpPr>
            <a:spLocks noGrp="1"/>
          </p:cNvSpPr>
          <p:nvPr/>
        </p:nvSpPr>
        <p:spPr>
          <a:xfrm>
            <a:off x="7000877" y="1733552"/>
            <a:ext cx="4524375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• Xm、Xr、Xi 分别表示幅度、实部和虚部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• 每路先经 MulCA,再由 Full-band Extractor 建模全频上下文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• unfold 后把局部邻带与全带输出拼接,Sub-band Model 输出 Mr、Mi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• 对本课题:对应三路 FiLM 注入后的增强骨干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76675" y="3714750"/>
            <a:ext cx="1676400" cy="2095500"/>
          </a:xfrm>
          <a:prstGeom prst="rect">
            <a:avLst/>
          </a:prstGeom>
        </p:spPr>
      </p:pic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4D6772E-6538-437F-8680-313C52A388A8}"/>
              </a:ext>
            </a:extLst>
          </p:cNvPr>
          <p:cNvSpPr>
            <a:spLocks noGrp="1"/>
          </p:cNvSpPr>
          <p:nvPr/>
        </p:nvSpPr>
        <p:spPr>
          <a:xfrm>
            <a:off x="6905627" y="3676650"/>
            <a:ext cx="4619625" cy="381000"/>
          </a:xfrm>
          <a:prstGeom prst="roundRect">
            <a:avLst>
              <a:gd name="adj" fmla="val 20000"/>
            </a:avLst>
          </a:prstGeom>
          <a:solidFill>
            <a:srgbClr val="F47A27"/>
          </a:solidFill>
          <a:ln w="13335">
            <a:solidFill>
              <a:srgbClr val="F47A27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图 B｜FullSubNet 基本时序机制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E02E78-672D-422A-B23B-66E0367EDF08}"/>
              </a:ext>
            </a:extLst>
          </p:cNvPr>
          <p:cNvSpPr>
            <a:spLocks noGrp="1"/>
          </p:cNvSpPr>
          <p:nvPr/>
        </p:nvSpPr>
        <p:spPr>
          <a:xfrm>
            <a:off x="7000877" y="4171950"/>
            <a:ext cx="4524375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• 每个时刻 t:全带模型先读取整帧频谱 X(t)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• 全带输出与当前频点的相邻子带单元拼接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• 子带 LSTM 产生该频点的掩码输出,隐藏状态沿时间传递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• 对本课题:全带 512、子带 384、相邻 15 带,兼顾全局噪声与局部谐波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AE09A4-7C56-441F-99A3-AD0B075BA905}"/>
              </a:ext>
            </a:extLst>
          </p:cNvPr>
          <p:cNvSpPr>
            <a:spLocks noGrp="1"/>
          </p:cNvSpPr>
          <p:nvPr/>
        </p:nvSpPr>
        <p:spPr>
          <a:xfrm>
            <a:off x="2714627" y="6076950"/>
            <a:ext cx="881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03D6B"/>
                </a:solidFill>
              </a:defRPr>
            </a:pPr>
            <a:r>
              <a:rPr sz="975" b="1">
                <a:solidFill>
                  <a:srgbClr val="203D6B"/>
                </a:solidFill>
              </a:rPr>
              <a:t>本课题采用图 A 的 FullSubNet+ 三分支复谱结构;图 B 用于解释其继承的全带—子带融合原理。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DAAC49-C743-4BC4-B53D-A1AA4A516546}"/>
              </a:ext>
            </a:extLst>
          </p:cNvPr>
          <p:cNvSpPr>
            <a:spLocks noGrp="1"/>
          </p:cNvSpPr>
          <p:nvPr/>
        </p:nvSpPr>
        <p:spPr>
          <a:xfrm>
            <a:off x="523876" y="6457950"/>
            <a:ext cx="11096625" cy="190500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</a:rPr>
              <a:t>[1] Hao et al., ICASSP 2021.  [2] Chen et al., ICASSP 2022.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9D18CD-F5E1-AFD4-F134-05E352CB8687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224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F23103-C458-462F-9943-8157F3261C87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SpeakerFiLM用小MLP把声纹向量翻译成调制指令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C173E3-7713-4FF6-A6EC-902DB330D294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05 前端结构与原理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79032E-73E4-45A0-8808-B4116ED79C3A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20" name="表格 5"/>
          <p:cNvGraphicFramePr/>
          <p:nvPr/>
        </p:nvGraphicFramePr>
        <p:xfrm>
          <a:off x="504826" y="1219200"/>
          <a:ext cx="11303001" cy="2794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 → 输出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定义 / 原理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条件提取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2条clean注册语音 → 512维 e_enr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冻结后端提供稳定身份表征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参数生成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e_enr</a:t>
                      </a:r>
                      <a:r>
                        <a:rPr sz="975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</a:t>
                      </a:r>
                      <a:r>
                        <a:rPr sz="975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ReLU</a:t>
                      </a:r>
                      <a:r>
                        <a:rPr sz="975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(W1e+b1) → W2h+b2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两层小MLP输出与待调制特征同维的γ、β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仿射调制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F' = γ(e_enr)⊙F + β(e_enr)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逐特征缩放与平移;让同一带噪输入随注册人变化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注入位置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γ、β → FullSubNet+三路全带输入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在全局建模之前写入目标身份,再估计cIRM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稳定起点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末层零初始化:γ=1,β=0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初始严格等价于通用前端,条件作用随训练逐步形成</a:t>
                      </a:r>
                      <a:endParaRPr sz="130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41F65AB-82A0-4926-AED9-941F10B35284}"/>
              </a:ext>
            </a:extLst>
          </p:cNvPr>
          <p:cNvSpPr>
            <a:spLocks noGrp="1"/>
          </p:cNvSpPr>
          <p:nvPr/>
        </p:nvSpPr>
        <p:spPr>
          <a:xfrm>
            <a:off x="504825" y="4591050"/>
            <a:ext cx="6572250" cy="335280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为什么参数生成器选小MLP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896F50-277B-4057-B6F9-F55F016D3F0E}"/>
              </a:ext>
            </a:extLst>
          </p:cNvPr>
          <p:cNvSpPr>
            <a:spLocks noGrp="1"/>
          </p:cNvSpPr>
          <p:nvPr/>
        </p:nvSpPr>
        <p:spPr>
          <a:xfrm>
            <a:off x="504825" y="4905377"/>
            <a:ext cx="6572250" cy="91563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足够表达从512维声纹到γ/β的非线性映射,又不会重建一个大条件网络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FiLM模块仅0.52M:参数少、计算轻,在有限训练说话人下更不易记忆身份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与冻结后端解耦,梯度集中优化条件映射和增强骨干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27E186-CE4D-93BF-BD85-0AD3E2F53658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224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8F138-51DF-1C73-8AB7-F4CF9B716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15E082B-890D-FFBC-23C9-C2D7D6B067A4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SpeakerFiLM用小MLP把声纹向量翻译成调制指令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4EAC7D-47A0-0006-6068-0C94FF54990B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05 前端结构与原理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5B4861-28D7-7F3D-F747-C2A84D7957F2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AC502CB-3B17-7D1B-7813-1F5404700B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092"/>
          <a:stretch>
            <a:fillRect/>
          </a:stretch>
        </p:blipFill>
        <p:spPr>
          <a:xfrm>
            <a:off x="6857524" y="960120"/>
            <a:ext cx="2991276" cy="332133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B21BF791-C84B-EDE8-C095-FA6DB4643A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663"/>
          <a:stretch>
            <a:fillRect/>
          </a:stretch>
        </p:blipFill>
        <p:spPr>
          <a:xfrm>
            <a:off x="1472845" y="1226140"/>
            <a:ext cx="4333875" cy="293368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6A2D097-5E0E-E840-AB8A-2889CF334F02}"/>
              </a:ext>
            </a:extLst>
          </p:cNvPr>
          <p:cNvSpPr>
            <a:spLocks noGrp="1"/>
          </p:cNvSpPr>
          <p:nvPr/>
        </p:nvSpPr>
        <p:spPr>
          <a:xfrm>
            <a:off x="7769156" y="4386234"/>
            <a:ext cx="1952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66666"/>
                </a:solidFill>
              </a:defRPr>
            </a:pPr>
            <a:r>
              <a:rPr sz="825" dirty="0" err="1">
                <a:solidFill>
                  <a:srgbClr val="666666"/>
                </a:solidFill>
              </a:rPr>
              <a:t>FiLM</a:t>
            </a:r>
            <a:r>
              <a:rPr sz="825" dirty="0">
                <a:solidFill>
                  <a:srgbClr val="666666"/>
                </a:solidFill>
              </a:rPr>
              <a:t> Fig.2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0AF03E-3E07-FC5B-FC25-2F614C61DFD6}"/>
              </a:ext>
            </a:extLst>
          </p:cNvPr>
          <p:cNvSpPr>
            <a:spLocks noGrp="1"/>
          </p:cNvSpPr>
          <p:nvPr/>
        </p:nvSpPr>
        <p:spPr>
          <a:xfrm>
            <a:off x="2472969" y="4491009"/>
            <a:ext cx="2333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66666"/>
                </a:solidFill>
              </a:defRPr>
            </a:pPr>
            <a:r>
              <a:rPr sz="825" dirty="0">
                <a:solidFill>
                  <a:srgbClr val="666666"/>
                </a:solidFill>
              </a:rPr>
              <a:t>SCSE-PVAD Fig.1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C8A85E-334F-9B47-4B59-F94B34BEB25E}"/>
              </a:ext>
            </a:extLst>
          </p:cNvPr>
          <p:cNvSpPr>
            <a:spLocks noGrp="1"/>
          </p:cNvSpPr>
          <p:nvPr/>
        </p:nvSpPr>
        <p:spPr>
          <a:xfrm>
            <a:off x="1612934" y="4756438"/>
            <a:ext cx="10579066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600" dirty="0" err="1">
                <a:solidFill>
                  <a:srgbClr val="333333"/>
                </a:solidFill>
              </a:rPr>
              <a:t>文献联系:FiLM给出通用仿射调制;SCSE-PVAD证明声纹条件可通过FiLM直接改变声学特征提取</a:t>
            </a:r>
            <a:r>
              <a:rPr sz="1600" dirty="0">
                <a:solidFill>
                  <a:srgbClr val="333333"/>
                </a:solidFill>
              </a:rPr>
              <a:t>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7B77EC-E139-0968-769D-B4E30C735206}"/>
              </a:ext>
            </a:extLst>
          </p:cNvPr>
          <p:cNvSpPr>
            <a:spLocks noGrp="1"/>
          </p:cNvSpPr>
          <p:nvPr/>
        </p:nvSpPr>
        <p:spPr>
          <a:xfrm>
            <a:off x="928315" y="6400798"/>
            <a:ext cx="8303016" cy="315471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</a:rPr>
              <a:t>[1] Perez et al., AAAI 2018.  [2] Yu et al., Interspeech 2024.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9C02DE-E9F0-4C71-309F-552917D673A9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650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EE9E99E-0F67-A553-F493-69282C9CD804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四项训练目标分别解决本课题前端的重建、保真、冒认与分类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C4D6D6-39A0-C1EA-63BB-0BE30599DD32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05 前端结构与原理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049DD4-5F2F-3200-C552-DE61858F33CC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678FA4-17B4-4259-91B4-FCBDC69D2C6D}"/>
              </a:ext>
            </a:extLst>
          </p:cNvPr>
          <p:cNvSpPr>
            <a:spLocks noGrp="1"/>
          </p:cNvSpPr>
          <p:nvPr/>
        </p:nvSpPr>
        <p:spPr>
          <a:xfrm>
            <a:off x="523875" y="6048375"/>
            <a:ext cx="11144250" cy="260392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825">
                <a:solidFill>
                  <a:srgbClr val="666666"/>
                </a:solidFill>
              </a:defRPr>
            </a:pPr>
            <a:r>
              <a:rPr sz="825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说明:这些文献提供各类目标的通用方法依据;本课题的Top-K=8、τ=0.30及四项权重均以技术报告为准。</a:t>
            </a:r>
            <a:endParaRPr sz="2000">
              <a:solidFill>
                <a:srgbClr val="3333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B924644-6D95-40D6-8F45-4E5C6CC62AD7}"/>
              </a:ext>
            </a:extLst>
          </p:cNvPr>
          <p:cNvSpPr>
            <a:spLocks noGrp="1"/>
          </p:cNvSpPr>
          <p:nvPr/>
        </p:nvSpPr>
        <p:spPr>
          <a:xfrm>
            <a:off x="523875" y="1066800"/>
            <a:ext cx="5238750" cy="342900"/>
          </a:xfrm>
          <a:prstGeom prst="roundRect">
            <a:avLst>
              <a:gd name="adj" fmla="val 22222"/>
            </a:avLst>
          </a:prstGeom>
          <a:solidFill>
            <a:srgbClr val="355E9E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L_se｜保证声学重建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33450" y="1524002"/>
            <a:ext cx="1181100" cy="1476375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F640C17-CD4C-4CE1-BE7C-6992D98ABA62}"/>
              </a:ext>
            </a:extLst>
          </p:cNvPr>
          <p:cNvSpPr>
            <a:spLocks noGrp="1"/>
          </p:cNvSpPr>
          <p:nvPr/>
        </p:nvSpPr>
        <p:spPr>
          <a:xfrm>
            <a:off x="2667002" y="1524002"/>
            <a:ext cx="3095625" cy="1476375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本课题输入: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FullSubNet+预测 M_hat + clean目标 M_cIRM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作用:用MSE直接更新FiLM与增强骨干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解决:防止前端任意改写语音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56FF34-B607-431C-B52E-D69F7203FBF3}"/>
              </a:ext>
            </a:extLst>
          </p:cNvPr>
          <p:cNvSpPr>
            <a:spLocks noGrp="1"/>
          </p:cNvSpPr>
          <p:nvPr/>
        </p:nvSpPr>
        <p:spPr>
          <a:xfrm>
            <a:off x="2667002" y="3038475"/>
            <a:ext cx="3095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66666"/>
                </a:solidFill>
              </a:defRPr>
            </a:pPr>
            <a:r>
              <a:rPr sz="750">
                <a:solidFill>
                  <a:srgbClr val="666666"/>
                </a:solidFill>
              </a:rPr>
              <a:t>方法依据: Chen et al., ICASSP 2022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27DA135-888B-4704-91FB-0DD27749B401}"/>
              </a:ext>
            </a:extLst>
          </p:cNvPr>
          <p:cNvSpPr>
            <a:spLocks noGrp="1"/>
          </p:cNvSpPr>
          <p:nvPr/>
        </p:nvSpPr>
        <p:spPr>
          <a:xfrm>
            <a:off x="6143625" y="1066800"/>
            <a:ext cx="5238750" cy="342900"/>
          </a:xfrm>
          <a:prstGeom prst="roundRect">
            <a:avLst>
              <a:gd name="adj" fmla="val 22222"/>
            </a:avLst>
          </a:prstGeom>
          <a:solidFill>
            <a:srgbClr val="7B61A8"/>
          </a:solidFill>
          <a:ln w="13335">
            <a:solidFill>
              <a:srgbClr val="7B61A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L_spk｜保持目标身份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43625" y="1755458"/>
            <a:ext cx="2000250" cy="1013460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964D7EE-0650-4719-83C6-00BD1EBAB404}"/>
              </a:ext>
            </a:extLst>
          </p:cNvPr>
          <p:cNvSpPr>
            <a:spLocks noGrp="1"/>
          </p:cNvSpPr>
          <p:nvPr/>
        </p:nvSpPr>
        <p:spPr>
          <a:xfrm>
            <a:off x="8286752" y="1524002"/>
            <a:ext cx="3095625" cy="1476375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3335">
            <a:solidFill>
              <a:srgbClr val="7B61A8"/>
            </a:solidFill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本课题输入: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增强语音→冻结后端得 e_enh + 注册 e_enr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作用:最小化 1-cos(e_enh,e_enr)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解决:听感改善但身份漂移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1A1585-D536-4CE3-8340-8CBE5F31E19F}"/>
              </a:ext>
            </a:extLst>
          </p:cNvPr>
          <p:cNvSpPr>
            <a:spLocks noGrp="1"/>
          </p:cNvSpPr>
          <p:nvPr/>
        </p:nvSpPr>
        <p:spPr>
          <a:xfrm>
            <a:off x="8286752" y="3038475"/>
            <a:ext cx="3095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66666"/>
                </a:solidFill>
              </a:defRPr>
            </a:pPr>
            <a:r>
              <a:rPr sz="750">
                <a:solidFill>
                  <a:srgbClr val="666666"/>
                </a:solidFill>
              </a:rPr>
              <a:t>方法依据: Wan et al., ICASSP 2018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CDE1CBE-105F-4187-9A25-83F761B47E51}"/>
              </a:ext>
            </a:extLst>
          </p:cNvPr>
          <p:cNvSpPr>
            <a:spLocks noGrp="1"/>
          </p:cNvSpPr>
          <p:nvPr/>
        </p:nvSpPr>
        <p:spPr>
          <a:xfrm>
            <a:off x="523875" y="3524250"/>
            <a:ext cx="5238750" cy="342900"/>
          </a:xfrm>
          <a:prstGeom prst="roundRect">
            <a:avLst>
              <a:gd name="adj" fmla="val 22222"/>
            </a:avLst>
          </a:prstGeom>
          <a:solidFill>
            <a:srgbClr val="5B9B43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L_ns｜抑制难负冒认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23875" y="4349223"/>
            <a:ext cx="2000250" cy="740833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2D7F12C-91A3-4A68-AFD9-942FE54DB419}"/>
              </a:ext>
            </a:extLst>
          </p:cNvPr>
          <p:cNvSpPr>
            <a:spLocks noGrp="1"/>
          </p:cNvSpPr>
          <p:nvPr/>
        </p:nvSpPr>
        <p:spPr>
          <a:xfrm>
            <a:off x="2667002" y="3981452"/>
            <a:ext cx="3095625" cy="1476375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本课题输入: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e_enh + 排除真类后的9900类原型库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作用:Top-K=8,超过τ=0.30才惩罚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解决:把结果推离最易混淆冒认者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F26B101-2943-4C0B-8B14-42FF30C1AF3C}"/>
              </a:ext>
            </a:extLst>
          </p:cNvPr>
          <p:cNvSpPr>
            <a:spLocks noGrp="1"/>
          </p:cNvSpPr>
          <p:nvPr/>
        </p:nvSpPr>
        <p:spPr>
          <a:xfrm>
            <a:off x="2667002" y="5495925"/>
            <a:ext cx="3095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66666"/>
                </a:solidFill>
              </a:defRPr>
            </a:pPr>
            <a:r>
              <a:rPr sz="750">
                <a:solidFill>
                  <a:srgbClr val="666666"/>
                </a:solidFill>
              </a:rPr>
              <a:t>方法依据: Snell et al., NeurIPS 2017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23E644B-E9FB-4F9C-A171-122C2039A0CB}"/>
              </a:ext>
            </a:extLst>
          </p:cNvPr>
          <p:cNvSpPr>
            <a:spLocks noGrp="1"/>
          </p:cNvSpPr>
          <p:nvPr/>
        </p:nvSpPr>
        <p:spPr>
          <a:xfrm>
            <a:off x="6143625" y="3524250"/>
            <a:ext cx="5238750" cy="342900"/>
          </a:xfrm>
          <a:prstGeom prst="roundRect">
            <a:avLst>
              <a:gd name="adj" fmla="val 22222"/>
            </a:avLst>
          </a:prstGeom>
          <a:solidFill>
            <a:srgbClr val="F47A27"/>
          </a:solidFill>
          <a:ln w="13335">
            <a:solidFill>
              <a:srgbClr val="F47A27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L_ce｜强化角度判别</a:t>
            </a: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143625" y="4360974"/>
            <a:ext cx="2000250" cy="717331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C213453-FE4C-4D37-8FE3-00A8E67F8CC4}"/>
              </a:ext>
            </a:extLst>
          </p:cNvPr>
          <p:cNvSpPr>
            <a:spLocks noGrp="1"/>
          </p:cNvSpPr>
          <p:nvPr/>
        </p:nvSpPr>
        <p:spPr>
          <a:xfrm>
            <a:off x="8286752" y="3981452"/>
            <a:ext cx="3095625" cy="1476375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3335">
            <a:solidFill>
              <a:srgbClr val="F47A27"/>
            </a:solidFill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本课题输入: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e_enh + 真实说话人标签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作用:AAM-CE梯度穿过冻结后端回到前端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解决:增强类内紧凑与类间分离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78635AD-519F-4C72-B502-F4F9230D7AD8}"/>
              </a:ext>
            </a:extLst>
          </p:cNvPr>
          <p:cNvSpPr>
            <a:spLocks noGrp="1"/>
          </p:cNvSpPr>
          <p:nvPr/>
        </p:nvSpPr>
        <p:spPr>
          <a:xfrm>
            <a:off x="8286752" y="5495925"/>
            <a:ext cx="3095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66666"/>
                </a:solidFill>
              </a:defRPr>
            </a:pPr>
            <a:r>
              <a:rPr sz="750">
                <a:solidFill>
                  <a:srgbClr val="666666"/>
                </a:solidFill>
              </a:rPr>
              <a:t>方法依据: Deng et al., TPAMI 2022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7C81A6-55E2-FEC3-0A83-1F3C5768E0BE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4944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C21C9E1-A51A-4440-AFC8-A84729108688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四项损失从不同输入侧约束同一个可训练前端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60555D-8FA1-4096-A247-929A30AC6224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05 前端结构与原理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08951A-CA92-4777-85B3-776E4C294F04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3C4308-A40F-49C1-B2A9-D0097D59EF8A}"/>
              </a:ext>
            </a:extLst>
          </p:cNvPr>
          <p:cNvSpPr>
            <a:spLocks noGrp="1"/>
          </p:cNvSpPr>
          <p:nvPr/>
        </p:nvSpPr>
        <p:spPr>
          <a:xfrm>
            <a:off x="508000" y="1117600"/>
            <a:ext cx="11303000" cy="711200"/>
          </a:xfrm>
          <a:prstGeom prst="rect">
            <a:avLst/>
          </a:prstGeom>
          <a:solidFill>
            <a:srgbClr val="EAF0FA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4661BE-8C14-43A5-97DE-FA50823D5C7A}"/>
              </a:ext>
            </a:extLst>
          </p:cNvPr>
          <p:cNvSpPr>
            <a:spLocks noGrp="1"/>
          </p:cNvSpPr>
          <p:nvPr/>
        </p:nvSpPr>
        <p:spPr>
          <a:xfrm>
            <a:off x="711200" y="1295402"/>
            <a:ext cx="10922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L = L_se + 0.3·L_spk + 0.5·L_ns + 1.0·L_ce</a:t>
            </a:r>
          </a:p>
        </p:txBody>
      </p:sp>
      <p:graphicFrame>
        <p:nvGraphicFramePr>
          <p:cNvPr id="17" name="表格 7"/>
          <p:cNvGraphicFramePr/>
          <p:nvPr/>
        </p:nvGraphicFramePr>
        <p:xfrm>
          <a:off x="504826" y="1905000"/>
          <a:ext cx="11303001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损失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两侧输入与定义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如何作用网络 / 优势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L_se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预测掩码 M_hat vs 由clean目标构造的 M_cIRM; ||M_hat-M_cIRM||²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梯度直接更新FullSubNet+与FiLM;提供声学重建锚,防止前端任意改写语音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L_spk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增强波形→冻结后端得e_enh;注册语音→同后端得e_enr; 1-cos(e_enh,e_enr)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梯度穿过冻结后端回到前端;把增强结果拉向目标身份,与最终余弦打分一致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L_ns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e_enh vs 排除真类后的9900类原型库;Top-K=8; max(0,cos(e_enh,p_k)-0.30)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只对最易混淆负原型产生梯度;主动推离冒认者,比平均惩罚更聚焦难例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L_ce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e_enh + 真实说话人标签 → AAM-CE(W,e_enh)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角度margin强化类内紧凑和类间分离;判别梯度回传前端,后端参数不更新</a:t>
                      </a:r>
                      <a:endParaRPr sz="1300">
                        <a:solidFill>
                          <a:srgbClr val="333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DA42D20D-A474-4E99-8FA9-7D568033641A}"/>
              </a:ext>
            </a:extLst>
          </p:cNvPr>
          <p:cNvSpPr>
            <a:spLocks noGrp="1"/>
          </p:cNvSpPr>
          <p:nvPr/>
        </p:nvSpPr>
        <p:spPr>
          <a:xfrm>
            <a:off x="504826" y="5391152"/>
            <a:ext cx="11306175" cy="83869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共同作用路径:增强语音/掩码 → 四项监督 → 梯度汇总 → SpeakerFiLM + FullSubNet+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冻结后端只充当固定特征标准:允许梯度通过其计算图,但不更新其参数。优势:声学保真与身份判别同时优化,避免出现听感变好而EER变差。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FAB2014-56B5-5D38-A031-4C6068911B5A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83363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F23103-C458-462F-9943-8157F3261C87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余弦相似度用嵌入方向衡量是否为同一说话人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C173E3-7713-4FF6-A6EC-902DB330D294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05 前端结构与原理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79032E-73E4-45A0-8808-B4116ED79C3A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4" name="表格 5"/>
          <p:cNvGraphicFramePr/>
          <p:nvPr/>
        </p:nvGraphicFramePr>
        <p:xfrm>
          <a:off x="508001" y="1270000"/>
          <a:ext cx="11303001" cy="2794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 → 输出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定义 / 优势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注册模板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clean注册语音 → 冻结后端 → e_enr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固定目标说话人的参考方向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测试表征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增强语音 → 同一冻结后端 → e_enh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与注册端保持同一特征空间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Cosine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s=(e_enr·e_enh)/(||e_enr||₂||e_enh||₂)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范围[-1,1];夹角越小,分数越高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阈值判决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 ≥ T_dev 判目标;s &lt; T_dev 判非目标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阈值只在Dev确定,Eval固定复用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全量score+label → EER/minDCF/ROC/DET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计算简单、无需额外可训练打分器</a:t>
                      </a:r>
                      <a:endParaRPr sz="1300">
                        <a:solidFill>
                          <a:srgbClr val="333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41F65AB-82A0-4926-AED9-941F10B35284}"/>
              </a:ext>
            </a:extLst>
          </p:cNvPr>
          <p:cNvSpPr>
            <a:spLocks noGrp="1"/>
          </p:cNvSpPr>
          <p:nvPr/>
        </p:nvSpPr>
        <p:spPr>
          <a:xfrm>
            <a:off x="508000" y="4318000"/>
            <a:ext cx="5080000" cy="338554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原理与优势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896F50-277B-4057-B6F9-F55F016D3F0E}"/>
              </a:ext>
            </a:extLst>
          </p:cNvPr>
          <p:cNvSpPr>
            <a:spLocks noGrp="1"/>
          </p:cNvSpPr>
          <p:nvPr/>
        </p:nvSpPr>
        <p:spPr>
          <a:xfrm>
            <a:off x="508000" y="4724402"/>
            <a:ext cx="11303000" cy="91563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L2归一化后只比较向量方向,降低整体幅值或嵌入模长变化的影响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Raw与增强语音使用同一个冻结后端和同一个公式,结果可直接比较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它同时连接训练与评测:L_spk用1-cos保持身份,最终验证仍用cosine score判决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296AA7-02D5-434A-BB85-C846707C635C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224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4E280-1AFC-D558-65DC-52DEA4506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3321BC-ED81-1DED-2094-030FC15D5516}"/>
              </a:ext>
            </a:extLst>
          </p:cNvPr>
          <p:cNvSpPr txBox="1"/>
          <p:nvPr/>
        </p:nvSpPr>
        <p:spPr>
          <a:xfrm>
            <a:off x="762000" y="431800"/>
            <a:ext cx="381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  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A4EF3A-8F8B-401E-54AD-CAA5748EDFEE}"/>
              </a:ext>
            </a:extLst>
          </p:cNvPr>
          <p:cNvSpPr/>
          <p:nvPr/>
        </p:nvSpPr>
        <p:spPr>
          <a:xfrm>
            <a:off x="787400" y="1168400"/>
            <a:ext cx="1117600" cy="381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2DEF39-B580-0630-326B-2C8E94AD3C65}"/>
              </a:ext>
            </a:extLst>
          </p:cNvPr>
          <p:cNvSpPr/>
          <p:nvPr/>
        </p:nvSpPr>
        <p:spPr>
          <a:xfrm>
            <a:off x="1143000" y="1778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01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2D1291-1C88-C73C-ECC4-80FFE8F5695C}"/>
              </a:ext>
            </a:extLst>
          </p:cNvPr>
          <p:cNvSpPr txBox="1"/>
          <p:nvPr/>
        </p:nvSpPr>
        <p:spPr>
          <a:xfrm>
            <a:off x="2235200" y="182880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数据协议与构建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0A21A0-2BAD-CFD8-682F-CA61528755B2}"/>
              </a:ext>
            </a:extLst>
          </p:cNvPr>
          <p:cNvSpPr/>
          <p:nvPr/>
        </p:nvSpPr>
        <p:spPr>
          <a:xfrm>
            <a:off x="1143000" y="25654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02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9FB0FE-77CD-9176-8E11-9BF1BCF4E3EA}"/>
              </a:ext>
            </a:extLst>
          </p:cNvPr>
          <p:cNvSpPr txBox="1"/>
          <p:nvPr/>
        </p:nvSpPr>
        <p:spPr>
          <a:xfrm>
            <a:off x="2235200" y="26162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数据可信性</a:t>
            </a:r>
            <a:r>
              <a:rPr lang="en-US" altLang="zh-CN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泄露性检查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8C1D2F-2CD0-4CF4-A30F-5D212F3F8B37}"/>
              </a:ext>
            </a:extLst>
          </p:cNvPr>
          <p:cNvSpPr/>
          <p:nvPr/>
        </p:nvSpPr>
        <p:spPr>
          <a:xfrm>
            <a:off x="1143000" y="33528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03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819216-F11E-ABE7-39EF-42B5C39B035D}"/>
              </a:ext>
            </a:extLst>
          </p:cNvPr>
          <p:cNvSpPr txBox="1"/>
          <p:nvPr/>
        </p:nvSpPr>
        <p:spPr>
          <a:xfrm>
            <a:off x="2235200" y="34036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统一评测协议构建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7AE5ED-66D3-3C4C-8A2D-68F4EED0BE65}"/>
              </a:ext>
            </a:extLst>
          </p:cNvPr>
          <p:cNvSpPr/>
          <p:nvPr/>
        </p:nvSpPr>
        <p:spPr>
          <a:xfrm>
            <a:off x="1143000" y="41402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1F3864"/>
                </a:solidFill>
                <a:ea typeface="微软雅黑" panose="020B0503020204020204" pitchFamily="34" charset="-122"/>
              </a:rPr>
              <a:t>04</a:t>
            </a:r>
            <a:endParaRPr lang="zh-CN" altLang="en-US" b="1" dirty="0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E0E0C0-2B27-4F9E-DA04-413953320E34}"/>
              </a:ext>
            </a:extLst>
          </p:cNvPr>
          <p:cNvSpPr txBox="1"/>
          <p:nvPr/>
        </p:nvSpPr>
        <p:spPr>
          <a:xfrm>
            <a:off x="2235200" y="41910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文献调研与判决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6EA1F9-4DF6-5E5D-A57F-485BB7077018}"/>
              </a:ext>
            </a:extLst>
          </p:cNvPr>
          <p:cNvSpPr/>
          <p:nvPr/>
        </p:nvSpPr>
        <p:spPr>
          <a:xfrm>
            <a:off x="1143000" y="49276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05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0F6DDA-FF9D-255E-5F1B-9302BE6C744C}"/>
              </a:ext>
            </a:extLst>
          </p:cNvPr>
          <p:cNvSpPr txBox="1"/>
          <p:nvPr/>
        </p:nvSpPr>
        <p:spPr>
          <a:xfrm>
            <a:off x="2235200" y="49784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前端结构与原理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EAED089-82D2-3B1F-C597-09CBB217A192}"/>
              </a:ext>
            </a:extLst>
          </p:cNvPr>
          <p:cNvSpPr/>
          <p:nvPr/>
        </p:nvSpPr>
        <p:spPr>
          <a:xfrm>
            <a:off x="1143000" y="5715000"/>
            <a:ext cx="812800" cy="5080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ea typeface="微软雅黑" panose="020B0503020204020204" pitchFamily="34" charset="-122"/>
              </a:rPr>
              <a:t>06</a:t>
            </a:r>
            <a:endParaRPr lang="zh-CN" altLang="en-US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AFD89B-A6F5-0635-29D9-2DC0198EC80B}"/>
              </a:ext>
            </a:extLst>
          </p:cNvPr>
          <p:cNvSpPr txBox="1"/>
          <p:nvPr/>
        </p:nvSpPr>
        <p:spPr>
          <a:xfrm>
            <a:off x="2235200" y="57658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21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展望与规划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41B19B5-5649-429A-6E17-EC13CD788D8D}"/>
              </a:ext>
            </a:extLst>
          </p:cNvPr>
          <p:cNvSpPr txBox="1"/>
          <p:nvPr/>
        </p:nvSpPr>
        <p:spPr>
          <a:xfrm>
            <a:off x="7112000" y="1905000"/>
            <a:ext cx="40640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1000" b="1" dirty="0">
                <a:solidFill>
                  <a:srgbClr val="E2E8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11000" b="1" dirty="0">
              <a:solidFill>
                <a:srgbClr val="E2E8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D020433-7B1E-E96A-5572-509FEA22CC33}"/>
              </a:ext>
            </a:extLst>
          </p:cNvPr>
          <p:cNvSpPr txBox="1"/>
          <p:nvPr/>
        </p:nvSpPr>
        <p:spPr>
          <a:xfrm>
            <a:off x="7112000" y="4064000"/>
            <a:ext cx="431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展望与规划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CB29C2-42B8-6740-8B65-252ED1425593}"/>
              </a:ext>
            </a:extLst>
          </p:cNvPr>
          <p:cNvSpPr/>
          <p:nvPr/>
        </p:nvSpPr>
        <p:spPr>
          <a:xfrm>
            <a:off x="7137400" y="4927600"/>
            <a:ext cx="1524000" cy="508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5999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01FA017-A888-48D6-AD54-C8243E448709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未来职业规划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DCB9C6-72B2-499D-B0CE-C63FC0D3AA0D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06 未来职业规划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A164BC-697A-4D3A-8E96-6650C67969EB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1B00AF-22BA-436B-A616-DAB19ABBA950}"/>
              </a:ext>
            </a:extLst>
          </p:cNvPr>
          <p:cNvSpPr>
            <a:spLocks noGrp="1"/>
          </p:cNvSpPr>
          <p:nvPr/>
        </p:nvSpPr>
        <p:spPr>
          <a:xfrm>
            <a:off x="508000" y="1270000"/>
            <a:ext cx="3606800" cy="508000"/>
          </a:xfrm>
          <a:prstGeom prst="rect">
            <a:avLst/>
          </a:prstGeom>
          <a:solidFill>
            <a:srgbClr val="1F386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</a:rPr>
              <a:t>未来规划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E17FA8-A9DB-4CA4-AAE2-ED23B1FD6A74}"/>
              </a:ext>
            </a:extLst>
          </p:cNvPr>
          <p:cNvSpPr>
            <a:spLocks noGrp="1"/>
          </p:cNvSpPr>
          <p:nvPr/>
        </p:nvSpPr>
        <p:spPr>
          <a:xfrm>
            <a:off x="508000" y="1778000"/>
            <a:ext cx="11226800" cy="3810000"/>
          </a:xfrm>
          <a:prstGeom prst="rect">
            <a:avLst/>
          </a:prstGeom>
          <a:solidFill>
            <a:srgbClr val="F2F6FC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FFD8FE-E747-4F5D-B193-06DE45C07512}"/>
              </a:ext>
            </a:extLst>
          </p:cNvPr>
          <p:cNvSpPr>
            <a:spLocks noGrp="1"/>
          </p:cNvSpPr>
          <p:nvPr/>
        </p:nvSpPr>
        <p:spPr>
          <a:xfrm>
            <a:off x="736600" y="2006602"/>
            <a:ext cx="10675718" cy="3311291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继续完善课题研究，进一步优化面向复杂噪声与多人重叠场景的目标说话人增强前端，提高系统在不同声学条件和不同声纹后端下的稳定性。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补充更丰富的噪声、混响和多人干扰实验，完善数据协议、统一评测与交叉验证流程，使实验结论更加全面、可靠。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深入研究语音增强与声纹识别之间的协同机制，重点关注增强过程中说话人身份信息的保留，探索更有效的条件化建模与联合优化方法。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通过本课题，对语音增强、声纹识别和鲁棒语音处理产生了浓厚兴趣，未来希望继续深耕该方向，持续跟踪相关前沿研究并提升工程实践能力。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737370-D027-45E8-93D6-204085E1DB2F}"/>
              </a:ext>
            </a:extLst>
          </p:cNvPr>
          <p:cNvSpPr>
            <a:spLocks noGrp="1"/>
          </p:cNvSpPr>
          <p:nvPr/>
        </p:nvSpPr>
        <p:spPr>
          <a:xfrm>
            <a:off x="508000" y="5969000"/>
            <a:ext cx="11226800" cy="38100"/>
          </a:xfrm>
          <a:prstGeom prst="rect">
            <a:avLst/>
          </a:prstGeom>
          <a:solidFill>
            <a:srgbClr val="E2E8F5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3923EB-A8BB-6763-B646-B04FB725A2C7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2626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4906075-9B09-43F7-B52C-3EDA7FDA7C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86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791AF5-45EC-4DBA-AE89-8A0987F09667}"/>
              </a:ext>
            </a:extLst>
          </p:cNvPr>
          <p:cNvSpPr>
            <a:spLocks noGrp="1"/>
          </p:cNvSpPr>
          <p:nvPr/>
        </p:nvSpPr>
        <p:spPr>
          <a:xfrm>
            <a:off x="0" y="1986002"/>
            <a:ext cx="12192000" cy="923330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5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谢  谢!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DB600D-5A6D-4C9C-B01B-39953886051C}"/>
              </a:ext>
            </a:extLst>
          </p:cNvPr>
          <p:cNvSpPr>
            <a:spLocks noGrp="1"/>
          </p:cNvSpPr>
          <p:nvPr/>
        </p:nvSpPr>
        <p:spPr>
          <a:xfrm>
            <a:off x="0" y="3059670"/>
            <a:ext cx="12192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24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恳请各位老师批评指正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69E4DB-958F-4410-B548-05C6CB7D09F4}"/>
              </a:ext>
            </a:extLst>
          </p:cNvPr>
          <p:cNvSpPr>
            <a:spLocks noGrp="1"/>
          </p:cNvSpPr>
          <p:nvPr/>
        </p:nvSpPr>
        <p:spPr>
          <a:xfrm>
            <a:off x="5334000" y="4318000"/>
            <a:ext cx="1524000" cy="381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69946B-D31A-45DC-BB74-8E646C88ED59}"/>
              </a:ext>
            </a:extLst>
          </p:cNvPr>
          <p:cNvSpPr>
            <a:spLocks noGrp="1"/>
          </p:cNvSpPr>
          <p:nvPr/>
        </p:nvSpPr>
        <p:spPr>
          <a:xfrm>
            <a:off x="0" y="4572002"/>
            <a:ext cx="12192000" cy="307777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4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中国科学院大学 · 2026.09.08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6E9A95-5030-D5EB-92E5-EB01B1698CD2}"/>
              </a:ext>
            </a:extLst>
          </p:cNvPr>
          <p:cNvSpPr>
            <a:spLocks noGrp="1"/>
          </p:cNvSpPr>
          <p:nvPr/>
        </p:nvSpPr>
        <p:spPr>
          <a:xfrm>
            <a:off x="3048421" y="3917890"/>
            <a:ext cx="60951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汇报人:邓姣姣</a:t>
            </a:r>
          </a:p>
        </p:txBody>
      </p:sp>
    </p:spTree>
    <p:extLst>
      <p:ext uri="{BB962C8B-B14F-4D97-AF65-F5344CB8AC3E}">
        <p14:creationId xmlns:p14="http://schemas.microsoft.com/office/powerpoint/2010/main" val="1120620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4438</Words>
  <Application>Microsoft Office PowerPoint</Application>
  <DocSecurity>0</DocSecurity>
  <PresentationFormat>宽屏</PresentationFormat>
  <Paragraphs>739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jiaojiao deng</cp:lastModifiedBy>
  <cp:revision>6</cp:revision>
  <dcterms:created xsi:type="dcterms:W3CDTF">2026-09-06T12:13:30Z</dcterms:created>
  <dcterms:modified xsi:type="dcterms:W3CDTF">2026-09-06T15:05:26Z</dcterms:modified>
</cp:coreProperties>
</file>